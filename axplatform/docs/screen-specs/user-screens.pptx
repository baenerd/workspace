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USR-01  ·  로그인 (Login)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로그인 (/login)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로그인 카드 (max 380)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97864" y="1874519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1874519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브랜드 로고 · 안내 문구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3" y="1648206"/>
            <a:ext cx="0" cy="3428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23543" y="1991105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SSO 로그인 버튼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6482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데모 계정 토글 → 6종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6482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문의 · 외부 접근 고지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6482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" y="4535424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535424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로그인 진입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496168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15624" y="4535424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61344" y="4535424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로그인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2782025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001481" y="4535424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7201" y="4535424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인증 성공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067882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87338" y="4535424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33058" y="4535424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판별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353738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573194" y="4535424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18914" y="4535424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홈·복귀 이동</a:t>
            </a:r>
          </a:p>
        </p:txBody>
      </p:sp>
      <p:sp>
        <p:nvSpPr>
          <p:cNvPr id="43" name="Down Arrow 42"/>
          <p:cNvSpPr/>
          <p:nvPr/>
        </p:nvSpPr>
        <p:spPr>
          <a:xfrm>
            <a:off x="4747386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87338" y="5303520"/>
            <a:ext cx="1048112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33058" y="5303520"/>
            <a:ext cx="956672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관리자→관리 콘솔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로그인은 신원 확인 전용 — 안내 외 기능을 두지 않아 진입 마찰을 없앤다.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미인증 상태로 보호 화면 접근 시 로그인으로 보냈다가 성공 후 원래 경로로 자동 복귀시킨다.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1347" y="914400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069363" y="1225296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진입 관문. 데모는 역할 선택형 목업 로그인, 운영 시 그룹 SSO로 대체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로그인 전 가려던 경로를 받아 성공 후 그 화면으로 복귀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1347" y="1962131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1075" y="19987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51075" y="22364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069363" y="2273027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임직원이 가입 절차 없이 사내 계정으로 즉시 진입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데모 기간 권한별 화면 차이를 시연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941347" y="3009863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51075" y="304643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7051075" y="328418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069363" y="3320759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확산 목표상 진입 장벽은 0이어야 함 — 로그인은 신원 확인일 뿐 권한 부여가 아님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권한(전사/관계사·담당 관계사)은 서버가 계정에 대해 내려주는 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1347" y="4282049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51075" y="43186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051075" y="45563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069363" y="4592945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새로고침 후에도 세션 유지(데모는 브라우저 세션 저장)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관리자·관계사 관리자는 관리 콘솔로, 그 외는 원래 경로로 이동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전용 플랫폼 · 외부 접근 불가' 고지 유지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1347" y="5554236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51075" y="559081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051075" y="582855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069363" y="5865132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SSO 콜백 → 세션/토큰 발급 → GET /api/v1/auth/me 프로필 반환 흐름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auth/me 응답에 company·isGroupViewer·adminScope·managedCompanies 필수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로그인 (Login)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로그인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USR-01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/login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778508" y="2167127"/>
            <a:ext cx="2377440" cy="3675888"/>
          </a:xfrm>
          <a:prstGeom prst="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64308" y="2368296"/>
            <a:ext cx="100584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60220" y="23317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35708" y="2770632"/>
            <a:ext cx="14630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235708" y="2898648"/>
            <a:ext cx="9070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760220" y="27157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2828" y="3172968"/>
            <a:ext cx="1828800" cy="27432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760220" y="313639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52828" y="3584448"/>
            <a:ext cx="1828800" cy="23774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2828" y="3904487"/>
            <a:ext cx="182880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52828" y="4215383"/>
            <a:ext cx="182880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52828" y="4526279"/>
            <a:ext cx="1828800" cy="256032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60220" y="38587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44268" y="5385816"/>
            <a:ext cx="16459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144268" y="5504688"/>
            <a:ext cx="115214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760220" y="53400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25" name="Oval 2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1901951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브랜드 로고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+ AX Platform 워드마크, 카드 상단 중앙 · 타이틀 'Kolmar AX Platform'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824728" y="248497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824728" y="253069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35624" y="2503261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안내 문구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'사내 계정으로 로그인하세요' 서브 문구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24728" y="3086282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824728" y="3132002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5624" y="3104570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로그인 버튼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'Microsoft 계정으로 로그인' → 로딩 후 로그인·원래 경로로 이동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데모 단계 버튼은 임시 동작 · 실 연동 시 교체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824728" y="3687592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824728" y="3733312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35624" y="3705880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데모 계정 토글·리스트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'데모 계정으로 로그인 ▾' 펼침 시 6종 노출, 클릭 시 역할별 이동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데모 전용 · 실 배포 시 제거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24728" y="428890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824728" y="433462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35624" y="4307189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문의·보안 고지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'로그인에 문제가 있으신가요? tech-hub@kolmar.co.kr 로 문의하세요' + '사내 전용 플랫폼 · 외부 접근 불가'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로그인은 신원 확인만 담당하고, 권한은 서버가 계정에 부여한다(전사/관계사 범위·담당 관계사).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확산 목표상 진입 장벽을 0으로 — 안내 외 기능을 두지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SSO 버튼은 데모 임시 동작이고, 데모 계정 6종은 접이식으로 숨겨 실제 SSO를 우선 노출한다.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'사내 전용 · 외부 접근 불가' 고지로 폐쇄형 플랫폼 성격을 명시한다.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users 테이블에 관계사 코드·역할·adminScope·managedCompanies(N:M 매핑 권장), auth/me가 이를 반환.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USR-02  ·  소개 (About)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소개 (/about)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HERO (뱃지·타이틀·CTA 2·팩트)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01 왜 AX Platform (문제→해법 ×4)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02 무엇을 다루나 (카테고리 ×7)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03 질문에서 출발 (콘셉트 ×3)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04 이용 흐름 (4-step)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05 FAQ (아코디언)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CTA 배너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9743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52486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52486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소개 열람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52486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52486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 확인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52486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52486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등록 유도(CTA)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52486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52486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탐색·등록 이동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33871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53327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마케팅 문서가 아니라 '등록 유도 장치'로 설계 — 카탈로그의 성패는 등록 물량이기 때문.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승인 절차를 투명하게 보여 '올리면 어떻게 되는지'의 불확실성을 없앤다.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플랫폼 취지·대상·이용법을 설명하는 정적 안내 화면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01 왜→02 무엇을→03 질문에서 출발→04 이용 흐름→05 FAQ→CTA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'여기에 무엇을 올리나 / 올리면 어떻게 되나' 두 질문에 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신청의 심리적·인지적 장벽 제거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'질문에서 출발' 콘셉트로 콘텐츠 성격을 사용자 언어로 각인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집계 데이터는 개인·부서 성과 평가용이 아님을 명시해 등록 저항 완화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다루지 않는 것 명시: 일반 IT·시스템 구축(MES·SRM·ERP)·인프라·BI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7종은 '카테고리'로 소개, AI 프로젝트는 '일반 IT 과제 제외' 경계 표기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상태 안내 섹션을 두지 않는다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정적 콘텐츠로 API 의존 없음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문구는 운영 중 잦은 갱신 예상 — 장기적으로 관리자 편집(CMS)은 백로그 판단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소개 (About)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소개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USR-02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/about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31089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" y="1929383"/>
            <a:ext cx="64008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72184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39112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06040" y="1938527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29783" y="190195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2285999"/>
            <a:ext cx="4910328" cy="658368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01468" y="2359151"/>
            <a:ext cx="73152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152144" y="2560319"/>
            <a:ext cx="363016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152144" y="2679191"/>
            <a:ext cx="25411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98548" y="2798063"/>
            <a:ext cx="822960" cy="12801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12948" y="2798063"/>
            <a:ext cx="822960" cy="12801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3776" y="22677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" y="3054095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22092" y="3054095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2064" y="3392423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022092" y="3392423"/>
            <a:ext cx="2400300" cy="228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3776" y="30358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3730751"/>
            <a:ext cx="1145286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767078" y="3730751"/>
            <a:ext cx="1145286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022092" y="3730751"/>
            <a:ext cx="1145286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77106" y="3730751"/>
            <a:ext cx="1145286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2064" y="4059935"/>
            <a:ext cx="1145286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67078" y="4059935"/>
            <a:ext cx="1145286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022092" y="4059935"/>
            <a:ext cx="1145286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277106" y="4059935"/>
            <a:ext cx="1145286" cy="21945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3776" y="371246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" y="4389119"/>
            <a:ext cx="1563624" cy="4023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85416" y="4389119"/>
            <a:ext cx="1563624" cy="4023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858768" y="4389119"/>
            <a:ext cx="1563624" cy="4023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3776" y="4370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694944" y="491947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148840" y="491947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02736" y="491947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56632" y="4919471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86384" y="5020055"/>
            <a:ext cx="4361688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493776" y="48828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" y="5266944"/>
            <a:ext cx="491032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2064" y="5468112"/>
            <a:ext cx="4910328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93776" y="524865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" y="5724144"/>
            <a:ext cx="4910328" cy="603504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3776" y="570585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2" name="Oval 5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35624" y="1901951"/>
            <a:ext cx="5672023" cy="39662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공통 Navbar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페이지 상단 고정 내비게이션 (USR-08)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824728" y="228028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5824728" y="232600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2298572"/>
            <a:ext cx="5672023" cy="39662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HERO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'Kolmar Group' 뱃지 + 타이틀 '그룹의 자동화·AI 자산, AX Platform에서 만나세요' + CTA [자산 탐색하기]/[내 자산 등록하기] + 팩트(29개 관계사·7가지 자산 유형)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267690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272262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2695194"/>
            <a:ext cx="5672023" cy="39662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01 왜 AX Platform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문제→해법 카드 4종: 흩어진 자산 / 중복 개발 / 무엇을 쓸지 모름 / 사례 단절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307352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311924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3091814"/>
            <a:ext cx="5672023" cy="39662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02 무엇을 다루나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카드 7종(클릭 시 해당 카테고리로 필터된 목록으로 이동)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다루지 않는 것: 일반 IT·시스템 구축·인프라·BI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35624" y="3488435"/>
            <a:ext cx="5672023" cy="39662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03 질문에서 출발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질문형 콘셉트 카드 3종(AI Agent·나만의 비서·Vibe Coding)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824728" y="386676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5824728" y="391248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35624" y="3885056"/>
            <a:ext cx="5672023" cy="39662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04 어떻게 이용하나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탐색→확인→등록→공유 4-step + 'AI Agent는 관리자가 카탈로그로 관리' 안내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824728" y="426339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824728" y="430910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4281677"/>
            <a:ext cx="5672023" cy="39662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05 FAQ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접이식 4문항(대상·평가 미반영·등록 대상·문의 경로)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466001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470573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4678298"/>
            <a:ext cx="5672023" cy="39662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CTA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탐색 유도 + 'AX 검색 AI' 로드맵 예고 문구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카탈로그의 성패는 등록 물량이므로 소개 페이지를 '등록 유도 장치'로 설계했다.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질문 중심 콘셉트를 사용자 언어로 풀고, 승인 절차를 투명하게 보여 등록 불확실성을 없앤다.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집계 데이터가 개인·부서 성과 평가용이 아님을 명시해 등록 심리 저항을 낮춘다.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프로젝트에는 '일반 IT 시스템 구축 과제 제외' 경계를 반드시 표기한다.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정적 콘텐츠로 API 의존 없음 — 장기적으로 관리자 편집(CMS)화 여부는 백로그 판단.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USR-03  ·  카탈로그 목록 (AX 플랫폼 탐색)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카탈로그 (/projects)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페이지 헤더 (타이틀·검색·그룹뷰어 배지)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sticky 필터 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카테고리 필터 (7종)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991105"/>
            <a:ext cx="0" cy="3429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도메인 필터 (6종)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991105"/>
            <a:ext cx="0" cy="6858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인기 태그 · 초기화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991105"/>
            <a:ext cx="0" cy="1028701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정렬 · 결과 카운트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항목 카드 그리드 (더 보기 24씩)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773168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5047488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5047488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검색·필터 입력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5047488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5047488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목록 즉시 갱신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5047488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5047488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카드 선택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5047488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5047488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항목 상세 이동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6327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5852159"/>
            <a:ext cx="6154963" cy="8229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카테고리별 별도 화면 대신 단일 검색 진입점 — 사용자는 '유형'이 아니라 '내 업무에 쓸 것'을 찾는다.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카드는 미리보기, 상세는 상세 페이지 — 전 유형 동일 정보 구조·고정 높이로 비교를 쉽게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필터 축은 카테고리·도메인·검색 3개로 최소화 — 적을수록 탐색이 빠르다.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914400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225296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7개 카테고리의 게시 항목을 단일 그리드에서 탐색하는 통합 발견 화면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상단 sticky 2행 필터 바 + 카드 그리드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962131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9987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2364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273027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'우리 그룹에 어떤 자동화·AI 자산이 있는가'를 필터 두세 번으로 도달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중복 개발 방지·재사용 유도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009863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04643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28418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320759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단일 검색 진입점(마켓플레이스식 발견 경험) 채택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관계사별 구분은 자산 공유 장벽이 되므로 사용자 화면에 두지 않음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057595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0941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3319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368491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필터 축은 카테고리(7)·도메인·검색만 — 운영 상태·관계사 필터 없음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뱃지 색·라벨은 CATEGORIES 단일 소스에서 파생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Agent 카드 제목은 모델명 단독(제공사 병기 없음)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329781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36635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60410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640677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목록 API가 필터·정렬·페이지네이션 파라미터 수신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인덱스는 카테고리·도메인·갱신일·좋아요 조회 패턴 고려, 좋아요 수는 집계/캐시 전략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카탈로그 목록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AX 플랫폼 탐색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847087"/>
            <a:ext cx="4910328" cy="457200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603504" y="1938527"/>
            <a:ext cx="7936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685031" y="1975103"/>
            <a:ext cx="16459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3685031" y="2176272"/>
            <a:ext cx="1645920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85031" y="1947672"/>
            <a:ext cx="1645920" cy="237744"/>
          </a:xfrm>
          <a:prstGeom prst="rect">
            <a:avLst/>
          </a:prstGeom>
          <a:noFill/>
        </p:spPr>
        <p:txBody>
          <a:bodyPr wrap="square" anchor="ctr" lIns="54864" rIns="54864" tIns="0" bIns="18288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99999"/>
                </a:solidFill>
                <a:latin typeface="맑은 고딕"/>
                <a:ea typeface="맑은 고딕"/>
              </a:rPr>
              <a:t>검색</a:t>
            </a:r>
          </a:p>
        </p:txBody>
      </p:sp>
      <p:sp>
        <p:nvSpPr>
          <p:cNvPr id="13" name="Oval 12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2395727"/>
            <a:ext cx="4910328" cy="603504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2468879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33856" y="2468879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645920" y="2468879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157984" y="2468879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0048" y="2468879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82112" y="2468879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94176" y="2468879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6240" y="2468879"/>
            <a:ext cx="420624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3776" y="243230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2670047"/>
            <a:ext cx="4572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2670047"/>
            <a:ext cx="4572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755648" y="2670047"/>
            <a:ext cx="4572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22576" y="2670047"/>
            <a:ext cx="4572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889504" y="2670047"/>
            <a:ext cx="4572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56432" y="2670047"/>
            <a:ext cx="4572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023359" y="2670047"/>
            <a:ext cx="4572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66359" y="26334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" y="2852927"/>
            <a:ext cx="38404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78992" y="2852927"/>
            <a:ext cx="38404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36192" y="2852927"/>
            <a:ext cx="38404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93392" y="2852927"/>
            <a:ext cx="38404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450592" y="2852927"/>
            <a:ext cx="38404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07792" y="2852927"/>
            <a:ext cx="384048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93776" y="281635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57784" y="3145536"/>
            <a:ext cx="51023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959352" y="3090672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434840" y="3090672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10328" y="3090672"/>
            <a:ext cx="420624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93776" y="307238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" y="3401568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185416" y="3401568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858768" y="3401568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12064" y="4413504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185416" y="4413504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858768" y="4413504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12064" y="5425440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185416" y="5425440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858768" y="5425440"/>
            <a:ext cx="1563624" cy="9022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3776" y="33832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5" name="Oval 54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35624" y="1901951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헤더·검색 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타이틀 'AX 플랫폼 탐색' + 검색(제목·요약·태그·부서)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그룹 전체보기 권한자는 '모든 관계사 조회 중' 배지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824728" y="233694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5824728" y="238266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35624" y="2355233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sticky 필터 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스크롤 시 상단 고정 2행 필터 바(좌측 사이드바 아님)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824728" y="279022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24728" y="283594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35624" y="2808514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카테고리 필터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전체+7종 칩(n8n·Power Automate·나만의 비서·AI Agent·ML 모델·Vibe Coding·AI 프로젝트), 선택 시 목록 즉시 갱신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824728" y="324350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824728" y="328922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35624" y="3261795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도메인 필터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전체+6종(영업·생산·연구·재무·HR·IT) 칩 필터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824728" y="36967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5824728" y="37425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35624" y="3715076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인기 태그·초기화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빈도 상위 6개 태그(검색어 토글) + [초기화](카테고리·도메인 리셋)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824728" y="415006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824728" y="419578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35624" y="4168357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정렬·카운트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'N개 항목' + 정렬 3종(최신순/인기순/이름순)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824728" y="460335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5824728" y="464907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35624" y="4621638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항목 카드 그리드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카드=카테고리·도메인 배지·좋아요·제목·요약·태그 3(또는 AI Agent 강점 칩·비용 배지)·부서 + [더 보기](24개씩)·빈 상태 '검색 결과가 없습니다.'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단일 검색 진입점으로 유형을 넘나드는 한 화면 탐색을 제공한다(마켓플레이스식 발견).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유형 카드의 정보 구조·높이를 통일해 비교가 쉽다(카드는 미리보기, 상세는 상세 페이지).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관계사별 구분은 자산 공유 장벽이 되므로 사용자 필터에 두지 않는다(관리자 통계의 몫).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비노출 관계사 항목은 소속 아닌 사용자에게 숨기는 접근 게이팅.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목록 API가 필터·정렬·페이지 파라미터 수신, 주소 파라미터는 q·platform·domain만 해석.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USR-04  ·  항목 상세 (Item Detail)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항목 상세 (/{카테고리}/:itemId)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Breadcrumb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 (배지·제목·요약·액션)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탭 바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개요 (이미지·설명·출처·후기)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상세 (유형별)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197864" y="35890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3584" y="35890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업데이트·논의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3543" y="23340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3543" y="37056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13815" y="39319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39319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사이드바 (모델 접속·태그)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9496" y="1305306"/>
            <a:ext cx="0" cy="27432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39496" y="40485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84048" y="4773168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9768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항목 진입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496168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715624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61344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개요 확인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2782025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001481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47201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유형별 상세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067882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87338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33058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담당자·논의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5353738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73194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18914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후기·좋아요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" y="56327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8056" y="5852159"/>
            <a:ext cx="6154963" cy="8229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항목에 실행 URL이 없으므로(예외 AI Agent) 실질 행동 유도는 '담당자 문의'다.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커뮤니티는 전체 게시판이 아니라 항목별 개별 게시판 — 지식이 그 자산에 귀속되어 쌓인다.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카테고리별 상세 구성이 다른 건 질문 중심 콘셉트의 귀결(구조·선택 판단·이야기).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914400"/>
            <a:ext cx="4866299" cy="81146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1225296"/>
            <a:ext cx="4610267" cy="46399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항목 1건의 전체 정보 화면. 카드에서 덜어낸 정보의 종착지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7개 카테고리 값 각각이 라우트 접두어. 탭=개요/상세/담당자/업데이트·논의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1853878"/>
            <a:ext cx="4866299" cy="81146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189045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212819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2164774"/>
            <a:ext cx="4610267" cy="46399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'우리 팀에도 적용할 수 있을까' 판단 근거(구조·효과·담당자) 제공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연결·후기 축적으로 재사용을 실제로 일으킴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2793356"/>
            <a:ext cx="4866299" cy="100949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2829932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3067676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3104252"/>
            <a:ext cx="4610267" cy="66202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상세 구성 차등 — n8n=구조(다이어그램), AI Agent=선택 판단(모델 사양), vibe·AI 프로젝트=이야기(블로그형)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Agent는 강점·활용 방법을 최상단에 우선 노출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3930869"/>
            <a:ext cx="4866299" cy="120753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396744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420518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4241765"/>
            <a:ext cx="4610267" cy="86006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상태 뱃지·실행 버튼·관계사 표시 없음(예외: AI Agent 가용 뱃지·모델 접속)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후기는 개요 탭 내부 섹션에서 등록(별도 탭 아님)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vibe·AI 프로젝트는 상세 탭 숨김→개요 통합, AI Agent 제목은 모델명 단독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1347" y="5266418"/>
            <a:ext cx="4866299" cy="1207533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51075" y="5302994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051075" y="5540738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7069363" y="5577314"/>
            <a:ext cx="4610267" cy="86006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상세 조회 API + 게시판·후기·좋아요 API. 이미지 배열은 업로드 스토리지 URL 배열로 전환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방문 기록은 로컬(ax_recent_viewed, 최대 10건), 조회수는 인기 정렬·통계 소스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 상세  —  공통·개요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5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항목 상세 — 공통·개요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75103"/>
            <a:ext cx="2011680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2103120"/>
            <a:ext cx="4910328" cy="658368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" y="2176272"/>
            <a:ext cx="64008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8448" y="2176272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03504" y="2395727"/>
            <a:ext cx="2608783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" y="2514599"/>
            <a:ext cx="173918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685031" y="2395727"/>
            <a:ext cx="502920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33672" y="2395727"/>
            <a:ext cx="548640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18888" y="2395727"/>
            <a:ext cx="548640" cy="182880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3776" y="208483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" y="2852927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335024" y="2852927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57984" y="2852927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980944" y="2852927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12064" y="3035808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93776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3145535"/>
            <a:ext cx="3240816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03504" y="3803903"/>
            <a:ext cx="30579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3504" y="3927347"/>
            <a:ext cx="30579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3504" y="4050791"/>
            <a:ext cx="18959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12064" y="4279392"/>
            <a:ext cx="3240816" cy="310896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" y="4663440"/>
            <a:ext cx="3240816" cy="1664208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03504" y="4791455"/>
            <a:ext cx="3057936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3504" y="4914899"/>
            <a:ext cx="189592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3776" y="31272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17472" y="3145535"/>
            <a:ext cx="1504919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17472" y="3694175"/>
            <a:ext cx="1504919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990624" y="3803903"/>
            <a:ext cx="1358615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990624" y="3968495"/>
            <a:ext cx="1358615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990624" y="4133087"/>
            <a:ext cx="1358615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99184" y="312724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1" name="Oval 4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1901951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Breadcrumb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AX Platform / 카테고리명 / 항목 제목 경로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248497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253069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2503261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헤더·액션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배지 +(AI Agent) 가용 배지·제공사 + 제목 + 요약 + [♥ 좋아요][담당자 연락][모델 접속→](AI Agent만) + 메타(부서·수정일·카테고리)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3086282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3132002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3104570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탭 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개요 / 상세 / 담당자 / 업데이트·논의(글 수). 상세 탭은 vibe·etc 숨김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3687592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3733312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3705880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개요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 캐러셀 + 설명(줄바꿈 보존) + 출처(카테고리 배지+shortDesc) + 활용 후기 목록·등록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빈 후기 '아직 등록된 후기가 없습니다.'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428890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433462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4307189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사이드바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Agent 모델 접속 링크(모델 접속 URL) + 태그 목록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항목에 실행 URL이 없어(예외 AI Agent) 상세의 실질 행동 유도는 담당자 문의 — 담당자 정보가 명확한 위치를 가진다.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커뮤니티는 항목별 개별 게시판 — 항목 맥락 안 Q&amp;A라야 지식이 그 자산에 귀속되어 다음 사람에게 쌓인다.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카테고리별 상세가 다른 건 질문 중심 콘셉트의 귀결(구조·선택 판단·이야기가 각각 핵심 콘텐츠).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운영 상태·관계사는 표시하지 않음(유일 예외 AI Agent 가용 뱃지·모델 접속).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상세 조회 API + 후기·게시판·좋아요 API, 이미지 배열은 업로드 스토리지 URL로 전환.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 상세  —  탭 구성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5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항목 상세 — 탭 안내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75103"/>
            <a:ext cx="2011680" cy="0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" y="2103120"/>
            <a:ext cx="4910328" cy="658368"/>
          </a:xfrm>
          <a:prstGeom prst="rect">
            <a:avLst/>
          </a:prstGeom>
          <a:solidFill>
            <a:srgbClr val="F7F7F7"/>
          </a:solidFill>
          <a:ln w="1778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3504" y="2176272"/>
            <a:ext cx="64008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98448" y="2176272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03504" y="2395727"/>
            <a:ext cx="2608783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3504" y="2514599"/>
            <a:ext cx="1739188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685031" y="2395727"/>
            <a:ext cx="502920" cy="182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33672" y="2395727"/>
            <a:ext cx="548640" cy="182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18888" y="2395727"/>
            <a:ext cx="548640" cy="182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" y="2852927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35024" y="2852927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57984" y="2852927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80944" y="2852927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12064" y="3035808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3776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3145535"/>
            <a:ext cx="3240816" cy="548640"/>
          </a:xfrm>
          <a:prstGeom prst="rect">
            <a:avLst/>
          </a:prstGeom>
          <a:solidFill>
            <a:srgbClr val="F7F7F7"/>
          </a:solidFill>
          <a:ln w="1651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603504" y="3803903"/>
            <a:ext cx="3057936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3504" y="3927347"/>
            <a:ext cx="3057936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3504" y="4050791"/>
            <a:ext cx="189592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12064" y="4279392"/>
            <a:ext cx="3240816" cy="310896"/>
          </a:xfrm>
          <a:prstGeom prst="rect">
            <a:avLst/>
          </a:prstGeom>
          <a:solidFill>
            <a:srgbClr val="FFFFFF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2064" y="4663440"/>
            <a:ext cx="3240816" cy="1664208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603504" y="4791455"/>
            <a:ext cx="3057936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3504" y="4914899"/>
            <a:ext cx="189592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917472" y="3145535"/>
            <a:ext cx="1504919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17472" y="3694175"/>
            <a:ext cx="1504919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990624" y="3803903"/>
            <a:ext cx="1358615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990624" y="3968495"/>
            <a:ext cx="1358615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90624" y="4133087"/>
            <a:ext cx="1358615" cy="1097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316736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7" name="Oval 36"/>
          <p:cNvSpPr/>
          <p:nvPr/>
        </p:nvSpPr>
        <p:spPr>
          <a:xfrm>
            <a:off x="2139696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8" name="Oval 37"/>
          <p:cNvSpPr/>
          <p:nvPr/>
        </p:nvSpPr>
        <p:spPr>
          <a:xfrm>
            <a:off x="2962656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0" name="Oval 39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35624" y="1901951"/>
            <a:ext cx="5672023" cy="75163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탭 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개요 / 상세 / 담당자 / 업데이트·논의(글 수). 상세 탭은 vibe·etc 숨김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24728" y="263530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824728" y="268102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35624" y="2653588"/>
            <a:ext cx="5672023" cy="75163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상세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렌더 — 다음 슬라이드 참조(n8n·PA·비서·AI Agent·ML)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35624" y="3405225"/>
            <a:ext cx="5672023" cy="75163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카드(이름·부서·배지)+[이메일](메일 열기)+이메일 표기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24728" y="413857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5824728" y="418429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35624" y="4156862"/>
            <a:ext cx="5672023" cy="75163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업데이트·논의 탭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게시글 목록(작성자·부서·태그·좋아요)+글 작성(태그 4종:공지/Q&amp;A/이슈제보/건의)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빈 상태 '아직 등록된 글이 없습니다.'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항목에 실행 URL이 없어(예외 AI Agent) 상세의 실질 행동 유도는 담당자 문의 — 담당자 정보가 명확한 위치를 가진다.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커뮤니티는 항목별 개별 게시판 — 항목 맥락 안 Q&amp;A라야 지식이 그 자산에 귀속되어 다음 사람에게 쌓인다.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카테고리별 상세가 다른 건 질문 중심 콘셉트의 귀결(구조·선택 판단·이야기가 각각 핵심 콘텐츠).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운영 상태·관계사는 표시하지 않음(유일 예외 AI Agent 가용 뱃지·모델 접속).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상세 조회 API + 후기·게시판·좋아요 API, 이미지 배열은 업로드 스토리지 URL로 전환.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 상세  —  상세 A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3 / 5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상세 탭 — n8n / Power Automate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75103"/>
            <a:ext cx="2011680" cy="0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" y="2103120"/>
            <a:ext cx="4910328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3502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5798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8094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12064" y="2926080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316736" y="27249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3054096"/>
            <a:ext cx="4910328" cy="822960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3776" y="30358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3968496"/>
            <a:ext cx="2356957" cy="5486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5434" y="3968496"/>
            <a:ext cx="2356957" cy="5486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776" y="39502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3047146" y="39502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4608576"/>
            <a:ext cx="4910328" cy="50292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03504" y="4718304"/>
            <a:ext cx="47274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" y="4841748"/>
            <a:ext cx="47274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3504" y="4965192"/>
            <a:ext cx="29310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93776" y="459028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5202936"/>
            <a:ext cx="109728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3776" y="516636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0" name="Oval 29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상세 탭 활성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'상세' 탭 선택 상태 — 유형별 라벨(모델 사양/비서 구성/플로우 정보/모델 정보…)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[n8n] 워크플로우 다이어그램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시 업로드한 JSON 기반 워크플로우 시각화 + [JSON 다운로드]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[n8n] 예상 효과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예상 절감 시간 칩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[n8n] 구성 난이도 / [PA] 예상 효과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 난이도 칩 · Power Automate는 '플로우 정보—예상 효과'(없으면 폴백 문구)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[n8n] 상세 설명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다이어그램 하단 상세 설명 본문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공통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이미지·좋아요·담당자 연락은 공통 헤더/개요와 동일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항목에 실행 URL이 없어(예외 AI Agent) 상세의 실질 행동 유도는 담당자 문의 — 담당자 정보가 명확한 위치를 가진다.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커뮤니티는 항목별 개별 게시판 — 항목 맥락 안 Q&amp;A라야 지식이 그 자산에 귀속되어 다음 사람에게 쌓인다.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카테고리별 상세가 다른 건 질문 중심 콘셉트의 귀결(구조·선택 판단·이야기가 각각 핵심 콘텐츠).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운영 상태·관계사는 표시하지 않음(유일 예외 AI Agent 가용 뱃지·모델 접속).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상세 조회 API + 후기·게시판·좋아요 API, 이미지 배열은 업로드 스토리지 URL로 전환.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 상세  —  상세 B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4 / 5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상세 탭 — 나만의 비서 / AI Agent / ML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75103"/>
            <a:ext cx="2011680" cy="0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" y="2103120"/>
            <a:ext cx="4910328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3502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5798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8094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12064" y="2926080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316736" y="27249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3054096"/>
            <a:ext cx="4910328" cy="822960"/>
          </a:xfrm>
          <a:prstGeom prst="rect">
            <a:avLst/>
          </a:prstGeom>
          <a:solidFill>
            <a:srgbClr val="F7F7F7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3776" y="30358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3968496"/>
            <a:ext cx="2356957" cy="5486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5434" y="3968496"/>
            <a:ext cx="2356957" cy="54864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93776" y="39502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3047146" y="39502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4608576"/>
            <a:ext cx="4910328" cy="50292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03504" y="4718304"/>
            <a:ext cx="47274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" y="4841748"/>
            <a:ext cx="472744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3504" y="4965192"/>
            <a:ext cx="293101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93776" y="459028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" y="5202936"/>
            <a:ext cx="109728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3776" y="516636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0" name="Oval 29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상세 탭 활성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유형별 상세 탭(비서 구성 / 모델 사양 / 모델 정보)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[AI Agent] 강점 및 활용 방법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상세 최상단 강조 서술 박스(우선 노출)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[AI Agent] 세부 모델명 / [비서] 기반 모델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Agent 모델명·처리 가능 글 분량 · 비서 기반 모델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[AI Agent] 비용 등급·[모델 접속→] / [비서] 공유 프롬프트·[복사]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Agent 비용 배지+모델 접속 버튼 · 비서 프롬프트 복사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[ML] 모델 유형·개발 도구·학습 데이터 개요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ML 모델 정보 카드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[Vibe·AI 프로젝트]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상세 탭 없음 → 개요에 블로그형 통합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항목에 실행 URL이 없어(예외 AI Agent) 상세의 실질 행동 유도는 담당자 문의 — 담당자 정보가 명확한 위치를 가진다.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커뮤니티는 항목별 개별 게시판 — 항목 맥락 안 Q&amp;A라야 지식이 그 자산에 귀속되어 다음 사람에게 쌓인다.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카테고리별 상세가 다른 건 질문 중심 콘셉트의 귀결(구조·선택 판단·이야기가 각각 핵심 콘텐츠).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운영 상태·관계사는 표시하지 않음(유일 예외 AI Agent 가용 뱃지·모델 접속).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상세 조회 API + 후기·게시판·좋아요 API, 이미지 배열은 업로드 스토리지 URL로 전환.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 상세  —  담당자·논의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5 / 5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담당자 · 업데이트·논의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USR-04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/{카테고리}/:itemId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75103"/>
            <a:ext cx="2011680" cy="0"/>
          </a:xfrm>
          <a:prstGeom prst="line">
            <a:avLst/>
          </a:prstGeom>
          <a:ln w="1270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" y="2103120"/>
            <a:ext cx="4910328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3502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5798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80944" y="2743200"/>
            <a:ext cx="731520" cy="164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12064" y="2926080"/>
            <a:ext cx="4910328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139696" y="272491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3054096"/>
            <a:ext cx="4910328" cy="64008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1792" y="3182112"/>
            <a:ext cx="310896" cy="31089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60704" y="3218688"/>
            <a:ext cx="14630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60704" y="3342132"/>
            <a:ext cx="907084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07992" y="3236976"/>
            <a:ext cx="73152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3831335"/>
            <a:ext cx="4910328" cy="27432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" y="381304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493776" y="30358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197096"/>
            <a:ext cx="4910328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504" y="4288536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69264" y="4288536"/>
            <a:ext cx="39959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69264" y="4411979"/>
            <a:ext cx="247747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12064" y="4700016"/>
            <a:ext cx="4910328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3504" y="4791455"/>
            <a:ext cx="237744" cy="23774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969264" y="4791455"/>
            <a:ext cx="39959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69264" y="4914899"/>
            <a:ext cx="2477475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93776" y="416052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" y="5248655"/>
            <a:ext cx="6858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289304" y="5248655"/>
            <a:ext cx="6858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66543" y="5248655"/>
            <a:ext cx="6858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843784" y="5248655"/>
            <a:ext cx="6858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2064" y="5468112"/>
            <a:ext cx="4910328" cy="859536"/>
          </a:xfrm>
          <a:prstGeom prst="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07992" y="6071616"/>
            <a:ext cx="822960" cy="201168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3776" y="52303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1" name="Oval 4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1901951"/>
            <a:ext cx="5672023" cy="75163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이름·부서·담당자 배지 + [이메일] 버튼(메일 열기) + 이메일 표기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263530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268102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2653588"/>
            <a:ext cx="5672023" cy="75163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논의 안내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'공지·질문·이슈제보·건의를 남기는 공간. 담당자 직접 문의는 담당자 탭 이용.'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3405225"/>
            <a:ext cx="5672023" cy="75163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게시글 목록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글별 작성자·부서·태그 배지·좋아요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빈 상태 '아직 등록된 글이 없습니다.'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413857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4184294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4156862"/>
            <a:ext cx="5672023" cy="75163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글 작성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태그 4종(공지/Q&amp;A/이슈제보/건의) 선택 + 입력창 + [등록]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항목에 실행 URL이 없어(예외 AI Agent) 상세의 실질 행동 유도는 담당자 문의 — 담당자 정보가 명확한 위치를 가진다.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커뮤니티는 항목별 개별 게시판 — 항목 맥락 안 Q&amp;A라야 지식이 그 자산에 귀속되어 다음 사람에게 쌓인다.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카테고리별 상세가 다른 건 질문 중심 콘셉트의 귀결(구조·선택 판단·이야기가 각각 핵심 콘텐츠).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운영 상태·관계사는 표시하지 않음(유일 예외 AI Agent 가용 뱃지·모델 접속).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상세 조회 API + 후기·게시판·좋아요 API, 이미지 배열은 업로드 스토리지 URL로 전환.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USR-05  ·  신규 항목 등록 신청 (3단계)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등록 신청 (/projects/new)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스텝 인디케이터 (3단계)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0 유형 선택 (카드 ×7)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1 정보 입력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공통(사진·제목·요약·상세·도메인·태그)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세부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Step 2 최종 확인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773168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카테고리 선택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496168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715624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61344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내용 입력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2782025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01481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47201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최종 확인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4067882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87338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33058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신청 접수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5353738" y="5212079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73194" y="5047488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18914" y="5047488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대기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632703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5852159"/>
            <a:ext cx="6154963" cy="82296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설계 원칙: 등록 문턱이 낮아야 물량이 쌓이고, 물량이 쌓여야 카탈로그가 산다.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입력은 만든 사람이면 누구나 답할 수 있는 항목만 — 도구 내부 지식이 필요한 전문 항목은 받지 않는다.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단계는 3개(고르고·쓰고·확인) — 화면 이동이 적을수록 이탈이 적다.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7개 카테고리 신규 자산을 등록 신청하는 3단계 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카탈로그 데이터 품질이 결정되는 수집 관문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887015"/>
            <a:ext cx="4866299" cy="8445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2359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16133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197911"/>
            <a:ext cx="4610267" cy="4971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일반 사용자가 5~10분 안에 신청 완료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재사용 판단에 필요한 최소 정보를 표준 구조로 수집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2859631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28962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1339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170527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전문 지식이 필요한 항목은 배제 — 그 정보량은 사진 최대 10장과 상세 설명이 대신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n8n은 JSON 업로드로 다이어그램을 자동 생성해 입력 부담 완화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038369"/>
            <a:ext cx="4866299" cy="1256844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07494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31268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349265"/>
            <a:ext cx="4610267" cy="90937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관계사 범위 입력 없음(전 항목 전사 공용), 상태·실행 URL 없음(예외: AI Agent 모델 접속 URL)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Agent 유형은 관리자 전용 등록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ID는 접두어-연도-순번, 서버 발급·불변·결번 재사용 금지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423229"/>
            <a:ext cx="4866299" cy="105072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45980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69754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734125"/>
            <a:ext cx="4610267" cy="703250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API에서 서버가 ID 발급, AI Agent 등록은 관리자 권한 재검증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이미지 업로드는 별도 엔드포인트+URL 참조 권장, 신청 레코드는 승인 슬롯 0/2로 생성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0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4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Step 0 — 유형 선택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2322575"/>
            <a:ext cx="2400300" cy="5349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022092" y="2322575"/>
            <a:ext cx="2400300" cy="5349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" y="2967227"/>
            <a:ext cx="2400300" cy="5349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22092" y="2967227"/>
            <a:ext cx="2400300" cy="5349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2064" y="3611879"/>
            <a:ext cx="2400300" cy="5349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22092" y="3611879"/>
            <a:ext cx="2400300" cy="5349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064" y="4256531"/>
            <a:ext cx="2400300" cy="5349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22092" y="4256531"/>
            <a:ext cx="2400300" cy="53492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3776" y="22859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" y="4928616"/>
            <a:ext cx="4910328" cy="27432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3776" y="48920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2064" y="5266944"/>
            <a:ext cx="4910328" cy="274320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3776" y="523036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07992" y="6071616"/>
            <a:ext cx="82296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89704" y="60350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33" name="Oval 32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624" y="1901951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스텝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1 유형 선택 · 2 정보 입력 · 3 최종 확인(완료 ✓·현재 강조)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24728" y="2484973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824728" y="253069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35624" y="2503261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 선택 카드 ×7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카테고리별 설명 카드 클릭 선택. 비관리자에게 AI Agent 미노출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24728" y="3086282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5824728" y="3132002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35624" y="3104570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관리자에게 'AI Agent 유형은 관리자 전용 등록…' 안내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824728" y="3687592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5824728" y="3733312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3705880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공통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'어떤 유형을 선택해도 등록 신청→관리자 검토→승인 절차는 동일하게 적용됩니다.'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428890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433462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4307189"/>
            <a:ext cx="5672023" cy="601309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다음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유형 선택 시 활성화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등록 문턱을 최우선으로 낮췄다 — 물량이 쌓여야 카탈로그가 살기 때문.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도구 내부 전문 지식이 필요한 항목은 받지 않고, 사진 최대 10장과 상세 설명이 그 정보량을 대신한다.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항목 전사 공용으로 생성 — 관계사 선택·운영 상태·실행 URL 입력을 두지 않는다(예외 AI Agent 모델 접속 URL).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Agent 등록은 관리자 전용 — 프론트 가드 + 서버 재검증.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서버가 카테고리·연도별 시퀀스로 ID를 원자적 발급, 예상 효과는 표준 문자열로 검증.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1 · 공통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2 / 4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Step 1 — 정보 입력(공통·담당자)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285999"/>
            <a:ext cx="4910328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2414015"/>
            <a:ext cx="4690872" cy="50292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" y="3054095"/>
            <a:ext cx="46908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21792" y="3236975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1792" y="3346703"/>
            <a:ext cx="46908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21792" y="3529583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21792" y="3602735"/>
            <a:ext cx="4690872" cy="310896"/>
          </a:xfrm>
          <a:prstGeom prst="rect">
            <a:avLst/>
          </a:prstGeom>
          <a:solidFill>
            <a:srgbClr val="FFFFFF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3776" y="22494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114800"/>
            <a:ext cx="4910328" cy="914400"/>
          </a:xfrm>
          <a:prstGeom prst="rect">
            <a:avLst/>
          </a:prstGeom>
          <a:solidFill>
            <a:srgbClr val="F7F7F7"/>
          </a:solidFill>
          <a:ln w="1778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21792" y="4242816"/>
            <a:ext cx="469087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21792" y="4366259"/>
            <a:ext cx="469087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1792" y="4489704"/>
            <a:ext cx="4690872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21792" y="4613148"/>
            <a:ext cx="2908340" cy="0"/>
          </a:xfrm>
          <a:prstGeom prst="line">
            <a:avLst/>
          </a:prstGeom>
          <a:ln w="1397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12064" y="5120640"/>
            <a:ext cx="4910328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" y="5248655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21792" y="5413247"/>
            <a:ext cx="11361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794510" y="5248655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794510" y="5413247"/>
            <a:ext cx="11361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967228" y="5248655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967228" y="5413247"/>
            <a:ext cx="11361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139946" y="5248655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139946" y="5413247"/>
            <a:ext cx="11361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21792" y="5477255"/>
            <a:ext cx="1005840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3776" y="50840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2" name="Oval 4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1901951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스텝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현재 Step 1(정보 입력) 활성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2904134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공통 기본 정보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사진(캐러셀·최대 10장) + 제목*·한 줄 요약*·상세 설명* + 구분선 + 업무 도메인(선택)·태그(ChipInput)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10장 초과 시 앞 10장만 반영 경고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3906316"/>
            <a:ext cx="5672023" cy="100218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이름·부서·이메일·역할(주/공동) + [+ 담당자 추가]. 첫 행 필수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등록 문턱을 최우선으로 낮췄다 — 물량이 쌓여야 카탈로그가 살기 때문.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도구 내부 전문 지식이 필요한 항목은 받지 않고, 사진 최대 10장과 상세 설명이 그 정보량을 대신한다.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항목 전사 공용으로 생성 — 관계사 선택·운영 상태·실행 URL 입력을 두지 않는다(예외 AI Agent 모델 접속 URL).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Agent 등록은 관리자 전용 — 프론트 가드 + 서버 재검증.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서버가 카테고리·연도별 시퀀스로 ID를 원자적 발급, 예상 효과는 표준 문자열로 검증.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1 · 유형별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3 / 4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Step 1 — 유형별 세부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285999"/>
            <a:ext cx="4910328" cy="1737360"/>
          </a:xfrm>
          <a:prstGeom prst="rect">
            <a:avLst/>
          </a:prstGeom>
          <a:solidFill>
            <a:srgbClr val="FFFFFF"/>
          </a:solidFill>
          <a:ln w="1778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" y="2414015"/>
            <a:ext cx="4690872" cy="502920"/>
          </a:xfrm>
          <a:prstGeom prst="rect">
            <a:avLst/>
          </a:prstGeom>
          <a:solidFill>
            <a:srgbClr val="F7F7F7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" y="3054095"/>
            <a:ext cx="46908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21792" y="3236975"/>
            <a:ext cx="469087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1792" y="3346703"/>
            <a:ext cx="469087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21792" y="3529583"/>
            <a:ext cx="469087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21792" y="3602735"/>
            <a:ext cx="4690872" cy="310896"/>
          </a:xfrm>
          <a:prstGeom prst="rect">
            <a:avLst/>
          </a:prstGeom>
          <a:solidFill>
            <a:srgbClr val="FFFFFF"/>
          </a:solidFill>
          <a:ln w="1397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2064" y="4114800"/>
            <a:ext cx="4910328" cy="914400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21792" y="4242816"/>
            <a:ext cx="469087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21792" y="4366259"/>
            <a:ext cx="469087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21792" y="4489704"/>
            <a:ext cx="469087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1792" y="4613148"/>
            <a:ext cx="29083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93776" y="40782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" y="5120640"/>
            <a:ext cx="4910328" cy="548640"/>
          </a:xfrm>
          <a:prstGeom prst="rect">
            <a:avLst/>
          </a:prstGeom>
          <a:solidFill>
            <a:srgbClr val="FFFFFF"/>
          </a:solidFill>
          <a:ln w="1778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" y="5248655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21792" y="5413247"/>
            <a:ext cx="113614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794510" y="5248655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794510" y="5413247"/>
            <a:ext cx="113614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2967228" y="5248655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2967228" y="5413247"/>
            <a:ext cx="113614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139946" y="5248655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139946" y="5413247"/>
            <a:ext cx="1136142" cy="0"/>
          </a:xfrm>
          <a:prstGeom prst="line">
            <a:avLst/>
          </a:prstGeom>
          <a:ln w="2286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21792" y="5477255"/>
            <a:ext cx="1005840" cy="1463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1" name="Oval 4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1901951"/>
            <a:ext cx="5672023" cy="150327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스텝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현재 Step 1(정보 입력) 활성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3405225"/>
            <a:ext cx="5672023" cy="150327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세부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n8n=JSON 업로드→다이어그램·절감시간·난이도 / PA=절감시간 / 비서=공유 프롬프트*·기반 모델 / ML=모델 유형*·학습 데이터·개발 도구 / AI Agent(관리자 전용)=가용 여부*·강점*·모델 접속 URL*·세부 모델명·글 분량·비용 / Vibe·AI 프로젝트=공통만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등록 문턱을 최우선으로 낮췄다 — 물량이 쌓여야 카탈로그가 살기 때문.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도구 내부 전문 지식이 필요한 항목은 받지 않고, 사진 최대 10장과 상세 설명이 그 정보량을 대신한다.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항목 전사 공용으로 생성 — 관계사 선택·운영 상태·실행 URL 입력을 두지 않는다(예외 AI Agent 모델 접속 URL).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Agent 등록은 관리자 전용 — 프론트 가드 + 서버 재검증.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서버가 카테고리·연도별 시퀀스로 ID를 원자적 발급, 예상 효과는 표준 문자열로 검증.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신규 등록 신청  —  Step 2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4 / 4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Step 2 — 최종 확인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USR-05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/projects/new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4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96112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841248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240280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32888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2478024" y="1956815"/>
            <a:ext cx="1307592" cy="0"/>
          </a:xfrm>
          <a:prstGeom prst="line">
            <a:avLst/>
          </a:prstGeom>
          <a:ln w="1524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77056" y="1847087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69664" y="1874519"/>
            <a:ext cx="996696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285999"/>
            <a:ext cx="4910328" cy="27432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3776" y="22494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2064" y="2688335"/>
            <a:ext cx="128016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75104" y="2688335"/>
            <a:ext cx="335584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12064" y="2944368"/>
            <a:ext cx="128016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975104" y="2944368"/>
            <a:ext cx="335584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12064" y="3200399"/>
            <a:ext cx="128016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75104" y="3200399"/>
            <a:ext cx="335584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12064" y="3456431"/>
            <a:ext cx="128016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975104" y="3456431"/>
            <a:ext cx="335584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12064" y="3712463"/>
            <a:ext cx="128016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75104" y="3712463"/>
            <a:ext cx="335584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12064" y="3968496"/>
            <a:ext cx="128016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975104" y="3968496"/>
            <a:ext cx="335584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12064" y="4224527"/>
            <a:ext cx="1280160" cy="0"/>
          </a:xfrm>
          <a:prstGeom prst="line">
            <a:avLst/>
          </a:prstGeom>
          <a:ln w="1270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75104" y="4224527"/>
            <a:ext cx="3355848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3776" y="263347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2064" y="4608575"/>
            <a:ext cx="4910328" cy="25603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93776" y="457200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" y="4919471"/>
            <a:ext cx="4910328" cy="25603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3776" y="488289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2064" y="6071616"/>
            <a:ext cx="82296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07992" y="6071616"/>
            <a:ext cx="82296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489704" y="60350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2" name="Oval 41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스텝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현재 Step 2(최종 확인) 활성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등록 카테고리 배너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'&lt;카테고리&gt;으로 등록합니다' 확인 배너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요약 행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제목·요약·사진·도메인·태그·유형별·주담당자 라벨-값 리스트(160px 라벨)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ID 발급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'{PREFIX}-{YYYY}-순번 형식의 고유 ID가 발급됩니다'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승인 절차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'등록 신청→관리자 검토→승인 절차를 거쳐 게시. 결과는 이메일·Teams 알림.'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이전 / 제출하기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제출 완료 시 발급 ID 표시 후 /my-status 이동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등록 문턱을 최우선으로 낮췄다 — 물량이 쌓여야 카탈로그가 살기 때문.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도구 내부 전문 지식이 필요한 항목은 받지 않고, 사진 최대 10장과 상세 설명이 그 정보량을 대신한다.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전 항목 전사 공용으로 생성 — 관계사 선택·운영 상태·실행 URL 입력을 두지 않는다(예외 AI Agent 모델 접속 URL).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AI Agent 등록은 관리자 전용 — 프론트 가드 + 서버 재검증.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서버가 카테고리·연도별 시퀀스로 ID를 원자적 발급, 예상 효과는 표준 문자열로 검증.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USR-06  ·  수정 요청 (Edit Request)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수정 요청 (/edit-request/:id)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Breadcrumb · 헤더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대상 항목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기본 정보 (프리필)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13815" y="25603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25603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유형별 세부 (프리필)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6" y="13053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39496" y="26769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3815" y="29032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29032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담당자 (프리필)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9496" y="13053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9496" y="30198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13815" y="32461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32461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수정 사유*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9496" y="1305306"/>
            <a:ext cx="0" cy="20574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9496" y="33627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제출 (취소 / 수정 요청 제출)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9743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5248655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5248655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 항목 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496168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715624" y="5248655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61344" y="5248655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값 프리필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2782025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01481" y="5248655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47201" y="5248655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변경·사유 입력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4067882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287338" y="5248655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33058" y="5248655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제출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5353738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573194" y="5248655"/>
            <a:ext cx="1048112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18914" y="5248655"/>
            <a:ext cx="956672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검토·반영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" y="5833871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6053327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게시 항목은 여러 사용자의 판단 근거 — 등록자 임의 수정을 막고 신청·검토를 거치게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폼을 등록 Step 1과 동일 구조로 유지 — 새 폼 학습이 없고, 입력 체계 변경 시 두 폼을 함께 고치도록 강제된다.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41347" y="914400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69363" y="1225296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항목의 내용 수정을 신청하는 폼. 등록 Step 1과 1:1 대응 구조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현재 값이 프리필된 상태에서 고쳐 제출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41347" y="1962131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1075" y="199870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051075" y="223645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7069363" y="2273027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항목의 정보 최신성 유지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게시물 무결성을 위해 직접 수정이 아닌 신청·검토 절차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1347" y="3009863"/>
            <a:ext cx="4866299" cy="91971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51075" y="304643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51075" y="328418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69363" y="3320759"/>
            <a:ext cx="4610267" cy="57224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게시 항목은 여러 사용자의 판단 근거이므로 임의 수정을 허용하지 않음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변경 이력이 관리 가능하도록 수정 요청 → 관리자 검토 흐름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1347" y="4057595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051075" y="4094171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051075" y="4331915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069363" y="4368491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필드 구성은 등록 폼 Step 1과 1:1 동일(삭제된 개념의 수정 UI 없음)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현재 값 프리필 필수, 수정 사유 입력 필수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AI Agent 항목의 수정 요청은 관리자 전용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1347" y="5329781"/>
            <a:ext cx="4866299" cy="114417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51075" y="5366357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051075" y="5604101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069363" y="5640677"/>
            <a:ext cx="4610267" cy="79669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수정 요청은 원본과 분리된 레코드(diff 또는 스냅샷)로 저장, 승인 시 원본에 반영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변경(퇴사·이동)이 실무상 최다 수정 사유가 될 가능성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수정 요청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게시 항목 수정 요청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USR-06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/edit-request/:id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975103"/>
            <a:ext cx="2011680" cy="0"/>
          </a:xfrm>
          <a:prstGeom prst="line">
            <a:avLst/>
          </a:prstGeom>
          <a:ln w="1270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12064" y="2084831"/>
            <a:ext cx="4910328" cy="36576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2523744"/>
            <a:ext cx="4910328" cy="256032"/>
          </a:xfrm>
          <a:prstGeom prst="rect">
            <a:avLst/>
          </a:prstGeom>
          <a:solidFill>
            <a:srgbClr val="F7F7F7"/>
          </a:solidFill>
          <a:ln w="1397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93776" y="248716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2852927"/>
            <a:ext cx="4910328" cy="105156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" y="2962656"/>
            <a:ext cx="4690872" cy="365760"/>
          </a:xfrm>
          <a:prstGeom prst="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3419856"/>
            <a:ext cx="469087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21792" y="3584448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21792" y="3675887"/>
            <a:ext cx="469087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21792" y="3840479"/>
            <a:ext cx="469087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93776" y="28346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4023359"/>
            <a:ext cx="4910328" cy="640080"/>
          </a:xfrm>
          <a:prstGeom prst="rect">
            <a:avLst/>
          </a:prstGeom>
          <a:solidFill>
            <a:srgbClr val="F7F7F7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792" y="4133087"/>
            <a:ext cx="469087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1792" y="4256531"/>
            <a:ext cx="469087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1792" y="4379975"/>
            <a:ext cx="2908340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93776" y="400507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773168"/>
            <a:ext cx="4910328" cy="45720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" y="4919472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21792" y="5084064"/>
            <a:ext cx="11361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794510" y="4919472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794510" y="5084064"/>
            <a:ext cx="11361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967228" y="4919472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2967228" y="5084064"/>
            <a:ext cx="11361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139946" y="4919472"/>
            <a:ext cx="113614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139946" y="5084064"/>
            <a:ext cx="1136142" cy="0"/>
          </a:xfrm>
          <a:prstGeom prst="line">
            <a:avLst/>
          </a:prstGeom>
          <a:ln w="228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93776" y="47548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" y="5340096"/>
            <a:ext cx="4910328" cy="6400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93776" y="5321808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593591" y="6071616"/>
            <a:ext cx="82296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07992" y="6071616"/>
            <a:ext cx="82296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75303" y="603504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41" name="Oval 40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1901951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Breadcrumb·헤더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AX 플랫폼 / 항목명 / 수정 요청 + '게시된 AX 항목 수정 요청' 헤더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233694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238266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2355233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대상 항목 안내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항목 ID·카테고리 배지 + '항목을 수정합니다'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24728" y="279022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5824728" y="283594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2808514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기본 정보(프리필)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현재 값으로 채워진 사진·제목*·요약*·상세* + 도메인·태그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824728" y="324350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5824728" y="328922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5624" y="3261795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유형별 세부(프리필)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등록 폼 Step 1 유형별 필드 프리필(상태·관계사·실행 URL 제외)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824728" y="369678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824728" y="374250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35624" y="3715076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담당자(프리필)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담당자 행 프리필 + 추가/삭제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24728" y="415006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824728" y="419578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35624" y="4168357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수정 사유*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변경 사유 필수 입력(제출 활성 조건)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'검토 후 반영, Teams·이메일 안내'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824728" y="460335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824728" y="464907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35624" y="4621638"/>
            <a:ext cx="5672023" cy="45328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취소 / 수정 요청 제출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사유·필수값 충족 시 활성, 제출 후 내 현황으로 이동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 항목은 여러 사용자의 판단 근거이므로 등록자 임의 수정을 허용하지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수정 요청 → 관리자 검토 흐름으로 변경 이력을 관리 가능하게 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폼을 등록 Step 1과 동일 구조로 유지해 학습 비용을 없애고 두 폼의 유지보수를 일치시킨다.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상태·관계사·실행 URL 등 삭제된 개념의 수정 UI는 두지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수정 요청은 원본과 분리 레코드로 저장하고 승인 시 원본에 반영, 담당자 변경이 최다 사유 예상.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USR-07  ·  내 현황 (My Status)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내 현황 (/my-status)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헤더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13815" y="1874519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1874519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승인 단계 탭 KPI ×5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496" y="1305306"/>
            <a:ext cx="0" cy="6857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39496" y="1991105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3815" y="22174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22174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신청 목록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9496" y="13053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9496" y="23340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카드 (ID·배지·제목·유형 칩)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23340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병렬 2슬롯 인디케이터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23340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액션(확인·취소·재제출·삭제)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23340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내가 남긴 후기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261104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신청 완료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353406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572862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18582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관계사·전사 병렬 승인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4496501" y="4700016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15957" y="4535424"/>
            <a:ext cx="190535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61677" y="4535424"/>
            <a:ext cx="1813910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게시 완료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3461529" y="5010912"/>
            <a:ext cx="128016" cy="256032"/>
          </a:xfrm>
          <a:prstGeom prst="down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572862" y="5303520"/>
            <a:ext cx="190535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18582" y="5303520"/>
            <a:ext cx="1813910" cy="384048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 → 재제출/삭제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33872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53328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승인 절차가 있는 시스템에서 신청자의 최대 불만은 진행 불투명성 — 병렬 2슬롯을 신청자 관점에서 그대로 보여준다.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각 슬롯(관계사·전사)의 완료 여부를 인디케이터로 노출해 '어디서 멈춰 있는지'를 숨기지 않는다.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914400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225296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로그인 사용자의 신청 항목·승인 현황·작성 후기를 모아 보는 개인 대시보드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병렬 2슬롯 기준 5탭 + 승인 인디케이터 + '내가 남긴 후기'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2004933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204150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27925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315829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'내 신청이 지금 어디까지 갔나'를 즉시 확인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반려 시 사유를 명확히 전달해 재신청을 도움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3095467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3132043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369787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406363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직렬 1차/2차 대신 병렬 슬롯을 시각화(신청→관계사·전사→게시)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이 화면은 순수 조회+반려 대응, 내용 변경은 수정 요청 경로 사용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186000"/>
            <a:ext cx="4866299" cy="11974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2225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4603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496896"/>
            <a:ext cx="4610267" cy="8499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탭 5종: 전체/승인 대기/부분 승인/게시됨/반려(중지는 탭에 없음)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상태 뱃지·상태 변경 UI 없음(승인 수명주기만 유지)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반려 사유는 원문 그대로 표시, 게시됨 카드만 상세 이동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11434"/>
            <a:ext cx="4866299" cy="962517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54801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78575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822330"/>
            <a:ext cx="4610267" cy="615045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 신청 목록 API 응답에 승인 슬롯 현황·반려 사유 포함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상태 변경 엔드포인트는 존재하지 않음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 현황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내 등록 현황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USR-07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/my-status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12064" y="1892807"/>
            <a:ext cx="793699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3776" y="182879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2139695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4129" y="2139695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76195" y="2139695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58260" y="2139695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0326" y="2139695"/>
            <a:ext cx="890625" cy="457200"/>
          </a:xfrm>
          <a:prstGeom prst="rect">
            <a:avLst/>
          </a:prstGeom>
          <a:solidFill>
            <a:srgbClr val="F7F7F7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3776" y="2121407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2724911"/>
            <a:ext cx="4910328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" y="2816351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33856" y="2816351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21792" y="3017519"/>
            <a:ext cx="30815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21792" y="3140963"/>
            <a:ext cx="19105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07992" y="2816351"/>
            <a:ext cx="7772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792" y="3383279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9264" y="3328415"/>
            <a:ext cx="10058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" y="3511295"/>
            <a:ext cx="10058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03704" y="3383279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" y="329183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3639311"/>
            <a:ext cx="713232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399032" y="3639311"/>
            <a:ext cx="713232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176272" y="3639311"/>
            <a:ext cx="713232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953512" y="3639311"/>
            <a:ext cx="713232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3776" y="3602735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2" name="Oval 31"/>
          <p:cNvSpPr/>
          <p:nvPr/>
        </p:nvSpPr>
        <p:spPr>
          <a:xfrm>
            <a:off x="493776" y="2706623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959352"/>
            <a:ext cx="4910328" cy="1097280"/>
          </a:xfrm>
          <a:prstGeom prst="rect">
            <a:avLst/>
          </a:prstGeom>
          <a:solidFill>
            <a:srgbClr val="FFFFFF"/>
          </a:solidFill>
          <a:ln w="177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1792" y="4050791"/>
            <a:ext cx="45720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133856" y="4050791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21792" y="4251960"/>
            <a:ext cx="3081528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21792" y="4375404"/>
            <a:ext cx="1910547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507992" y="4050791"/>
            <a:ext cx="7772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21792" y="4617720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69264" y="4562856"/>
            <a:ext cx="10058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69264" y="4745736"/>
            <a:ext cx="10058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203704" y="4617720"/>
            <a:ext cx="182880" cy="18288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77824" y="4526280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" y="4873752"/>
            <a:ext cx="713232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399032" y="4873752"/>
            <a:ext cx="713232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176272" y="4873752"/>
            <a:ext cx="713232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953512" y="4873752"/>
            <a:ext cx="713232" cy="146304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93776" y="4837176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9" name="Oval 48"/>
          <p:cNvSpPr/>
          <p:nvPr/>
        </p:nvSpPr>
        <p:spPr>
          <a:xfrm>
            <a:off x="493776" y="394106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12064" y="5239512"/>
            <a:ext cx="850392" cy="0"/>
          </a:xfrm>
          <a:prstGeom prst="line">
            <a:avLst/>
          </a:prstGeom>
          <a:ln w="13970">
            <a:solidFill>
              <a:srgbClr val="6666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512064" y="5422392"/>
            <a:ext cx="4910328" cy="905256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93776" y="5221224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54" name="Oval 53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35624" y="190195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헤더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'나의 등록 / 내 등록 현황' 타이틀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824728" y="2412491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5824728" y="2458211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5624" y="2430779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단계 탭 KPI ×5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전체·승인 대기·부분 승인·게시됨·반려 카운트 칩, 클릭 시 해당 단계 필터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824728" y="2941319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5824728" y="2987039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35624" y="2959607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신청 카드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항목 ID·카테고리 배지·제목·요약 + 유형별 요약 칩 + 단계 배지·신청/처리일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824728" y="347014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5824728" y="351586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35624" y="3488435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병렬 2슬롯 인디케이터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신청 완료 → 관계사 관리자 승인·전사 관리자 승인(병렬) → 게시 완료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반려/중지는 컬러 배너로 대체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824728" y="399897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824728" y="404469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35624" y="4017263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액션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내용 확인(확장) / 대기=신청 취소 / 반려=수정 후 재제출·신청 삭제(인라인 확인)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24728" y="4527804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5824728" y="457352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35624" y="4546091"/>
            <a:ext cx="5672023" cy="528827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내가 남긴 후기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카테고리 배지·제목·내용·날짜·'N명이 도움됨'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999999"/>
                </a:solidFill>
                <a:latin typeface="맑은 고딕"/>
                <a:ea typeface="맑은 고딕"/>
              </a:rPr>
              <a:t>안내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빈 상태 '아직 남긴 후기가 없습니다.'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824728" y="5221223"/>
            <a:ext cx="5982919" cy="125272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824728" y="549554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934456" y="526237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52744" y="5532119"/>
            <a:ext cx="5726887" cy="9052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승인 절차의 최대 불만은 진행 불투명성 — 병렬 2슬롯을 신청자 관점에서 그대로 노출한다.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관계사 승인·전사 승인 각각의 완료 여부를 인디케이터로 보여 '어디서 멈췄는지'를 숨기지 않는다.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반려 사유는 원문 그대로 카드 배너에 노출해 재신청을 돕는다.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운영 상태 뱃지·상태 변경 UI는 두지 않는다(승인 수명주기만 유지).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내 신청 목록 API 응답에 슬롯 현황·반려 사유 포함, 상태 변경 엔드포인트는 없음.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84048"/>
            <a:ext cx="799651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USR-08  ·  공통 내비게이션 (Navbar / Footer)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38207" y="384048"/>
            <a:ext cx="4569439" cy="36576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맑은 고딕"/>
                <a:ea typeface="맑은 고딕"/>
              </a:rPr>
              <a:t>화면 정의 (Screen Definition)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84048" y="786384"/>
            <a:ext cx="11423599" cy="0"/>
          </a:xfrm>
          <a:prstGeom prst="line">
            <a:avLst/>
          </a:prstGeom>
          <a:ln w="1905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84048" y="914400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화면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188720"/>
            <a:ext cx="383875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88720"/>
            <a:ext cx="374731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맑은 고딕"/>
                <a:ea typeface="맑은 고딕"/>
              </a:rPr>
              <a:t>공통 컴포넌트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" y="15316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316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Navbar (sticky, h56)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9496" y="1305306"/>
            <a:ext cx="0" cy="3429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9496" y="16482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97864" y="1874519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1874519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로고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3543" y="1648206"/>
            <a:ext cx="0" cy="342899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23543" y="1991105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97864" y="22174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22174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링크 3종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3" y="1648206"/>
            <a:ext cx="0" cy="6858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3" y="23340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197864" y="25603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25603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관리자 진입(★)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23543" y="1648206"/>
            <a:ext cx="0" cy="10287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3543" y="26769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197864" y="29032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584" y="29032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역할 배지 + 아바타 드롭다운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3543" y="1648206"/>
            <a:ext cx="0" cy="13716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23543" y="30198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197864" y="3246120"/>
            <a:ext cx="3362535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584" y="3246120"/>
            <a:ext cx="3271095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SSO 로그인 버튼(비로그인)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43" y="1648206"/>
            <a:ext cx="0" cy="17145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3543" y="3362706"/>
            <a:ext cx="274321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5" y="3589020"/>
            <a:ext cx="3600644" cy="2331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3589020"/>
            <a:ext cx="3509204" cy="233172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맑은 고딕"/>
                <a:ea typeface="맑은 고딕"/>
              </a:rPr>
              <a:t>Footer (하단 고정)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39496" y="1305306"/>
            <a:ext cx="0" cy="240030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39496" y="3705606"/>
            <a:ext cx="274319" cy="0"/>
          </a:xfrm>
          <a:prstGeom prst="line">
            <a:avLst/>
          </a:prstGeom>
          <a:ln w="16510">
            <a:solidFill>
              <a:srgbClr val="9999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84048" y="4974336"/>
            <a:ext cx="6282979" cy="21945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99999"/>
                </a:solidFill>
                <a:latin typeface="맑은 고딕"/>
                <a:ea typeface="맑은 고딕"/>
              </a:rPr>
              <a:t>사용자 흐름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" y="52486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52486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페이지 진입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817632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37088" y="52486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82808" y="52486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내비 노출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424953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44409" y="52486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0129" y="52486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역할 인지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032274" y="5413247"/>
            <a:ext cx="201168" cy="128016"/>
          </a:xfrm>
          <a:prstGeom prst="rightArrow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51730" y="5248655"/>
            <a:ext cx="1369576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97450" y="5248655"/>
            <a:ext cx="1278136" cy="457200"/>
          </a:xfrm>
          <a:prstGeom prst="rect">
            <a:avLst/>
          </a:prstGeom>
          <a:noFill/>
        </p:spPr>
        <p:txBody>
          <a:bodyPr wrap="square" anchor="ctr" lIns="54864" rIns="54864" tIns="27432" bIns="18288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메뉴 이동/로그아웃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768" y="5833871"/>
            <a:ext cx="6191539" cy="201168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설계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8056" y="6053327"/>
            <a:ext cx="6154963" cy="62179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'플랫폼 바로가기'는 카테고리 단위 외부 실행 환경 링크 — 카탈로그는 발견, 실행은 각 플랫폼이 담당.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항목 단위 URL을 두지 않는 정책과 짝을 이루는 설계이며, 관리자 진입점은 관리자에게만 노출한다.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1347" y="914400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51075" y="950976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정의·역할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051075" y="1188720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069363" y="1225296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전 사용자 페이지 상단 고정 Navbar + 하단 고정 Footer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화면 간 이동과 외부 실행 환경 진입 담당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1347" y="1922974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1075" y="1959550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목적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51075" y="2197294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069363" y="2233870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어느 화면에서든 탐색·등록·내 현황·외부 도구로 한 번에 이동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 콘솔 진입점 노출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1347" y="2931549"/>
            <a:ext cx="4866299" cy="109545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1075" y="2968125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기획 의도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051075" y="3205869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069363" y="3242445"/>
            <a:ext cx="4610267" cy="74798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'플랫폼 바로가기'로 카탈로그(발견)와 각 플랫폼(실행)의 역할 분리를 내비게이션에 표현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진입점은 관리자에게만 노출해 일반 사용자 인지 부하 감소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1347" y="4155022"/>
            <a:ext cx="4866299" cy="1310355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1075" y="4191598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지켜야 할 룰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051075" y="4429342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069363" y="4465918"/>
            <a:ext cx="4610267" cy="962883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 진입은 관리자·관계사 관리자에게만 노출, 역할 배지 2종(관리자·관계사 관리자)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외부 환경 URL은 CATEGORIES의 accessUrl에서 파생(ADM-06에서 편집)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운영 문의 채널은 Teams(operations.ts의 단일 상수)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41347" y="5593393"/>
            <a:ext cx="4866299" cy="88055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1075" y="5629969"/>
            <a:ext cx="464684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맑은 고딕"/>
                <a:ea typeface="맑은 고딕"/>
              </a:rPr>
              <a:t>개발 연동 노트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051075" y="5867713"/>
            <a:ext cx="4646844" cy="0"/>
          </a:xfrm>
          <a:prstGeom prst="line">
            <a:avLst/>
          </a:prstGeom>
          <a:ln w="12700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069363" y="5904289"/>
            <a:ext cx="4610267" cy="53308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외부 환경 링크는 카테고리 메타(accessUrl)에서 옴 — 항목 URL과 무관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Teams 채널 URL은 config/operations.ts 단일 참조점(TEAMS_CHANNEL_URL)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84048" y="384048"/>
          <a:ext cx="11423599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4297680"/>
                <a:gridCol w="1280160"/>
                <a:gridCol w="4474159"/>
              </a:tblGrid>
              <a:tr h="384048">
                <a:tc gridSpan="3"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공통 내비게이션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Page 1 / 1</a:t>
                      </a:r>
                    </a:p>
                  </a:txBody>
                  <a:tcPr anchor="ctr" marL="73152" marR="54864" marT="18288" marB="18288">
                    <a:solidFill>
                      <a:srgbClr val="111111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Page Title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Navbar / 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ID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USR-08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Screen Path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components/Navbar·Footer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anchor="ctr" marL="73152" marR="54864" marT="18288" marB="18288">
                    <a:solidFill>
                      <a:srgbClr val="EEEEEE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9525" cap="flat">
                      <a:solidFill>
                        <a:srgbClr val="666666"/>
                      </a:solidFill>
                    </a:lnL>
                    <a:lnR w="9525" cap="flat">
                      <a:solidFill>
                        <a:srgbClr val="666666"/>
                      </a:solidFill>
                    </a:lnR>
                    <a:lnT w="9525" cap="flat">
                      <a:solidFill>
                        <a:srgbClr val="666666"/>
                      </a:solidFill>
                    </a:lnT>
                    <a:lnB w="9525" cap="flat">
                      <a:solidFill>
                        <a:srgbClr val="66666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84048" y="1572767"/>
            <a:ext cx="5166360" cy="4901184"/>
          </a:xfrm>
          <a:prstGeom prst="rect">
            <a:avLst/>
          </a:prstGeom>
          <a:solidFill>
            <a:srgbClr val="FFFFFF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1572767"/>
            <a:ext cx="5166360" cy="146304"/>
          </a:xfrm>
          <a:prstGeom prst="rect">
            <a:avLst/>
          </a:prstGeom>
          <a:solidFill>
            <a:srgbClr val="F7F7F7"/>
          </a:solidFill>
          <a:ln w="304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4632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23059"/>
            <a:ext cx="45720" cy="45720"/>
          </a:xfrm>
          <a:prstGeom prst="ellipse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2029967"/>
            <a:ext cx="4910328" cy="365760"/>
          </a:xfrm>
          <a:prstGeom prst="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4" y="2139696"/>
            <a:ext cx="73152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3776" y="20116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17904" y="2148839"/>
            <a:ext cx="530352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157984" y="2148839"/>
            <a:ext cx="530352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98064" y="2148839"/>
            <a:ext cx="530352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99616" y="20116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9584" y="2148839"/>
            <a:ext cx="548640" cy="128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11296" y="20116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50791" y="2139696"/>
            <a:ext cx="54864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93207" y="2103120"/>
            <a:ext cx="219456" cy="2194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32504" y="2011679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2532887"/>
            <a:ext cx="868680" cy="219456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98264" y="2496311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76472" y="2532887"/>
            <a:ext cx="1554480" cy="914400"/>
          </a:xfrm>
          <a:prstGeom prst="rect">
            <a:avLst/>
          </a:prstGeom>
          <a:solidFill>
            <a:srgbClr val="FFFFFF"/>
          </a:solidFill>
          <a:ln w="165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867911" y="2660903"/>
            <a:ext cx="13716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867911" y="2916935"/>
            <a:ext cx="13716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867911" y="3172968"/>
            <a:ext cx="1371600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6035040"/>
            <a:ext cx="4910328" cy="310896"/>
          </a:xfrm>
          <a:prstGeom prst="rect">
            <a:avLst/>
          </a:prstGeom>
          <a:solidFill>
            <a:srgbClr val="F7F7F7"/>
          </a:solidFill>
          <a:ln w="203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3776" y="6016752"/>
            <a:ext cx="237744" cy="237744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4728" y="1572767"/>
            <a:ext cx="5982919" cy="256032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맑은 고딕"/>
                <a:ea typeface="맑은 고딕"/>
              </a:rPr>
              <a:t>Description</a:t>
            </a:r>
          </a:p>
        </p:txBody>
      </p:sp>
      <p:sp>
        <p:nvSpPr>
          <p:cNvPr id="29" name="Oval 28"/>
          <p:cNvSpPr/>
          <p:nvPr/>
        </p:nvSpPr>
        <p:spPr>
          <a:xfrm>
            <a:off x="5824728" y="1929383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35624" y="1901951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로고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KOLMAR + AX Platform, 클릭 시 랜딩 이동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824728" y="2384755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5824728" y="2430475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35624" y="2403043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주요 링크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소개 · AX 플랫폼 · AX 항목 등록, 현재 경로 강조 + 재클릭 시 필터 리셋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824728" y="2885846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824728" y="2931566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35624" y="2904134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관리자 진입(★)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관리자·관계사 관리자일 때만 별 아이콘 '관리자' 노출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24728" y="3386937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824728" y="3432657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35624" y="3405225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역할 배지·아바타·드롭다운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관리자(앰버)/관계사 관리자(오렌지) 배지 + 역할별 아바타 색 + 드롭다운(내 등록 현황·관리자 페이지·로그아웃)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24728" y="3888028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824728" y="3933748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35624" y="3906316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SSO 로그인 버튼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비로그인 시 노출(공유 모드에선 숨김)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824728" y="4389120"/>
            <a:ext cx="5982919" cy="0"/>
          </a:xfrm>
          <a:prstGeom prst="line">
            <a:avLst/>
          </a:prstGeom>
          <a:ln w="9525">
            <a:solidFill>
              <a:srgbClr val="EEEE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5824728" y="4434840"/>
            <a:ext cx="219456" cy="2194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35624" y="4407408"/>
            <a:ext cx="5672023" cy="501091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Footer </a:t>
            </a:r>
            <a:r>
              <a:rPr sz="950" b="0">
                <a:solidFill>
                  <a:srgbClr val="999999"/>
                </a:solidFill>
                <a:latin typeface="맑은 고딕"/>
                <a:ea typeface="맑은 고딕"/>
              </a:rPr>
              <a:t>— </a:t>
            </a:r>
            <a:r>
              <a:rPr sz="900" b="0">
                <a:solidFill>
                  <a:srgbClr val="666666"/>
                </a:solidFill>
                <a:latin typeface="맑은 고딕"/>
                <a:ea typeface="맑은 고딕"/>
              </a:rPr>
              <a:t>하단 고정, 'KOLMAR · Tech Hub · 사내 전용 플랫폼 · 외부 접근 불가'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24728" y="5054803"/>
            <a:ext cx="5982919" cy="1419148"/>
          </a:xfrm>
          <a:prstGeom prst="rect">
            <a:avLst/>
          </a:prstGeom>
          <a:solidFill>
            <a:srgbClr val="F7F7F7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5824728" y="5329123"/>
            <a:ext cx="5982919" cy="0"/>
          </a:xfrm>
          <a:prstGeom prst="line">
            <a:avLst/>
          </a:prstGeom>
          <a:ln w="12700">
            <a:solidFill>
              <a:srgbClr val="CCC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34456" y="5095951"/>
            <a:ext cx="5763463" cy="237744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111"/>
                </a:solidFill>
                <a:latin typeface="맑은 고딕"/>
                <a:ea typeface="맑은 고딕"/>
              </a:rPr>
              <a:t>화면 룰·기획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2744" y="5365699"/>
            <a:ext cx="5726887" cy="1071676"/>
          </a:xfrm>
          <a:prstGeom prst="rect">
            <a:avLst/>
          </a:prstGeom>
          <a:noFill/>
        </p:spPr>
        <p:txBody>
          <a:bodyPr wrap="square" anchor="t" lIns="54864" rIns="54864" tIns="27432" bIns="18288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'플랫폼 바로가기'는 카테고리 단위 외부 실행 환경 링크(n8n 서버·HK GPT 등)다.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카탈로그는 발견을, 실행은 각 플랫폼이 담당한다는 역할 분리를 내비게이션에 표현했다.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이는 항목 단위 URL을 두지 않는 정책과 짝을 이루는 설계다.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>
                <a:solidFill>
                  <a:srgbClr val="999999"/>
                </a:solidFill>
                <a:latin typeface="맑은 고딕"/>
                <a:ea typeface="맑은 고딕"/>
              </a:rPr>
              <a:t>· </a:t>
            </a:r>
            <a:r>
              <a:rPr sz="850" b="0">
                <a:solidFill>
                  <a:srgbClr val="333333"/>
                </a:solidFill>
                <a:latin typeface="맑은 고딕"/>
                <a:ea typeface="맑은 고딕"/>
              </a:rPr>
              <a:t>관리자 진입점은 관리자에게만 노출해 일반 사용자의 인지 부하를 줄인다.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DC2626"/>
                </a:solidFill>
                <a:latin typeface="맑은 고딕"/>
                <a:ea typeface="맑은 고딕"/>
              </a:rPr>
              <a:t>BE·DB  </a:t>
            </a:r>
            <a:r>
              <a:rPr sz="850" b="0">
                <a:solidFill>
                  <a:srgbClr val="666666"/>
                </a:solidFill>
                <a:latin typeface="맑은 고딕"/>
                <a:ea typeface="맑은 고딕"/>
              </a:rPr>
              <a:t>외부 환경 URL은 카테고리 메타(accessUrl)에서, 운영 문의 채널은 operations.ts의 Teams 상수에서 온다.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