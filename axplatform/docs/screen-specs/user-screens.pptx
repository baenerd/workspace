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USR-01  ·  로그인 (Login)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로그인 (/login)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로그인 카드 (max 380)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97864" y="1874519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1874519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브랜드 로고 · 안내 문구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3" y="1648206"/>
            <a:ext cx="0" cy="3428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3" y="1991105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SSO 로그인 버튼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6482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데모 계정 토글 → 6종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6482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문의 · 외부 접근 고지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6482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" y="4114800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114800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/login 진입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496168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15624" y="4114800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1344" y="4114800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SSO 로그인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782025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01481" y="4114800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7201" y="4114800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인증 성공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067882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87338" y="4114800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3058" y="4114800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역할 판별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353738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3194" y="4114800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8914" y="4114800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홈·복귀 이동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4747386" y="4590288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87338" y="4882896"/>
            <a:ext cx="1048112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3058" y="4882896"/>
            <a:ext cx="956672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admin·관계사→/admin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Microsoft SSO 기반 사내 로그인. ?redirect=로 복귀 경로 수신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데모 계정 프리셋 6종(admin1·user3·companyAdmin2)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1347" y="2261889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069363" y="2572785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폐쇄형 플랫폼의 단일 진입점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데모에서 역할별 화면 즉시 체험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1347" y="3609379"/>
            <a:ext cx="4866299" cy="1517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1075" y="364595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51075" y="388369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069363" y="3920275"/>
            <a:ext cx="4610267" cy="116961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SSO 버튼은 데모 스텁(실 연동 시 백엔드 교체)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admin·companyAdmin→/admin, 그 외→redirectTo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문의 tech-hub@kolmar.co.kr · 외부 접근 불가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중앙 단일 카드로 시선 집중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데모 계정은 접이식으로 숨겨 실 SSO 우선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로그인 (Login)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로그인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/login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78508" y="2167127"/>
            <a:ext cx="2377440" cy="3675888"/>
          </a:xfrm>
          <a:prstGeom prst="rect">
            <a:avLst/>
          </a:prstGeom>
          <a:solidFill>
            <a:srgbClr val="FFFFFF"/>
          </a:solidFill>
          <a:ln w="203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4308" y="2368296"/>
            <a:ext cx="100584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60220" y="233172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35708" y="2770632"/>
            <a:ext cx="146304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35708" y="2898648"/>
            <a:ext cx="90708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60220" y="271576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2828" y="3172968"/>
            <a:ext cx="1828800" cy="2743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60220" y="31363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2828" y="3584448"/>
            <a:ext cx="1828800" cy="23774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2828" y="3904487"/>
            <a:ext cx="182880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2828" y="4215383"/>
            <a:ext cx="182880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2828" y="4526279"/>
            <a:ext cx="182880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60220" y="385876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4268" y="5385816"/>
            <a:ext cx="16459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44268" y="5504688"/>
            <a:ext cx="115214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760220" y="534009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25" name="Oval 24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브랜드 로고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KOLMAR + AX Platform 워드마크, 카드 상단 중앙 · 타이틀 'Kolmar AX Platform'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안내 문구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'사내 계정으로 로그인하세요' 서브 문구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SSO 로그인 버튼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'Microsoft 계정으로 로그인' → 로딩 후 데모 관리자 로그인·redirectTo 이동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실 연동 시 백엔드 로그인으로 교체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데모 계정 토글·리스트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'데모 계정으로 로그인 ▾' 펼침 시 6종 노출, 클릭 시 역할별 이동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데모 전용 · 실 배포 시 제거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문의·보안 고지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'로그인 문제 문의 tech-hub@kolmar.co.kr' + '사내 전용 플랫폼 · 외부 접근 불가'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USR-02  ·  소개 (About)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소개 (/about)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HERO (뱃지·타이틀·CTA 2·팩트)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01 왜 AX Platform (문제→해법 ×4)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02 무엇을 다루나 (카테고리 ×7)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03 질문에서 출발 (콘셉트 ×3)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04 이용 흐름 (4-step)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05 FAQ (아코디언)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CTA 배너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탐색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81763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3708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280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확인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24953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44409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0129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등록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32274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51730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97450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공유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플랫폼 취지·대상·이용법 정적 소개 페이지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01 Why→02 What→03 질문→04 흐름→05 FAQ→CTA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261889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72785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'무엇을·왜·어떻게' 한 페이지로 설명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탐색·등록 신청으로 유도(CTA)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609379"/>
            <a:ext cx="4866299" cy="1517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64595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88369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920275"/>
            <a:ext cx="4610267" cy="116961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다루지 않는 것 명시: 일반 IT·시스템 구축(MES·SRM·ERP)·인프라·BI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7유형은 '카테고리'로 표기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Agent는 관리자가 카탈로그로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'질문에서 출발' 콘셉트로 콘텐츠 성격 각인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로드맵(AX 검색 AI) 문구는 CTA 배너에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소개 (About)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소개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/about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29383"/>
            <a:ext cx="64008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2184" y="1938527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39112" y="1938527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938527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9783" y="1901951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285999"/>
            <a:ext cx="4910328" cy="658368"/>
          </a:xfrm>
          <a:prstGeom prst="rect">
            <a:avLst/>
          </a:prstGeom>
          <a:solidFill>
            <a:srgbClr val="F7F7F7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01468" y="2359151"/>
            <a:ext cx="73152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52144" y="2560319"/>
            <a:ext cx="36301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2144" y="2679191"/>
            <a:ext cx="2541117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098548" y="2798063"/>
            <a:ext cx="822960" cy="12801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2948" y="2798063"/>
            <a:ext cx="822960" cy="12801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" y="22677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3054095"/>
            <a:ext cx="240030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22092" y="3054095"/>
            <a:ext cx="240030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" y="3392423"/>
            <a:ext cx="240030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22092" y="3392423"/>
            <a:ext cx="240030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3776" y="303580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3730751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67078" y="3730751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22092" y="3730751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77106" y="3730751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" y="4059935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67078" y="4059935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22092" y="4059935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7106" y="4059935"/>
            <a:ext cx="1145286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3776" y="371246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4389119"/>
            <a:ext cx="1563624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85416" y="4389119"/>
            <a:ext cx="1563624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58768" y="4389119"/>
            <a:ext cx="1563624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3776" y="437083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0" name="Oval 39"/>
          <p:cNvSpPr/>
          <p:nvPr/>
        </p:nvSpPr>
        <p:spPr>
          <a:xfrm>
            <a:off x="694944" y="4919471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48840" y="4919471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02736" y="4919471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56632" y="4919471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86384" y="5020055"/>
            <a:ext cx="4361688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93776" y="488289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5266944"/>
            <a:ext cx="491032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" y="5468112"/>
            <a:ext cx="491032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3776" y="52486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" y="5724144"/>
            <a:ext cx="4910328" cy="603504"/>
          </a:xfrm>
          <a:prstGeom prst="rect">
            <a:avLst/>
          </a:prstGeom>
          <a:solidFill>
            <a:srgbClr val="F7F7F7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3776" y="57058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2" name="Oval 51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35624" y="1901951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공통 Navbar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 페이지 상단 고정 내비게이션 (USR-08)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24728" y="24551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5824728" y="25008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5624" y="2473451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HERO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'Kolmar Group' 뱃지 + 타이틀 '그룹의 자동화·AI 자산, AX Platform에서 만나세요' + CTA [자산 탐색하기]/[내 자산 등록하기] + 팩트(29개 관계사·7가지 자산 유형)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3044951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01 왜 AX Platform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문제→해법 카드 4종: 흩어진 자산 / 중복 개발 / 무엇을 쓸지 모름 / 사례 단절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24728" y="35981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824728" y="36438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35624" y="3616451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02 무엇을 다루나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 카드 7종(클릭 시 /projects?platform=&lt;id&gt;)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다루지 않는 것: 일반 IT·시스템 구축·인프라·BI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35624" y="4187952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03 질문에서 출발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질문형 콘셉트 카드 3종(AI Agent·나만의 비서·Vibe Coding)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824728" y="47411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824728" y="47868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35624" y="4759452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04 어떻게 이용하나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탐색→확인→등록→공유 4-step + 'AI Agent는 관리자가 카탈로그로 관리' 안내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35624" y="5330952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05 FAQ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접이식 4문항(대상·평가 미반영·등록 대상·문의 경로)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24728" y="58841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5824728" y="59298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5902452"/>
            <a:ext cx="5672023" cy="5715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CTA 배너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탐색 유도 + 'AX 검색 AI' 로드맵 예고 문구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USR-03  ·  카탈로그 목록 (AX 플랫폼 탐색)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카탈로그 (/projects)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페이지 헤더 (타이틀·검색·그룹뷰어 배지)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sticky 필터 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카테고리 필터 (7종)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도메인 필터 (6종)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인기 태그 · 초기화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991105"/>
            <a:ext cx="0" cy="10287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정렬 · 결과 카운트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항목 카드 그리드 (더 보기 24씩)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검색·필터 입력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81763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3708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280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목록 즉시 갱신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24953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44409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0129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카드 선택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32274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51730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97450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 상세 이동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게시된 AX 항목 탐색 목록. sticky 2행 필터 바 + 카드 그리드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URL 파라미터 ?q= ?platform= ?domain= 만 사용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261889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72785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7개 카테고리 전 자산을 한 지도에서 탐색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중복 개발 방지·재사용 유도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609379"/>
            <a:ext cx="4866299" cy="1517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64595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88369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920275"/>
            <a:ext cx="4610267" cy="116961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운영 상태/관계사/usage 필터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company는 비노출 관계사 접근 게이팅용(표시 필터 아님)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isGroupViewer는 비노출 관계사도 조회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사이드바 대신 sticky 필터로 본문 폭 확보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카드는 강점 칩+비용 배지로 비교 축 표면화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카탈로그 목록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AX 플랫폼 탐색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/projects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457200"/>
          </a:xfrm>
          <a:prstGeom prst="rect">
            <a:avLst/>
          </a:prstGeom>
          <a:solidFill>
            <a:srgbClr val="F7F7F7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03504" y="1938527"/>
            <a:ext cx="793699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85031" y="1975103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85031" y="2176272"/>
            <a:ext cx="1645920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85031" y="1947672"/>
            <a:ext cx="164592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395727"/>
            <a:ext cx="4910328" cy="603504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33856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57984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0048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82112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94176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2468879"/>
            <a:ext cx="420624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6" y="24323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55648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22576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89504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56432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23359" y="2670047"/>
            <a:ext cx="4572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66359" y="2633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789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361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933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505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07792" y="2852927"/>
            <a:ext cx="384048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776" y="281635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7784" y="3145536"/>
            <a:ext cx="51023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959352" y="3090672"/>
            <a:ext cx="420624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34840" y="3090672"/>
            <a:ext cx="420624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10328" y="3090672"/>
            <a:ext cx="420624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3776" y="307238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" y="3401568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85416" y="3401568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58768" y="3401568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2064" y="4413504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85416" y="4413504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858768" y="4413504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2064" y="5425440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85416" y="5425440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858768" y="5425440"/>
            <a:ext cx="1563624" cy="902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3776" y="33832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5" name="Oval 54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5624" y="1901951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헤더·검색 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타이틀 'AX 플랫폼 탐색' + 검색(제목·요약·태그·부서, ?q= 동기화)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isGroupViewer는 '그룹 관리자 권한으로 모든 관계사 조회 중' 배지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24728" y="25368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824728" y="258252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2555094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sticky 필터 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스크롤 시 상단 고정 2행 필터 바(좌측 사이드바 아님)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24728" y="318994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824728" y="323566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35624" y="3208237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전체+7종 칩(n8n·PA·나만의 비서·AI Agent·ML·Vibe·AI 프로젝트), 선택 시 목록 즉시 갱신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24728" y="384309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824728" y="38888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35624" y="3861380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도메인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전체+6종(영업·생산·연구·재무·HR·IT) 칩 필터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824728" y="449623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824728" y="454195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35624" y="4514523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인기 태그·초기화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빈도 상위 6개 태그(검색어 토글) + [초기화](카테고리·도메인 리셋)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824728" y="514937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5824728" y="519509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35624" y="5167666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정렬·카운트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'N개 항목' + 정렬 3종(최신순/인기순/이름순)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24728" y="580252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5824728" y="584824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5820809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카드 그리드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카드=카테고리·도메인 배지·좋아요·제목(2줄)·요약(2줄)·태그 3(또는 AI Agent 강점 칩+비용 배지)·업데이트·부서. 하단 [더 보기]·빈 상태 '검색 결과가 없습니다.'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USR-04  ·  항목 상세 (Item Detail)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항목 상세 (/{platform}/:itemId)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Breadcrumb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 (배지·제목·요약·액션)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탭 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개요 (이미지·설명·출처·후기)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23340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상세 (유형별)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23340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담당자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23340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97864" y="35890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35890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업데이트·논의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3" y="23340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3" y="37056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3815" y="39319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9319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사이드바 (모델 접속·태그)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" y="1305306"/>
            <a:ext cx="0" cy="27432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9496" y="40485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4048" y="43845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" y="46588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6588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 진입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496168" y="48234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715624" y="46588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61344" y="46588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개요 확인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782025" y="48234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01481" y="46588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47201" y="46588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유형별 상세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067882" y="48234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87338" y="46588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3058" y="46588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담당자·논의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353738" y="48234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73194" y="46588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18914" y="46588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후기·좋아요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914400"/>
            <a:ext cx="4866299" cy="12938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1225296"/>
            <a:ext cx="4610267" cy="94640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항목 상세(7경로). 탭=개요/상세/담당자/업데이트·논의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vibe·etc는 상세 탭 숨김→개요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2336292"/>
            <a:ext cx="4866299" cy="9781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2372868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2610612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2647188"/>
            <a:ext cx="4610267" cy="63063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사용법·구성·담당자·논의를 한 곳에서 확인·재사용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1347" y="3442416"/>
            <a:ext cx="4866299" cy="160964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1075" y="347899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51075" y="371673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69363" y="3753312"/>
            <a:ext cx="4610267" cy="126217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상태·실행 버튼·관계사 표시 제거(예외: AI Agent 가용 배지·모델 접속)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후기는 개요 탭 내부 섹션에서 등록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제목은 모델명 단독, 방문 시 최근 본 항목 저장(최대 10)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1347" y="5180076"/>
            <a:ext cx="4866299" cy="12938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51075" y="521665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051075" y="545439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069363" y="5490972"/>
            <a:ext cx="4610267" cy="94640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유형별 상세 라벨·구성 차등(모델 사양/비서 구성/플로우/모델 정보…)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Agent는 강점 서술을 최상단에 우선 노출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상세  —  공통·개요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5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상세 — 공통·개요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/{platform}/:itemId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2103120"/>
            <a:ext cx="4910328" cy="658368"/>
          </a:xfrm>
          <a:prstGeom prst="rect">
            <a:avLst/>
          </a:prstGeom>
          <a:solidFill>
            <a:srgbClr val="F7F7F7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2176272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8448" y="2176272"/>
            <a:ext cx="54864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03504" y="2395727"/>
            <a:ext cx="260878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" y="2514599"/>
            <a:ext cx="173918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85031" y="2395727"/>
            <a:ext cx="50292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33672" y="2395727"/>
            <a:ext cx="54864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18888" y="2395727"/>
            <a:ext cx="54864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3776" y="208483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3502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5798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8094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12064" y="3035808"/>
            <a:ext cx="4910328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9377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145535"/>
            <a:ext cx="3240816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03504" y="3803903"/>
            <a:ext cx="305793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" y="3927347"/>
            <a:ext cx="305793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3504" y="4050791"/>
            <a:ext cx="18959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12064" y="4279392"/>
            <a:ext cx="3240816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" y="4663440"/>
            <a:ext cx="3240816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03504" y="4791455"/>
            <a:ext cx="305793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3504" y="4914899"/>
            <a:ext cx="18959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3776" y="312724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17472" y="3145535"/>
            <a:ext cx="150491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17472" y="3694175"/>
            <a:ext cx="150491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990624" y="3803903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90624" y="3968495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90624" y="4133087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99184" y="312724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1" name="Oval 4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Breadcrumb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Platform / 카테고리명 / 항목 제목 경로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 배지 +(AI Agent) 가용 배지·제공사 + 제목 + 요약 + [♥ 좋아요][담당자 연락][모델 접속→](AI Agent만) + 메타(부서·수정일·카테고리)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개요 / 상세 / 담당자 / 업데이트·논의(글 수). 상세 탭은 vibe·etc 숨김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개요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이미지 캐러셀 + 설명(줄바꿈 보존) + 출처(카테고리 배지+shortDesc) + 활용 후기 목록·등록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후기 '아직 등록된 후기가 없습니다.'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사이드바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모델 접속 링크(specificUrl) + 태그 목록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상세  —  탭 구성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5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상세 — 탭 안내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/{platform}/:itemId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" y="2103120"/>
            <a:ext cx="4910328" cy="658368"/>
          </a:xfrm>
          <a:prstGeom prst="rect">
            <a:avLst/>
          </a:prstGeom>
          <a:solidFill>
            <a:srgbClr val="F7F7F7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2176272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98448" y="2176272"/>
            <a:ext cx="54864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03504" y="2395727"/>
            <a:ext cx="260878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" y="2514599"/>
            <a:ext cx="1739188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85031" y="2395727"/>
            <a:ext cx="50292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33672" y="2395727"/>
            <a:ext cx="54864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18888" y="2395727"/>
            <a:ext cx="54864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3502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5798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80944" y="2852927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12064" y="3035808"/>
            <a:ext cx="4910328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377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3145535"/>
            <a:ext cx="3240816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03504" y="3803903"/>
            <a:ext cx="3057936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" y="3927347"/>
            <a:ext cx="3057936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" y="4050791"/>
            <a:ext cx="189592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2064" y="4279392"/>
            <a:ext cx="3240816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" y="4663440"/>
            <a:ext cx="3240816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03504" y="4791455"/>
            <a:ext cx="3057936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3504" y="4914899"/>
            <a:ext cx="189592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17472" y="3145535"/>
            <a:ext cx="150491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17472" y="3694175"/>
            <a:ext cx="150491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90624" y="3803903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90624" y="3968495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90624" y="4133087"/>
            <a:ext cx="1358615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1673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213969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8" name="Oval 37"/>
          <p:cNvSpPr/>
          <p:nvPr/>
        </p:nvSpPr>
        <p:spPr>
          <a:xfrm>
            <a:off x="296265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0" name="Oval 39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개요 / 상세 / 담당자 / 업데이트·논의(글 수). 상세 탭은 vibe·etc 숨김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유형별 렌더 — 다음 슬라이드 참조(n8n·PA·비서·AI Agent·ML)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담당자 카드(이름·부서·배지)+[이메일](mailto)+이메일 표기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업데이트·논의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게시글 목록(작성자·부서·태그·좋아요)+글 작성(태그 4종:공지/Q&amp;A/이슈제보/건의)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'아직 등록된 글이 없습니다.'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상세  —  상세 A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3 / 5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상세 탭 — n8n / PA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/{platform}/:itemId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" y="2103120"/>
            <a:ext cx="4910328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3502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5798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8094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12064" y="2926080"/>
            <a:ext cx="4910328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16736" y="272491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054096"/>
            <a:ext cx="4910328" cy="822960"/>
          </a:xfrm>
          <a:prstGeom prst="rect">
            <a:avLst/>
          </a:prstGeom>
          <a:solidFill>
            <a:srgbClr val="F7F7F7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776" y="30358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968496"/>
            <a:ext cx="2356957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5434" y="3968496"/>
            <a:ext cx="2356957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39502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3047146" y="39502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4608576"/>
            <a:ext cx="4910328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03504" y="4718304"/>
            <a:ext cx="472744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" y="4841748"/>
            <a:ext cx="472744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" y="4965192"/>
            <a:ext cx="2931017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3776" y="459028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5202936"/>
            <a:ext cx="109728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776" y="516636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30" name="Oval 29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탭 활성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'상세' 탭 선택 상태 — 유형별 라벨(모델 사양/비서 구성/플로우 정보/모델 정보…)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[n8n] 워크플로우 다이어그램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N8nFlowPreview 시각화 + [JSON 다운로드]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[n8n] 예상 효과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예상 절감 시간 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[n8n] 구성 난이도 / [PA] 예상 효과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 난이도 칩 · PA는 '플로우 정보—예상 효과'(없으면 폴백 문구)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[n8n] 상세 설명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다이어그램 하단 상세 설명 본문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공통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이미지·좋아요·담당자 연락은 공통 헤더/개요와 동일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상세  —  상세 B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4 / 5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상세 탭 — 나만의 비서 / AI Agent / ML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/{platform}/:itemId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" y="2103120"/>
            <a:ext cx="4910328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3502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5798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8094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12064" y="2926080"/>
            <a:ext cx="4910328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16736" y="272491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054096"/>
            <a:ext cx="4910328" cy="822960"/>
          </a:xfrm>
          <a:prstGeom prst="rect">
            <a:avLst/>
          </a:prstGeom>
          <a:solidFill>
            <a:srgbClr val="F7F7F7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776" y="30358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968496"/>
            <a:ext cx="2356957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5434" y="3968496"/>
            <a:ext cx="2356957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39502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3047146" y="39502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4608576"/>
            <a:ext cx="4910328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03504" y="4718304"/>
            <a:ext cx="472744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" y="4841748"/>
            <a:ext cx="472744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" y="4965192"/>
            <a:ext cx="2931017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3776" y="459028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5202936"/>
            <a:ext cx="109728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776" y="516636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30" name="Oval 29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탭 활성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유형별 상세 탭(비서 구성 / 모델 사양 / 모델 정보)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[AI Agent] 강점 및 활용 방법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상세 최상단 강조 서술 박스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[AI Agent] 세부 모델명 / [비서] 기반 모델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모델명·처리 가능 글 분량 · 비서 기반 모델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[AI Agent] 비용 등급·[모델 접속→] / [비서] 공유 프롬프트·[복사]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비용 배지+접속+비교 링크 · 비서 프롬프트 복사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[ML] 모델 유형·개발 도구·학습 데이터 개요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ML 모델 정보 카드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[Vibe·AI 프로젝트]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상세 탭 없음 → 개요에 블로그형 통합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상세  —  담당자·논의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5 / 5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담당자 · 업데이트·논의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/{platform}/:itemId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" y="2103120"/>
            <a:ext cx="4910328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3502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5798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80944" y="2743200"/>
            <a:ext cx="7315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12064" y="2926080"/>
            <a:ext cx="4910328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39696" y="272491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054096"/>
            <a:ext cx="4910328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3182112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60704" y="3218688"/>
            <a:ext cx="146304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60704" y="3342132"/>
            <a:ext cx="90708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07992" y="3236976"/>
            <a:ext cx="73152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3831335"/>
            <a:ext cx="4910328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81304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" y="303580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197096"/>
            <a:ext cx="491032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" y="4288536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69264" y="4288536"/>
            <a:ext cx="399592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" y="4411979"/>
            <a:ext cx="247747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12064" y="4700016"/>
            <a:ext cx="491032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791455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69264" y="4791455"/>
            <a:ext cx="399592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9264" y="4914899"/>
            <a:ext cx="247747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93776" y="416052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5248655"/>
            <a:ext cx="6858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89304" y="5248655"/>
            <a:ext cx="6858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66543" y="5248655"/>
            <a:ext cx="6858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43784" y="5248655"/>
            <a:ext cx="6858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" y="5468112"/>
            <a:ext cx="4910328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07992" y="6071616"/>
            <a:ext cx="82296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3776" y="523036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1" name="Oval 4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 카드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담당자 이름·부서·담당자 배지 + [이메일] 버튼(mailto) + 이메일 표기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논의 안내 배너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'공지·질문·이슈제보·건의를 남기는 공간. 담당자 직접 문의는 담당자 탭 이용.'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게시글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글별 작성자·부서·태그 배지·좋아요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'아직 등록된 글이 없습니다.'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글 작성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태그 4종(공지/Q&amp;A/이슈제보/건의) 선택 + textarea + [등록]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USR-05  ·  신규 항목 등록 신청 (3단계)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등록 신청 (/projects/new)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스텝 인디케이터 (3단계)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Step 0 유형 선택 (카드 ×7)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Step 1 정보 입력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공통(사진·제목·요약·상세·도메인·태그)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23340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유형별 세부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23340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담당자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23340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Step 2 최종 확인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 선택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496168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15624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61344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내용 입력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782025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01481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47201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최종 확인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06788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87338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33058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신청 접수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353738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73194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8914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승인 대기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3단계 고정 스텝 폼. 유형 선택→정보 입력→최종 확인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제출 시 서버가 항목 ID 발급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누구나 자신의 자산을 표준 형식으로 등록 신청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 검토(병렬 2슬롯) 후 게시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범위 입력 없음(전 항목 전사 공용 company:[])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상태·실행 URL 없음(예외: AI Agent 가용 여부·모델 접속 URL)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AI Agent 유형은 관리자 전용 등록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ID {PREFIX}-{YYYY}-{순번}, 서버 발급·불변·결번 재사용 금지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필수/선택 클러스터 구분선으로 부담 완화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n8n은 JSON 업로드로 다이어그램 자동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신규 등록 신청  —  Step 0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Step 0 — 유형 선택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/projects/new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1248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40280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478024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77056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9664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2322575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22092" y="2322575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" y="2967227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22092" y="2967227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" y="3611879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22092" y="3611879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" y="4256531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22092" y="4256531"/>
            <a:ext cx="2400300" cy="5349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3776" y="22859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4928616"/>
            <a:ext cx="4910328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3776" y="489204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" y="5266944"/>
            <a:ext cx="4910328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6" y="52303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6071616"/>
            <a:ext cx="82296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9704" y="603504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33" name="Oval 32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스텝 인디케이터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1 유형 선택 · 2 정보 입력 · 3 최종 확인(완료 ✓·현재 강조)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유형 선택 카드 ×7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카테고리별 설명 카드 클릭 선택. 비관리자에게 AI Agent 미노출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관리자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isAdmin 시 'AI Agent 유형은 관리자 전용 등록…' 안내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공통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'어떤 유형을 선택해도 등록 신청→관리자 검토→승인 절차는 동일하게 적용됩니다.'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다음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유형 선택 시 활성화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신규 등록 신청  —  Step 1 · 공통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Step 1 — 정보 입력(공통·담당자)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/projects/new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1248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40280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478024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77056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9664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285999"/>
            <a:ext cx="4910328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414015"/>
            <a:ext cx="4690872" cy="502920"/>
          </a:xfrm>
          <a:prstGeom prst="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3054095"/>
            <a:ext cx="46908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21792" y="3236975"/>
            <a:ext cx="469087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1792" y="3346703"/>
            <a:ext cx="46908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21792" y="3529583"/>
            <a:ext cx="469087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1792" y="3602735"/>
            <a:ext cx="4690872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3776" y="224942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114800"/>
            <a:ext cx="4910328" cy="914400"/>
          </a:xfrm>
          <a:prstGeom prst="rect">
            <a:avLst/>
          </a:prstGeom>
          <a:solidFill>
            <a:srgbClr val="F7F7F7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21792" y="4242816"/>
            <a:ext cx="469087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1792" y="4366259"/>
            <a:ext cx="469087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1792" y="4489704"/>
            <a:ext cx="469087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1792" y="4613148"/>
            <a:ext cx="290834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12064" y="5120640"/>
            <a:ext cx="4910328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1792" y="5413247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94510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794510" y="5413247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67228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967228" y="5413247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139946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39946" y="5413247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" y="5477255"/>
            <a:ext cx="10058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3776" y="508406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2" name="Oval 41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1901951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스텝 인디케이터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현재 Step 1(정보 입력) 활성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3425951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공통 기본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사진(캐러셀·최대 10장) + 제목*·한 줄 요약*·상세 설명* + 구분선 + 업무 도메인(선택)·태그(ChipInput)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10장 초과 시 앞 10장만 반영 경고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4949952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이름·부서·이메일·역할(주/공동) + [+ 담당자 추가]. 첫 행 필수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신규 등록 신청  —  Step 1 · 유형별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3 / 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Step 1 — 유형별 세부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/projects/new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1248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40280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478024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77056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9664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285999"/>
            <a:ext cx="4910328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414015"/>
            <a:ext cx="4690872" cy="50292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3054095"/>
            <a:ext cx="46908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21792" y="3236975"/>
            <a:ext cx="469087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1792" y="3346703"/>
            <a:ext cx="46908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21792" y="3529583"/>
            <a:ext cx="469087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1792" y="3602735"/>
            <a:ext cx="4690872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" y="4114800"/>
            <a:ext cx="4910328" cy="914400"/>
          </a:xfrm>
          <a:prstGeom prst="rect">
            <a:avLst/>
          </a:prstGeom>
          <a:solidFill>
            <a:srgbClr val="F7F7F7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21792" y="4242816"/>
            <a:ext cx="469087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1792" y="4366259"/>
            <a:ext cx="469087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1792" y="4489704"/>
            <a:ext cx="469087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1792" y="4613148"/>
            <a:ext cx="290834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93776" y="407822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" y="5120640"/>
            <a:ext cx="4910328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1792" y="5413247"/>
            <a:ext cx="113614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94510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794510" y="5413247"/>
            <a:ext cx="113614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67228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967228" y="5413247"/>
            <a:ext cx="113614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139946" y="5248655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39946" y="5413247"/>
            <a:ext cx="1136142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" y="5477255"/>
            <a:ext cx="1005840" cy="1463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1" name="Oval 4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1901951"/>
            <a:ext cx="5672023" cy="2286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스텝 인디케이터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현재 Step 1(정보 입력) 활성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4187952"/>
            <a:ext cx="5672023" cy="2286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유형별 세부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n8n=JSON 업로드→다이어그램·절감시간·난이도 / PA=절감시간 / 비서=공유 프롬프트*·기반 모델 / ML=모델 유형*·학습 데이터·개발 도구 / AI Agent(관리자 전용)=가용 여부*·강점*·모델 접속 URL*·세부 모델명·글 분량·비용 / Vibe·AI 프로젝트=공통만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신규 등록 신청  —  Step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4 / 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Step 2 — 최종 확인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/projects/new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1248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40280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478024" y="1956815"/>
            <a:ext cx="1307592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77056" y="184708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9664" y="1874519"/>
            <a:ext cx="996696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285999"/>
            <a:ext cx="4910328" cy="274320"/>
          </a:xfrm>
          <a:prstGeom prst="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3776" y="224942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" y="2688335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75104" y="2688335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" y="2944368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75104" y="2944368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2064" y="3200399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75104" y="3200399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" y="3456431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75104" y="3456431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" y="3712463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5104" y="3712463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2064" y="3968496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75104" y="3968496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" y="4224527"/>
            <a:ext cx="1280160" cy="0"/>
          </a:xfrm>
          <a:prstGeom prst="line">
            <a:avLst/>
          </a:prstGeom>
          <a:ln w="1270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75104" y="4224527"/>
            <a:ext cx="3355848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3776" y="26334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4608575"/>
            <a:ext cx="4910328" cy="256032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3776" y="45720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4919471"/>
            <a:ext cx="4910328" cy="256032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776" y="488289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6071616"/>
            <a:ext cx="82296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07992" y="6071616"/>
            <a:ext cx="82296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89704" y="603504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2" name="Oval 41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스텝 인디케이터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현재 Step 2(최종 확인) 활성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카테고리 배너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'&lt;카테고리&gt;으로 등록합니다' 확인 배너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요약 행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제목·요약·사진·도메인·태그·유형별·주담당자 라벨-값 리스트(160px 라벨)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ID 발급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'{PREFIX}-{YYYY}-순번 형식의 고유 ID가 발급됩니다'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승인 절차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'등록 신청→관리자 검토→승인 절차를 거쳐 게시. 결과는 이메일·Teams 알림.'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이전 / 제출하기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제출 완료 시 발급 ID 표시 후 /my-status 이동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USR-06  ·  수정 요청 (Edit Request)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수정 요청 (/edit-request/:id)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Breadcrumb · 헤더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대상 항목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기본 정보 (프리필)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유형별 세부 (프리필)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담당자 (프리필)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수정 사유*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제출 (취소 / 수정 요청 제출)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게시 항목 진입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496168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15624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61344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값 프리필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782025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01481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47201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변경·사유 입력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06788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87338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33058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제출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353738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73194" y="4315968"/>
            <a:ext cx="1048112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8914" y="4315968"/>
            <a:ext cx="956672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관리자 검토·반영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게시된 항목 수정 신청. 등록 폼 Step 1과 1:1 대응 프리필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변경 내용 + 수정 사유 제출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2261889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2572785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게시본 정보 갱신을 관리자 검토로 반영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이력이 남는 정식 수정 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3609379"/>
            <a:ext cx="4866299" cy="1517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364595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388369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3920275"/>
            <a:ext cx="4610267" cy="116961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상태·관계사·실행 URL·삭제된 유형별 필드 수정 UI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변경 사유(reason) 필수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사진은 등록 폼과 동일한 캐러셀 입력 공유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 폼과 동일 구조로 학습 비용 최소화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결과는 Teams·이메일로 안내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수정 요청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게시 항목 수정 요청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/edit-request/:id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975103"/>
            <a:ext cx="2011680" cy="0"/>
          </a:xfrm>
          <a:prstGeom prst="line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" y="2084831"/>
            <a:ext cx="4910328" cy="36576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2523744"/>
            <a:ext cx="4910328" cy="256032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776" y="248716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852927"/>
            <a:ext cx="4910328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962656"/>
            <a:ext cx="4690872" cy="365760"/>
          </a:xfrm>
          <a:prstGeom prst="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419856"/>
            <a:ext cx="469087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21792" y="3584448"/>
            <a:ext cx="469087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1792" y="3675887"/>
            <a:ext cx="469087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21792" y="3840479"/>
            <a:ext cx="469087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93776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4023359"/>
            <a:ext cx="4910328" cy="640080"/>
          </a:xfrm>
          <a:prstGeom prst="rect">
            <a:avLst/>
          </a:prstGeom>
          <a:solidFill>
            <a:srgbClr val="F7F7F7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21792" y="4133087"/>
            <a:ext cx="469087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1792" y="4256531"/>
            <a:ext cx="469087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1792" y="4379975"/>
            <a:ext cx="290834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93776" y="40050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773168"/>
            <a:ext cx="4910328" cy="4572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4919472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21792" y="5084064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794510" y="4919472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94510" y="5084064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7228" y="4919472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967228" y="5084064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139946" y="4919472"/>
            <a:ext cx="113614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39946" y="5084064"/>
            <a:ext cx="113614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93776" y="475488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" y="5340096"/>
            <a:ext cx="4910328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3776" y="53218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93591" y="6071616"/>
            <a:ext cx="82296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07992" y="6071616"/>
            <a:ext cx="82296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75303" y="603504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1" name="Oval 4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1901951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Breadcrumb·헤더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플랫폼 / 항목명 / 수정 요청 + '게시된 AX 항목 수정 요청' 헤더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24728" y="25368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824728" y="258252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2555094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대상 항목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 ID·카테고리 배지 + '항목을 수정합니다'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24728" y="318994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824728" y="323566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5624" y="3208237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기본 정보(프리필)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현재 값으로 채워진 사진·제목*·요약*·상세* + 도메인·태그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24728" y="384309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824728" y="38888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3861380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유형별 세부(프리필)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 폼 Step 1 유형별 필드 프리필(상태·관계사·실행 URL 제외)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824728" y="449623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824728" y="454195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35624" y="4514523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담당자(프리필)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담당자 행 프리필 + 추가/삭제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24728" y="514937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824728" y="519509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5624" y="5167666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수정 사유*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변경 사유 필수 입력(제출 활성 조건)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'검토 후 반영, Teams·이메일 안내'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24728" y="580252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24728" y="584824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5624" y="5820809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취소 / 수정 요청 제출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사유·필수값 충족 시 활성, 제출 후 /my-status 이동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USR-07  ·  내 현황 (My Status)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내 현황 (/my-status)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승인 단계 탭 KPI ×5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신청 목록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카드 (ID·배지·제목·유형 칩)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23340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병렬 2슬롯 인디케이터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23340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액션(확인·취소·재제출·삭제)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23340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내가 남긴 후기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신청 완료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53406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72862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8582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관계사·전사 병렬 승인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496501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15957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1677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게시 완료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461529" y="4791455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72862" y="5084064"/>
            <a:ext cx="190535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8582" y="5084064"/>
            <a:ext cx="1813910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반려 → 재제출/삭제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내 등록 신청의 승인 현황 조회. 병렬 2슬롯 기준 5탭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병렬 승인 인디케이터 + '내가 남긴 후기'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261889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72785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신청 건 승인 진행을 슬롯 단위로 투명 확인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반려 재제출·취소·삭제 제공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609379"/>
            <a:ext cx="4866299" cy="1517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64595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88369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920275"/>
            <a:ext cx="4610267" cy="116961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탭 5종: 전체/승인 대기/부분 승인/게시됨/반려 (중지는 탭에 없음)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운영 상태 폐기·승인 수명주기만 유지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게시됨 카드만 상세 이동, 대기·부분 승인은 신청 취소 가능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직렬 1차/2차 대신 병렬 슬롯 시각화(신청→관계사·전사→게시)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반려 사유를 카드 내 배너로 즉시 노출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 현황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내 등록 현황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/my-status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" y="1892807"/>
            <a:ext cx="793699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3776" y="182879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2139695"/>
            <a:ext cx="890625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94129" y="2139695"/>
            <a:ext cx="890625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76195" y="2139695"/>
            <a:ext cx="890625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8260" y="2139695"/>
            <a:ext cx="890625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0326" y="2139695"/>
            <a:ext cx="890625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3776" y="212140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724911"/>
            <a:ext cx="4910328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281635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3856" y="2816351"/>
            <a:ext cx="54864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21792" y="3017519"/>
            <a:ext cx="308152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1792" y="3140963"/>
            <a:ext cx="1910547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07992" y="281635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" y="3383279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" y="3328415"/>
            <a:ext cx="10058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" y="3511295"/>
            <a:ext cx="10058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03704" y="3383279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2918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639311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99032" y="3639311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76272" y="3639311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53512" y="3639311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" y="360273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493776" y="270662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3959352"/>
            <a:ext cx="4910328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" y="405079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33856" y="4050791"/>
            <a:ext cx="54864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21792" y="4251960"/>
            <a:ext cx="308152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1792" y="4375404"/>
            <a:ext cx="1910547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07992" y="405079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" y="4617720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9264" y="4562856"/>
            <a:ext cx="10058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264" y="4745736"/>
            <a:ext cx="10058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203704" y="4617720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4" y="452628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" y="4873752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99032" y="4873752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176272" y="4873752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53512" y="4873752"/>
            <a:ext cx="713232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3776" y="483717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9" name="Oval 48"/>
          <p:cNvSpPr/>
          <p:nvPr/>
        </p:nvSpPr>
        <p:spPr>
          <a:xfrm>
            <a:off x="493776" y="394106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12064" y="5239512"/>
            <a:ext cx="85039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2064" y="5422392"/>
            <a:ext cx="4910328" cy="905256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93776" y="522122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4" name="Oval 53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'나의 등록 / 내 등록 현황' 타이틀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단계 탭 KPI ×5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전체·승인 대기·부분 승인·게시됨·반려 카운트 칩, 클릭 시 해당 단계 필터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신청 카드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 ID·카테고리 배지·제목·요약 + 유형별 요약 칩 + 단계 배지·신청/처리일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병렬 2슬롯 인디케이터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신청 완료 → 관계사 관리자 승인·전사 관리자 승인(병렬) → 게시 완료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반려/중지는 컬러 배너로 대체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내용 확인(확장) / 대기=신청 취소 / 반려=수정 후 재제출·신청 삭제(인라인 확인)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내가 남긴 후기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플랫폼 배지·제목·내용·날짜·'N명이 도움됨'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'아직 남긴 후기가 없습니다.'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USR-08  ·  공통 내비게이션 (Navbar / Footer)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공통 컴포넌트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Navbar (sticky, h56)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97864" y="1874519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1874519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로고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3" y="1648206"/>
            <a:ext cx="0" cy="3428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3" y="1991105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링크 3종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6482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관리자 진입(★)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6482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역할 배지 + 아바타 드롭다운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6482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SSO 로그인 버튼(비로그인)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16482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Footer (하단 고정)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페이지 진입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81763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3708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280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내비 노출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24953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44409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0129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역할 인지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32274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51730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97450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메뉴 이동/로그아웃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 사용자 페이지 상단 고정 Navbar + 하단 고정 Footer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로고·링크·관리자 진입·역할 배지·프로필/SSO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일관된 전역 내비게이션·역할 인지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 콘솔 진입점 노출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 진입은 isAdmin || isCompanyAdmin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역할 배지 2종(관리자 앰버·관계사 관리자 오렌지)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동일 경로 재클릭 시 필터 리셋(_resetAt)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공유 모드: SSO 버튼 숨김·배너 오프셋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역할별 배지·아바타 색 분기로 권한 인지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sticky·blur로 스크롤 중 접근성 유지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공통 내비게이션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Navbar / Footer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USR-08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components/Navbar·Footer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2029967"/>
            <a:ext cx="4910328" cy="365760"/>
          </a:xfrm>
          <a:prstGeom prst="rect">
            <a:avLst/>
          </a:prstGeom>
          <a:solidFill>
            <a:srgbClr val="FFFFFF"/>
          </a:solidFill>
          <a:ln w="203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" y="2139696"/>
            <a:ext cx="73152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20116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7904" y="2148839"/>
            <a:ext cx="530352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57984" y="2148839"/>
            <a:ext cx="530352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2148839"/>
            <a:ext cx="530352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99616" y="20116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2148839"/>
            <a:ext cx="54864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11296" y="20116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0791" y="2139696"/>
            <a:ext cx="5486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93207" y="210312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32504" y="20116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2532887"/>
            <a:ext cx="86868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98264" y="24963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76472" y="2532887"/>
            <a:ext cx="155448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67911" y="2660903"/>
            <a:ext cx="13716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67911" y="2916935"/>
            <a:ext cx="13716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67911" y="3172968"/>
            <a:ext cx="137160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" y="6035040"/>
            <a:ext cx="4910328" cy="310896"/>
          </a:xfrm>
          <a:prstGeom prst="rect">
            <a:avLst/>
          </a:prstGeom>
          <a:solidFill>
            <a:srgbClr val="F7F7F7"/>
          </a:solidFill>
          <a:ln w="203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3776" y="601675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29" name="Oval 28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로고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KOLMAR + AX Platform, 클릭 시 랜딩(/) 이동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주요 링크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소개 · AX 플랫폼 · AX 항목 등록, 현재 경로 강조 + 재클릭 필터 리셋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관리자 진입(★)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isAdmin/isCompanyAdmin일 때만 별 아이콘 '관리자' 노출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역할 배지·아바타·드롭다운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관리자(앰버)/관계사 관리자(오렌지) 배지 + 역할별 아바타 색 + 드롭다운(내 등록 현황·관리자 페이지·로그아웃)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SSO 로그인 버튼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비로그인 시 노출(공유 모드에선 숨김)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Footer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하단 고정, 'KOLMAR Tech Hub · 사내 전용 플랫폼 · 외부 접근 불가'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