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84048"/>
            <a:ext cx="799651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ADM-01  ·  관리자 대시보드 (Dashboard)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8207" y="384048"/>
            <a:ext cx="456943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9999"/>
                </a:solidFill>
                <a:latin typeface="맑은 고딕"/>
                <a:ea typeface="맑은 고딕"/>
              </a:rPr>
              <a:t>화면 정의 (Screen Definition)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4048" y="786384"/>
            <a:ext cx="11423599" cy="0"/>
          </a:xfrm>
          <a:prstGeom prst="line">
            <a:avLst/>
          </a:prstGeom>
          <a:ln w="1905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4048" y="91440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화면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188720"/>
            <a:ext cx="383875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88720"/>
            <a:ext cx="374731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대시보드 (/admin)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" y="15316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316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헤더 (타이틀·조회 범위 선택기)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" y="13053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" y="16482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815" y="1874519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874519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KPI 카드 ×5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" y="1305306"/>
            <a:ext cx="0" cy="685799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9496" y="1991105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3815" y="22174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2174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승인 대기 · 최근 승인 (2열)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9496" y="1305306"/>
            <a:ext cx="0" cy="10287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9496" y="23340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3815" y="25603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25603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월별 등록 추이 · 카테고리별 구성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9496" y="1305306"/>
            <a:ext cx="0" cy="13716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39496" y="26769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3815" y="29032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29032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비즈니스 도메인 분포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9496" y="1305306"/>
            <a:ext cx="0" cy="17145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9496" y="30198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84048" y="4974336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사용자 흐름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" y="5248655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5248655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범위 선택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1817632" y="5413247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037088" y="5248655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82808" y="5248655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KPI 집계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3424953" y="5413247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44409" y="5248655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90129" y="5248655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대기·최근 검토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5032274" y="5413247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251730" y="5248655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97450" y="5248655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검토/상세 이동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" y="5833871"/>
            <a:ext cx="6191539" cy="201168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설계 근거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" y="6053327"/>
            <a:ext cx="6154963" cy="62179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핵심은 권한 범위와 조회 범위의 분리 — 조회는 유연하게, 처리 책임(대기 건수)은 고정으로.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관계사 관리자도 전사 현황을 조망하되, 사이드바 대기 건수는 자기 권한 범위로 고정된다.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41347" y="914400"/>
            <a:ext cx="4866299" cy="88055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51075" y="950976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정의·역할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051075" y="1188720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069363" y="1225296"/>
            <a:ext cx="4610267" cy="53308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전사·관계사 관리자 공용 관리 진입점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KPI 5 + 승인 대기·최근 승인 목록 + 등록 추이·카테고리·도메인 분포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41347" y="1922974"/>
            <a:ext cx="4866299" cy="88055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51075" y="1959550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목적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051075" y="2197294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069363" y="2233870"/>
            <a:ext cx="4610267" cy="53308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로그인 직후 '지금 처리할 것(승인 대기)'과 '어떻게 크고 있나(추이)'를 즉시 파악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41347" y="2931549"/>
            <a:ext cx="4866299" cy="109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51075" y="2968125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기획 의도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051075" y="3205869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069363" y="3242445"/>
            <a:ext cx="4610267" cy="74798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권한 범위(처리 책임)와 조회 범위(맥락 파악)를 분리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'게시된 도구'는 게시 여부라는 유일한 객관 기준 — 상태 기반 지표는 성립하지 않음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41347" y="4155022"/>
            <a:ext cx="4866299" cy="131035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51075" y="4191598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지켜야 할 룰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051075" y="4429342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069363" y="4465918"/>
            <a:ext cx="4610267" cy="962883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KPI 5종: 전체 등록물·승인 대기(부분 승인 포함)·이번 달 신규·게시된 도구·누적 활용 후기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카테고리별 분포의 색·라벨은 CATEGORIES 파생(7종)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사이드바 대기 건수는 권한 범위 기준 고정(조회 선택과 무관)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41347" y="5593393"/>
            <a:ext cx="4866299" cy="88055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51075" y="5629969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개발 연동 노트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051075" y="5867713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069363" y="5904289"/>
            <a:ext cx="4610267" cy="53308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대기·최근 승인·통계 API는 범위 파라미터 수신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범위 한정은 서버 사이드 필터링 원칙(클라이언트 필터 금지 — 권한 신뢰 경계)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관리자 대시보드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1 / 1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대시보드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ADM-01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2194559"/>
            <a:ext cx="228234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959352" y="2194559"/>
            <a:ext cx="1371600" cy="23774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167127"/>
            <a:ext cx="1371600" cy="237744"/>
          </a:xfrm>
          <a:prstGeom prst="rect">
            <a:avLst/>
          </a:prstGeom>
          <a:noFill/>
        </p:spPr>
        <p:txBody>
          <a:bodyPr wrap="square" anchor="ctr" lIns="54864" rIns="54864" tIns="0" bIns="18288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맑은 고딕"/>
                <a:ea typeface="맑은 고딕"/>
              </a:rPr>
              <a:t>범위</a:t>
            </a:r>
          </a:p>
        </p:txBody>
      </p:sp>
      <p:sp>
        <p:nvSpPr>
          <p:cNvPr id="21" name="Oval 20"/>
          <p:cNvSpPr/>
          <p:nvPr/>
        </p:nvSpPr>
        <p:spPr>
          <a:xfrm>
            <a:off x="1600200" y="21762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18488" y="2560319"/>
            <a:ext cx="687628" cy="54864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79268" y="2560319"/>
            <a:ext cx="687628" cy="54864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40049" y="2560319"/>
            <a:ext cx="687628" cy="54864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00830" y="2560319"/>
            <a:ext cx="687628" cy="54864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1611" y="2560319"/>
            <a:ext cx="687628" cy="54864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600200" y="254203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18488" y="3236975"/>
            <a:ext cx="1810512" cy="91440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1709928" y="3364991"/>
            <a:ext cx="10091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09928" y="3621023"/>
            <a:ext cx="10091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709928" y="3877055"/>
            <a:ext cx="10091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600200" y="321868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11880" y="3236975"/>
            <a:ext cx="1810512" cy="91440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3703320" y="3364991"/>
            <a:ext cx="10091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703320" y="3621023"/>
            <a:ext cx="10091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703320" y="3877055"/>
            <a:ext cx="10091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593592" y="321868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618488" y="5102351"/>
            <a:ext cx="1764792" cy="0"/>
          </a:xfrm>
          <a:prstGeom prst="line">
            <a:avLst/>
          </a:prstGeom>
          <a:ln w="1651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668910" y="4649723"/>
            <a:ext cx="151267" cy="452628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21023" y="4443983"/>
            <a:ext cx="151267" cy="658368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3136" y="4773167"/>
            <a:ext cx="151267" cy="329184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25250" y="4320540"/>
            <a:ext cx="151267" cy="781812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677363" y="4608575"/>
            <a:ext cx="151267" cy="493776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929476" y="4509820"/>
            <a:ext cx="151267" cy="592531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181589" y="4690871"/>
            <a:ext cx="151267" cy="411480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18488" y="4233671"/>
            <a:ext cx="1764792" cy="237744"/>
          </a:xfrm>
          <a:prstGeom prst="rect">
            <a:avLst/>
          </a:prstGeom>
          <a:noFill/>
        </p:spPr>
        <p:txBody>
          <a:bodyPr wrap="square" anchor="ctr" lIns="54864" rIns="54864" tIns="0" bIns="18288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맑은 고딕"/>
                <a:ea typeface="맑은 고딕"/>
              </a:rPr>
              <a:t>추이</a:t>
            </a:r>
          </a:p>
        </p:txBody>
      </p:sp>
      <p:sp>
        <p:nvSpPr>
          <p:cNvPr id="47" name="Oval 46"/>
          <p:cNvSpPr/>
          <p:nvPr/>
        </p:nvSpPr>
        <p:spPr>
          <a:xfrm>
            <a:off x="1600200" y="4261103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0" y="4279391"/>
            <a:ext cx="1764792" cy="82296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3749040" y="4965191"/>
            <a:ext cx="1581912" cy="0"/>
          </a:xfrm>
          <a:prstGeom prst="line">
            <a:avLst/>
          </a:prstGeom>
          <a:ln w="1651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3828135" y="4471415"/>
            <a:ext cx="237286" cy="493776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23613" y="4581143"/>
            <a:ext cx="237286" cy="384048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19091" y="4690871"/>
            <a:ext cx="237286" cy="274320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14569" y="4800599"/>
            <a:ext cx="237286" cy="164592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639312" y="4261103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18488" y="5212079"/>
            <a:ext cx="3803904" cy="1115568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709928" y="6236208"/>
            <a:ext cx="3621024" cy="0"/>
          </a:xfrm>
          <a:prstGeom prst="line">
            <a:avLst/>
          </a:prstGeom>
          <a:ln w="1651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830628" y="5676595"/>
            <a:ext cx="362102" cy="559612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434132" y="5396788"/>
            <a:ext cx="362102" cy="839419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037636" y="5769864"/>
            <a:ext cx="362102" cy="466344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41140" y="5583326"/>
            <a:ext cx="362102" cy="652881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244644" y="5863132"/>
            <a:ext cx="362102" cy="373075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848148" y="5723229"/>
            <a:ext cx="362102" cy="512978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600200" y="5193792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65" name="Oval 64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35624" y="1901951"/>
            <a:ext cx="5672023" cy="45328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헤더·조회 범위 선택기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타이틀 '대시보드' + 조회 범위 선택기(전사 관리자 항상 · 관계사 관리자 담당 2곳↑), 1곳=배지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0곳: '담당 관계사가 지정되지 않았습니다. 전사관리자에게 문의하세요.'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824728" y="2336945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5824728" y="2382665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35624" y="2355233"/>
            <a:ext cx="5672023" cy="45328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KPI 카드 ×5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전체 등록물 · 승인 대기(부분 승인 N건 포함) · 이번 달 신규 · 게시된 도구 · 누적 활용 후기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824728" y="2790226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5824728" y="2835946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35624" y="2808514"/>
            <a:ext cx="5672023" cy="45328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승인 대기 패널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미종결 대기 항목(소스·제목·부서·유형·신청일) + [전체 보기 →] + 항목별 [검토]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824728" y="3243507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5824728" y="3289227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35624" y="3261795"/>
            <a:ext cx="5672023" cy="45328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최근 승인 패널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최근 승인건(소스·제목·부서·승인일·'승인' 배지) + [전체 보기 →], 행 클릭→상세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824728" y="3696788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5824728" y="3742508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35624" y="3715076"/>
            <a:ext cx="5672023" cy="45328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월별 등록 추이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카테고리별 7유형 스택 막대(CATEGORIES 색)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824728" y="4150069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5824728" y="4195789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35624" y="4168357"/>
            <a:ext cx="5672023" cy="45328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카테고리별 구성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누적 N건 구성비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5824728" y="4603350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5824728" y="4649070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35624" y="4621638"/>
            <a:ext cx="5672023" cy="45328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비즈니스 도메인 분포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AX 플랫폼 기준 도메인 분포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824728" y="5221223"/>
            <a:ext cx="5982919" cy="1252728"/>
          </a:xfrm>
          <a:prstGeom prst="rect">
            <a:avLst/>
          </a:prstGeom>
          <a:solidFill>
            <a:srgbClr val="F7F7F7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5824728" y="5495543"/>
            <a:ext cx="5982919" cy="0"/>
          </a:xfrm>
          <a:prstGeom prst="line">
            <a:avLst/>
          </a:prstGeom>
          <a:ln w="1270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5934456" y="5262371"/>
            <a:ext cx="576346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화면 룰·기획 근거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952744" y="5532119"/>
            <a:ext cx="5726887" cy="9052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관계사 관리자도 전사 현황을 조망하되 처리 책임(대기 건수)은 자기 권한 범위로 고정 — 조회는 유연, 책임은 고정.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'게시된 도구'는 게시 여부라는 유일한 객관 기준 — 운영 상태가 없어 상태 기반 지표는 성립하지 않는다.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카테고리별 분포 색·라벨은 CATEGORIES 단일 소스 파생으로 목록·통계와 항상 일치한다.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DC2626"/>
                </a:solidFill>
                <a:latin typeface="맑은 고딕"/>
                <a:ea typeface="맑은 고딕"/>
              </a:rPr>
              <a:t>BE·DB 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통계 API의 범위 한정은 서버 사이드 필터링 원칙(권한 신뢰 경계).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84048"/>
            <a:ext cx="799651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ADM-02  ·  등록 검토 (병렬 2-슬롯 승인)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8207" y="384048"/>
            <a:ext cx="456943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9999"/>
                </a:solidFill>
                <a:latin typeface="맑은 고딕"/>
                <a:ea typeface="맑은 고딕"/>
              </a:rPr>
              <a:t>화면 정의 (Screen Definition)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4048" y="786384"/>
            <a:ext cx="11423599" cy="0"/>
          </a:xfrm>
          <a:prstGeom prst="line">
            <a:avLst/>
          </a:prstGeom>
          <a:ln w="1905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4048" y="91440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화면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188720"/>
            <a:ext cx="383875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88720"/>
            <a:ext cx="374731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등록 검토 (/admin/review)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" y="15316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316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요약 스트립 필터 4칩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" y="13053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" y="16482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815" y="1874519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874519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등록 신청 목록 (진행 필)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" y="1305306"/>
            <a:ext cx="0" cy="685799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9496" y="1991105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3815" y="22174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2174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상세 검토 패널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9496" y="1305306"/>
            <a:ext cx="0" cy="10287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9496" y="23340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97864" y="25603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" y="25603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슬롯 카드 2 (관계사/전사)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3543" y="23340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3543" y="26769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197864" y="29032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584" y="29032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검토 필드 · 승인 이력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3543" y="2334006"/>
            <a:ext cx="0" cy="6858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23543" y="30198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197864" y="32461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584" y="32461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반려 (사유 필수)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3543" y="2334006"/>
            <a:ext cx="0" cy="10287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3543" y="33627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84048" y="4005072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사용자 흐름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" y="4517136"/>
            <a:ext cx="1880966" cy="4023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4517136"/>
            <a:ext cx="1789526" cy="402336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신청 접수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85054" y="4279392"/>
            <a:ext cx="1880966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30774" y="4279392"/>
            <a:ext cx="1789526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  <a:ea typeface="맑은 고딕"/>
              </a:rPr>
              <a:t>관계사 관리자 승인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85054" y="4791456"/>
            <a:ext cx="1880966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30774" y="4791456"/>
            <a:ext cx="1789526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  <a:ea typeface="맑은 고딕"/>
              </a:rPr>
              <a:t>전사 관리자 승인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40341" y="4517136"/>
            <a:ext cx="1880966" cy="40233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86061" y="4517136"/>
            <a:ext cx="1789526" cy="402336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맑은 고딕"/>
                <a:ea typeface="맑은 고딕"/>
              </a:rPr>
              <a:t>2/2 완료 → 게시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310734" y="4718304"/>
            <a:ext cx="137160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447894" y="4462272"/>
            <a:ext cx="0" cy="512064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447894" y="4462272"/>
            <a:ext cx="137160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447894" y="4974336"/>
            <a:ext cx="137160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66021" y="4462272"/>
            <a:ext cx="137160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6021" y="4974336"/>
            <a:ext cx="137160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03181" y="4462272"/>
            <a:ext cx="0" cy="512064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03181" y="4718304"/>
            <a:ext cx="137160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ight Arrow 48"/>
          <p:cNvSpPr/>
          <p:nvPr/>
        </p:nvSpPr>
        <p:spPr>
          <a:xfrm>
            <a:off x="4603181" y="4672584"/>
            <a:ext cx="118872" cy="100584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own Arrow 49"/>
          <p:cNvSpPr/>
          <p:nvPr/>
        </p:nvSpPr>
        <p:spPr>
          <a:xfrm>
            <a:off x="3461529" y="5166359"/>
            <a:ext cx="128016" cy="201168"/>
          </a:xfrm>
          <a:prstGeom prst="down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585054" y="5376672"/>
            <a:ext cx="1880966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30774" y="5376672"/>
            <a:ext cx="1789526" cy="329184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  <a:ea typeface="맑은 고딕"/>
              </a:rPr>
              <a:t>반려 → 종결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9768" y="5833872"/>
            <a:ext cx="6191539" cy="201168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설계 근거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" y="6053328"/>
            <a:ext cx="6154963" cy="62179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두 슬롯은 순서 없이 병렬 — 어느 쪽이 먼저 승인해도 되고, 두 슬롯이 모두 채워지는 순간 게시된다.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순서를 강제하면 앞 단계가 병목이 되므로, 병렬 구조로 두 검토자가 서로를 기다리지 않게 한다.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41347" y="914400"/>
            <a:ext cx="4866299" cy="844599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51075" y="950976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정의·역할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051075" y="1188720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069363" y="1225296"/>
            <a:ext cx="4610267" cy="497127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등록 신청·수정 요청을 검토해 슬롯 승인 또는 반려하는 화면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승인 워크플로우의 실행 지점 — 관계사 슬롯 / 전사 슬롯을 개별 처리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41347" y="1887015"/>
            <a:ext cx="4866299" cy="844599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51075" y="1923591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목적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051075" y="2161335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069363" y="2197911"/>
            <a:ext cx="4610267" cy="497127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검토자가 신청 내용 전체를 한 화면에서 확인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자기 권한에 해당하는 슬롯을 처리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41347" y="2859631"/>
            <a:ext cx="4866299" cy="844599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51075" y="2896207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기획 의도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051075" y="3133951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069363" y="3170527"/>
            <a:ext cx="4610267" cy="497127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병렬 2-슬롯의 목적은 승인 병목 제거 — 두 관리자가 서로를 기다리지 않음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검토 표시 필드는 등록 폼과 같은 체계 — 어긋나면 반려 사유가 엉뚱해짐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41347" y="3832246"/>
            <a:ext cx="4866299" cy="125684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051075" y="3868822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지켜야 할 룰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051075" y="4106566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069363" y="4143142"/>
            <a:ext cx="4610267" cy="90937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두 슬롯 모두 승인→게시됨, 어느 한쪽 반려→반려(종결). 일괄 게시 버튼 없음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전사 공용 항목은 관계사 슬롯도 전사 관리자만 승인. 자격 판정은 원본 항목 기준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반려 사유 필수·원문 전달, 승인 이력(누가·어느 슬롯·언제·사유) 표시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41347" y="5217107"/>
            <a:ext cx="4866299" cy="125684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51075" y="5253683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개발 연동 노트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7051075" y="5491427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069363" y="5528003"/>
            <a:ext cx="4610267" cy="90937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승인/반려 API body에 슬롯 식별 포함(company·companyScope는 서버 내부 데이터)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이력 기록+슬롯 갱신+게시 전환(2/2)은 트랜잭션으로 묶고 슬롯 자격은 서버 재검증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등록 검토 (병렬 2-슬롯)  —  목록·슬롯 승인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1 / 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등록 신청 목록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ADM-02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/admin/review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2194559"/>
            <a:ext cx="877824" cy="384048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9464" y="2194559"/>
            <a:ext cx="877824" cy="384048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20440" y="2194559"/>
            <a:ext cx="877824" cy="384048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71416" y="2194559"/>
            <a:ext cx="877824" cy="384048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600200" y="21762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18488" y="2670047"/>
            <a:ext cx="1369405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1618488" y="2852927"/>
            <a:ext cx="1369405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618488" y="2642615"/>
            <a:ext cx="1369405" cy="237744"/>
          </a:xfrm>
          <a:prstGeom prst="rect">
            <a:avLst/>
          </a:prstGeom>
          <a:noFill/>
        </p:spPr>
        <p:txBody>
          <a:bodyPr wrap="square" anchor="ctr" lIns="54864" rIns="54864" tIns="0" bIns="18288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맑은 고딕"/>
                <a:ea typeface="맑은 고딕"/>
              </a:rPr>
              <a:t>필터</a:t>
            </a:r>
          </a:p>
        </p:txBody>
      </p:sp>
      <p:sp>
        <p:nvSpPr>
          <p:cNvPr id="26" name="Oval 25"/>
          <p:cNvSpPr/>
          <p:nvPr/>
        </p:nvSpPr>
        <p:spPr>
          <a:xfrm>
            <a:off x="1600200" y="265175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18488" y="2944367"/>
            <a:ext cx="1369405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673352" y="2999231"/>
            <a:ext cx="547762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73493" y="3072383"/>
            <a:ext cx="82296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18488" y="3401567"/>
            <a:ext cx="1369405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673352" y="3456431"/>
            <a:ext cx="547762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73493" y="3529583"/>
            <a:ext cx="82296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618488" y="3858767"/>
            <a:ext cx="1369405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673352" y="3913631"/>
            <a:ext cx="547762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73493" y="3986783"/>
            <a:ext cx="82296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18488" y="4315967"/>
            <a:ext cx="1369405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673352" y="4370831"/>
            <a:ext cx="547762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073493" y="4443983"/>
            <a:ext cx="82296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600200" y="292607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34197" y="2670047"/>
            <a:ext cx="2288194" cy="237744"/>
          </a:xfrm>
          <a:prstGeom prst="rect">
            <a:avLst/>
          </a:prstGeom>
          <a:solidFill>
            <a:srgbClr val="F7F7F7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15909" y="265175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134197" y="2980943"/>
            <a:ext cx="993076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3115909" y="2962655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34197" y="3200399"/>
            <a:ext cx="1098333" cy="54864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4058" y="3200399"/>
            <a:ext cx="1098333" cy="54864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225637" y="3547871"/>
            <a:ext cx="686458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415498" y="3547871"/>
            <a:ext cx="686458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134197" y="3840479"/>
            <a:ext cx="640080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34197" y="3813047"/>
            <a:ext cx="640080" cy="237744"/>
          </a:xfrm>
          <a:prstGeom prst="rect">
            <a:avLst/>
          </a:prstGeom>
          <a:noFill/>
        </p:spPr>
        <p:txBody>
          <a:bodyPr wrap="square" anchor="ctr" lIns="54864" rIns="54864" tIns="0" bIns="18288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맑은 고딕"/>
                <a:ea typeface="맑은 고딕"/>
              </a:rPr>
              <a:t>반려</a:t>
            </a:r>
          </a:p>
        </p:txBody>
      </p:sp>
      <p:sp>
        <p:nvSpPr>
          <p:cNvPr id="50" name="Oval 49"/>
          <p:cNvSpPr/>
          <p:nvPr/>
        </p:nvSpPr>
        <p:spPr>
          <a:xfrm>
            <a:off x="3115909" y="382219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34197" y="4114799"/>
            <a:ext cx="2288194" cy="640080"/>
          </a:xfrm>
          <a:prstGeom prst="rect">
            <a:avLst/>
          </a:prstGeom>
          <a:solidFill>
            <a:srgbClr val="F7F7F7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3225637" y="4224527"/>
            <a:ext cx="2105315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25637" y="4347971"/>
            <a:ext cx="2105315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225637" y="4471415"/>
            <a:ext cx="2105315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225637" y="4594859"/>
            <a:ext cx="1305295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3134197" y="4864607"/>
            <a:ext cx="2288194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3225637" y="4956047"/>
            <a:ext cx="2105315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225637" y="5079491"/>
            <a:ext cx="1305295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60" name="Oval 59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35624" y="1901951"/>
            <a:ext cx="5672023" cy="47335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요약 스트립 필터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전체 · 승인 대기 · 부분 승인 · 처리완료 4칩(카운트 겸 필터)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부분 승인 건수&gt;0 시 '관계사만 N · 전사만 N' 서브라인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824728" y="2357018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5824728" y="2402738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35624" y="2375306"/>
            <a:ext cx="5672023" cy="47335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소스 필터 · 목록 필터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카테고리(전체+7유형) 선택 + 역할 배너(관계사/전사 승인 담당)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824728" y="2830372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5824728" y="2876092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35624" y="2848660"/>
            <a:ext cx="5672023" cy="47335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등록 신청 목록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소스·단계 배지·제목·부서·신청자 + 진행 필(관계사|전사 2분할, 승인 시 초록 ✓)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빈 목록 '해당하는 신청 건이 없습니다.'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824728" y="3303727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5824728" y="3349447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35624" y="3322015"/>
            <a:ext cx="5672023" cy="47335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상세 헤더·슬롯 카드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카테고리·단계 배지·ID·신청일 + 슬롯 카드 2장(관계사 관리자 승인 / 전사 관리자 승인, [이 슬롯 승인])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824728" y="3777081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5824728" y="3822801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35624" y="3795369"/>
            <a:ext cx="5672023" cy="47335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반려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'반려' → 사유 필수 → 반려 확정 시 종결(신청자에 그대로 전달)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824728" y="4250436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5824728" y="4296156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35624" y="4268724"/>
            <a:ext cx="5672023" cy="47335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게시 배너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'내용을 직접 수정한 후 승인할 수 있습니다. 두 승인이 모두 완료되면 게시됩니다.'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824728" y="4888382"/>
            <a:ext cx="5982919" cy="1585569"/>
          </a:xfrm>
          <a:prstGeom prst="rect">
            <a:avLst/>
          </a:prstGeom>
          <a:solidFill>
            <a:srgbClr val="F7F7F7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5824728" y="5162702"/>
            <a:ext cx="5982919" cy="0"/>
          </a:xfrm>
          <a:prstGeom prst="line">
            <a:avLst/>
          </a:prstGeom>
          <a:ln w="1270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934456" y="4929530"/>
            <a:ext cx="576346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화면 룰·기획 근거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52744" y="5199278"/>
            <a:ext cx="5726887" cy="1238097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병렬 2-슬롯의 목적은 승인 병목 제거 — 순서를 강제하면 앞 사람의 응답 속도에 전체가 묶인다.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두 슬롯은 순서 없이 병렬로 진행되고, 두 슬롯이 모두 채워지는 순간 게시로 파생 전환된다(일괄 게시 버튼 없음).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검토 표시 필드는 등록 폼과 같은 체계로 맞춘다 — 신청자가 쓴 것과 검토자가 보는 것이 어긋나면 안 되기 때문.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슬롯 자격은 원본 항목 기준으로 판정하고, 반려 사유는 신청자에게 원문 그대로 전달한다.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DC2626"/>
                </a:solidFill>
                <a:latin typeface="맑은 고딕"/>
                <a:ea typeface="맑은 고딕"/>
              </a:rPr>
              <a:t>BE·DB 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승인/반려 body에 슬롯 식별 포함, 이력+슬롯+게시 전환은 트랜잭션으로 묶고 자격은 서버 재검증.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등록 검토 (병렬 2-슬롯)  —  검토 필드·이력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2 / 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검토 필드·이력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ADM-02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/admin/review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2194559"/>
            <a:ext cx="877824" cy="384048"/>
          </a:xfrm>
          <a:prstGeom prst="rect">
            <a:avLst/>
          </a:prstGeom>
          <a:solidFill>
            <a:srgbClr val="F7F7F7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9464" y="2194559"/>
            <a:ext cx="877824" cy="384048"/>
          </a:xfrm>
          <a:prstGeom prst="rect">
            <a:avLst/>
          </a:prstGeom>
          <a:solidFill>
            <a:srgbClr val="F7F7F7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20440" y="2194559"/>
            <a:ext cx="877824" cy="384048"/>
          </a:xfrm>
          <a:prstGeom prst="rect">
            <a:avLst/>
          </a:prstGeom>
          <a:solidFill>
            <a:srgbClr val="F7F7F7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71416" y="2194559"/>
            <a:ext cx="877824" cy="384048"/>
          </a:xfrm>
          <a:prstGeom prst="rect">
            <a:avLst/>
          </a:prstGeom>
          <a:solidFill>
            <a:srgbClr val="F7F7F7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18488" y="2670047"/>
            <a:ext cx="1369405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618488" y="2852927"/>
            <a:ext cx="1369405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618488" y="2642615"/>
            <a:ext cx="1369405" cy="237744"/>
          </a:xfrm>
          <a:prstGeom prst="rect">
            <a:avLst/>
          </a:prstGeom>
          <a:noFill/>
        </p:spPr>
        <p:txBody>
          <a:bodyPr wrap="square" anchor="ctr" lIns="54864" rIns="54864" tIns="0" bIns="18288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DDDDD"/>
                </a:solidFill>
                <a:latin typeface="맑은 고딕"/>
                <a:ea typeface="맑은 고딕"/>
              </a:rPr>
              <a:t>필터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18488" y="2944367"/>
            <a:ext cx="1369405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73352" y="2999231"/>
            <a:ext cx="547762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73493" y="3072383"/>
            <a:ext cx="82296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18488" y="3401567"/>
            <a:ext cx="1369405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673352" y="3456431"/>
            <a:ext cx="547762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73493" y="3529583"/>
            <a:ext cx="82296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18488" y="3858767"/>
            <a:ext cx="1369405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673352" y="3913631"/>
            <a:ext cx="547762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073493" y="3986783"/>
            <a:ext cx="82296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618488" y="4315967"/>
            <a:ext cx="1369405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673352" y="4370831"/>
            <a:ext cx="547762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073493" y="4443983"/>
            <a:ext cx="82296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34197" y="2670047"/>
            <a:ext cx="2288194" cy="237744"/>
          </a:xfrm>
          <a:prstGeom prst="rect">
            <a:avLst/>
          </a:prstGeom>
          <a:solidFill>
            <a:srgbClr val="F7F7F7"/>
          </a:solidFill>
          <a:ln w="1397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3134197" y="2980943"/>
            <a:ext cx="993076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3134197" y="3200399"/>
            <a:ext cx="1098333" cy="548640"/>
          </a:xfrm>
          <a:prstGeom prst="rect">
            <a:avLst/>
          </a:prstGeom>
          <a:solidFill>
            <a:srgbClr val="FFFFFF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4058" y="3200399"/>
            <a:ext cx="1098333" cy="548640"/>
          </a:xfrm>
          <a:prstGeom prst="rect">
            <a:avLst/>
          </a:prstGeom>
          <a:solidFill>
            <a:srgbClr val="FFFFFF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225637" y="3547871"/>
            <a:ext cx="686458" cy="1463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15498" y="3547871"/>
            <a:ext cx="686458" cy="1463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134197" y="3840479"/>
            <a:ext cx="640080" cy="182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34197" y="3813047"/>
            <a:ext cx="640080" cy="237744"/>
          </a:xfrm>
          <a:prstGeom prst="rect">
            <a:avLst/>
          </a:prstGeom>
          <a:noFill/>
        </p:spPr>
        <p:txBody>
          <a:bodyPr wrap="square" anchor="ctr" lIns="54864" rIns="54864" tIns="0" bIns="18288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DDDDD"/>
                </a:solidFill>
                <a:latin typeface="맑은 고딕"/>
                <a:ea typeface="맑은 고딕"/>
              </a:rPr>
              <a:t>반려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34197" y="4114799"/>
            <a:ext cx="2288194" cy="64008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3225637" y="4224527"/>
            <a:ext cx="2105315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225637" y="4347971"/>
            <a:ext cx="2105315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225637" y="4471415"/>
            <a:ext cx="2105315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225637" y="4594859"/>
            <a:ext cx="1305295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15909" y="409651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34197" y="4864607"/>
            <a:ext cx="2288194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3225637" y="4956047"/>
            <a:ext cx="2105315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25637" y="5079491"/>
            <a:ext cx="1305295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3115909" y="4846320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56" name="Oval 55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35624" y="1901951"/>
            <a:ext cx="5672023" cy="1420063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검토 필드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공통(이미지·제목·요약·상세·도메인·태그) + 유형별(n8n 다이어그램·난이도·절감시간 / 비서 프롬프트·모델 / AI Agent 가용·강점·접속 URL·모델명·글분량·비용 / ML 유형·데이터·도구 / vibe·AI 프로젝트 공통만)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824728" y="3303727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5824728" y="3349447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35624" y="3322015"/>
            <a:ext cx="5672023" cy="1420063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승인 이력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슬롯·액션·처리자·일시·사유 이력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24728" y="4888382"/>
            <a:ext cx="5982919" cy="1585569"/>
          </a:xfrm>
          <a:prstGeom prst="rect">
            <a:avLst/>
          </a:prstGeom>
          <a:solidFill>
            <a:srgbClr val="F7F7F7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5824728" y="5162702"/>
            <a:ext cx="5982919" cy="0"/>
          </a:xfrm>
          <a:prstGeom prst="line">
            <a:avLst/>
          </a:prstGeom>
          <a:ln w="1270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934456" y="4929530"/>
            <a:ext cx="576346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화면 룰·기획 근거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52744" y="5199278"/>
            <a:ext cx="5726887" cy="1238097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병렬 2-슬롯의 목적은 승인 병목 제거 — 순서를 강제하면 앞 사람의 응답 속도에 전체가 묶인다.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두 슬롯은 순서 없이 병렬로 진행되고, 두 슬롯이 모두 채워지는 순간 게시로 파생 전환된다(일괄 게시 버튼 없음).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검토 표시 필드는 등록 폼과 같은 체계로 맞춘다 — 신청자가 쓴 것과 검토자가 보는 것이 어긋나면 안 되기 때문.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슬롯 자격은 원본 항목 기준으로 판정하고, 반려 사유는 신청자에게 원문 그대로 전달한다.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DC2626"/>
                </a:solidFill>
                <a:latin typeface="맑은 고딕"/>
                <a:ea typeface="맑은 고딕"/>
              </a:rPr>
              <a:t>BE·DB 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승인/반려 body에 슬롯 식별 포함, 이력+슬롯+게시 전환은 트랜잭션으로 묶고 자격은 서버 재검증.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84048"/>
            <a:ext cx="799651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ADM-03  ·  항목 관리 (Project Manage)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8207" y="384048"/>
            <a:ext cx="456943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9999"/>
                </a:solidFill>
                <a:latin typeface="맑은 고딕"/>
                <a:ea typeface="맑은 고딕"/>
              </a:rPr>
              <a:t>화면 정의 (Screen Definition)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4048" y="786384"/>
            <a:ext cx="11423599" cy="0"/>
          </a:xfrm>
          <a:prstGeom prst="line">
            <a:avLst/>
          </a:prstGeom>
          <a:ln w="1905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4048" y="91440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화면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188720"/>
            <a:ext cx="383875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88720"/>
            <a:ext cx="374731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항목 관리 (/admin/projects)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" y="15316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316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좌 통합 목록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" y="13053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" y="16482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197864" y="1874519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" y="1874519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전체 항목·직접 등록/담당 배지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3543" y="1648206"/>
            <a:ext cx="0" cy="342899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3543" y="1991105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197864" y="22174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3584" y="22174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검색·소스 필터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3" y="1648206"/>
            <a:ext cx="0" cy="6858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3543" y="23340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97864" y="25603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" y="25603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항목 리스트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3543" y="1648206"/>
            <a:ext cx="0" cy="10287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3543" y="26769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3815" y="29032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29032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우 상세/편집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9496" y="1305306"/>
            <a:ext cx="0" cy="17145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9496" y="30198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197864" y="32461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584" y="32461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헤더·액션(하이라이트·금주의 발견·수정·삭제)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3543" y="30198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3543" y="33627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197864" y="35890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43584" y="35890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기본·유형별·신청자·담당자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3543" y="3019806"/>
            <a:ext cx="0" cy="6858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23543" y="37056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84048" y="4261104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사용자 흐름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" y="4535424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4535424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항목 선택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817632" y="4700016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037088" y="4535424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82808" y="4535424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수정/토글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3424953" y="4700016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644409" y="4535424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90129" y="4535424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저장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5032274" y="4700016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251730" y="4535424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97450" y="4535424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게시본 반영</a:t>
            </a:r>
          </a:p>
        </p:txBody>
      </p:sp>
      <p:sp>
        <p:nvSpPr>
          <p:cNvPr id="48" name="Down Arrow 47"/>
          <p:cNvSpPr/>
          <p:nvPr/>
        </p:nvSpPr>
        <p:spPr>
          <a:xfrm>
            <a:off x="2657869" y="5010912"/>
            <a:ext cx="128016" cy="256032"/>
          </a:xfrm>
          <a:prstGeom prst="down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037088" y="5303520"/>
            <a:ext cx="1369576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82808" y="5303520"/>
            <a:ext cx="1278136" cy="384048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삭제 → 확인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9768" y="5833872"/>
            <a:ext cx="6191539" cy="201168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설계 근거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6" y="6053328"/>
            <a:ext cx="6154963" cy="62179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사용자 주도 수정 요청과 별개로 관리자 직접 편집 경로가 필요 — 퇴사자 담당자 교체처럼 원 등록자가 신청 못 하는 케이스가 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편집 가능 필드는 등록 폼과 같은 체계로 제한 — 관리자 편집이라도 데이터가 스키마를 벗어나면 안 된다.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41347" y="914400"/>
            <a:ext cx="4866299" cy="91971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51075" y="950976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정의·역할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051075" y="1188720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069363" y="1225296"/>
            <a:ext cx="4610267" cy="572243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게시·반려 포함 전체 항목의 조회·편집·삭제 관리 화면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좌 목록 + 우 상세/편집 마스터-디테일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41347" y="1962131"/>
            <a:ext cx="4866299" cy="91971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51075" y="1998707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목적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051075" y="2236451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069363" y="2273027"/>
            <a:ext cx="4610267" cy="572243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담당자 변경·오기 수정·정책 위반 항목 처리 등 게시 후 운영 이슈를 관리자가 직접 해결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41347" y="3009863"/>
            <a:ext cx="4866299" cy="91971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51075" y="3046439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기획 의도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051075" y="3284183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069363" y="3320759"/>
            <a:ext cx="4610267" cy="572243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원 등록자가 신청할 수 없는 케이스(퇴사자 교체 등)를 위한 직접 편집 경로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편집 필드는 등록 폼 체계로 제한해 데이터가 스키마를 벗어나지 않게 함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41347" y="4057595"/>
            <a:ext cx="4866299" cy="1368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51075" y="4094171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지켜야 할 룰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051075" y="4331915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7069363" y="4368491"/>
            <a:ext cx="4610267" cy="102115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관계사 관리자는 담당 관계사 항목만, 전사 공용은 전사 관리자만(판정은 원본 기준, 이중 가드)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편집 필드는 등록 폼 체계와 동일 — 운영 상태·관계사 편집 UI 없음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삭제는 확인 절차 필수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941347" y="5554236"/>
            <a:ext cx="4866299" cy="91971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51075" y="5590812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개발 연동 노트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051075" y="5828556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7069363" y="5865132"/>
            <a:ext cx="4610267" cy="572243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편집 API body에서 company·companyScope 제외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편집 이력 로깅 권장(감사 대응), 예상 효과는 저장 시 표준 문자열로 직렬화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 관리  —  목록·액션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1 / 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항목 관리 — 목록·액션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/admin/projects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2194559"/>
            <a:ext cx="1293327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997415" y="2212847"/>
            <a:ext cx="868680" cy="201168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00200" y="21762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18488" y="2523743"/>
            <a:ext cx="1293327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618488" y="2706623"/>
            <a:ext cx="1293327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618488" y="2761487"/>
            <a:ext cx="277611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941819" y="2761487"/>
            <a:ext cx="277611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265151" y="2761487"/>
            <a:ext cx="277611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588483" y="2761487"/>
            <a:ext cx="277611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600200" y="248716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18488" y="2980943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673352" y="3026663"/>
            <a:ext cx="452664" cy="91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1673352" y="3154679"/>
            <a:ext cx="641490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1618488" y="3364991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673352" y="3410711"/>
            <a:ext cx="452664" cy="91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673352" y="3538727"/>
            <a:ext cx="641490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618488" y="3749039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673352" y="3794759"/>
            <a:ext cx="452664" cy="91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673352" y="3922775"/>
            <a:ext cx="641490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618488" y="4133087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673352" y="4178807"/>
            <a:ext cx="452664" cy="91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1673352" y="4306823"/>
            <a:ext cx="641490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618488" y="4517136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673352" y="4562855"/>
            <a:ext cx="452664" cy="91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1673352" y="4690871"/>
            <a:ext cx="641490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1600200" y="2962655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058119" y="2194559"/>
            <a:ext cx="732924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3685031" y="2176271"/>
            <a:ext cx="402336" cy="201168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123944" y="2176271"/>
            <a:ext cx="402336" cy="201168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562855" y="2176271"/>
            <a:ext cx="402336" cy="201168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001767" y="2176271"/>
            <a:ext cx="402336" cy="201168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39831" y="2157983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58119" y="2523743"/>
            <a:ext cx="2364272" cy="1188720"/>
          </a:xfrm>
          <a:prstGeom prst="rect">
            <a:avLst/>
          </a:prstGeom>
          <a:solidFill>
            <a:srgbClr val="FFFFFF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149559" y="2615183"/>
            <a:ext cx="2181392" cy="365760"/>
          </a:xfrm>
          <a:prstGeom prst="rect">
            <a:avLst/>
          </a:prstGeom>
          <a:solidFill>
            <a:srgbClr val="F7F7F7"/>
          </a:solidFill>
          <a:ln w="1397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49559" y="3072383"/>
            <a:ext cx="21813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3149559" y="3236975"/>
            <a:ext cx="2181393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3149559" y="3328415"/>
            <a:ext cx="21813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3149559" y="3493007"/>
            <a:ext cx="2181393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3058119" y="3822191"/>
            <a:ext cx="2364272" cy="777240"/>
          </a:xfrm>
          <a:prstGeom prst="rect">
            <a:avLst/>
          </a:prstGeom>
          <a:solidFill>
            <a:srgbClr val="F7F7F7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3149559" y="3931920"/>
            <a:ext cx="2181393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149559" y="4055363"/>
            <a:ext cx="2181393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149559" y="4178808"/>
            <a:ext cx="1352463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3058119" y="4709159"/>
            <a:ext cx="2364272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058119" y="5038344"/>
            <a:ext cx="2364272" cy="1289304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149559" y="5129783"/>
            <a:ext cx="49962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3149559" y="5276088"/>
            <a:ext cx="499628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3694907" y="5129783"/>
            <a:ext cx="49962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3694907" y="5276088"/>
            <a:ext cx="499628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4240255" y="5129783"/>
            <a:ext cx="49962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4240255" y="5276088"/>
            <a:ext cx="499628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785603" y="5129783"/>
            <a:ext cx="49962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4785603" y="5276088"/>
            <a:ext cx="499629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71" name="Oval 70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35624" y="1901951"/>
            <a:ext cx="5672023" cy="7932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목록 헤더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'전체 항목' N + 전사 관리자 전용 [+ 직접 등록] / 관계사 관리자 '…담당' 배지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824728" y="2676906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5824728" y="2722625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35624" y="2695194"/>
            <a:ext cx="5672023" cy="7932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검색·소스 필터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항목명·부서 검색 + 소스(전체+7유형) 칩 필터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빈 목록 '검색 결과가 없습니다.'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824728" y="3470147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5824728" y="3515867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35624" y="3488435"/>
            <a:ext cx="5672023" cy="7932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항목 리스트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카테고리 배지·ID·제목·부서·수정일, 선택 행 강조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824728" y="4263390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5824728" y="4309109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35624" y="4281677"/>
            <a:ext cx="5672023" cy="7932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상세 헤더·액션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전사 관리자: ★/☆ 하이라이트 토글·✦ 금주의 발견(단일)·수정·삭제 / 관계사 관리자: 삭제만(담당+전사 공용만 표시)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824728" y="5221223"/>
            <a:ext cx="5982919" cy="1252728"/>
          </a:xfrm>
          <a:prstGeom prst="rect">
            <a:avLst/>
          </a:prstGeom>
          <a:solidFill>
            <a:srgbClr val="F7F7F7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5824728" y="5495543"/>
            <a:ext cx="5982919" cy="0"/>
          </a:xfrm>
          <a:prstGeom prst="line">
            <a:avLst/>
          </a:prstGeom>
          <a:ln w="1270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5934456" y="5262371"/>
            <a:ext cx="576346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화면 룰·기획 근거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52744" y="5532119"/>
            <a:ext cx="5726887" cy="9052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사용자 수정 요청과 별개인 관리자 직접 편집 경로 — 원 등록자가 신청 못 하는 케이스용.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편집 필드는 등록 폼과 같은 체계로 제한 — 관리자 편집도 스키마를 벗어나지 않게 한다.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권한 판정은 항상 원본 항목 기준 — 편집 값으로 판정하면 값을 고쳐 우회할 수 있다.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운영 상태·관계사 편집 UI는 없음, 삭제는 확인 절차 필수.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DC2626"/>
                </a:solidFill>
                <a:latin typeface="맑은 고딕"/>
                <a:ea typeface="맑은 고딕"/>
              </a:rPr>
              <a:t>BE·DB 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편집 API body에서 company·companyScope 제외, 편집 이력 로깅 권장.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 관리  —  편집 필드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2 / 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항목 관리 — 편집 필드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/admin/projects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2194559"/>
            <a:ext cx="1293327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997415" y="2212847"/>
            <a:ext cx="868680" cy="2011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18488" y="2523743"/>
            <a:ext cx="1293327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618488" y="2706623"/>
            <a:ext cx="1293327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618488" y="2761487"/>
            <a:ext cx="277611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941819" y="2761487"/>
            <a:ext cx="277611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65151" y="2761487"/>
            <a:ext cx="277611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88483" y="2761487"/>
            <a:ext cx="277611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18488" y="2980943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673352" y="3026663"/>
            <a:ext cx="452664" cy="91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673352" y="3154679"/>
            <a:ext cx="641490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618488" y="3364991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673352" y="3410711"/>
            <a:ext cx="452664" cy="91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673352" y="3538727"/>
            <a:ext cx="641490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618488" y="3749039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673352" y="3794759"/>
            <a:ext cx="452664" cy="91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673352" y="3922775"/>
            <a:ext cx="641490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618488" y="4133087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673352" y="4178807"/>
            <a:ext cx="452664" cy="91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1673352" y="4306823"/>
            <a:ext cx="641490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618488" y="4517136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673352" y="4562855"/>
            <a:ext cx="452664" cy="91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1673352" y="4690871"/>
            <a:ext cx="641490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058119" y="2194559"/>
            <a:ext cx="732924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3685031" y="2176271"/>
            <a:ext cx="402336" cy="2011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23944" y="2176271"/>
            <a:ext cx="402336" cy="2011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562855" y="2176271"/>
            <a:ext cx="402336" cy="2011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01767" y="2176271"/>
            <a:ext cx="402336" cy="2011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058119" y="2523743"/>
            <a:ext cx="2364272" cy="118872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149559" y="2615183"/>
            <a:ext cx="2181392" cy="365760"/>
          </a:xfrm>
          <a:prstGeom prst="rect">
            <a:avLst/>
          </a:prstGeom>
          <a:solidFill>
            <a:srgbClr val="F7F7F7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149559" y="3072383"/>
            <a:ext cx="21813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3149559" y="3236975"/>
            <a:ext cx="2181393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3149559" y="3328415"/>
            <a:ext cx="21813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3149559" y="3493007"/>
            <a:ext cx="2181393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3039831" y="2505455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58119" y="3822191"/>
            <a:ext cx="2364272" cy="77724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3149559" y="3931920"/>
            <a:ext cx="2181393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149559" y="4055363"/>
            <a:ext cx="2181393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149559" y="4178808"/>
            <a:ext cx="1352463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3039831" y="3803904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58119" y="4709159"/>
            <a:ext cx="2364272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039831" y="4690872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58119" y="5038344"/>
            <a:ext cx="2364272" cy="128930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149559" y="5129783"/>
            <a:ext cx="49962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3149559" y="5276088"/>
            <a:ext cx="499628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3694907" y="5129783"/>
            <a:ext cx="49962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3694907" y="5276088"/>
            <a:ext cx="499628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4240255" y="5129783"/>
            <a:ext cx="49962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4240255" y="5276088"/>
            <a:ext cx="499628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4785603" y="5129783"/>
            <a:ext cx="49962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4785603" y="5276088"/>
            <a:ext cx="499629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3039831" y="5020056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71" name="Oval 70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35624" y="1901951"/>
            <a:ext cx="5672023" cy="7932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기본 정보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첨부 사진·제목·요약·상세·업무 도메인·등록 부서·태그(쉼표 구분)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824728" y="2676906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5824728" y="2722625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35624" y="2695194"/>
            <a:ext cx="5672023" cy="7932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유형별 세부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n8n/PA=다이어그램·절감시간·난이도 / 비서=프롬프트·모델 / AI Agent=가용·강점·URL·모델명·글분량·비용 / ML=유형·데이터·도구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824728" y="3470147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5824728" y="3515867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35624" y="3488435"/>
            <a:ext cx="5672023" cy="7932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등록 신청자 정보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등록자 이메일 직접 수정('퇴사·인사이동 시 직접 수정')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824728" y="4263390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5824728" y="4309109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35624" y="4281677"/>
            <a:ext cx="5672023" cy="7932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담당자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이름·부서·이메일·역할 + [+ 담당자 추가]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824728" y="5221223"/>
            <a:ext cx="5982919" cy="1252728"/>
          </a:xfrm>
          <a:prstGeom prst="rect">
            <a:avLst/>
          </a:prstGeom>
          <a:solidFill>
            <a:srgbClr val="F7F7F7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5824728" y="5495543"/>
            <a:ext cx="5982919" cy="0"/>
          </a:xfrm>
          <a:prstGeom prst="line">
            <a:avLst/>
          </a:prstGeom>
          <a:ln w="1270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5934456" y="5262371"/>
            <a:ext cx="576346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화면 룰·기획 근거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52744" y="5532119"/>
            <a:ext cx="5726887" cy="9052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사용자 수정 요청과 별개인 관리자 직접 편집 경로 — 원 등록자가 신청 못 하는 케이스용.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편집 필드는 등록 폼과 같은 체계로 제한 — 관리자 편집도 스키마를 벗어나지 않게 한다.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권한 판정은 항상 원본 항목 기준 — 편집 값으로 판정하면 값을 고쳐 우회할 수 있다.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운영 상태·관계사 편집 UI는 없음, 삭제는 확인 절차 필수.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DC2626"/>
                </a:solidFill>
                <a:latin typeface="맑은 고딕"/>
                <a:ea typeface="맑은 고딕"/>
              </a:rPr>
              <a:t>BE·DB 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편집 API body에서 company·companyScope 제외, 편집 이력 로깅 권장.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84048"/>
            <a:ext cx="799651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ADM-04  ·  통계 (Statistics)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8207" y="384048"/>
            <a:ext cx="456943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9999"/>
                </a:solidFill>
                <a:latin typeface="맑은 고딕"/>
                <a:ea typeface="맑은 고딕"/>
              </a:rPr>
              <a:t>화면 정의 (Screen Definition)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4048" y="786384"/>
            <a:ext cx="11423599" cy="0"/>
          </a:xfrm>
          <a:prstGeom prst="line">
            <a:avLst/>
          </a:prstGeom>
          <a:ln w="1905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4048" y="91440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화면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188720"/>
            <a:ext cx="383875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88720"/>
            <a:ext cx="374731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통계 (/admin/statistics)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" y="15316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316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헤더·조회 범위 선택기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" y="13053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" y="16482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815" y="1874519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874519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상단 카드 ×4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" y="1305306"/>
            <a:ext cx="0" cy="685799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9496" y="1991105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3815" y="22174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2174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기간 프리셋 · 월 지정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9496" y="1305306"/>
            <a:ext cx="0" cy="10287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9496" y="23340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3815" y="25603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25603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등록 추이 · 카테고리별 현황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9496" y="1305306"/>
            <a:ext cx="0" cy="13716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39496" y="26769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3815" y="29032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29032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도메인·부서 · 절감 효과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9496" y="1305306"/>
            <a:ext cx="0" cy="17145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9496" y="30198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3815" y="32461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32461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3-col 분석 · TOP5 · 키워드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39496" y="1305306"/>
            <a:ext cx="0" cy="20574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39496" y="33627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84048" y="4773168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사용자 흐름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" y="5047488"/>
            <a:ext cx="190535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5047488"/>
            <a:ext cx="1813910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범위·기간 선택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2353406" y="521207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572862" y="5047488"/>
            <a:ext cx="190535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18582" y="5047488"/>
            <a:ext cx="1813910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지표 집계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4496501" y="521207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715957" y="5047488"/>
            <a:ext cx="190535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61677" y="5047488"/>
            <a:ext cx="1813910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차트·표 분석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" y="5632703"/>
            <a:ext cx="6191539" cy="201168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설계 근거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" y="5852159"/>
            <a:ext cx="6154963" cy="82296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'성과가 숫자로 보여야 확산이 굴러간다'는 타사 벤치마킹 교훈을 반영한 화면.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환산 불가한 값은 부풀리지 않고 '추정 불가'로 분리 표기 — 경영 보고 수치의 신뢰가 이 정직함에서 나온다.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분석 축은 실제로 입력받는 데이터에만 둔다 — 입력 없는 축을 만들면 빈 차트만 남는다.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1347" y="914400"/>
            <a:ext cx="4866299" cy="88055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51075" y="950976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정의·역할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051075" y="1188720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069363" y="1225296"/>
            <a:ext cx="4610267" cy="53308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등록·활용 현황의 집계 리포트 화면(운영 성과 보고 근거 자료)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조회 범위 선택기 노출(승인 대기 건수 없음)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1347" y="1922974"/>
            <a:ext cx="4866299" cy="88055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51075" y="1959550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목적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051075" y="2197294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069363" y="2233870"/>
            <a:ext cx="4610267" cy="53308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'카탈로그가 실제로 확산되고 있는가, 얼마나 절감 효과를 내는가'를 정량으로 제시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1347" y="2931549"/>
            <a:ext cx="4866299" cy="109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51075" y="2968125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기획 의도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051075" y="3205869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069363" y="3242445"/>
            <a:ext cx="4610267" cy="74798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절감 시간은 연간 환산하되 원본 텍스트 보존, 환산 불가는 '추정 불가'로 분리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분석 축은 입력이 실제로 있는 데이터에만 — 난이도=n8n, 비용=AI Agent, 모델 유형=ML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41347" y="4155022"/>
            <a:ext cx="4866299" cy="131035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51075" y="4191598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지켜야 할 룰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051075" y="4429342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069363" y="4465918"/>
            <a:ext cx="4610267" cy="962883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절감 효과 3종(연간 환산·집계 가능·추정 불가) 유지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축: 카테고리(7)·도메인·난이도(n8n)·비용 등급(AI Agent)·모델 유형(ML). 운영 상태 축 없음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집계 데이터는 성과 평가 용도가 아님(워딩에도 반영)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41347" y="5593393"/>
            <a:ext cx="4866299" cy="88055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51075" y="5629969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개발 연동 노트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051075" y="5867713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069363" y="5904289"/>
            <a:ext cx="4610267" cy="53308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서버 집계 API(범위 파라미터), 카테고리 색·라벨은 CATEGORIES 파생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절감 시간 환산 로직은 서버 이관 시 동일 규칙 유지(주기별 배수)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통계  —  카드·추이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1 / 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통계 대시보드 — 카드·추이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/admin/statistics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2194559"/>
            <a:ext cx="2092147" cy="23774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959352" y="2194559"/>
            <a:ext cx="1371600" cy="219456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167127"/>
            <a:ext cx="1371600" cy="237744"/>
          </a:xfrm>
          <a:prstGeom prst="rect">
            <a:avLst/>
          </a:prstGeom>
          <a:noFill/>
        </p:spPr>
        <p:txBody>
          <a:bodyPr wrap="square" anchor="ctr" lIns="54864" rIns="54864" tIns="0" bIns="18288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맑은 고딕"/>
                <a:ea typeface="맑은 고딕"/>
              </a:rPr>
              <a:t>범위</a:t>
            </a:r>
          </a:p>
        </p:txBody>
      </p:sp>
      <p:sp>
        <p:nvSpPr>
          <p:cNvPr id="21" name="Oval 20"/>
          <p:cNvSpPr/>
          <p:nvPr/>
        </p:nvSpPr>
        <p:spPr>
          <a:xfrm>
            <a:off x="1600200" y="21762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18488" y="2523743"/>
            <a:ext cx="877824" cy="45720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9464" y="2523743"/>
            <a:ext cx="877824" cy="45720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20440" y="2523743"/>
            <a:ext cx="877824" cy="45720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71416" y="2523743"/>
            <a:ext cx="877824" cy="45720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600200" y="2505455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18488" y="3090671"/>
            <a:ext cx="749808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441448" y="3090671"/>
            <a:ext cx="749808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264408" y="3090671"/>
            <a:ext cx="749808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087368" y="3090671"/>
            <a:ext cx="749808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99431" y="3090671"/>
            <a:ext cx="777240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600200" y="3072383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618488" y="4069079"/>
            <a:ext cx="1810512" cy="0"/>
          </a:xfrm>
          <a:prstGeom prst="line">
            <a:avLst/>
          </a:prstGeom>
          <a:ln w="1651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670216" y="3691889"/>
            <a:ext cx="155186" cy="377190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28861" y="3520439"/>
            <a:ext cx="155186" cy="548640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187506" y="3794759"/>
            <a:ext cx="155186" cy="274320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46150" y="3417569"/>
            <a:ext cx="155186" cy="651509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04795" y="3657599"/>
            <a:ext cx="155186" cy="411479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63439" y="3575303"/>
            <a:ext cx="155186" cy="493776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22084" y="3726179"/>
            <a:ext cx="155186" cy="342900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18488" y="3337559"/>
            <a:ext cx="1810512" cy="237744"/>
          </a:xfrm>
          <a:prstGeom prst="rect">
            <a:avLst/>
          </a:prstGeom>
          <a:noFill/>
        </p:spPr>
        <p:txBody>
          <a:bodyPr wrap="square" anchor="ctr" lIns="54864" rIns="54864" tIns="0" bIns="18288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맑은 고딕"/>
                <a:ea typeface="맑은 고딕"/>
              </a:rPr>
              <a:t>추이</a:t>
            </a:r>
          </a:p>
        </p:txBody>
      </p:sp>
      <p:sp>
        <p:nvSpPr>
          <p:cNvPr id="42" name="Oval 41"/>
          <p:cNvSpPr/>
          <p:nvPr/>
        </p:nvSpPr>
        <p:spPr>
          <a:xfrm>
            <a:off x="1600200" y="336499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11880" y="3383279"/>
            <a:ext cx="53035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251960" y="3383279"/>
            <a:ext cx="53035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892040" y="3383279"/>
            <a:ext cx="53035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593592" y="336499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18488" y="4187951"/>
            <a:ext cx="1810512" cy="640080"/>
          </a:xfrm>
          <a:prstGeom prst="rect">
            <a:avLst/>
          </a:prstGeom>
          <a:solidFill>
            <a:srgbClr val="FFFFFF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1709928" y="4709159"/>
            <a:ext cx="1627632" cy="0"/>
          </a:xfrm>
          <a:prstGeom prst="line">
            <a:avLst/>
          </a:prstGeom>
          <a:ln w="1651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791309" y="4462271"/>
            <a:ext cx="244144" cy="246888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198217" y="4338827"/>
            <a:ext cx="244144" cy="370332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605125" y="4503420"/>
            <a:ext cx="244144" cy="205740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012033" y="4421123"/>
            <a:ext cx="244144" cy="288036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611880" y="4187951"/>
            <a:ext cx="1810512" cy="640080"/>
          </a:xfrm>
          <a:prstGeom prst="rect">
            <a:avLst/>
          </a:prstGeom>
          <a:solidFill>
            <a:srgbClr val="F7F7F7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3703320" y="4297679"/>
            <a:ext cx="1627632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703320" y="4421123"/>
            <a:ext cx="1627632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703320" y="4544567"/>
            <a:ext cx="1009131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618488" y="4937759"/>
            <a:ext cx="1146048" cy="1389888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691640" y="6236208"/>
            <a:ext cx="999744" cy="0"/>
          </a:xfrm>
          <a:prstGeom prst="line">
            <a:avLst/>
          </a:prstGeom>
          <a:ln w="1651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1758289" y="5391302"/>
            <a:ext cx="199948" cy="844905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091537" y="5753404"/>
            <a:ext cx="199948" cy="482803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4785" y="5149900"/>
            <a:ext cx="199948" cy="1086307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947416" y="4937759"/>
            <a:ext cx="1146048" cy="1389888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3020568" y="6236208"/>
            <a:ext cx="999744" cy="0"/>
          </a:xfrm>
          <a:prstGeom prst="line">
            <a:avLst/>
          </a:prstGeom>
          <a:ln w="1651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3087217" y="5391302"/>
            <a:ext cx="199948" cy="844905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420465" y="5753404"/>
            <a:ext cx="199948" cy="482803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753713" y="5149900"/>
            <a:ext cx="199948" cy="1086307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76344" y="4937759"/>
            <a:ext cx="1146048" cy="1389888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4349496" y="6236208"/>
            <a:ext cx="999744" cy="0"/>
          </a:xfrm>
          <a:prstGeom prst="line">
            <a:avLst/>
          </a:prstGeom>
          <a:ln w="1651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4416145" y="5391302"/>
            <a:ext cx="199948" cy="844905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749393" y="5753404"/>
            <a:ext cx="199948" cy="482803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082641" y="5149900"/>
            <a:ext cx="199948" cy="1086307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73" name="Oval 72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35624" y="1901951"/>
            <a:ext cx="5672023" cy="53474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헤더·조회 범위 선택기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타이틀 '통계 대시보드' + 조회 범위 선택기(승인 대기 건수 미표시), 담당 1곳=배지·0곳=안내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5824728" y="2418405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5824728" y="2464125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35624" y="2436693"/>
            <a:ext cx="5672023" cy="53474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상단 카드 ×4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전체 등록물 · 이번 달 신규 · 참여 부서 · 참여 관계사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5824728" y="2953146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5824728" y="2998866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35624" y="2971434"/>
            <a:ext cx="5672023" cy="53474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기간 컨트롤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프리셋(이번 달·최근 3개월·최근 6개월·올해 전체) + [월 지정](연/월 select)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824728" y="3487887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5824728" y="3533607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35624" y="3506175"/>
            <a:ext cx="5672023" cy="53474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등록 추이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7유형 스택 막대(CATEGORIES 색), 기간 라벨 표기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5824728" y="4022628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5824728" y="4068348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35624" y="4040916"/>
            <a:ext cx="5672023" cy="53474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카테고리별 등록 현황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3-col 카테고리별 건수·비율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24728" y="4721961"/>
            <a:ext cx="5982919" cy="1751990"/>
          </a:xfrm>
          <a:prstGeom prst="rect">
            <a:avLst/>
          </a:prstGeom>
          <a:solidFill>
            <a:srgbClr val="F7F7F7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5824728" y="4996281"/>
            <a:ext cx="5982919" cy="0"/>
          </a:xfrm>
          <a:prstGeom prst="line">
            <a:avLst/>
          </a:prstGeom>
          <a:ln w="1270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934456" y="4763109"/>
            <a:ext cx="576346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화면 룰·기획 근거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52744" y="5032857"/>
            <a:ext cx="5726887" cy="1404518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'성과가 숫자로 보여야 확산이 굴러간다'는 벤치마킹 교훈을 반영한 정량 리포트다.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절감 시간은 연간 환산하되 원본 자유 텍스트를 보존하고, 환산 불가한 값은 부풀리지 않고 '추정 불가'로 분리 표기한다.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분석 축은 실제로 입력받는 데이터에만 둔다(난이도=n8n, 비용=AI Agent, 모델 유형=ML) — 입력 없는 축은 빈 차트만 남긴다.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집계 데이터는 개인·부서 성과 평가용이 아님을 화면 워딩에도 반영한다.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DC2626"/>
                </a:solidFill>
                <a:latin typeface="맑은 고딕"/>
                <a:ea typeface="맑은 고딕"/>
              </a:rPr>
              <a:t>BE·DB 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서버 집계 API는 범위 파라미터 수신, 카테고리 색·라벨은 CATEGORIES 파생으로 목록·상세와 일치.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통계  —  분석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2 / 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통계 대시보드 — 분석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/admin/statistics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2194559"/>
            <a:ext cx="2092147" cy="237744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959352" y="2194559"/>
            <a:ext cx="1371600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167127"/>
            <a:ext cx="1371600" cy="237744"/>
          </a:xfrm>
          <a:prstGeom prst="rect">
            <a:avLst/>
          </a:prstGeom>
          <a:noFill/>
        </p:spPr>
        <p:txBody>
          <a:bodyPr wrap="square" anchor="ctr" lIns="54864" rIns="54864" tIns="0" bIns="18288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DDDDD"/>
                </a:solidFill>
                <a:latin typeface="맑은 고딕"/>
                <a:ea typeface="맑은 고딕"/>
              </a:rPr>
              <a:t>범위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18488" y="2523743"/>
            <a:ext cx="877824" cy="457200"/>
          </a:xfrm>
          <a:prstGeom prst="rect">
            <a:avLst/>
          </a:prstGeom>
          <a:solidFill>
            <a:srgbClr val="F7F7F7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9464" y="2523743"/>
            <a:ext cx="877824" cy="457200"/>
          </a:xfrm>
          <a:prstGeom prst="rect">
            <a:avLst/>
          </a:prstGeom>
          <a:solidFill>
            <a:srgbClr val="F7F7F7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20440" y="2523743"/>
            <a:ext cx="877824" cy="457200"/>
          </a:xfrm>
          <a:prstGeom prst="rect">
            <a:avLst/>
          </a:prstGeom>
          <a:solidFill>
            <a:srgbClr val="F7F7F7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71416" y="2523743"/>
            <a:ext cx="877824" cy="457200"/>
          </a:xfrm>
          <a:prstGeom prst="rect">
            <a:avLst/>
          </a:prstGeom>
          <a:solidFill>
            <a:srgbClr val="F7F7F7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618488" y="3090671"/>
            <a:ext cx="749808" cy="182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441448" y="3090671"/>
            <a:ext cx="749808" cy="182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64408" y="3090671"/>
            <a:ext cx="749808" cy="182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087368" y="3090671"/>
            <a:ext cx="749808" cy="182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99431" y="3090671"/>
            <a:ext cx="777240" cy="182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1618488" y="4069079"/>
            <a:ext cx="1810512" cy="0"/>
          </a:xfrm>
          <a:prstGeom prst="line">
            <a:avLst/>
          </a:prstGeom>
          <a:ln w="1651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1670216" y="3691889"/>
            <a:ext cx="155186" cy="377190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28861" y="3520439"/>
            <a:ext cx="155186" cy="548640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87506" y="3794759"/>
            <a:ext cx="155186" cy="274320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46150" y="3417569"/>
            <a:ext cx="155186" cy="651509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04795" y="3657599"/>
            <a:ext cx="155186" cy="411479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63439" y="3575303"/>
            <a:ext cx="155186" cy="493776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22084" y="3726179"/>
            <a:ext cx="155186" cy="342900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18488" y="3337559"/>
            <a:ext cx="1810512" cy="237744"/>
          </a:xfrm>
          <a:prstGeom prst="rect">
            <a:avLst/>
          </a:prstGeom>
          <a:noFill/>
        </p:spPr>
        <p:txBody>
          <a:bodyPr wrap="square" anchor="ctr" lIns="54864" rIns="54864" tIns="0" bIns="18288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DDDDD"/>
                </a:solidFill>
                <a:latin typeface="맑은 고딕"/>
                <a:ea typeface="맑은 고딕"/>
              </a:rPr>
              <a:t>추이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11880" y="3383279"/>
            <a:ext cx="53035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251960" y="3383279"/>
            <a:ext cx="53035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892040" y="3383279"/>
            <a:ext cx="53035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618488" y="4187951"/>
            <a:ext cx="1810512" cy="64008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709928" y="4709159"/>
            <a:ext cx="1627632" cy="0"/>
          </a:xfrm>
          <a:prstGeom prst="line">
            <a:avLst/>
          </a:prstGeom>
          <a:ln w="1651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791309" y="4462271"/>
            <a:ext cx="244144" cy="246888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198217" y="4338827"/>
            <a:ext cx="244144" cy="370332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605125" y="4503420"/>
            <a:ext cx="244144" cy="205740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012033" y="4421123"/>
            <a:ext cx="244144" cy="288036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600200" y="4169663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11880" y="4187951"/>
            <a:ext cx="1810512" cy="64008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3703320" y="4297679"/>
            <a:ext cx="1627632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703320" y="4421123"/>
            <a:ext cx="1627632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703320" y="4544567"/>
            <a:ext cx="10091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3593592" y="4169663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18488" y="4937759"/>
            <a:ext cx="1146048" cy="1389888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691640" y="6236208"/>
            <a:ext cx="999744" cy="0"/>
          </a:xfrm>
          <a:prstGeom prst="line">
            <a:avLst/>
          </a:prstGeom>
          <a:ln w="1651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1758289" y="5391302"/>
            <a:ext cx="199948" cy="844905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091537" y="5753404"/>
            <a:ext cx="199948" cy="482803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424785" y="5149900"/>
            <a:ext cx="199948" cy="1086307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947416" y="4937759"/>
            <a:ext cx="1146048" cy="1389888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3020568" y="6236208"/>
            <a:ext cx="999744" cy="0"/>
          </a:xfrm>
          <a:prstGeom prst="line">
            <a:avLst/>
          </a:prstGeom>
          <a:ln w="1651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3087217" y="5391302"/>
            <a:ext cx="199948" cy="844905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420465" y="5753404"/>
            <a:ext cx="199948" cy="482803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753713" y="5149900"/>
            <a:ext cx="199948" cy="1086307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76344" y="4937759"/>
            <a:ext cx="1146048" cy="1389888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4349496" y="6236208"/>
            <a:ext cx="999744" cy="0"/>
          </a:xfrm>
          <a:prstGeom prst="line">
            <a:avLst/>
          </a:prstGeom>
          <a:ln w="1651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4416145" y="5391302"/>
            <a:ext cx="199948" cy="844905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749393" y="5753404"/>
            <a:ext cx="199948" cy="482803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082641" y="5149900"/>
            <a:ext cx="199948" cy="1086307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600200" y="4919472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70" name="Oval 69"/>
          <p:cNvSpPr/>
          <p:nvPr/>
        </p:nvSpPr>
        <p:spPr>
          <a:xfrm>
            <a:off x="4258056" y="4919472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71" name="Oval 70"/>
          <p:cNvSpPr/>
          <p:nvPr/>
        </p:nvSpPr>
        <p:spPr>
          <a:xfrm>
            <a:off x="5166359" y="4919472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73" name="Oval 72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35624" y="1901951"/>
            <a:ext cx="5672023" cy="53474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도메인·부서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비즈니스 도메인 분포 + 부서별 현황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빈 상태 '해당 범위의 부서 데이터가 없습니다.'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5824728" y="2418405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5824728" y="2464125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35624" y="2436693"/>
            <a:ext cx="5672023" cy="53474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절감 효과 요약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n8n·PA 예상 절감 시간 연간 환산 + 집계 가능/추정 불가 건수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5824728" y="2953146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5824728" y="2998866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35624" y="2971434"/>
            <a:ext cx="5672023" cy="53474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3-col 분석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난이도 분포(n8n 전용) · 비용 구간(AI Agent) · ML 모델 유형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824728" y="3487887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5824728" y="3533607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35624" y="3506175"/>
            <a:ext cx="5672023" cy="53474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후기 많은 항목 TOP 5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누적 후기 수 기준 상위 5(제목·ID·평균 ♥)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빈 상태 '해당 범위의 후기 데이터가 없습니다.'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5824728" y="4022628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5824728" y="4068348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35624" y="4040916"/>
            <a:ext cx="5672023" cy="53474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탐색 키워드 빈도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사용자 탐색 상위 키워드 막대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24728" y="4721961"/>
            <a:ext cx="5982919" cy="1751990"/>
          </a:xfrm>
          <a:prstGeom prst="rect">
            <a:avLst/>
          </a:prstGeom>
          <a:solidFill>
            <a:srgbClr val="F7F7F7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5824728" y="4996281"/>
            <a:ext cx="5982919" cy="0"/>
          </a:xfrm>
          <a:prstGeom prst="line">
            <a:avLst/>
          </a:prstGeom>
          <a:ln w="1270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934456" y="4763109"/>
            <a:ext cx="576346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화면 룰·기획 근거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52744" y="5032857"/>
            <a:ext cx="5726887" cy="1404518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'성과가 숫자로 보여야 확산이 굴러간다'는 벤치마킹 교훈을 반영한 정량 리포트다.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절감 시간은 연간 환산하되 원본 자유 텍스트를 보존하고, 환산 불가한 값은 부풀리지 않고 '추정 불가'로 분리 표기한다.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분석 축은 실제로 입력받는 데이터에만 둔다(난이도=n8n, 비용=AI Agent, 모델 유형=ML) — 입력 없는 축은 빈 차트만 남긴다.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집계 데이터는 개인·부서 성과 평가용이 아님을 화면 워딩에도 반영한다.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DC2626"/>
                </a:solidFill>
                <a:latin typeface="맑은 고딕"/>
                <a:ea typeface="맑은 고딕"/>
              </a:rPr>
              <a:t>BE·DB 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서버 집계 API는 범위 파라미터 수신, 카테고리 색·라벨은 CATEGORIES 파생으로 목록·상세와 일치.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84048"/>
            <a:ext cx="799651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ADM-05  ·  분류 체계 관리 (Taxonomy)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8207" y="384048"/>
            <a:ext cx="456943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9999"/>
                </a:solidFill>
                <a:latin typeface="맑은 고딕"/>
                <a:ea typeface="맑은 고딕"/>
              </a:rPr>
              <a:t>화면 정의 (Screen Definition)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4048" y="786384"/>
            <a:ext cx="11423599" cy="0"/>
          </a:xfrm>
          <a:prstGeom prst="line">
            <a:avLst/>
          </a:prstGeom>
          <a:ln w="1905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4048" y="91440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화면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188720"/>
            <a:ext cx="383875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88720"/>
            <a:ext cx="374731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분류체계 (/admin/taxonomy)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" y="15316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316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탭 (도메인·난이도·비용·ML) | 자유 태그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" y="13053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" y="16482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815" y="1874519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874519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고정 분류 탭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" y="1305306"/>
            <a:ext cx="0" cy="685799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9496" y="1991105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197864" y="22174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3584" y="22174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좌 분류 카드·항목 리스트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3" y="1991105"/>
            <a:ext cx="0" cy="342901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3543" y="23340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97864" y="25603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" y="25603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우 항목 추가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3543" y="1991105"/>
            <a:ext cx="0" cy="685801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3543" y="26769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3815" y="29032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29032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자유 태그 탭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9496" y="1305306"/>
            <a:ext cx="0" cy="17145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9496" y="30198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197864" y="32461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584" y="32461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목록·출처 필터·표준화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3543" y="30198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3543" y="33627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3815" y="35890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35890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운영 유의사항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9496" y="1305306"/>
            <a:ext cx="0" cy="24003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9496" y="37056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84048" y="4261104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사용자 흐름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" y="4535424"/>
            <a:ext cx="190535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4535424"/>
            <a:ext cx="1813910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탭 선택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2353406" y="4700016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572862" y="4535424"/>
            <a:ext cx="190535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18582" y="4535424"/>
            <a:ext cx="1813910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값 추가/수정/삭제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4496501" y="4700016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715957" y="4535424"/>
            <a:ext cx="190535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61677" y="4535424"/>
            <a:ext cx="1813910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저장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3461529" y="5010912"/>
            <a:ext cx="128016" cy="256032"/>
          </a:xfrm>
          <a:prstGeom prst="down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572862" y="5303520"/>
            <a:ext cx="190535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18582" y="5303520"/>
            <a:ext cx="1813910" cy="384048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자유 태그 → 고정 분류 편입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9768" y="5833872"/>
            <a:ext cx="6191539" cy="201168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설계 근거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8056" y="6053328"/>
            <a:ext cx="6154963" cy="62179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분류 설계 원칙은 '고정 분류 위주' — 검색·필터·향후 RAG 모두 통제된 어휘가 있어야 품질이 나온다.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자유 태그는 등록 문턱을 낮추는 보조 수단이고, 반복되는 태그는 관리자가 고정 분류로 승격한다.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41347" y="914400"/>
            <a:ext cx="4866299" cy="88055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51075" y="950976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정의·역할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051075" y="1188720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069363" y="1225296"/>
            <a:ext cx="4610267" cy="53308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고정 분류(통제 어휘)와 자유 태그를 관리하는 화면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검색·필터·통계 축이 되는 분류 값을 표준화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41347" y="1922974"/>
            <a:ext cx="4866299" cy="6656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51075" y="1959550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목적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051075" y="2197294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069363" y="2233870"/>
            <a:ext cx="4610267" cy="318188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분류 값을 표준화하고 자유 태그의 난립을 관리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41347" y="2716651"/>
            <a:ext cx="4866299" cy="109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51075" y="2753227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기획 의도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051075" y="2990971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069363" y="3027547"/>
            <a:ext cx="4610267" cy="74798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고정 분류 위주 — 검색·필터·RAG 품질을 위해 통제 어휘가 필요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관리 대상 분류는 등록 폼에서 실제 입력받는 축과 정확히 일치(입력 없는 분류는 부담만 남김)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41347" y="3940123"/>
            <a:ext cx="4866299" cy="152525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51075" y="3976699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지켜야 할 룰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051075" y="4214443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069363" y="4251019"/>
            <a:ext cx="4610267" cy="117778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탭 4종: 업무 도메인·구성 난이도(n8n 전용)·비용 등급(AI Agent)·ML 모델 유형 + 자유 태그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삭제 시 사용 중인 항목 수 확인 안내(고정 분류 삭제 시 기존 항목 공란 처리 가능)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자유 태그 출처는 AI 프로젝트 포함 7개 카테고리 대응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941347" y="5593393"/>
            <a:ext cx="4866299" cy="88055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51075" y="5629969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개발 연동 노트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051075" y="5867713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069363" y="5904289"/>
            <a:ext cx="4610267" cy="53308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분류 마스터 테이블 + 항목-분류 참조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삭제 시 참조 무결성 정책(공란 처리)을 서버에서 일관 적용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분류 체계 관리  —  고정 분류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1 / 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분류체계 관리 — 고정 분류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/admin/taxonomy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18488" y="2194559"/>
            <a:ext cx="82296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32888" y="2194559"/>
            <a:ext cx="82296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47288" y="2194559"/>
            <a:ext cx="82296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61688" y="2194559"/>
            <a:ext cx="82296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76088" y="2194559"/>
            <a:ext cx="82296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00200" y="21762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18488" y="2505455"/>
            <a:ext cx="2282342" cy="338328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1728216" y="2615183"/>
            <a:ext cx="707526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728216" y="2889503"/>
            <a:ext cx="2062886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86430" y="2944367"/>
            <a:ext cx="3657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97910" y="2944367"/>
            <a:ext cx="3657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28216" y="3218687"/>
            <a:ext cx="2062886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986430" y="3273551"/>
            <a:ext cx="3657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97910" y="3273551"/>
            <a:ext cx="3657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728216" y="3547871"/>
            <a:ext cx="2062886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986430" y="3602735"/>
            <a:ext cx="3657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97910" y="3602735"/>
            <a:ext cx="3657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728216" y="3877055"/>
            <a:ext cx="2062886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986430" y="3931919"/>
            <a:ext cx="3657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397910" y="3931919"/>
            <a:ext cx="3657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728216" y="4206240"/>
            <a:ext cx="2062886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986430" y="4261103"/>
            <a:ext cx="3657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397910" y="4261103"/>
            <a:ext cx="3657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728216" y="4535423"/>
            <a:ext cx="2062886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986430" y="4590288"/>
            <a:ext cx="3657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397910" y="4590288"/>
            <a:ext cx="3657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600200" y="248716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5" name="Oval 44"/>
          <p:cNvSpPr/>
          <p:nvPr/>
        </p:nvSpPr>
        <p:spPr>
          <a:xfrm>
            <a:off x="2940710" y="2889503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83710" y="2505455"/>
            <a:ext cx="1338681" cy="91440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75150" y="2871215"/>
            <a:ext cx="1155801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4175150" y="3054095"/>
            <a:ext cx="1155802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4175150" y="3145535"/>
            <a:ext cx="1155801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065422" y="248716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18488" y="5961888"/>
            <a:ext cx="3803904" cy="384048"/>
          </a:xfrm>
          <a:prstGeom prst="rect">
            <a:avLst/>
          </a:prstGeom>
          <a:solidFill>
            <a:srgbClr val="F7F7F7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600200" y="5943600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54" name="Oval 53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35624" y="1901951"/>
            <a:ext cx="5672023" cy="601309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탭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업무 도메인·구성 난이도·비용 등급·ML 모델 유형 | 자유 태그(카운트 배지)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824728" y="248497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5824728" y="253069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35624" y="2503261"/>
            <a:ext cx="5672023" cy="601309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분류 카드·설명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분류명 + 'AX 플랫폼 항목 전용' 배지 + 설명(난이도=n8n 전용·비용=AI Agent 전용)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824728" y="3086282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824728" y="3132002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35624" y="3104570"/>
            <a:ext cx="5672023" cy="601309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항목 리스트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행별 [수정][삭제](인라인 편집/삭제 확인 '"{label}" 삭제할까요?')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824728" y="3687592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5824728" y="3733312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35624" y="3705880"/>
            <a:ext cx="5672023" cy="601309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항목 추가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항목명 입력 + [추가]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안내 '새 항목 입력 후 Enter 또는 추가'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824728" y="4288901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5824728" y="4334621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35624" y="4307189"/>
            <a:ext cx="5672023" cy="601309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운영 유의사항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'고정 분류 항목을 삭제하면 기존 항목이 공란으로 처리될 수 있습니다. 삭제 전 사용 중인 항목 수를 확인하세요.'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824728" y="5054803"/>
            <a:ext cx="5982919" cy="1419148"/>
          </a:xfrm>
          <a:prstGeom prst="rect">
            <a:avLst/>
          </a:prstGeom>
          <a:solidFill>
            <a:srgbClr val="F7F7F7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5824728" y="5329123"/>
            <a:ext cx="5982919" cy="0"/>
          </a:xfrm>
          <a:prstGeom prst="line">
            <a:avLst/>
          </a:prstGeom>
          <a:ln w="1270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934456" y="5095951"/>
            <a:ext cx="576346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화면 룰·기획 근거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52744" y="5365699"/>
            <a:ext cx="5726887" cy="107167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분류 설계는 '고정 분류 위주' — 검색·필터·향후 RAG 모두 통제 어휘가 있어야 품질이 나온다.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자유 태그는 등록 문턱을 낮추는 보조 수단이며, 반복되는 태그는 관리자가 고정 분류로 승격한다.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관리 대상 분류는 등록 폼에서 실제 입력받는 축과 정확히 일치시킨다 — 입력 없는 분류는 관리 부담만 남긴다.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구성 난이도는 n8n 전용, 비용 등급은 AI Agent 대상으로 한정한다.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DC2626"/>
                </a:solidFill>
                <a:latin typeface="맑은 고딕"/>
                <a:ea typeface="맑은 고딕"/>
              </a:rPr>
              <a:t>BE·DB 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분류 마스터 테이블 + 항목-분류 참조, 삭제 시 공란 처리 정책을 서버에서 일관 적용.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분류 체계 관리  —  자유 태그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2 / 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분류체계 관리 — 자유 태그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/admin/taxonomy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18488" y="2194559"/>
            <a:ext cx="82296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32888" y="2194559"/>
            <a:ext cx="82296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47288" y="2194559"/>
            <a:ext cx="82296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61688" y="2194559"/>
            <a:ext cx="82296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76088" y="2194559"/>
            <a:ext cx="82296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57800" y="21762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618488" y="2505455"/>
            <a:ext cx="1179210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618488" y="2724911"/>
            <a:ext cx="493776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85416" y="2724911"/>
            <a:ext cx="493776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752344" y="2724911"/>
            <a:ext cx="493776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19272" y="2724911"/>
            <a:ext cx="493776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886200" y="2724911"/>
            <a:ext cx="493776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53128" y="2724911"/>
            <a:ext cx="493776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0056" y="2724911"/>
            <a:ext cx="493776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600200" y="248716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18488" y="2962655"/>
            <a:ext cx="3803904" cy="310896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673352" y="3035807"/>
            <a:ext cx="146304" cy="14630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892807" y="3044951"/>
            <a:ext cx="45720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2404872" y="3054095"/>
            <a:ext cx="943368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142231" y="3035807"/>
            <a:ext cx="548640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736592" y="3035807"/>
            <a:ext cx="548640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18488" y="3328415"/>
            <a:ext cx="3803904" cy="310896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673352" y="3401567"/>
            <a:ext cx="146304" cy="14630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892807" y="3410711"/>
            <a:ext cx="45720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2404872" y="3419855"/>
            <a:ext cx="943368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142231" y="3401567"/>
            <a:ext cx="548640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736592" y="3401567"/>
            <a:ext cx="548640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618488" y="3694175"/>
            <a:ext cx="3803904" cy="310896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673352" y="3767327"/>
            <a:ext cx="146304" cy="14630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892807" y="3776471"/>
            <a:ext cx="45720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2404872" y="3785615"/>
            <a:ext cx="943368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4142231" y="3767327"/>
            <a:ext cx="548640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736592" y="3767327"/>
            <a:ext cx="548640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618488" y="4059935"/>
            <a:ext cx="3803904" cy="310896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673352" y="4133087"/>
            <a:ext cx="146304" cy="14630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892807" y="4142231"/>
            <a:ext cx="45720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2404872" y="4151375"/>
            <a:ext cx="943368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4142231" y="4133087"/>
            <a:ext cx="548640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736592" y="4133087"/>
            <a:ext cx="548640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618488" y="4425696"/>
            <a:ext cx="3803904" cy="310896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673352" y="4498848"/>
            <a:ext cx="146304" cy="14630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892807" y="4507992"/>
            <a:ext cx="45720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2404872" y="4517136"/>
            <a:ext cx="943368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4142231" y="4498848"/>
            <a:ext cx="548640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736592" y="4498848"/>
            <a:ext cx="548640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600200" y="294436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64" name="Oval 63"/>
          <p:cNvSpPr/>
          <p:nvPr/>
        </p:nvSpPr>
        <p:spPr>
          <a:xfrm>
            <a:off x="4123944" y="294436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18488" y="5888736"/>
            <a:ext cx="3803904" cy="384048"/>
          </a:xfrm>
          <a:prstGeom prst="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600200" y="5870448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68" name="Oval 67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35624" y="1901951"/>
            <a:ext cx="5672023" cy="601309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자유 태그 탭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'자유 태그 누적 목록' + 설명(7유형 등록에서 수집)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824728" y="248497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5824728" y="253069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35624" y="2503261"/>
            <a:ext cx="5672023" cy="601309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출처 필터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전체 + 카테고리별 칩 필터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824728" y="3086282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5824728" y="3132002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35624" y="3104570"/>
            <a:ext cx="5672023" cy="601309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태그 행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체크박스·출처 배지·#태그·'사용 N건'·제안자·사용 항목 컨텍스트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824728" y="3687592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5824728" y="3733312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35624" y="3705880"/>
            <a:ext cx="5672023" cy="601309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행 액션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[고정 분류 편입](AI Agent→비용, ML→모델 유형만)·[삭제]·[선택 삭제 (N)]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824728" y="4288901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5824728" y="4334621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35624" y="4307189"/>
            <a:ext cx="5672023" cy="601309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고정 분류 편입 / 빈 상태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편입 분류 선택 + [편입 확정]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빈 상태 '누적된 자유 태그가 없습니다.'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824728" y="5054803"/>
            <a:ext cx="5982919" cy="1419148"/>
          </a:xfrm>
          <a:prstGeom prst="rect">
            <a:avLst/>
          </a:prstGeom>
          <a:solidFill>
            <a:srgbClr val="F7F7F7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5824728" y="5329123"/>
            <a:ext cx="5982919" cy="0"/>
          </a:xfrm>
          <a:prstGeom prst="line">
            <a:avLst/>
          </a:prstGeom>
          <a:ln w="1270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5934456" y="5095951"/>
            <a:ext cx="576346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화면 룰·기획 근거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52744" y="5365699"/>
            <a:ext cx="5726887" cy="107167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자유 태그는 등록 문턱을 낮추는 보조 수단 — 유의미하게 반복되는 태그를 고정 분류로 승격하는 운영 루프를 상정한다.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편입 대상은 비용 등급(AI Agent)·ML 모델 유형처럼 실제 입력 축이 있는 분류로 한정한다.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자유 태그의 출처는 AI 프로젝트 포함 7개 카테고리에 대응한다.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고정 분류가 검색·필터·통계·RAG의 품질 기반이라는 원칙을 유지한다.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DC2626"/>
                </a:solidFill>
                <a:latin typeface="맑은 고딕"/>
                <a:ea typeface="맑은 고딕"/>
              </a:rPr>
              <a:t>BE·DB 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태그 빈도 집계 + 편입 시 항목-분류 참조 갱신, 참조 무결성은 서버에서 보장.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84048"/>
            <a:ext cx="799651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ADM-06  ·  카테고리 관리 (Platforms)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8207" y="384048"/>
            <a:ext cx="456943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9999"/>
                </a:solidFill>
                <a:latin typeface="맑은 고딕"/>
                <a:ea typeface="맑은 고딕"/>
              </a:rPr>
              <a:t>화면 정의 (Screen Definition)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4048" y="786384"/>
            <a:ext cx="11423599" cy="0"/>
          </a:xfrm>
          <a:prstGeom prst="line">
            <a:avLst/>
          </a:prstGeom>
          <a:ln w="1905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4048" y="91440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화면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188720"/>
            <a:ext cx="383875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88720"/>
            <a:ext cx="374731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카테고리 관리 (/admin/platforms)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" y="15316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316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좌 카테고리 목록 (7)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" y="13053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" y="16482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815" y="1874519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874519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우 상세/편집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" y="1305306"/>
            <a:ext cx="0" cy="685799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9496" y="1991105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197864" y="22174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3584" y="22174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기본 정보 (ID·표시명·설명)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3" y="1991105"/>
            <a:ext cx="0" cy="342901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3543" y="23340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97864" y="25603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" y="25603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경로·연결 (라우트·접속 URL)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3543" y="1991105"/>
            <a:ext cx="0" cy="685801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3543" y="26769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197864" y="29032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584" y="29032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표시 스타일 (아이콘·색상)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3543" y="1991105"/>
            <a:ext cx="0" cy="1028701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23543" y="30198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197864" y="32461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584" y="32461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노출 상태 · 액션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3543" y="1991105"/>
            <a:ext cx="0" cy="1371601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3543" y="33627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84048" y="4261104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사용자 흐름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" y="4535424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4535424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카테고리 선택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817632" y="4700016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037088" y="4535424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82808" y="4535424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메타 수정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3424953" y="4700016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44409" y="4535424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90129" y="4535424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저장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5032274" y="4700016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251730" y="4535424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97450" y="4535424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카탈로그 반영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1050548" y="5010912"/>
            <a:ext cx="128016" cy="256032"/>
          </a:xfrm>
          <a:prstGeom prst="down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29768" y="5303520"/>
            <a:ext cx="1369576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" y="5303520"/>
            <a:ext cx="1278136" cy="384048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추가 → 신규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" y="5833872"/>
            <a:ext cx="6191539" cy="201168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설계 근거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056" y="6053328"/>
            <a:ext cx="6154963" cy="62179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카테고리 메타는 CATEGORIES 단일 소스 — 목록 필터·뱃지·통계 범례가 전부 여기서 파생된다.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이 화면의 편집은 전 화면에 파급되므로 전사 관리자 전용이며, 색·아이콘은 프리셋 안에서만 고르게 한다.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41347" y="914400"/>
            <a:ext cx="4866299" cy="88055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51075" y="950976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정의·역할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051075" y="1188720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069363" y="1225296"/>
            <a:ext cx="4610267" cy="53308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7개 카테고리의 메타(표시명·설명·색·아이콘·외부 환경 URL)를 편집하는 화면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전사 관리자 전용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41347" y="1922974"/>
            <a:ext cx="4866299" cy="6656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51075" y="1959550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목적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051075" y="2197294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069363" y="2233870"/>
            <a:ext cx="4610267" cy="318188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신규 카테고리 추가나 명칭·브랜딩 변경을 개발 배포 없이 운영에서 처리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41347" y="2716651"/>
            <a:ext cx="4866299" cy="109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51075" y="2753227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기획 의도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051075" y="2990971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069363" y="3027547"/>
            <a:ext cx="4610267" cy="74798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카테고리 메타는 CATEGORIES 단일 소스라 편집이 전 화면에 파급됨 → 전사 관리자 전용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아이콘·색상은 프리셋 안에서만 선택, 카테고리 간 유사색은 회피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41347" y="3940123"/>
            <a:ext cx="4866299" cy="152525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51075" y="3976699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지켜야 할 룰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051075" y="4214443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069363" y="4251019"/>
            <a:ext cx="4610267" cy="117778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표시 용어는 '카테고리', 파일·심볼은 AdminCategories·CategoryIcon(신규 명칭)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라우트 /admin/platforms·쿼리 키 ?platform=·카테고리 값 문자열은 현행 유지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내부 id는 편집 불가, accessUrl은 외부 실행 환경 주소(항목 URL 아님)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41347" y="5593393"/>
            <a:ext cx="4866299" cy="88055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51075" y="5629969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개발 연동 노트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051075" y="5867713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7069363" y="5904289"/>
            <a:ext cx="4610267" cy="53308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미등록 아이콘 키는 폴백으로 방어(서버 비정상 값 대비)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연동 후 CATEGORIES를 서버 마스터로 이관(현재는 코드 상수·화면은 시뮬레이션)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카테고리 관리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1 / 1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카테고리 메타 관리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ADM-06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/admin/platforms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2194559"/>
            <a:ext cx="1293327" cy="23774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271735" y="2212847"/>
            <a:ext cx="594360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18488" y="2505455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691640" y="2560319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2002536" y="2596895"/>
            <a:ext cx="4009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618488" y="2889503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691640" y="2944367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2002536" y="2980943"/>
            <a:ext cx="4009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618488" y="3273551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691640" y="3328415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2002536" y="3364991"/>
            <a:ext cx="4009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618488" y="3657599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691640" y="3712463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2002536" y="3749039"/>
            <a:ext cx="4009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618488" y="4041647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691640" y="4096511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2002536" y="4133087"/>
            <a:ext cx="4009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618488" y="4425696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691640" y="4480559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2002536" y="4517136"/>
            <a:ext cx="4009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618488" y="4809744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691640" y="4864607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2002536" y="4901183"/>
            <a:ext cx="4009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600200" y="21762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58119" y="2194559"/>
            <a:ext cx="2364272" cy="96012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149559" y="2377439"/>
            <a:ext cx="21813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3149559" y="2542032"/>
            <a:ext cx="2181393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3149559" y="2651759"/>
            <a:ext cx="21813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3149559" y="2816351"/>
            <a:ext cx="2181393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3149559" y="2926079"/>
            <a:ext cx="21813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3149559" y="3090671"/>
            <a:ext cx="2181393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3039831" y="21762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58119" y="3264407"/>
            <a:ext cx="2364272" cy="64008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149559" y="3428999"/>
            <a:ext cx="21813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3149559" y="3593591"/>
            <a:ext cx="2181393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149559" y="3685031"/>
            <a:ext cx="21813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3149559" y="3849623"/>
            <a:ext cx="2181393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3039831" y="324611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58119" y="4014215"/>
            <a:ext cx="2364272" cy="86868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149559" y="4142231"/>
            <a:ext cx="320893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580180" y="4142231"/>
            <a:ext cx="320893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010802" y="4142231"/>
            <a:ext cx="320893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149559" y="4471416"/>
            <a:ext cx="320893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580180" y="4471416"/>
            <a:ext cx="320893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010802" y="4471416"/>
            <a:ext cx="320893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476682" y="4197096"/>
            <a:ext cx="827495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476682" y="4471416"/>
            <a:ext cx="827495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039831" y="3995928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58119" y="4992624"/>
            <a:ext cx="2364272" cy="133502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142231" y="5084064"/>
            <a:ext cx="594360" cy="201168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782312" y="5084064"/>
            <a:ext cx="594360" cy="201168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039831" y="4974336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71" name="Oval 70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35624" y="1901951"/>
            <a:ext cx="5672023" cy="568025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카테고리 목록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'카테고리' N + [+ 추가], 7종 카테고리 아이콘·이름·ID(비활성 '비활성' 배지)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부제 '등록물의 출처가 되는 도구 종류를 관리합니다.'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824728" y="2451689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5824728" y="2497409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35624" y="2469977"/>
            <a:ext cx="5672023" cy="568025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기본 정보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식별자(내부 id·저장 후 변경 불가) · 표시명 · 짧은 설명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824728" y="301971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5824728" y="306543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35624" y="3038002"/>
            <a:ext cx="5672023" cy="568025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경로·연결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라우트 경로('/'로 시작) · 외부 환경 접속 URL(없으면 미설정)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824728" y="3587739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5824728" y="3633459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35624" y="3606027"/>
            <a:ext cx="5672023" cy="568025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표시 스타일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아이콘 선택(프리셋 3열 그리드·폴백 방어) + 출처 색상(전경색/배경색·프리셋 8종)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5824728" y="4155765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5824728" y="4201485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35624" y="4174053"/>
            <a:ext cx="5672023" cy="568025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노출 상태·액션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활성/비활성 토글 + [수정][삭제] / [저장][취소]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'삭제 대신 비활성화를 권장합니다.'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824728" y="4888382"/>
            <a:ext cx="5982919" cy="1585569"/>
          </a:xfrm>
          <a:prstGeom prst="rect">
            <a:avLst/>
          </a:prstGeom>
          <a:solidFill>
            <a:srgbClr val="F7F7F7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5824728" y="5162702"/>
            <a:ext cx="5982919" cy="0"/>
          </a:xfrm>
          <a:prstGeom prst="line">
            <a:avLst/>
          </a:prstGeom>
          <a:ln w="1270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5934456" y="4929530"/>
            <a:ext cx="576346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화면 룰·기획 근거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952744" y="5199278"/>
            <a:ext cx="5726887" cy="1238097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카테고리 메타는 CATEGORIES 단일 소스라 목록 필터·뱃지·통계 범례가 전부 여기서 파생 — 편집이 전 화면에 파급된다.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그래서 전사 관리자 전용이며, 아이콘·색상은 프리셋 레지스트리 안에서만 골라 톤앤매너 일탈을 막는다.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카테고리 간 유사색은 피한다(뱃지·범례에서 구분이 무너지므로).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표시 용어는 '카테고리', 파일·심볼은 AdminCategories·CategoryIcon(신규) / 라우트 /admin/platforms·쿼리 ?platform=는 현행 유지.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DC2626"/>
                </a:solidFill>
                <a:latin typeface="맑은 고딕"/>
                <a:ea typeface="맑은 고딕"/>
              </a:rPr>
              <a:t>BE·DB 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연동 후 CATEGORIES를 서버 마스터로 이관(현재는 코드 상수, 화면은 시뮬레이션).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84048"/>
            <a:ext cx="799651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ADM-07  ·  조직 관리 (Org)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8207" y="384048"/>
            <a:ext cx="456943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9999"/>
                </a:solidFill>
                <a:latin typeface="맑은 고딕"/>
                <a:ea typeface="맑은 고딕"/>
              </a:rPr>
              <a:t>화면 정의 (Screen Definition)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4048" y="786384"/>
            <a:ext cx="11423599" cy="0"/>
          </a:xfrm>
          <a:prstGeom prst="line">
            <a:avLst/>
          </a:prstGeom>
          <a:ln w="1905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4048" y="91440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화면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188720"/>
            <a:ext cx="383875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88720"/>
            <a:ext cx="374731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부서/조직 관리 (/admin/org)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" y="15316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316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섹션1 관계사 노출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" y="13053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" y="16482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815" y="1874519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874519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섹션2 부서 관리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" y="1305306"/>
            <a:ext cx="0" cy="685799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9496" y="1991105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197864" y="22174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3584" y="22174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필터·부서 목록(아코디언)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3" y="1991105"/>
            <a:ext cx="0" cy="342901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3543" y="23340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97864" y="25603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" y="25603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부서 추가·Teams 연동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3543" y="1991105"/>
            <a:ext cx="0" cy="685801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3543" y="26769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3815" y="29032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29032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섹션3 관계사 관리자 현황(읽기 전용)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9496" y="1305306"/>
            <a:ext cx="0" cy="17145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9496" y="30198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3815" y="32461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32461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섹션4 문의 채널 설정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39496" y="1305306"/>
            <a:ext cx="0" cy="20574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39496" y="33627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84048" y="4974336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사용자 흐름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" y="5248655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5248655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노출 설정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817632" y="5413247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037088" y="5248655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82808" y="5248655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부서 관리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3424953" y="5413247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44409" y="5248655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90129" y="5248655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관리자 현황 확인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5032274" y="5413247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251730" y="5248655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97450" y="5248655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문의 채널 설정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" y="5833871"/>
            <a:ext cx="6191539" cy="201168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설계 근거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" y="6053327"/>
            <a:ext cx="6154963" cy="62179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항목에 관계사를 표시하지 않더라도 조직 마스터는 승인 자격 판정·담당자 부서 표기·집계 축의 근간이다.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관계사 노출 여부는 카탈로그 표시 범위를 통제하는 접근 게이트 — 비노출 관계사 항목은 소속 아닌 사용자에게 숨긴다.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41347" y="914400"/>
            <a:ext cx="4866299" cy="91971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51075" y="950976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정의·역할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051075" y="1188720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069363" y="1225296"/>
            <a:ext cx="4610267" cy="572243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관계사·부서 조직 정보를 관리하는 화면(4개 섹션)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관계사 노출·부서·관계사 관리자 현황·문의 채널 설정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41347" y="1962131"/>
            <a:ext cx="4866299" cy="695261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51075" y="1998707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목적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051075" y="2236451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069363" y="2273027"/>
            <a:ext cx="4610267" cy="347789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담당자 소속 표기·승인 슬롯 자격 판정·통계 축(참여 부서)의 기준 데이터 정비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41347" y="2785409"/>
            <a:ext cx="4866299" cy="114417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51075" y="2821985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기획 의도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051075" y="3059729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069363" y="3096305"/>
            <a:ext cx="4610267" cy="796698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항목에 관계사를 표시하지 않아도 조직 마스터는 승인 자격·부서 표기·집계 축의 근간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관계사 노출 여부는 카탈로그 표시 범위를 통제하는 접근 게이트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41347" y="4057595"/>
            <a:ext cx="4866299" cy="1368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51075" y="4094171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지켜야 할 룰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051075" y="4331915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069363" y="4368491"/>
            <a:ext cx="4610267" cy="102115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섹션1: 노출 관계사만 사용자 목록·필터·통계에 노출(그룹 전체보기 권한자는 예외)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섹션3 관계사 관리자 현황은 읽기 전용 투영(지정·해제는 사용자 관리에서만)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관계사 코드는 승인 슬롯 자격·담당 관계사와 동일 체계 유지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41347" y="5554236"/>
            <a:ext cx="4866299" cy="91971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51075" y="5590812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개발 연동 노트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051075" y="5828556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069363" y="5865132"/>
            <a:ext cx="4610267" cy="572243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문의 채널은 Teams 채널 URL(config/operations.ts 연동 대상)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조직 변경은 기존 항목 부서 표기 정합에 영향 — 변경 이력 관리 권장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조직 관리  —  섹션 1·2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1 / 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부서 / 조직 관리 — 섹션 1·2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ADM-07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/admin/org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2194559"/>
            <a:ext cx="3803904" cy="50292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709928" y="2331719"/>
            <a:ext cx="1901952" cy="219456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09928" y="2304287"/>
            <a:ext cx="1901952" cy="237744"/>
          </a:xfrm>
          <a:prstGeom prst="rect">
            <a:avLst/>
          </a:prstGeom>
          <a:noFill/>
        </p:spPr>
        <p:txBody>
          <a:bodyPr wrap="square" anchor="ctr" lIns="54864" rIns="54864" tIns="0" bIns="18288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맑은 고딕"/>
                <a:ea typeface="맑은 고딕"/>
              </a:rPr>
              <a:t>노출</a:t>
            </a:r>
          </a:p>
        </p:txBody>
      </p:sp>
      <p:sp>
        <p:nvSpPr>
          <p:cNvPr id="21" name="Oval 20"/>
          <p:cNvSpPr/>
          <p:nvPr/>
        </p:nvSpPr>
        <p:spPr>
          <a:xfrm>
            <a:off x="1600200" y="21762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18488" y="2761487"/>
            <a:ext cx="3803904" cy="274320"/>
          </a:xfrm>
          <a:prstGeom prst="rect">
            <a:avLst/>
          </a:prstGeom>
          <a:solidFill>
            <a:srgbClr val="F7F7F7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00200" y="272491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18488" y="3108959"/>
            <a:ext cx="2358420" cy="137160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09928" y="3218687"/>
            <a:ext cx="11792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709928" y="3383279"/>
            <a:ext cx="1179210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709928" y="3493007"/>
            <a:ext cx="2175540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09928" y="3803903"/>
            <a:ext cx="2175540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09928" y="4114799"/>
            <a:ext cx="2175540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600200" y="30906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59788" y="3108959"/>
            <a:ext cx="1262603" cy="64008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51228" y="3291839"/>
            <a:ext cx="1079723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251228" y="3456432"/>
            <a:ext cx="1079724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251228" y="3511295"/>
            <a:ext cx="1079723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59788" y="3840479"/>
            <a:ext cx="1262603" cy="64008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4251228" y="3950207"/>
            <a:ext cx="1079724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251228" y="4073651"/>
            <a:ext cx="1079724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251228" y="4197096"/>
            <a:ext cx="669429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4141500" y="30906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18488" y="4590288"/>
            <a:ext cx="3803904" cy="685800"/>
          </a:xfrm>
          <a:prstGeom prst="rect">
            <a:avLst/>
          </a:prstGeom>
          <a:solidFill>
            <a:srgbClr val="FFFFFF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709928" y="4700016"/>
            <a:ext cx="362102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709928" y="4882896"/>
            <a:ext cx="362102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709928" y="5065776"/>
            <a:ext cx="362102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618488" y="5385816"/>
            <a:ext cx="3803904" cy="941832"/>
          </a:xfrm>
          <a:prstGeom prst="rect">
            <a:avLst/>
          </a:prstGeom>
          <a:solidFill>
            <a:srgbClr val="FFFFFF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709928" y="5513831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1709928" y="5696712"/>
            <a:ext cx="2706624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4599431" y="5513831"/>
            <a:ext cx="731520" cy="182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49" name="Oval 48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35624" y="1901951"/>
            <a:ext cx="5672023" cy="71003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섹션1 관계사 노출 관리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관계사별 visible on/off(접근 게이트, CompanyVisibilityDropdown), '노출 N / 전체 29' 배지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824728" y="2593695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5824728" y="2639415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35624" y="2611983"/>
            <a:ext cx="5672023" cy="71003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섹션1 안내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'비노출 관계사는 해당 소속 아닌 사용자에게 목록·필터·통계에서 숨김. 그룹 전체보기 권한자는 예외.'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824728" y="3303727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5824728" y="3349447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35624" y="3322015"/>
            <a:ext cx="5672023" cy="71003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섹션2 부서 관리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부서명 검색 + 관계사/본부 필터 + [모두 펼치기/접기] + 관계사 아코디언·부서 행(수정·삭제, Teams 출처 배지)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824728" y="4013758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5824728" y="4059478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35624" y="4032046"/>
            <a:ext cx="5672023" cy="71003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섹션2 부서 추가·Teams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부서 수동 추가(관계사 필수) + Microsoft Teams 연동(현황/설정/동기화 탭, 중복 병합)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24728" y="4888382"/>
            <a:ext cx="5982919" cy="1585569"/>
          </a:xfrm>
          <a:prstGeom prst="rect">
            <a:avLst/>
          </a:prstGeom>
          <a:solidFill>
            <a:srgbClr val="F7F7F7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5824728" y="5162702"/>
            <a:ext cx="5982919" cy="0"/>
          </a:xfrm>
          <a:prstGeom prst="line">
            <a:avLst/>
          </a:prstGeom>
          <a:ln w="1270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934456" y="4929530"/>
            <a:ext cx="576346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화면 룰·기획 근거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52744" y="5199278"/>
            <a:ext cx="5726887" cy="1238097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항목에 관계사를 표시하지 않아도 조직 마스터는 승인 자격 판정·담당자 부서 표기·집계 축의 근간이다.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관계사 노출 여부는 카탈로그 표시 범위를 통제하는 접근 게이트 — 비노출 관계사 항목은 소속 아닌 일반 사용자에게 숨긴다.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편집 지점(사용자 관리)과 현황판(조직 관리)을 분리해 관리자 지정의 단일 소스를 유지한다.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비노출 처리해도 기존 항목 데이터는 삭제되지 않는다.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DC2626"/>
                </a:solidFill>
                <a:latin typeface="맑은 고딕"/>
                <a:ea typeface="맑은 고딕"/>
              </a:rPr>
              <a:t>BE·DB 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관계사 코드는 승인 슬롯 자격·담당 관계사와 동일 체계, 문의 채널은 operations.ts의 Teams 상수.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조직 관리  —  섹션 3·4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2 / 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부서 / 조직 관리 — 섹션 3·4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ADM-07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/admin/org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2194559"/>
            <a:ext cx="3803904" cy="502920"/>
          </a:xfrm>
          <a:prstGeom prst="rect">
            <a:avLst/>
          </a:prstGeom>
          <a:solidFill>
            <a:srgbClr val="FFFFFF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709928" y="2331719"/>
            <a:ext cx="1901952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09928" y="2304287"/>
            <a:ext cx="1901952" cy="237744"/>
          </a:xfrm>
          <a:prstGeom prst="rect">
            <a:avLst/>
          </a:prstGeom>
          <a:noFill/>
        </p:spPr>
        <p:txBody>
          <a:bodyPr wrap="square" anchor="ctr" lIns="54864" rIns="54864" tIns="0" bIns="18288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DDDDD"/>
                </a:solidFill>
                <a:latin typeface="맑은 고딕"/>
                <a:ea typeface="맑은 고딕"/>
              </a:rPr>
              <a:t>노출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18488" y="2761487"/>
            <a:ext cx="3803904" cy="274320"/>
          </a:xfrm>
          <a:prstGeom prst="rect">
            <a:avLst/>
          </a:prstGeom>
          <a:solidFill>
            <a:srgbClr val="F7F7F7"/>
          </a:solidFill>
          <a:ln w="1397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18488" y="3108959"/>
            <a:ext cx="2358420" cy="1371600"/>
          </a:xfrm>
          <a:prstGeom prst="rect">
            <a:avLst/>
          </a:prstGeom>
          <a:solidFill>
            <a:srgbClr val="FFFFFF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09928" y="3218687"/>
            <a:ext cx="11792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1709928" y="3383279"/>
            <a:ext cx="1179210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709928" y="3493007"/>
            <a:ext cx="2175540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09928" y="3803903"/>
            <a:ext cx="2175540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709928" y="4114799"/>
            <a:ext cx="2175540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59788" y="3108959"/>
            <a:ext cx="1262603" cy="640080"/>
          </a:xfrm>
          <a:prstGeom prst="rect">
            <a:avLst/>
          </a:prstGeom>
          <a:solidFill>
            <a:srgbClr val="F7F7F7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228" y="3291839"/>
            <a:ext cx="1079723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251228" y="3456432"/>
            <a:ext cx="1079724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251228" y="3511295"/>
            <a:ext cx="1079723" cy="1645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59788" y="3840479"/>
            <a:ext cx="1262603" cy="640080"/>
          </a:xfrm>
          <a:prstGeom prst="rect">
            <a:avLst/>
          </a:prstGeom>
          <a:solidFill>
            <a:srgbClr val="FFFFFF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251228" y="3950207"/>
            <a:ext cx="1079724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251228" y="4073651"/>
            <a:ext cx="1079724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251228" y="4197096"/>
            <a:ext cx="669429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618488" y="4590288"/>
            <a:ext cx="3803904" cy="68580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709928" y="4700016"/>
            <a:ext cx="362102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709928" y="4882896"/>
            <a:ext cx="362102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09928" y="5065776"/>
            <a:ext cx="362102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600200" y="4572000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18488" y="5385816"/>
            <a:ext cx="3803904" cy="941832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709928" y="5513831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709928" y="5696712"/>
            <a:ext cx="2706624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599431" y="5513831"/>
            <a:ext cx="731520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600200" y="5367528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6" name="Oval 45"/>
          <p:cNvSpPr/>
          <p:nvPr/>
        </p:nvSpPr>
        <p:spPr>
          <a:xfrm>
            <a:off x="5166359" y="5477255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48" name="Oval 47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35624" y="1901951"/>
            <a:ext cx="5672023" cy="946708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섹션3 관계사 관리자 현황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'읽기 전용' 투영 — 노출 관계사별 관리자 칩·'담당 N곳' 배지·'미지정'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'지정·해제는 사용자 관리에서 관리' + [사용자 관리로 이동]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824728" y="2830372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5824728" y="2876092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35624" y="2848660"/>
            <a:ext cx="5672023" cy="946708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섹션4 문의 채널 설정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랜딩 문의 카드 연결 Teams 채널 URL 편집(유효성 검사), operations.ts 연동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824728" y="3777081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824728" y="3822801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35624" y="3795369"/>
            <a:ext cx="5672023" cy="946708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하단 운영 유의사항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'관계사 비노출 전환해도 기존 AX 항목 데이터는 삭제되지 않습니다. 부서 삭제 시 태깅된 항목 영향 확인.'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24728" y="4888382"/>
            <a:ext cx="5982919" cy="1585569"/>
          </a:xfrm>
          <a:prstGeom prst="rect">
            <a:avLst/>
          </a:prstGeom>
          <a:solidFill>
            <a:srgbClr val="F7F7F7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5824728" y="5162702"/>
            <a:ext cx="5982919" cy="0"/>
          </a:xfrm>
          <a:prstGeom prst="line">
            <a:avLst/>
          </a:prstGeom>
          <a:ln w="1270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934456" y="4929530"/>
            <a:ext cx="576346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화면 룰·기획 근거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52744" y="5199278"/>
            <a:ext cx="5726887" cy="1238097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항목에 관계사를 표시하지 않아도 조직 마스터는 승인 자격 판정·담당자 부서 표기·집계 축의 근간이다.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관계사 노출 여부는 카탈로그 표시 범위를 통제하는 접근 게이트 — 비노출 관계사 항목은 소속 아닌 일반 사용자에게 숨긴다.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편집 지점(사용자 관리)과 현황판(조직 관리)을 분리해 관리자 지정의 단일 소스를 유지한다.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비노출 처리해도 기존 항목 데이터는 삭제되지 않는다.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DC2626"/>
                </a:solidFill>
                <a:latin typeface="맑은 고딕"/>
                <a:ea typeface="맑은 고딕"/>
              </a:rPr>
              <a:t>BE·DB 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관계사 코드는 승인 슬롯 자격·담당 관계사와 동일 체계, 문의 채널은 operations.ts의 Teams 상수.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84048"/>
            <a:ext cx="799651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ADM-08  ·  사용자·권한 관리 (Users)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8207" y="384048"/>
            <a:ext cx="456943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9999"/>
                </a:solidFill>
                <a:latin typeface="맑은 고딕"/>
                <a:ea typeface="맑은 고딕"/>
              </a:rPr>
              <a:t>화면 정의 (Screen Definition)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4048" y="786384"/>
            <a:ext cx="11423599" cy="0"/>
          </a:xfrm>
          <a:prstGeom prst="line">
            <a:avLst/>
          </a:prstGeom>
          <a:ln w="1905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4048" y="91440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화면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188720"/>
            <a:ext cx="383875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88720"/>
            <a:ext cx="374731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사용자/권한/로그 (/admin/users)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" y="15316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316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탭 4종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" y="13053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" y="16482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815" y="1874519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874519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관리자 권한 탭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" y="1305306"/>
            <a:ext cx="0" cy="685799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9496" y="1991105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197864" y="22174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3584" y="22174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전사 관리자 / 관계사 관리자 목록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3" y="1991105"/>
            <a:ext cx="0" cy="342901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3543" y="23340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97864" y="25603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" y="25603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담당 관계사 칩 편집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3543" y="1991105"/>
            <a:ext cx="0" cy="685801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3543" y="26769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197864" y="29032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584" y="29032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권한 부여 패널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3543" y="1991105"/>
            <a:ext cx="0" cy="1028701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23543" y="30198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3815" y="32461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32461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그룹 전체보기 · 등록자 · 활동 로그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39496" y="1305306"/>
            <a:ext cx="0" cy="20574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39496" y="33627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84048" y="4261104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사용자 흐름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" y="4535424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4535424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SSO 검색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817632" y="4700016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037088" y="4535424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82808" y="4535424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역할 지정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3424953" y="4700016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44409" y="4535424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90129" y="4535424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담당 관계사 지정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5032274" y="4700016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251730" y="4535424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97450" y="4535424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부여/회수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5872511" y="5010912"/>
            <a:ext cx="128016" cy="256032"/>
          </a:xfrm>
          <a:prstGeom prst="down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251730" y="5303520"/>
            <a:ext cx="1369576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97450" y="5303520"/>
            <a:ext cx="1278136" cy="384048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가드: 최소 1명/1곳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" y="5833872"/>
            <a:ext cx="6191539" cy="201168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설계 근거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056" y="6053328"/>
            <a:ext cx="6154963" cy="62179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역할을 늘리는 대신 Admin의 범위(전사 global / 관계사 company)로 구분 — 권한 매트릭스 폭증을 막는다.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전사 관리자 최소 1명 가드는 '아무도 전체를 관리할 수 없는 상태'라는 최악의 사고를 UI에서 원천 차단한다.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41347" y="914400"/>
            <a:ext cx="4866299" cy="91971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51075" y="950976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정의·역할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051075" y="1188720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069363" y="1225296"/>
            <a:ext cx="4610267" cy="572243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사용자 목록 조회와 관리자 권한(부여·회수·범위 지정) 관리. 탭 4종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'관리자 권한' 탭이 관리자 지정의 유일한 편집 지점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41347" y="1962131"/>
            <a:ext cx="4866299" cy="695261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51075" y="1998707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목적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051075" y="2236451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069363" y="2273027"/>
            <a:ext cx="4610267" cy="347789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2-tier 권한 체계(User / Admin)를 운영에서 안전하게 집행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41347" y="2785409"/>
            <a:ext cx="4866299" cy="91971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51075" y="2821985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기획 의도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051075" y="3059729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069363" y="3096305"/>
            <a:ext cx="4610267" cy="572243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역할을 늘리는 대신 Admin의 범위(global 전사 / company 관계사)로 구분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감사 로그는 책임 추적용 — 과거 로그는 당시 사실 그대로 보존(소급 수정 금지)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41347" y="3833140"/>
            <a:ext cx="4866299" cy="1593079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51075" y="3869716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지켜야 할 룰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051075" y="4107460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069363" y="4144036"/>
            <a:ext cx="4610267" cy="1245607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2-tier: adminScope global(전사)·company(관계사), 관계사 관리자는 담당 관계사(managedCompanies) 복수 담당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가드1: 전사 관리자 최소 1명 유지 — 마지막 global 권한 회수는 UI·서버 양쪽 차단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가드2: 담당 관계사 최소 1곳(전체 해제는 권한 회수로 유도)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41347" y="5554236"/>
            <a:ext cx="4866299" cy="91971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51075" y="5590812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개발 연동 노트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051075" y="5828556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7069363" y="5865132"/>
            <a:ext cx="4610267" cy="572243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권한 변경 API는 최소 1명 가드를 서버에서 재검증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user-company 관리 매핑은 N:M 테이블(관계사와 관리자는 N:M 관계)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사용자·권한 관리  —  관리자 권한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1 / 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사용자 / 권한 / 로그 관리 — 관리자 권한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ADM-08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/admin/users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18488" y="2194559"/>
            <a:ext cx="86868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78608" y="2194559"/>
            <a:ext cx="86868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38728" y="2194559"/>
            <a:ext cx="86868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98848" y="2194559"/>
            <a:ext cx="86868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600200" y="21762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18488" y="2505455"/>
            <a:ext cx="2282342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37790" y="2542031"/>
            <a:ext cx="13716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2437790" y="2706623"/>
            <a:ext cx="1371600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600200" y="248716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18488" y="2871215"/>
            <a:ext cx="2282342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709928" y="2962655"/>
            <a:ext cx="707526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986430" y="2962655"/>
            <a:ext cx="8229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18488" y="3438143"/>
            <a:ext cx="2282342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709928" y="3529583"/>
            <a:ext cx="707526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986430" y="3529583"/>
            <a:ext cx="8229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600200" y="283463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18488" y="4059935"/>
            <a:ext cx="2282342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1709928" y="4133087"/>
            <a:ext cx="566020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709928" y="4334255"/>
            <a:ext cx="493776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258568" y="4334255"/>
            <a:ext cx="493776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807208" y="4334255"/>
            <a:ext cx="493776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18488" y="4626864"/>
            <a:ext cx="2282342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1709928" y="4700016"/>
            <a:ext cx="566020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709928" y="4901183"/>
            <a:ext cx="493776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258568" y="4901183"/>
            <a:ext cx="493776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807208" y="4901183"/>
            <a:ext cx="493776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600200" y="402335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83710" y="2505455"/>
            <a:ext cx="1338681" cy="146304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75150" y="2651759"/>
            <a:ext cx="607161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4175150" y="2834639"/>
            <a:ext cx="607162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4828032" y="2651759"/>
            <a:ext cx="502920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175150" y="3008375"/>
            <a:ext cx="602406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753051" y="3008375"/>
            <a:ext cx="602406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75150" y="3328415"/>
            <a:ext cx="1155801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175150" y="3675887"/>
            <a:ext cx="1155801" cy="219456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065422" y="248716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83710" y="4078223"/>
            <a:ext cx="1338681" cy="2249424"/>
          </a:xfrm>
          <a:prstGeom prst="rect">
            <a:avLst/>
          </a:prstGeom>
          <a:solidFill>
            <a:srgbClr val="F7F7F7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065422" y="4059935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57" name="Oval 56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35624" y="1901951"/>
            <a:ext cx="5672023" cy="47335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탭 4종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관리자 권한 · 그룹 전체보기 · 등록자 관리 · 활동 로그 (SSO 자동 관리 안내 배너)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824728" y="2357018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824728" y="2402738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35624" y="2375306"/>
            <a:ext cx="5672023" cy="47335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목록 헤더·검색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'관리자' + '전사 N · 관계사 N' 카운트 + 통합 검색(이름·부서·이메일)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824728" y="2830372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5824728" y="2876092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35624" y="2848660"/>
            <a:ext cx="5672023" cy="47335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전사 관리자 목록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배지·메타 + [권한 회수]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가드 '전사 관리자는 최소 1명 유지해야 합니다. 회수할 수 없습니다.'(본인 회수 불가)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824728" y="3303727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5824728" y="3349447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35624" y="3322015"/>
            <a:ext cx="5672023" cy="47335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관계사 관리자·담당 칩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담당 관계사 칩(오렌지) × 제거 + [+ 관계사 추가]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가드 '담당 관계사는 1곳 이상이어야 합니다. 담당을 모두 해제하려면 권한 회수를 사용하세요.'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824728" y="3777081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5824728" y="3822801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35624" y="3795369"/>
            <a:ext cx="5672023" cy="47335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관리자 권한 부여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SSO 검색 → 역할 토글(전사/관계사 관리자) → 담당 관계사 다중 선택 → [지정]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824728" y="4250436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5824728" y="4296156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35624" y="4268724"/>
            <a:ext cx="5672023" cy="47335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운영 유의사항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'전사 관리자는 전체 승인·관리, 관계사 관리자는 담당 범위만. 전사 관리자 최소 1명 유지, 본인 회수 불가.'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824728" y="4888382"/>
            <a:ext cx="5982919" cy="1585569"/>
          </a:xfrm>
          <a:prstGeom prst="rect">
            <a:avLst/>
          </a:prstGeom>
          <a:solidFill>
            <a:srgbClr val="F7F7F7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5824728" y="5162702"/>
            <a:ext cx="5982919" cy="0"/>
          </a:xfrm>
          <a:prstGeom prst="line">
            <a:avLst/>
          </a:prstGeom>
          <a:ln w="1270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934456" y="4929530"/>
            <a:ext cx="576346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화면 룰·기획 근거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52744" y="5199278"/>
            <a:ext cx="5726887" cy="1238097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역할 종류를 늘리면 권한 매트릭스가 폭증하므로, User/Admin 2-tier로 두고 Admin 안에서 범위(전사/관계사)로 구분한다.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전사 관리자 최소 1명 가드는 '아무도 전체를 관리할 수 없는 상태'라는 최악의 운영 사고를 UI에서 원천 차단한다.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담당 관계사 최소 1곳 가드 — 담당을 모두 해제하려면 권한 회수를 사용하도록 유도한다.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감사 로그는 권한 변경 책임 추적용이며 과거 로그는 소급 수정하지 않는다.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DC2626"/>
                </a:solidFill>
                <a:latin typeface="맑은 고딕"/>
                <a:ea typeface="맑은 고딕"/>
              </a:rPr>
              <a:t>BE·DB 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권한 변경 API는 최소 1명 가드를 서버에서 재검증, user-company 매핑은 N:M 테이블.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사용자·권한 관리  —  권한·로그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2 / 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사용자 / 권한 / 로그 관리 — 권한·로그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ADM-08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/admin/users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18488" y="2194559"/>
            <a:ext cx="86868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78608" y="2194559"/>
            <a:ext cx="86868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38728" y="2194559"/>
            <a:ext cx="86868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98848" y="2194559"/>
            <a:ext cx="86868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60320" y="21762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18488" y="2505455"/>
            <a:ext cx="3803904" cy="91440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09928" y="2615183"/>
            <a:ext cx="2282342" cy="219456"/>
          </a:xfrm>
          <a:prstGeom prst="rect">
            <a:avLst/>
          </a:prstGeom>
          <a:solidFill>
            <a:srgbClr val="F7F7F7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09928" y="2907791"/>
            <a:ext cx="3621024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09928" y="3145535"/>
            <a:ext cx="3621024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600200" y="248716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18488" y="3529583"/>
            <a:ext cx="3803904" cy="91440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1709928" y="3785615"/>
            <a:ext cx="3621024" cy="0"/>
          </a:xfrm>
          <a:prstGeom prst="line">
            <a:avLst/>
          </a:prstGeom>
          <a:ln w="1524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09928" y="3913631"/>
            <a:ext cx="2245034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709928" y="4096511"/>
            <a:ext cx="2245034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709928" y="4279392"/>
            <a:ext cx="2245034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600200" y="3511295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18488" y="4553712"/>
            <a:ext cx="190195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1618488" y="4736592"/>
            <a:ext cx="1901952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710635" y="4553712"/>
            <a:ext cx="329184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076395" y="4553712"/>
            <a:ext cx="329184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442155" y="4553712"/>
            <a:ext cx="329184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807915" y="4553712"/>
            <a:ext cx="329184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173675" y="4553712"/>
            <a:ext cx="329184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618488" y="4828031"/>
            <a:ext cx="3803904" cy="1499616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1709928" y="5065775"/>
            <a:ext cx="3621024" cy="0"/>
          </a:xfrm>
          <a:prstGeom prst="line">
            <a:avLst/>
          </a:prstGeom>
          <a:ln w="1524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709928" y="5175503"/>
            <a:ext cx="2245034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709928" y="5358383"/>
            <a:ext cx="2245034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709928" y="5541264"/>
            <a:ext cx="2245034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600200" y="4535424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48" name="Oval 47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35624" y="1901951"/>
            <a:ext cx="5672023" cy="7932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탭 4종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그룹 전체보기·등록자 관리·활동 로그 탭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824728" y="2676906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5824728" y="2722625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35624" y="2695194"/>
            <a:ext cx="5672023" cy="7932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그룹 전체보기 탭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권한자 목록 + SSO 검색 부여(부여 사유 필수), 비노출 관계사도 조회 가능·조회 전용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824728" y="3470147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824728" y="3515867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35624" y="3488435"/>
            <a:ext cx="5672023" cy="7932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등록자 관리 탭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읽기 전용 표 — 이름/부서·이메일·등록 수·승인·대기/반려·최근 신청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824728" y="4263390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5824728" y="4309109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35624" y="4281677"/>
            <a:ext cx="5672023" cy="7932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활동 로그 탭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사용자·대상·액션 검색 + 카테고리 필터(전체·등록물·권한·분류체계·조직) + 표(일시·사용자·액션·대상)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24728" y="5221223"/>
            <a:ext cx="5982919" cy="1252728"/>
          </a:xfrm>
          <a:prstGeom prst="rect">
            <a:avLst/>
          </a:prstGeom>
          <a:solidFill>
            <a:srgbClr val="F7F7F7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5824728" y="5495543"/>
            <a:ext cx="5982919" cy="0"/>
          </a:xfrm>
          <a:prstGeom prst="line">
            <a:avLst/>
          </a:prstGeom>
          <a:ln w="1270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934456" y="5262371"/>
            <a:ext cx="576346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화면 룰·기획 근거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52744" y="5532119"/>
            <a:ext cx="5726887" cy="9052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그룹 전체보기는 비노출 관계사도 조회 가능한 조회 전용 권한 — 부여 시 사유를 필수로 남긴다.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등록자 관리는 읽기 전용 현황이고, 활동 로그는 권한·분류·조직 변경의 책임 추적 기록이다.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감사 로그는 당시 사실 그대로 보존하며 현행 체계와 표기가 달라도 소급 수정하지 않는다.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관리자 지정의 유일한 편집 지점은 '관리자 권한' 탭(조직 관리는 읽기 전용 투영).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DC2626"/>
                </a:solidFill>
                <a:latin typeface="맑은 고딕"/>
                <a:ea typeface="맑은 고딕"/>
              </a:rPr>
              <a:t>BE·DB  </a:t>
            </a:r>
            <a:r>
              <a:rPr sz="850" b="0">
                <a:solidFill>
                  <a:srgbClr val="666666"/>
                </a:solidFill>
                <a:latin typeface="맑은 고딕"/>
                <a:ea typeface="맑은 고딕"/>
              </a:rPr>
              <a:t>그룹 전체보기·활동 로그는 감사 대응 로깅 필요, 권한 매핑은 N:M 테이블로 관리.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