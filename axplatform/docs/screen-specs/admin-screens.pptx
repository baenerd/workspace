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ADM-01  ·  대시보드 (Dashboard)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대시보드 (/admin)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KPI 3종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처리 대기 (승인·수정 요청)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현황 (최근 게시·최근 활동)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통계 링크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처리 대기 확인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위젯 클릭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해당 관리 화면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미지정 → 안내 배너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부분집합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축을 분리해 화면 역할을 겹치지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필터를 두지 않고, 전 위젯이 해당 관리 화면의 진입점을 겸한다.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시작 화면 — '지금 처리할 일' 요약 운영 콕핏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처리 대기 업무 확인 + 관리 화면 즉시 진입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 분리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분석 차트는 통계로 일원화, 전 위젯이 진입점 겸임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 없음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기간 필터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누적=전체 기간, 이번 달 신규=당월 실측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수치는 ownerCompany 담당 범위 부분집합(0.6)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기존 자원 조합 우선(활동 피드 GET /activity 후보), 가시성 서버 재검증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73670" y="2194559"/>
            <a:ext cx="118872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3670" y="2185415"/>
            <a:ext cx="118872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범위</a:t>
            </a:r>
          </a:p>
        </p:txBody>
      </p:sp>
      <p:sp>
        <p:nvSpPr>
          <p:cNvPr id="25" name="Oval 24"/>
          <p:cNvSpPr/>
          <p:nvPr/>
        </p:nvSpPr>
        <p:spPr>
          <a:xfrm>
            <a:off x="255538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72768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82495" y="2743199"/>
            <a:ext cx="632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82495" y="2944367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889504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999232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99232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06240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315968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315968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236975"/>
            <a:ext cx="2061972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401567"/>
            <a:ext cx="86602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673352" y="3529583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84248" y="3529583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276856" y="3593591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673352" y="3703319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84248" y="370331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76856" y="3767327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673352" y="3877055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84248" y="387705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76856" y="3941063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673352" y="4050791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84248" y="405079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276856" y="4114799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673352" y="4224527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984248" y="422452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76856" y="4288536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2635" y="4370831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554480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35324" y="3236975"/>
            <a:ext cx="1687068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835908" y="3401567"/>
            <a:ext cx="70856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3835908" y="3529583"/>
            <a:ext cx="1485900" cy="42062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835908" y="4096511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35908" y="4251959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35908" y="4407407"/>
            <a:ext cx="8172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3717036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72768" y="4645151"/>
            <a:ext cx="1874519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4809743"/>
            <a:ext cx="82478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73352" y="4956047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984248" y="5020055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673352" y="5175503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984248" y="5239512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673352" y="5394959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984248" y="5458967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1673352" y="5614415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84248" y="5678423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554480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47871" y="4645151"/>
            <a:ext cx="1874519" cy="12984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3648455" y="4809743"/>
            <a:ext cx="74980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648455" y="495604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3849623" y="502005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3648455" y="513892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3849623" y="520293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3648455" y="532180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3849623" y="538581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648455" y="55046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849623" y="55686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3648455" y="568756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849623" y="575157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3529583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416552" y="6153911"/>
            <a:ext cx="1005840" cy="0"/>
          </a:xfrm>
          <a:prstGeom prst="line">
            <a:avLst/>
          </a:prstGeom>
          <a:ln w="1778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4142232" y="60167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9" name="Oval 8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35624" y="1901951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 범위 선택기[admin]·담당 범위 뱃지[companyAdmin]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824728" y="23607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824728" y="24064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5624" y="2379007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KPI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수·이번 달 신규·승인 대기 총계[부분 승인 병기]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824728" y="28377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24728" y="28834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35624" y="2856063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대기 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5건: 카드 ID·제목·단계 칩·등록 관계사 뱃지 → 검토 화면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824728" y="331483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5824728" y="336055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35624" y="3333118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요청 대기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건수·최근 건 → 검토 화면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824728" y="379188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5824728" y="383760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35624" y="3810174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게시된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→ 카드 관리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824728" y="42689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5824728" y="43146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35624" y="4287229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활동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후기·게시글 최신 5 → 카드 상세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24728" y="47459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5824728" y="47917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35624" y="4764285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통계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"상세 분석은 통계에서 보기"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 필터를 두지 않는다(고정 스냅숏)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미지정 companyAdmin에게 안내 배너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파생. 연동 시 기존 자원 조합 우선(활동 피드 GET /activity 후보), 가시성 서버 재검증.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ADM-02  ·  등록 신청 검토 (Review)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검토 (/admin/review)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신청 목록 (요약 칩·필터·행)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 (이력·편집 폼·슬롯 2·반려)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내용 확인·보완 편집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슬롯 승인(관계사/전사)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2/2 게시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 가시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반려(사유 필수)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취소(게시 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검토 중 편집을 허용해 경미한 보완 때문에 반려-재신청을 반복하는 비용을 줄인다.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한 슬롯 오승인 후 상대가 승인하면 즉시 게시되므로, 승인 취소를 실수 복구 경로로 남긴다.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검토·승인·반려 — 병렬 2-슬롯 승인 실행 지점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확인·보완 후 슬롯 승인 또는 사유 반려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 중 편집 허용 — 경미 보완의 반려-재신청 반복 비용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취소는 실수 복구 경로(한 슬롯 오승인 후 상대 승인 시 즉시 게시되므로)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companyAdmin에겐 자격 있는 건만 표시 — 권한 혼란 방지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가시성·승인 자격 = ownerCompany 단일 축 · 전사 슬롯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취소는 게시 전·본인 슬롯·확인 절차(0.7)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반려 사유 필수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승인·취소·반려 = 슬롯+이력(approve/reject/cancel)+게시 판정 단일 트랜잭션, 각각 알림 발송(0.10)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554480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554480" y="30540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54480" y="59435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칩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전체·승인 대기·부분 승인[관계사만/전사만 세분]·처리완료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카테고리·단계·등록 관계사 뱃지·제목·부서·슬롯 표시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증분 로드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관계사 등록 건만 표시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"담당 관계사의 승인 대기 신청이 없습니다"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우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575698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5961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이력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approve/reject/cancel 기록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안내·폼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"내용을 직접 수정한 후 승인할 수 있습니다" — 기본 정보·유형별·담당자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슬롯 카드 2개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관계사/전사 — 승인·승인 취소[게시 전·확인 절차]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사유 필수 — "신청자에게 그대로 전달됩니다"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두 슬롯 승인 완료 시 게시(0.7)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후 정정은 별도 경로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ADM-03  ·  카드 관리 (Cards)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관리 (/admin/projects)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목록 (검색·유형 칩·카테고리 아코디언)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상세·편집 (이미지·유형별·신청자·담당자)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조회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수정(admin)/삭제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건만·삭제만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직접 등록(admin)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수가 늘어도 목록이 무너지지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편집 항목을 등록 폼과 같은 체계로 두어 관리자의 학습 비용을 없앤다.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게시된 전체 카드의 관리(조회·수정·삭제·직접 등록)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 품질 유지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증가에 대비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편집 항목은 등록 폼과 동일 체계(이미지 포함) — 학습 비용 제거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수정·직접 등록=admin, 삭제=담당 companyAdmin 허용 — 관계사 차원 품질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가시성·삭제 권한 = ownerCompany 축(검토와 동일 판정)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확인+복구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직접 등록도 ID 규칙(0.3)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이미지는 스토리지 선정 연동(부록 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DDD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554480" y="25054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1554480" y="3035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636776" y="331012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5" name="Oval 10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35624" y="1901951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 수·직접 등록[admin]·담당 뱃지[companyAdmin]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824728" y="276011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5824728" y="280583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35624" y="2778404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검색·유형 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검색+카테고리 필터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363656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824728" y="368228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3654856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아코디언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헤더: 색 dot·카테고리명·건수 — 기본 접힘·검색 시 자동 펼침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451302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455874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4531309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제목·카드 ID·부서·등록 관계사 뱃지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24728" y="5554065"/>
            <a:ext cx="5982919" cy="919886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5828385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934456" y="5595213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52744" y="5864961"/>
            <a:ext cx="5726887" cy="57241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미선택 시 우측에 총 건수·카테고리 분포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우 상세·편집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2575698" y="411480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2575698" y="56144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6" name="Oval 105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수정[admin]·삭제[확인 절차]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모드에서 이미지 추가/삭제 포함 — 등록 폼과 동일 구성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카드 유형에 따름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신청자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신청자 이메일 등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조회·편집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수정·직접 등록은 admin 전용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삭제된 카드 복구 불가 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ADM-04  ·  통계 (Statistics)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통계 (/admin/statistics)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687068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687068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범위·기간 프리셋)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15468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03654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02536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02536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요약 4카드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30936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19122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318004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318004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등록 추이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946404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434590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633472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633472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 현황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261872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750058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294893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294893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도메인·부서 (상위 5)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57733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06552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264407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264407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절감 효과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1892807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380993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579875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579875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3축 분석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208275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696461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13815" y="3895343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3895343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후기·태그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9496" y="1488186"/>
            <a:ext cx="0" cy="2523743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" y="4011929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84048" y="4443983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9768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기간·범위 선택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353406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72862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8582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차트 갱신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496501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715957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61677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차트 펼치기(상위 5→전체)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1318435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29768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범위 지정 → 시작~종료 월(최대 24개월)</a:t>
            </a:r>
          </a:p>
        </p:txBody>
      </p:sp>
      <p:sp>
        <p:nvSpPr>
          <p:cNvPr id="53" name="Down Arrow 52"/>
          <p:cNvSpPr/>
          <p:nvPr/>
        </p:nvSpPr>
        <p:spPr>
          <a:xfrm>
            <a:off x="3461529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572862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18582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집계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601675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" y="6236207"/>
            <a:ext cx="61549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소스에서 파생한다 — 화면 간 수치 불일치는 보고 신뢰를 해치기 때문(0.9).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등록·활용 현황의 기간 분석 리포트 — 성과 보고 근거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2073950"/>
            <a:ext cx="4866299" cy="64154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2384846"/>
            <a:ext cx="4610267" cy="29407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확산 추이·절감 효과를 기간·범위로 정량 확인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2843508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28800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31178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3154404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 파생(0.9) — 화면 간 수치 불일치는 보고 신뢰를 해침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절감은 연간 환산+추정 불가 분리(0.8). 분석 축은 실입력 데이터만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부서·도메인은 상위 5+펼치기 — SSO 후 부서 급증 대비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 고정(최근3·6개월/올해 전체/범위 지정 최대 24개월, 서버 재검증)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기간 프리셋 없음(과거는 범위 지정) · 운영 상태·검색 키워드 축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성과 평가 아님 문구 유지(0.1)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parseTimeSaved 규칙 서버 이관 시 동일. 검증: 데모 총량 50 전 축 일치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헤더·추이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51206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76272" y="2212847"/>
            <a:ext cx="60350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80360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19272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58183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97096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90872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690872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74920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074920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86207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2768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64208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664208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560320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51760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547872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639312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535424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6864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626864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72768" y="3200399"/>
            <a:ext cx="3849624" cy="137160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73352" y="3346703"/>
            <a:ext cx="76992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64792" y="4261103"/>
            <a:ext cx="3557016" cy="0"/>
          </a:xfrm>
          <a:prstGeom prst="line">
            <a:avLst/>
          </a:prstGeom>
          <a:ln w="1651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881665" y="4087898"/>
            <a:ext cx="274398" cy="17320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81665" y="3951808"/>
            <a:ext cx="274398" cy="13609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81665" y="3848709"/>
            <a:ext cx="274398" cy="103098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89810" y="4009168"/>
            <a:ext cx="274398" cy="25193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89810" y="3811219"/>
            <a:ext cx="274398" cy="197949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89810" y="3661257"/>
            <a:ext cx="274398" cy="149961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97955" y="4119390"/>
            <a:ext cx="274398" cy="14171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97955" y="4008043"/>
            <a:ext cx="274398" cy="111346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97955" y="3923690"/>
            <a:ext cx="274398" cy="84353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6100" y="3961930"/>
            <a:ext cx="274398" cy="29917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6100" y="3726865"/>
            <a:ext cx="274398" cy="235064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6100" y="3548786"/>
            <a:ext cx="274398" cy="17807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14245" y="4065853"/>
            <a:ext cx="274398" cy="195250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14245" y="3912443"/>
            <a:ext cx="274398" cy="15341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14245" y="3796223"/>
            <a:ext cx="274398" cy="116220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422391" y="4024914"/>
            <a:ext cx="274398" cy="23618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22391" y="3839336"/>
            <a:ext cx="274398" cy="185577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22391" y="3698747"/>
            <a:ext cx="274398" cy="14058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30536" y="4103644"/>
            <a:ext cx="274398" cy="15745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30536" y="3979925"/>
            <a:ext cx="274398" cy="123718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0536" y="3886199"/>
            <a:ext cx="274398" cy="93726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67335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80136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07568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20370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478024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06040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2880360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008376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3282696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3410712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368503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81304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408736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21538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554480" y="31821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72768" y="4681728"/>
            <a:ext cx="3849624" cy="16459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352" y="4828032"/>
            <a:ext cx="875629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548981" y="4828032"/>
            <a:ext cx="656722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05703" y="4828032"/>
            <a:ext cx="583752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89456" y="4828032"/>
            <a:ext cx="474299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63755" y="4828032"/>
            <a:ext cx="401330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665085" y="4828032"/>
            <a:ext cx="364845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29931" y="4828032"/>
            <a:ext cx="291876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673352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746504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46504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2919984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2993136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3136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166616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239768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239768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1673352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746504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46504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919984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993136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3136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166616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4239768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39768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1554480" y="46634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조회 범위·기간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4종+범위 지정[시작~종료 월·최대 24개월]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4카드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등록물·이번 달 신규·참여 부서·참여 관계사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추이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스택 막대 — 선택 기간 연속 표시·빈 월 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카테고리별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건수·비율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올해 전체 = 당해 1월~현재 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24개월 초과 선택 불가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분석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673352" y="254203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093976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673352" y="267919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093976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81635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093976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5351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093976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9067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093976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673352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7872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648456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48456" y="254203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069080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648456" y="267919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069080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648456" y="281635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69080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648456" y="295351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069080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648456" y="309067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069080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48456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2768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664208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64208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889504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0944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80944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206240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97679" y="3785615"/>
            <a:ext cx="68104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297679" y="3986783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554480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72768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664208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64208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1956816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64208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1956816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664208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956816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9504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980944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80944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3273552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980944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273552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980944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273552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06240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297679" y="4443983"/>
            <a:ext cx="53510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297679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4590288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4297679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4590288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4297679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590288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54480" y="427939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72768" y="5230368"/>
            <a:ext cx="1874519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73352" y="5376672"/>
            <a:ext cx="59984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673352" y="552297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874520" y="5586984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874520" y="5733288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673352" y="581558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874520" y="5879592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673352" y="5961888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874520" y="60258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1673352" y="6108192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874520" y="6172200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554480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547871" y="5230368"/>
            <a:ext cx="1874519" cy="109728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648455" y="5376672"/>
            <a:ext cx="56235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648455" y="556869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4014215" y="5522976"/>
            <a:ext cx="124221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648455" y="5696712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4014215" y="5650992"/>
            <a:ext cx="10722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3648455" y="5824728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4014215" y="5779008"/>
            <a:ext cx="88916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648455" y="5952744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4014215" y="5907024"/>
            <a:ext cx="679947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648455" y="6080759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4014215" y="6035040"/>
            <a:ext cx="523036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3648455" y="620877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4014215" y="6163056"/>
            <a:ext cx="3661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529583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도메인·부서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 + "전체 보기 (N)" 펼치기·접기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절감 효과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연간 환산·집계 가능·추정 불가 분리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3축 분석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난이도[n8n]·비용[AI Model]·모델 유형[ML]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후기 상위 5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후기 기준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빈도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태그 막대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집계는 성과 평가 용도가 아님을 화면 문구에 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범위 집계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ADM-05  ·  분류체계 관리 (Taxonomy)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분류체계 (/admin/taxonomy)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분류 4탭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자유 태그 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값·태그 목록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추가·편입 패널 · 운영 유의사항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선택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44409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0129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값 추가/수정/삭제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06885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5330951"/>
            <a:ext cx="2976897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5330951"/>
            <a:ext cx="2885457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자유 태그 → 출처 필터·선택 삭제·고정 분류 편입(AI Model→비용 / ML→모델 유형만)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검색·필터·통계·향후 RAG의 품질은 통제 어휘에서 나오므로 고정 분류를 축으로 삼는다.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수단이며, 반복 태그를 고정 분류로 편입하는 운영 순환을 상정한다.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분류(도메인·난이도·비용·ML 유형)와 자유 태그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 축의 분류 표준화 + 자유 태그 누적 관리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909775"/>
            <a:ext cx="4866299" cy="131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3220671"/>
            <a:ext cx="4610267" cy="971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위주 — 검색·필터·통계·향후 RAG의 품질은 통제 어휘에서 나옴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수단, 반복 태그는 고정 분류로 편입하는 운영 순환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실입력 축 2종으로 제한 — 대응 축 없는 편입은 정합 훼손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4356828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439340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463114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4667724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삭제 시 기존 카드 공란 처리 가능 안내(참조 무결성은 서버 일관)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출처 7카테고리 대응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 조합 2종 한정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5587559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56241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58618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5898455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태그→분류 전환+카드 참조 갱신 동시 처리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고정 분류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768" y="2542031"/>
            <a:ext cx="2436876" cy="3127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673352" y="2706623"/>
            <a:ext cx="77980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673352" y="2852927"/>
            <a:ext cx="223570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72383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599364" y="3072383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067811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6723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673352" y="3474719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599364" y="3474719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067811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6723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73352" y="3877055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599364" y="3877055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067811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6723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4279391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599364" y="4279391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067811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06723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73352" y="4681727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599364" y="4681727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067811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506723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673352" y="5084064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99364" y="5084064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067811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506723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49523" y="29260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0228" y="2542031"/>
            <a:ext cx="1312163" cy="10058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21081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210812" y="2944367"/>
            <a:ext cx="1110995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0812" y="3145535"/>
            <a:ext cx="1110996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210812" y="3236975"/>
            <a:ext cx="1110995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572768" y="5779008"/>
            <a:ext cx="3849624" cy="566928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5980176"/>
            <a:ext cx="238676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673352" y="6144768"/>
            <a:ext cx="161684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554480" y="57607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7" name="Oval 66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분류 탭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도메인·구성 난이도·비용 등급·ML 모델 유형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값·사용 건수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추가·수정·삭제[확인 절차]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시 공란 처리 안내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난이도=n8n 전용, 비용=AI Model 전용, ML 유형=ML 전용 — 실입력 축만 관리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분류 4탭은 동일 구조 — 대표 1탭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자유 태그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38928" y="22402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72768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5968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4660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3522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20439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7357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9427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98119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72768" y="288950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73352" y="306323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92808" y="305409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350008" y="314553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28557" y="314553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421489" y="314553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572768" y="343814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73352" y="361187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92808" y="360273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350008" y="369417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28557" y="369417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21489" y="369417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398678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73352" y="416052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892808" y="415137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50008" y="4242816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28557" y="4242816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21489" y="4242816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572768" y="453542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73352" y="470915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892808" y="470001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350008" y="479145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728557" y="47914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421489" y="479145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554480" y="287121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72768" y="5138927"/>
            <a:ext cx="1312163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554480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47871" y="5138927"/>
            <a:ext cx="1874520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648455" y="5303519"/>
            <a:ext cx="82478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3648455" y="5541264"/>
            <a:ext cx="167335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648455" y="5742431"/>
            <a:ext cx="167335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648455" y="5852159"/>
            <a:ext cx="1673352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529583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자유 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건수 표시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출처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전체+카테고리 7종 칩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#태그·사용 N건·제안자·사용 카드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선택 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다중 선택 일괄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고정 분류 편입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분류 선택 → 확정 — AI Model→비용/ML→모델 유형만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편입 가능 조합 2종 한정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더보기 증분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ADM-06  ·  자동화·AI 도구 관리 (Platforms)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도구 관리 (/admin/platforms)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카테고리 목록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기본 정보·경로·연결·표시 스타일·노출 상태·액션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메타 수정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화면 파생 반영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신규 추가 → id·경로 중복 검사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대신 비활성화 권장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소스라 편집이 목록 필터·뱃지·통계 범례로 파급된다 — 그래서 전사 관리자 전용이다.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고르게 해 톤 일관을 유지하고 유사색 배정을 피한다.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7종 메타(식별자·표시명·설명·경로·외부 주소·아이콘·색·노출)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237948"/>
            <a:ext cx="4866299" cy="6153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2745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5122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548844"/>
            <a:ext cx="4610267" cy="2678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명칭·브랜딩 변경과 신규 추가를 운영 단계에서 처리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81308"/>
            <a:ext cx="4866299" cy="14099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3017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255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92204"/>
            <a:ext cx="4610267" cy="10624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 — 목록 필터·뱃지·통계 범례가 전부 파생되므로 편집이 전 화면에 파급 → 전사 관리자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선택해 톤 일관 유지, 유사색 배정 회피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삭제보다 비활성화 권장 — 기존 카드 참조 보존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519285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5558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7936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830181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내부 식별자는 생성 후 변경 불가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신규는 중복 검사 통과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외부 도구 주소 미설정 허용(소비 지점 미구현 — 백로그)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659953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69652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93427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970849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비활성 카테고리의 기존 카드 정책은 명세서 확정(부록 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/admin/platforms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27632" y="2276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83664" y="23408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83664" y="2468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572768" y="2651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27632" y="2734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883664" y="27980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83664" y="2926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572768" y="31089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27632" y="31912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883664" y="32552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83664" y="33832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2768" y="35661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627632" y="36484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883664" y="37124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83664" y="38404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572768" y="40233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27632" y="41056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883664" y="41696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83664" y="42976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80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27632" y="4562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883664" y="46268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83664" y="4754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572768" y="4937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020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883664" y="50840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883664" y="5212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11880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33672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9359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6788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593986" y="2542031"/>
            <a:ext cx="2828405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694570" y="28529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30175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30723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32369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694570" y="32918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2694570" y="34564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93986" y="3657599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694570" y="3803903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694570" y="393192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694570" y="409651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694570" y="413308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429767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575698" y="36393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93986" y="4443983"/>
            <a:ext cx="2828405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694570" y="459028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2694570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912518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130466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348414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566361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784309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02257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94570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12518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130466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348414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566361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784309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002257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694570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912518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130466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3348414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566361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784309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02257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29102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47390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65678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83966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29102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7390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65678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83966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291029" y="5248655"/>
            <a:ext cx="7315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575698" y="44256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593986" y="5742431"/>
            <a:ext cx="2828405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694570" y="5916168"/>
            <a:ext cx="848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956047" y="582472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157215" y="584301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아이콘·표시명·비활성 뱃지·내부 id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식별자[신규만]·표시명·한 줄 설명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경로·연결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라우트 경로·외부 도구 주소[미설정 표기]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표시 스타일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선택기 21종·색 프리셋 8종·뱃지 미리보기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상태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ON/OFF 토글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추가·수정·비활성화·삭제[확인·비활성화 권장 안내]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식별자 형식: 소문자·숫자·하이픈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id·경로 중복 검사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필요. 비활성 카테고리의 기존 카드 정책은 명세서 확정(부록 B).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ADM-07  ·  부서·조직 관리 (Org)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조직 관리 (/admin/org)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섹션1 관계사 노출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섹션2 부서 관리 (+Teams 연동)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섹션3 관계사 관리자 현황 (읽기)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섹션4 문의 채널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운영 유의사항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노출 토글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게이팅 즉시 반영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동기화·수동 관리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지정·해제 → ADM-08로 이동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5604624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15957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61677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삭제 → 태깅 카드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단계적으로 개방하기 위한 게이트다.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관리자 현황을 읽기 전용으로 두고 편집은 ADM-08로 일원화한다 — 부여 지점이 분산되면 감사 추적이 어렵다.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7820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4345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노출·부서 체계·관계사 관리자 현황·문의 채널의 조직 운영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07357"/>
            <a:ext cx="4866299" cy="59120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04393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28167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18253"/>
            <a:ext cx="4610267" cy="2437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카탈로그의 조직 축과 운영 설정을 한 화면에서 관리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726574"/>
            <a:ext cx="4866299" cy="135464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7631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0008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037470"/>
            <a:ext cx="4610267" cy="100717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 개방 지원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부서는 SSO(Entra/Teams) 동기화 기본+수동 보조 — 조직 개편 잦은 환경의 정합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현황은 읽기 전용, 편집은 ADM-08 일원화 — 부여 지점 분산 시 감사 추적 곤란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09232"/>
            <a:ext cx="4866299" cy="97292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24580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48355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20128"/>
            <a:ext cx="4610267" cy="62544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비노출 전환에도 기존 데이터 유지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삭제 시 태깅 카드 수 경고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지정·해제는 이 화면에서 안 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310170"/>
            <a:ext cx="4866299" cy="116378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34674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58449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621066"/>
            <a:ext cx="4610267" cy="816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동기화=Entra/Teams 디렉터리 API(주기·수동 실행), 문의 채널=운영 설정 저장, 노출 토글은 목록 게이팅과 즉시 정합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노출·부서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59151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041648" y="2285999"/>
            <a:ext cx="12801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041648" y="2487168"/>
            <a:ext cx="128016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73352" y="2706623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420587" y="2706623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956047" y="2615183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57215" y="2633471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62655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420587" y="29626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56047" y="2871215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157215" y="2889503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73352" y="3218687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420587" y="3218687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956047" y="312724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157215" y="314553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474720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20587" y="3474720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956047" y="3383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57215" y="3401568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72768" y="3785615"/>
            <a:ext cx="3849624" cy="254203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3950207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224527" y="3877055"/>
            <a:ext cx="10972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24527" y="4078223"/>
            <a:ext cx="109728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673352" y="4169663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46504" y="4279392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911095" y="4462272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443983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864607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911095" y="4590288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4443983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4607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4736592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6504" y="4846320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11095" y="5029200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443983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864607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911095" y="5157216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443983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864607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37673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73352" y="5358383"/>
            <a:ext cx="3648456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764792" y="5504688"/>
            <a:ext cx="8469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764792" y="5650992"/>
            <a:ext cx="14628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764792" y="5760720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764792" y="5925312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764792" y="5980175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764792" y="6144767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4480559" y="5888736"/>
            <a:ext cx="73152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55064" y="53400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4" name="Oval 7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노출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관계사별 토글·검색·보유 카드 수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부서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아코디언·부서 행 수정/삭제[태깅 경고]·수동 추가[중복 검사]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Teams 연동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현황/설정[테넌트·자동 동기화·주기]/미리보기·지금 동기화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비노출 전환해도 기존 데이터 삭제되지 않음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현황·설정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7373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77439"/>
            <a:ext cx="1000902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07407" y="2377439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673352" y="2633471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764792" y="2761487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112617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88105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63593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035807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64792" y="3163823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112617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88105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63593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73352" y="3438143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64792" y="3566159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12617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88105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63593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768" y="4059935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673352" y="4242815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73352" y="4443983"/>
            <a:ext cx="19248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673352" y="4626863"/>
            <a:ext cx="2770632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73352" y="4846319"/>
            <a:ext cx="277063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553712" y="4608575"/>
            <a:ext cx="76809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4480" y="40416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2768" y="5193791"/>
            <a:ext cx="3849624" cy="82296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673352" y="5394959"/>
            <a:ext cx="115488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5596127"/>
            <a:ext cx="32336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73352" y="5742431"/>
            <a:ext cx="26947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73352" y="5888736"/>
            <a:ext cx="21557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554480" y="51755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5" name="Oval 5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관리자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읽기 전용 — "사용자 관리로 이동" 링크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문의 채널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Teams 채널 URL 편집·형식 검증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조직 관리 주의점 안내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권한 편집은 ADM-08 소관(현황판은 읽기 전용)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ADM-08  ·  사용자·권한·로그 관리 (Users)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사용자 관리 (/admin/users)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탭1 관리자 권한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탭2 그룹 전체보기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탭3 등록자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탭4 활동 로그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4048" y="3410712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검색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817632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3708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280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선택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424953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부여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032274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251730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97450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회수(보호 장치)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5872511" y="4160520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453128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453128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마지막 admin 회수 차단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1730" y="489204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97450" y="489204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본인 회수 차단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51730" y="5330952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5330952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최소 1곳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4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60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보호 장치 3종으로 권한 공백·자기 잠금을 구조적으로 막고, 서버에서도 동일하게 검증한다.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권한·그룹 전체보기·등록자 현황·활동 로그의 통합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39294"/>
            <a:ext cx="4866299" cy="6153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07587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31361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50190"/>
            <a:ext cx="4610267" cy="2678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부여·회수의 단일 지점 + 관리 행위 로그 추적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782653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81922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05697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093549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편집을 이 화면으로 일원화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 3종(최소 1명·본인 차단·담당 최소 1곳)으로 권한 공백·자기 잠금을 구조적으로 방지 — 서버 동일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121976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15855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39629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432872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장치는 UI·서버 양쪽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변경은 활동 로그 기록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 소급 수정 금지(감사 무결성)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262645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29922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53696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573541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검색=디렉터리 API, 권한 변경=audit_logs 단일 트랜잭션, 보호 장치 서버 재검증(0.6)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권한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72768" y="2542031"/>
            <a:ext cx="2061972" cy="378561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673352" y="2852927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64792" y="2990087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480035" y="2944367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67227" y="2907791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73352" y="3236975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64792" y="3374135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80035" y="3328415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67227" y="329183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948939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840479"/>
            <a:ext cx="618591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673352" y="3986783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64792" y="4123944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438796" y="4078223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003803" y="4041647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764792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67128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69464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113532" y="4297679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73352" y="4590288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64792" y="4727448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438796" y="4681727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03803" y="4645151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764792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167128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569464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113532" y="4901183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5193792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64792" y="5330952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438796" y="5285231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03803" y="5248655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764792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167128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569464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113532" y="5504688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746504" y="39684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35324" y="2542031"/>
            <a:ext cx="1687068" cy="23774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835908" y="2670047"/>
            <a:ext cx="101041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835908" y="2871215"/>
            <a:ext cx="101041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82896" y="2670047"/>
            <a:ext cx="43891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35908" y="2962655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35908" y="3200399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17620" y="26517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835908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615434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835908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329684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823460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35908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29684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23460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835908" y="4315968"/>
            <a:ext cx="148590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17620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2" name="Oval 8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권한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관리자 목록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사용자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디렉터리 검색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선택·부여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— 관계사는 담당 복수 선택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회수·보호 장치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최소 1명 유지·본인 차단·담당 최소 1곳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 관계사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추가/제거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보호 장치 3종은 서버에서도 동일 검증(0.6)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기타 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542031"/>
            <a:ext cx="3849624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73352" y="2706623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73352" y="2852927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09744" y="2871215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108959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09744" y="3127247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73352" y="3401567"/>
            <a:ext cx="2990087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73352" y="3584447"/>
            <a:ext cx="299008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754879" y="338327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749039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85466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97580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09694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73352" y="4005072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73352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85466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497580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09694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73352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85466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97580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09694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85466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497580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409694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77540" y="4626864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554480" y="37307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72768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993392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414016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34640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5264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50791" y="4864607"/>
            <a:ext cx="1371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050791" y="5047488"/>
            <a:ext cx="137160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572768" y="5138927"/>
            <a:ext cx="3849624" cy="11887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73352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85466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97580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09694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673352" y="5376671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73352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585466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97580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409694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673352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585466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497580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409694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673352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85466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97580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09694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73352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585466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97580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409694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177540" y="61996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1554480" y="48463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8" name="Oval 8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1901951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그룹 전체보기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부여 목록·사유 필수·확인 절차·회수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2904134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등록자 관리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이력 사용자 테이블·더보기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3906316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활동 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필터·검색·테이블·더보기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= 비노출 관계사 카드 열람 예외 권한 — 부여 근거 기록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활동 로그 소급 수정 금지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2·3·4는 배타 전환 — 본 도면은 합성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ADM-09  ·  공지·업데이트 관리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공지 관리 (/admin/notices)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소식 목록 (작성·종류 필터)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내용 편집·노출 설정·저장/삭제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작성/선택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편집(종류·제목·본문·게시일)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노출·고정 설정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→ 전사 전용 안내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872511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51730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97450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→ 노출 끄기 권장 안내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성격이라 라우트+화면 이중 방어로 전사 관리자 전용을 지킨다.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끄기를 권장해 이력 유실을 막는다.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 (라우트는 companyAdmin 통과·화면에서 전사 전용 안내)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작성·수정·삭제·고정·노출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최신소식·소식 화면의 콘텐츠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 — 전사 관리자 전용(라우트+화면 이중 방어)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 권장 — 이력 유실 방지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알림 미발생(0.10) — 알림은 본인 신청·활동 통지로 한정해 피로도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게시일 YYYY.MM.DD 형식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소식 상단 우선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꺼진 소식은 사용자 미표시·데이터 유지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공개/관리 조회의 노출 필터 차이 구분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공지·업데이트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/admin/notices  (admin 전용 · 라우트는 companyAdmin 통과)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49965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72194" y="2194559"/>
            <a:ext cx="47548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79646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86524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72768" y="276148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18488" y="281635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83664" y="2816351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18488" y="3035807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18488" y="3163823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2768" y="3328415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618488" y="338327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883664" y="3383279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618488" y="360273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18488" y="3730752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572768" y="3895344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618488" y="395020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83664" y="3950207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4169663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297680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6227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618488" y="451713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83664" y="4517135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18488" y="4736591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18488" y="4864607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16552" y="2285999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14223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593986" y="2633471"/>
            <a:ext cx="79195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288536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873752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70248" y="248716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93986" y="2852927"/>
            <a:ext cx="2828405" cy="23774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4570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79786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94570" y="3291839"/>
            <a:ext cx="2627237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2694570" y="349300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694570" y="3584447"/>
            <a:ext cx="2627237" cy="122529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786010" y="3712463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86010" y="3877055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86010" y="4041647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86010" y="4206239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786010" y="4370831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86010" y="4535423"/>
            <a:ext cx="15155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694570" y="4919471"/>
            <a:ext cx="118793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694570" y="5102351"/>
            <a:ext cx="118793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575698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93986" y="5340095"/>
            <a:ext cx="2828405" cy="85953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5486399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94570" y="5760719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956047" y="5669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57215" y="568756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694570" y="6016751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4956047" y="5925311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157215" y="594359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75698" y="5321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9" name="Oval 7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작성 버튼·종류 필터[전체/공지사항/업데이트]·행: 종류 뱃지·고정/숨김 뱃지·제목·날짜·더보기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내용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선택·제목·본문·게시일[형식 검증]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고정/일반·노출/숨김 토글[조회 모드 즉시 반영]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저장·삭제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확인 절차·"노출 끄기 권장" 안내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ID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 저장 시 NOTICE-{연도}-{순번} 발급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시 "전사 관리자 전용" 안내 렌더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알림을 발생시키지 않음(0.10)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발급, 공개/관리 조회의 노출 필터 차이 구분.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