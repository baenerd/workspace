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84048" y="384048"/>
            <a:ext cx="7996519" cy="365760"/>
          </a:xfrm>
          <a:prstGeom prst="rect">
            <a:avLst/>
          </a:prstGeom>
          <a:noFill/>
        </p:spPr>
        <p:txBody>
          <a:bodyPr wrap="square" anchor="ctr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111111"/>
                </a:solidFill>
                <a:latin typeface="맑은 고딕"/>
                <a:ea typeface="맑은 고딕"/>
              </a:rPr>
              <a:t>ADM-01  ·  대시보드 (Dashboard)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238207" y="384048"/>
            <a:ext cx="4569439" cy="365760"/>
          </a:xfrm>
          <a:prstGeom prst="rect">
            <a:avLst/>
          </a:prstGeom>
          <a:noFill/>
        </p:spPr>
        <p:txBody>
          <a:bodyPr wrap="square" anchor="ctr" lIns="54864" rIns="54864" tIns="27432" bIns="18288">
            <a:no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999999"/>
                </a:solidFill>
                <a:latin typeface="맑은 고딕"/>
                <a:ea typeface="맑은 고딕"/>
              </a:rPr>
              <a:t>화면 정의 (Screen Definition)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384048" y="786384"/>
            <a:ext cx="11423599" cy="0"/>
          </a:xfrm>
          <a:prstGeom prst="line">
            <a:avLst/>
          </a:prstGeom>
          <a:ln w="19050">
            <a:solidFill>
              <a:srgbClr val="CCCCC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384048" y="822959"/>
            <a:ext cx="11423599" cy="182880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999999"/>
                </a:solidFill>
                <a:latin typeface="맑은 고딕"/>
                <a:ea typeface="맑은 고딕"/>
              </a:rPr>
              <a:t>화면에 표기된 카테고리·업무 도메인 등 분류 개수는 마스터 데이터에서 파생되는 현재값이며, 고정 상수가 아니다(0.9).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84048" y="1097280"/>
            <a:ext cx="6282979" cy="219456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999999"/>
                </a:solidFill>
                <a:latin typeface="맑은 고딕"/>
                <a:ea typeface="맑은 고딕"/>
              </a:rPr>
              <a:t>화면 구조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29768" y="1371600"/>
            <a:ext cx="3838754" cy="233172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75488" y="1371600"/>
            <a:ext cx="3747314" cy="233172"/>
          </a:xfrm>
          <a:prstGeom prst="rect">
            <a:avLst/>
          </a:prstGeom>
          <a:noFill/>
        </p:spPr>
        <p:txBody>
          <a:bodyPr wrap="square" anchor="ctr" lIns="54864" rIns="54864" tIns="27432" bIns="18288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333333"/>
                </a:solidFill>
                <a:latin typeface="맑은 고딕"/>
                <a:ea typeface="맑은 고딕"/>
              </a:rPr>
              <a:t>대시보드 (/admin)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13815" y="1714500"/>
            <a:ext cx="3600644" cy="233172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59536" y="1714500"/>
            <a:ext cx="3509204" cy="233172"/>
          </a:xfrm>
          <a:prstGeom prst="rect">
            <a:avLst/>
          </a:prstGeom>
          <a:noFill/>
        </p:spPr>
        <p:txBody>
          <a:bodyPr wrap="square" anchor="ctr" lIns="54864" rIns="54864" tIns="27432" bIns="18288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333333"/>
                </a:solidFill>
                <a:latin typeface="맑은 고딕"/>
                <a:ea typeface="맑은 고딕"/>
              </a:rPr>
              <a:t>헤더 (조회 범위)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539496" y="1488186"/>
            <a:ext cx="0" cy="342900"/>
          </a:xfrm>
          <a:prstGeom prst="line">
            <a:avLst/>
          </a:prstGeom>
          <a:ln w="16510">
            <a:solidFill>
              <a:srgbClr val="99999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539496" y="1831086"/>
            <a:ext cx="274319" cy="0"/>
          </a:xfrm>
          <a:prstGeom prst="line">
            <a:avLst/>
          </a:prstGeom>
          <a:ln w="16510">
            <a:solidFill>
              <a:srgbClr val="99999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813815" y="2057400"/>
            <a:ext cx="3600644" cy="233172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59536" y="2057400"/>
            <a:ext cx="3509204" cy="233172"/>
          </a:xfrm>
          <a:prstGeom prst="rect">
            <a:avLst/>
          </a:prstGeom>
          <a:noFill/>
        </p:spPr>
        <p:txBody>
          <a:bodyPr wrap="square" anchor="ctr" lIns="54864" rIns="54864" tIns="27432" bIns="18288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333333"/>
                </a:solidFill>
                <a:latin typeface="맑은 고딕"/>
                <a:ea typeface="맑은 고딕"/>
              </a:rPr>
              <a:t>KPI 3종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539496" y="1488186"/>
            <a:ext cx="0" cy="685800"/>
          </a:xfrm>
          <a:prstGeom prst="line">
            <a:avLst/>
          </a:prstGeom>
          <a:ln w="16510">
            <a:solidFill>
              <a:srgbClr val="99999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539496" y="2173986"/>
            <a:ext cx="274319" cy="0"/>
          </a:xfrm>
          <a:prstGeom prst="line">
            <a:avLst/>
          </a:prstGeom>
          <a:ln w="16510">
            <a:solidFill>
              <a:srgbClr val="99999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ounded Rectangle 16"/>
          <p:cNvSpPr/>
          <p:nvPr/>
        </p:nvSpPr>
        <p:spPr>
          <a:xfrm>
            <a:off x="813815" y="2400300"/>
            <a:ext cx="3600644" cy="233172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59536" y="2400300"/>
            <a:ext cx="3509204" cy="233172"/>
          </a:xfrm>
          <a:prstGeom prst="rect">
            <a:avLst/>
          </a:prstGeom>
          <a:noFill/>
        </p:spPr>
        <p:txBody>
          <a:bodyPr wrap="square" anchor="ctr" lIns="54864" rIns="54864" tIns="27432" bIns="18288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333333"/>
                </a:solidFill>
                <a:latin typeface="맑은 고딕"/>
                <a:ea typeface="맑은 고딕"/>
              </a:rPr>
              <a:t>처리 대기 (승인·수정 요청)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539496" y="1488186"/>
            <a:ext cx="0" cy="1028700"/>
          </a:xfrm>
          <a:prstGeom prst="line">
            <a:avLst/>
          </a:prstGeom>
          <a:ln w="16510">
            <a:solidFill>
              <a:srgbClr val="99999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539496" y="2516886"/>
            <a:ext cx="274319" cy="0"/>
          </a:xfrm>
          <a:prstGeom prst="line">
            <a:avLst/>
          </a:prstGeom>
          <a:ln w="16510">
            <a:solidFill>
              <a:srgbClr val="99999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ounded Rectangle 20"/>
          <p:cNvSpPr/>
          <p:nvPr/>
        </p:nvSpPr>
        <p:spPr>
          <a:xfrm>
            <a:off x="813815" y="2743200"/>
            <a:ext cx="3600644" cy="233172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59536" y="2743200"/>
            <a:ext cx="3509204" cy="233172"/>
          </a:xfrm>
          <a:prstGeom prst="rect">
            <a:avLst/>
          </a:prstGeom>
          <a:noFill/>
        </p:spPr>
        <p:txBody>
          <a:bodyPr wrap="square" anchor="ctr" lIns="54864" rIns="54864" tIns="27432" bIns="18288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333333"/>
                </a:solidFill>
                <a:latin typeface="맑은 고딕"/>
                <a:ea typeface="맑은 고딕"/>
              </a:rPr>
              <a:t>현황 (최근 게시·최근 활동)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539496" y="1488186"/>
            <a:ext cx="0" cy="1371600"/>
          </a:xfrm>
          <a:prstGeom prst="line">
            <a:avLst/>
          </a:prstGeom>
          <a:ln w="16510">
            <a:solidFill>
              <a:srgbClr val="99999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9496" y="2859786"/>
            <a:ext cx="274319" cy="0"/>
          </a:xfrm>
          <a:prstGeom prst="line">
            <a:avLst/>
          </a:prstGeom>
          <a:ln w="16510">
            <a:solidFill>
              <a:srgbClr val="99999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Rounded Rectangle 24"/>
          <p:cNvSpPr/>
          <p:nvPr/>
        </p:nvSpPr>
        <p:spPr>
          <a:xfrm>
            <a:off x="813815" y="3086100"/>
            <a:ext cx="3600644" cy="233172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59536" y="3086100"/>
            <a:ext cx="3509204" cy="233172"/>
          </a:xfrm>
          <a:prstGeom prst="rect">
            <a:avLst/>
          </a:prstGeom>
          <a:noFill/>
        </p:spPr>
        <p:txBody>
          <a:bodyPr wrap="square" anchor="ctr" lIns="54864" rIns="54864" tIns="27432" bIns="18288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333333"/>
                </a:solidFill>
                <a:latin typeface="맑은 고딕"/>
                <a:ea typeface="맑은 고딕"/>
              </a:rPr>
              <a:t>통계 링크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539496" y="1488186"/>
            <a:ext cx="0" cy="1714500"/>
          </a:xfrm>
          <a:prstGeom prst="line">
            <a:avLst/>
          </a:prstGeom>
          <a:ln w="16510">
            <a:solidFill>
              <a:srgbClr val="99999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>
            <a:off x="539496" y="3202686"/>
            <a:ext cx="274319" cy="0"/>
          </a:xfrm>
          <a:prstGeom prst="line">
            <a:avLst/>
          </a:prstGeom>
          <a:ln w="16510">
            <a:solidFill>
              <a:srgbClr val="99999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TextBox 28"/>
          <p:cNvSpPr txBox="1"/>
          <p:nvPr/>
        </p:nvSpPr>
        <p:spPr>
          <a:xfrm>
            <a:off x="384048" y="4288536"/>
            <a:ext cx="6282979" cy="219456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999999"/>
                </a:solidFill>
                <a:latin typeface="맑은 고딕"/>
                <a:ea typeface="맑은 고딕"/>
              </a:rPr>
              <a:t>사용자 흐름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29768" y="4562855"/>
            <a:ext cx="1369576" cy="4572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75488" y="4562855"/>
            <a:ext cx="1278136" cy="457200"/>
          </a:xfrm>
          <a:prstGeom prst="rect">
            <a:avLst/>
          </a:prstGeom>
          <a:noFill/>
        </p:spPr>
        <p:txBody>
          <a:bodyPr wrap="square" anchor="ctr" lIns="54864" rIns="54864" tIns="27432" bIns="18288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333333"/>
                </a:solidFill>
                <a:latin typeface="맑은 고딕"/>
                <a:ea typeface="맑은 고딕"/>
              </a:rPr>
              <a:t>진입</a:t>
            </a:r>
          </a:p>
        </p:txBody>
      </p:sp>
      <p:sp>
        <p:nvSpPr>
          <p:cNvPr id="32" name="Right Arrow 31"/>
          <p:cNvSpPr/>
          <p:nvPr/>
        </p:nvSpPr>
        <p:spPr>
          <a:xfrm>
            <a:off x="1817632" y="4727447"/>
            <a:ext cx="201168" cy="128016"/>
          </a:xfrm>
          <a:prstGeom prst="rightArrow">
            <a:avLst/>
          </a:prstGeom>
          <a:solidFill>
            <a:srgbClr val="CCC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2037088" y="4562855"/>
            <a:ext cx="1369576" cy="4572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2082808" y="4562855"/>
            <a:ext cx="1278136" cy="457200"/>
          </a:xfrm>
          <a:prstGeom prst="rect">
            <a:avLst/>
          </a:prstGeom>
          <a:noFill/>
        </p:spPr>
        <p:txBody>
          <a:bodyPr wrap="square" anchor="ctr" lIns="54864" rIns="54864" tIns="27432" bIns="18288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333333"/>
                </a:solidFill>
                <a:latin typeface="맑은 고딕"/>
                <a:ea typeface="맑은 고딕"/>
              </a:rPr>
              <a:t>처리 대기 확인</a:t>
            </a:r>
          </a:p>
        </p:txBody>
      </p:sp>
      <p:sp>
        <p:nvSpPr>
          <p:cNvPr id="35" name="Right Arrow 34"/>
          <p:cNvSpPr/>
          <p:nvPr/>
        </p:nvSpPr>
        <p:spPr>
          <a:xfrm>
            <a:off x="3424953" y="4727447"/>
            <a:ext cx="201168" cy="128016"/>
          </a:xfrm>
          <a:prstGeom prst="rightArrow">
            <a:avLst/>
          </a:prstGeom>
          <a:solidFill>
            <a:srgbClr val="CCC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3644409" y="4562855"/>
            <a:ext cx="1369576" cy="4572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3690129" y="4562855"/>
            <a:ext cx="1278136" cy="457200"/>
          </a:xfrm>
          <a:prstGeom prst="rect">
            <a:avLst/>
          </a:prstGeom>
          <a:noFill/>
        </p:spPr>
        <p:txBody>
          <a:bodyPr wrap="square" anchor="ctr" lIns="54864" rIns="54864" tIns="27432" bIns="18288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333333"/>
                </a:solidFill>
                <a:latin typeface="맑은 고딕"/>
                <a:ea typeface="맑은 고딕"/>
              </a:rPr>
              <a:t>위젯 클릭</a:t>
            </a:r>
          </a:p>
        </p:txBody>
      </p:sp>
      <p:sp>
        <p:nvSpPr>
          <p:cNvPr id="38" name="Right Arrow 37"/>
          <p:cNvSpPr/>
          <p:nvPr/>
        </p:nvSpPr>
        <p:spPr>
          <a:xfrm>
            <a:off x="5032274" y="4727447"/>
            <a:ext cx="201168" cy="128016"/>
          </a:xfrm>
          <a:prstGeom prst="rightArrow">
            <a:avLst/>
          </a:prstGeom>
          <a:solidFill>
            <a:srgbClr val="CCC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ounded Rectangle 38"/>
          <p:cNvSpPr/>
          <p:nvPr/>
        </p:nvSpPr>
        <p:spPr>
          <a:xfrm>
            <a:off x="5251730" y="4562855"/>
            <a:ext cx="1369576" cy="4572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5297450" y="4562855"/>
            <a:ext cx="1278136" cy="457200"/>
          </a:xfrm>
          <a:prstGeom prst="rect">
            <a:avLst/>
          </a:prstGeom>
          <a:noFill/>
        </p:spPr>
        <p:txBody>
          <a:bodyPr wrap="square" anchor="ctr" lIns="54864" rIns="54864" tIns="27432" bIns="18288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333333"/>
                </a:solidFill>
                <a:latin typeface="맑은 고딕"/>
                <a:ea typeface="맑은 고딕"/>
              </a:rPr>
              <a:t>해당 관리 화면</a:t>
            </a:r>
          </a:p>
        </p:txBody>
      </p:sp>
      <p:sp>
        <p:nvSpPr>
          <p:cNvPr id="41" name="Down Arrow 40"/>
          <p:cNvSpPr/>
          <p:nvPr/>
        </p:nvSpPr>
        <p:spPr>
          <a:xfrm>
            <a:off x="1050548" y="5038343"/>
            <a:ext cx="128016" cy="256032"/>
          </a:xfrm>
          <a:prstGeom prst="downArrow">
            <a:avLst/>
          </a:prstGeom>
          <a:solidFill>
            <a:srgbClr val="CCC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ounded Rectangle 41"/>
          <p:cNvSpPr/>
          <p:nvPr/>
        </p:nvSpPr>
        <p:spPr>
          <a:xfrm>
            <a:off x="429768" y="5330951"/>
            <a:ext cx="1369576" cy="384048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475488" y="5330951"/>
            <a:ext cx="1278136" cy="384048"/>
          </a:xfrm>
          <a:prstGeom prst="rect">
            <a:avLst/>
          </a:prstGeom>
          <a:noFill/>
        </p:spPr>
        <p:txBody>
          <a:bodyPr wrap="square" anchor="ctr" lIns="54864" rIns="54864" tIns="27432" bIns="18288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333333"/>
                </a:solidFill>
                <a:latin typeface="맑은 고딕"/>
                <a:ea typeface="맑은 고딕"/>
              </a:rPr>
              <a:t>담당 미지정 → 안내 배너</a:t>
            </a:r>
          </a:p>
        </p:txBody>
      </p:sp>
      <p:sp>
        <p:nvSpPr>
          <p:cNvPr id="44" name="Down Arrow 43"/>
          <p:cNvSpPr/>
          <p:nvPr/>
        </p:nvSpPr>
        <p:spPr>
          <a:xfrm>
            <a:off x="2657869" y="5038343"/>
            <a:ext cx="128016" cy="256032"/>
          </a:xfrm>
          <a:prstGeom prst="downArrow">
            <a:avLst/>
          </a:prstGeom>
          <a:solidFill>
            <a:srgbClr val="CCC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ounded Rectangle 44"/>
          <p:cNvSpPr/>
          <p:nvPr/>
        </p:nvSpPr>
        <p:spPr>
          <a:xfrm>
            <a:off x="2037088" y="5330951"/>
            <a:ext cx="1369576" cy="384048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2082808" y="5330951"/>
            <a:ext cx="1278136" cy="384048"/>
          </a:xfrm>
          <a:prstGeom prst="rect">
            <a:avLst/>
          </a:prstGeom>
          <a:noFill/>
        </p:spPr>
        <p:txBody>
          <a:bodyPr wrap="square" anchor="ctr" lIns="54864" rIns="54864" tIns="27432" bIns="18288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333333"/>
                </a:solidFill>
                <a:latin typeface="맑은 고딕"/>
                <a:ea typeface="맑은 고딕"/>
              </a:rPr>
              <a:t>companyAdmin → 담당 범위 부분집합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29768" y="5861303"/>
            <a:ext cx="6191539" cy="201168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999999"/>
                </a:solidFill>
                <a:latin typeface="맑은 고딕"/>
                <a:ea typeface="맑은 고딕"/>
              </a:rPr>
              <a:t>설계 근거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448056" y="6080759"/>
            <a:ext cx="6154963" cy="393192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85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850" b="0">
                <a:solidFill>
                  <a:srgbClr val="666666"/>
                </a:solidFill>
                <a:latin typeface="맑은 고딕"/>
                <a:ea typeface="맑은 고딕"/>
              </a:rPr>
              <a:t>대시보드=운영(지금 처리할 것)·통계=분석(확산 여부)의 질문 축을 분리해 화면 역할을 겹치지 않게 한다.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85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850" b="0">
                <a:solidFill>
                  <a:srgbClr val="666666"/>
                </a:solidFill>
                <a:latin typeface="맑은 고딕"/>
                <a:ea typeface="맑은 고딕"/>
              </a:rPr>
              <a:t>스냅숏 화면이므로 기간 필터를 두지 않고, 전 위젯이 해당 관리 화면의 진입점을 겸한다.</a:t>
            </a:r>
          </a:p>
        </p:txBody>
      </p:sp>
      <p:sp>
        <p:nvSpPr>
          <p:cNvPr id="49" name="Rectangle 48"/>
          <p:cNvSpPr/>
          <p:nvPr/>
        </p:nvSpPr>
        <p:spPr>
          <a:xfrm>
            <a:off x="6941347" y="1097280"/>
            <a:ext cx="4866299" cy="886392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7051075" y="1133856"/>
            <a:ext cx="4646843" cy="237744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333333"/>
                </a:solidFill>
                <a:latin typeface="맑은 고딕"/>
                <a:ea typeface="맑은 고딕"/>
              </a:rPr>
              <a:t>정의·역할</a:t>
            </a:r>
          </a:p>
        </p:txBody>
      </p:sp>
      <p:cxnSp>
        <p:nvCxnSpPr>
          <p:cNvPr id="51" name="Connector 50"/>
          <p:cNvCxnSpPr/>
          <p:nvPr/>
        </p:nvCxnSpPr>
        <p:spPr>
          <a:xfrm>
            <a:off x="7051075" y="1371600"/>
            <a:ext cx="4646844" cy="0"/>
          </a:xfrm>
          <a:prstGeom prst="line">
            <a:avLst/>
          </a:prstGeom>
          <a:ln w="12700">
            <a:solidFill>
              <a:srgbClr val="EEEEE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2" name="TextBox 51"/>
          <p:cNvSpPr txBox="1"/>
          <p:nvPr/>
        </p:nvSpPr>
        <p:spPr>
          <a:xfrm>
            <a:off x="7069363" y="1408176"/>
            <a:ext cx="4610267" cy="538920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접근: admin · companyAdmin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관리자 시작 화면 — '지금 처리할 일' 요약 운영 콕핏</a:t>
            </a:r>
          </a:p>
        </p:txBody>
      </p:sp>
      <p:sp>
        <p:nvSpPr>
          <p:cNvPr id="53" name="Rectangle 52"/>
          <p:cNvSpPr/>
          <p:nvPr/>
        </p:nvSpPr>
        <p:spPr>
          <a:xfrm>
            <a:off x="6941347" y="2111688"/>
            <a:ext cx="4866299" cy="670070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7051075" y="2148264"/>
            <a:ext cx="4646843" cy="237744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333333"/>
                </a:solidFill>
                <a:latin typeface="맑은 고딕"/>
                <a:ea typeface="맑은 고딕"/>
              </a:rPr>
              <a:t>목적</a:t>
            </a:r>
          </a:p>
        </p:txBody>
      </p:sp>
      <p:cxnSp>
        <p:nvCxnSpPr>
          <p:cNvPr id="55" name="Connector 54"/>
          <p:cNvCxnSpPr/>
          <p:nvPr/>
        </p:nvCxnSpPr>
        <p:spPr>
          <a:xfrm>
            <a:off x="7051075" y="2386008"/>
            <a:ext cx="4646844" cy="0"/>
          </a:xfrm>
          <a:prstGeom prst="line">
            <a:avLst/>
          </a:prstGeom>
          <a:ln w="12700">
            <a:solidFill>
              <a:srgbClr val="EEEEE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6" name="TextBox 55"/>
          <p:cNvSpPr txBox="1"/>
          <p:nvPr/>
        </p:nvSpPr>
        <p:spPr>
          <a:xfrm>
            <a:off x="7069363" y="2422584"/>
            <a:ext cx="4610267" cy="322598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처리 대기 업무 확인 + 관리 화면 즉시 진입</a:t>
            </a:r>
          </a:p>
        </p:txBody>
      </p:sp>
      <p:sp>
        <p:nvSpPr>
          <p:cNvPr id="57" name="Rectangle 56"/>
          <p:cNvSpPr/>
          <p:nvPr/>
        </p:nvSpPr>
        <p:spPr>
          <a:xfrm>
            <a:off x="6941347" y="2909775"/>
            <a:ext cx="4866299" cy="1102714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7051075" y="2946351"/>
            <a:ext cx="4646843" cy="237744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333333"/>
                </a:solidFill>
                <a:latin typeface="맑은 고딕"/>
                <a:ea typeface="맑은 고딕"/>
              </a:rPr>
              <a:t>기획 의도</a:t>
            </a:r>
          </a:p>
        </p:txBody>
      </p:sp>
      <p:cxnSp>
        <p:nvCxnSpPr>
          <p:cNvPr id="59" name="Connector 58"/>
          <p:cNvCxnSpPr/>
          <p:nvPr/>
        </p:nvCxnSpPr>
        <p:spPr>
          <a:xfrm>
            <a:off x="7051075" y="3184095"/>
            <a:ext cx="4646844" cy="0"/>
          </a:xfrm>
          <a:prstGeom prst="line">
            <a:avLst/>
          </a:prstGeom>
          <a:ln w="12700">
            <a:solidFill>
              <a:srgbClr val="EEEEE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0" name="TextBox 59"/>
          <p:cNvSpPr txBox="1"/>
          <p:nvPr/>
        </p:nvSpPr>
        <p:spPr>
          <a:xfrm>
            <a:off x="7069363" y="3220671"/>
            <a:ext cx="4610267" cy="755242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대시보드=운영(지금 처리할 것)·통계=분석(확산 여부)의 질문 축 분리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분석 차트는 통계로 일원화, 전 위젯이 진입점 겸임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스냅숏 화면이므로 기간 필터 없음</a:t>
            </a:r>
          </a:p>
        </p:txBody>
      </p:sp>
      <p:sp>
        <p:nvSpPr>
          <p:cNvPr id="61" name="Rectangle 60"/>
          <p:cNvSpPr/>
          <p:nvPr/>
        </p:nvSpPr>
        <p:spPr>
          <a:xfrm>
            <a:off x="6941347" y="4140506"/>
            <a:ext cx="4866299" cy="1102714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7051075" y="4177082"/>
            <a:ext cx="4646843" cy="237744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333333"/>
                </a:solidFill>
                <a:latin typeface="맑은 고딕"/>
                <a:ea typeface="맑은 고딕"/>
              </a:rPr>
              <a:t>지켜야 할 룰</a:t>
            </a:r>
          </a:p>
        </p:txBody>
      </p:sp>
      <p:cxnSp>
        <p:nvCxnSpPr>
          <p:cNvPr id="63" name="Connector 62"/>
          <p:cNvCxnSpPr/>
          <p:nvPr/>
        </p:nvCxnSpPr>
        <p:spPr>
          <a:xfrm>
            <a:off x="7051075" y="4414826"/>
            <a:ext cx="4646844" cy="0"/>
          </a:xfrm>
          <a:prstGeom prst="line">
            <a:avLst/>
          </a:prstGeom>
          <a:ln w="12700">
            <a:solidFill>
              <a:srgbClr val="EEEEE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4" name="TextBox 63"/>
          <p:cNvSpPr txBox="1"/>
          <p:nvPr/>
        </p:nvSpPr>
        <p:spPr>
          <a:xfrm>
            <a:off x="7069363" y="4451402"/>
            <a:ext cx="4610267" cy="755242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기간 필터 없음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누적=전체 기간, 이번 달 신규=당월 실측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companyAdmin 수치는 ownerCompany 담당 범위 부분집합(0.6)</a:t>
            </a:r>
          </a:p>
        </p:txBody>
      </p:sp>
      <p:sp>
        <p:nvSpPr>
          <p:cNvPr id="65" name="Rectangle 64"/>
          <p:cNvSpPr/>
          <p:nvPr/>
        </p:nvSpPr>
        <p:spPr>
          <a:xfrm>
            <a:off x="6941347" y="5371237"/>
            <a:ext cx="4866299" cy="1102714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7051075" y="5407813"/>
            <a:ext cx="4646843" cy="237744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333333"/>
                </a:solidFill>
                <a:latin typeface="맑은 고딕"/>
                <a:ea typeface="맑은 고딕"/>
              </a:rPr>
              <a:t>개발 연동 노트</a:t>
            </a:r>
          </a:p>
        </p:txBody>
      </p:sp>
      <p:cxnSp>
        <p:nvCxnSpPr>
          <p:cNvPr id="67" name="Connector 66"/>
          <p:cNvCxnSpPr/>
          <p:nvPr/>
        </p:nvCxnSpPr>
        <p:spPr>
          <a:xfrm>
            <a:off x="7051075" y="5645557"/>
            <a:ext cx="4646844" cy="0"/>
          </a:xfrm>
          <a:prstGeom prst="line">
            <a:avLst/>
          </a:prstGeom>
          <a:ln w="12700">
            <a:solidFill>
              <a:srgbClr val="EEEEE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8" name="TextBox 67"/>
          <p:cNvSpPr txBox="1"/>
          <p:nvPr/>
        </p:nvSpPr>
        <p:spPr>
          <a:xfrm>
            <a:off x="7069363" y="5682133"/>
            <a:ext cx="4610267" cy="755242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getDashboardData(scope) — 검토 큐·카탈로그·활동 피드 파생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연동 시 기존 자원 조합 우선(활동 피드 GET /activity 후보), 가시성 서버 재검증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aphicFrame>
        <p:nvGraphicFramePr>
          <p:cNvPr id="2" name="Table 1"/>
          <p:cNvGraphicFramePr>
            <a:graphicFrameLocks noGrp="1"/>
          </p:cNvGraphicFramePr>
          <p:nvPr/>
        </p:nvGraphicFramePr>
        <p:xfrm>
          <a:off x="384048" y="384048"/>
          <a:ext cx="11423599" cy="1042416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371600"/>
                <a:gridCol w="4297680"/>
                <a:gridCol w="1280160"/>
                <a:gridCol w="4474159"/>
              </a:tblGrid>
              <a:tr h="384048">
                <a:tc gridSpan="3"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대시보드</a:t>
                      </a:r>
                    </a:p>
                  </a:txBody>
                  <a:tcPr anchor="ctr" marL="73152" marR="54864" marT="18288" marB="18288">
                    <a:solidFill>
                      <a:srgbClr val="111111"/>
                    </a:solidFill>
                    <a:lnL w="9525" cap="flat">
                      <a:solidFill>
                        <a:srgbClr val="666666"/>
                      </a:solidFill>
                    </a:lnL>
                    <a:lnR w="9525" cap="flat">
                      <a:solidFill>
                        <a:srgbClr val="666666"/>
                      </a:solidFill>
                    </a:lnR>
                    <a:lnT w="9525" cap="flat">
                      <a:solidFill>
                        <a:srgbClr val="666666"/>
                      </a:solidFill>
                    </a:lnT>
                    <a:lnB w="9525" cap="flat">
                      <a:solidFill>
                        <a:srgbClr val="666666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Page 1 / 1</a:t>
                      </a:r>
                    </a:p>
                  </a:txBody>
                  <a:tcPr anchor="ctr" marL="73152" marR="54864" marT="18288" marB="18288">
                    <a:solidFill>
                      <a:srgbClr val="111111"/>
                    </a:solidFill>
                    <a:lnL w="9525" cap="flat">
                      <a:solidFill>
                        <a:srgbClr val="666666"/>
                      </a:solidFill>
                    </a:lnL>
                    <a:lnR w="9525" cap="flat">
                      <a:solidFill>
                        <a:srgbClr val="666666"/>
                      </a:solidFill>
                    </a:lnR>
                    <a:lnT w="9525" cap="flat">
                      <a:solidFill>
                        <a:srgbClr val="666666"/>
                      </a:solidFill>
                    </a:lnT>
                    <a:lnB w="9525" cap="flat">
                      <a:solidFill>
                        <a:srgbClr val="666666"/>
                      </a:solidFill>
                    </a:lnB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</a:rPr>
                        <a:t>Page Title</a:t>
                      </a:r>
                    </a:p>
                  </a:txBody>
                  <a:tcPr anchor="ctr" marL="73152" marR="54864" marT="18288" marB="18288">
                    <a:solidFill>
                      <a:srgbClr val="EEEEEE"/>
                    </a:solidFill>
                    <a:lnL w="9525" cap="flat">
                      <a:solidFill>
                        <a:srgbClr val="666666"/>
                      </a:solidFill>
                    </a:lnL>
                    <a:lnR w="9525" cap="flat">
                      <a:solidFill>
                        <a:srgbClr val="666666"/>
                      </a:solidFill>
                    </a:lnR>
                    <a:lnT w="9525" cap="flat">
                      <a:solidFill>
                        <a:srgbClr val="666666"/>
                      </a:solidFill>
                    </a:lnT>
                    <a:lnB w="9525" cap="flat">
                      <a:solidFill>
                        <a:srgbClr val="666666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111111"/>
                          </a:solidFill>
                          <a:latin typeface="맑은 고딕"/>
                          <a:ea typeface="맑은 고딕"/>
                        </a:rPr>
                        <a:t>대시보드</a:t>
                      </a:r>
                    </a:p>
                  </a:txBody>
                  <a:tcPr anchor="ctr" marL="73152" marR="54864" marT="18288" marB="18288">
                    <a:solidFill>
                      <a:srgbClr val="FFFFFF"/>
                    </a:solidFill>
                    <a:lnL w="9525" cap="flat">
                      <a:solidFill>
                        <a:srgbClr val="666666"/>
                      </a:solidFill>
                    </a:lnL>
                    <a:lnR w="9525" cap="flat">
                      <a:solidFill>
                        <a:srgbClr val="666666"/>
                      </a:solidFill>
                    </a:lnR>
                    <a:lnT w="9525" cap="flat">
                      <a:solidFill>
                        <a:srgbClr val="666666"/>
                      </a:solidFill>
                    </a:lnT>
                    <a:lnB w="9525" cap="flat">
                      <a:solidFill>
                        <a:srgbClr val="666666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</a:rPr>
                        <a:t>Screen ID</a:t>
                      </a:r>
                    </a:p>
                  </a:txBody>
                  <a:tcPr anchor="ctr" marL="73152" marR="54864" marT="18288" marB="18288">
                    <a:solidFill>
                      <a:srgbClr val="EEEEEE"/>
                    </a:solidFill>
                    <a:lnL w="9525" cap="flat">
                      <a:solidFill>
                        <a:srgbClr val="666666"/>
                      </a:solidFill>
                    </a:lnL>
                    <a:lnR w="9525" cap="flat">
                      <a:solidFill>
                        <a:srgbClr val="666666"/>
                      </a:solidFill>
                    </a:lnR>
                    <a:lnT w="9525" cap="flat">
                      <a:solidFill>
                        <a:srgbClr val="666666"/>
                      </a:solidFill>
                    </a:lnT>
                    <a:lnB w="9525" cap="flat">
                      <a:solidFill>
                        <a:srgbClr val="666666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111111"/>
                          </a:solidFill>
                          <a:latin typeface="맑은 고딕"/>
                          <a:ea typeface="맑은 고딕"/>
                        </a:rPr>
                        <a:t>ADM-01</a:t>
                      </a:r>
                    </a:p>
                  </a:txBody>
                  <a:tcPr anchor="ctr" marL="73152" marR="54864" marT="18288" marB="18288">
                    <a:solidFill>
                      <a:srgbClr val="FFFFFF"/>
                    </a:solidFill>
                    <a:lnL w="9525" cap="flat">
                      <a:solidFill>
                        <a:srgbClr val="666666"/>
                      </a:solidFill>
                    </a:lnL>
                    <a:lnR w="9525" cap="flat">
                      <a:solidFill>
                        <a:srgbClr val="666666"/>
                      </a:solidFill>
                    </a:lnR>
                    <a:lnT w="9525" cap="flat">
                      <a:solidFill>
                        <a:srgbClr val="666666"/>
                      </a:solidFill>
                    </a:lnT>
                    <a:lnB w="9525" cap="flat">
                      <a:solidFill>
                        <a:srgbClr val="666666"/>
                      </a:solidFill>
                    </a:lnB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</a:rPr>
                        <a:t>Screen Path</a:t>
                      </a:r>
                    </a:p>
                  </a:txBody>
                  <a:tcPr anchor="ctr" marL="73152" marR="54864" marT="18288" marB="18288">
                    <a:solidFill>
                      <a:srgbClr val="EEEEEE"/>
                    </a:solidFill>
                    <a:lnL w="9525" cap="flat">
                      <a:solidFill>
                        <a:srgbClr val="666666"/>
                      </a:solidFill>
                    </a:lnL>
                    <a:lnR w="9525" cap="flat">
                      <a:solidFill>
                        <a:srgbClr val="666666"/>
                      </a:solidFill>
                    </a:lnR>
                    <a:lnT w="9525" cap="flat">
                      <a:solidFill>
                        <a:srgbClr val="666666"/>
                      </a:solidFill>
                    </a:lnT>
                    <a:lnB w="9525" cap="flat">
                      <a:solidFill>
                        <a:srgbClr val="666666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</a:rPr>
                        <a:t>/admin  (admin·companyAdmin)</a:t>
                      </a:r>
                    </a:p>
                  </a:txBody>
                  <a:tcPr anchor="ctr" marL="73152" marR="54864" marT="18288" marB="18288">
                    <a:solidFill>
                      <a:srgbClr val="FFFFFF"/>
                    </a:solidFill>
                    <a:lnL w="9525" cap="flat">
                      <a:solidFill>
                        <a:srgbClr val="666666"/>
                      </a:solidFill>
                    </a:lnL>
                    <a:lnR w="9525" cap="flat">
                      <a:solidFill>
                        <a:srgbClr val="666666"/>
                      </a:solidFill>
                    </a:lnR>
                    <a:lnT w="9525" cap="flat">
                      <a:solidFill>
                        <a:srgbClr val="666666"/>
                      </a:solidFill>
                    </a:lnT>
                    <a:lnB w="9525" cap="flat">
                      <a:solidFill>
                        <a:srgbClr val="666666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</a:rPr>
                        <a:t>작성자</a:t>
                      </a:r>
                    </a:p>
                  </a:txBody>
                  <a:tcPr anchor="ctr" marL="73152" marR="54864" marT="18288" marB="18288">
                    <a:solidFill>
                      <a:srgbClr val="EEEEEE"/>
                    </a:solidFill>
                    <a:lnL w="9525" cap="flat">
                      <a:solidFill>
                        <a:srgbClr val="666666"/>
                      </a:solidFill>
                    </a:lnL>
                    <a:lnR w="9525" cap="flat">
                      <a:solidFill>
                        <a:srgbClr val="666666"/>
                      </a:solidFill>
                    </a:lnR>
                    <a:lnT w="9525" cap="flat">
                      <a:solidFill>
                        <a:srgbClr val="666666"/>
                      </a:solidFill>
                    </a:lnT>
                    <a:lnB w="9525" cap="flat">
                      <a:solidFill>
                        <a:srgbClr val="666666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11111"/>
                          </a:solidFill>
                          <a:latin typeface="맑은 고딕"/>
                          <a:ea typeface="맑은 고딕"/>
                        </a:rPr>
                        <a:t>배상혁</a:t>
                      </a:r>
                    </a:p>
                  </a:txBody>
                  <a:tcPr anchor="ctr" marL="73152" marR="54864" marT="18288" marB="18288">
                    <a:solidFill>
                      <a:srgbClr val="FFFFFF"/>
                    </a:solidFill>
                    <a:lnL w="9525" cap="flat">
                      <a:solidFill>
                        <a:srgbClr val="666666"/>
                      </a:solidFill>
                    </a:lnL>
                    <a:lnR w="9525" cap="flat">
                      <a:solidFill>
                        <a:srgbClr val="666666"/>
                      </a:solidFill>
                    </a:lnR>
                    <a:lnT w="9525" cap="flat">
                      <a:solidFill>
                        <a:srgbClr val="666666"/>
                      </a:solidFill>
                    </a:lnT>
                    <a:lnB w="9525" cap="flat">
                      <a:solidFill>
                        <a:srgbClr val="666666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3" name="Rectangle 2"/>
          <p:cNvSpPr/>
          <p:nvPr/>
        </p:nvSpPr>
        <p:spPr>
          <a:xfrm>
            <a:off x="384048" y="1572767"/>
            <a:ext cx="5166360" cy="4901184"/>
          </a:xfrm>
          <a:prstGeom prst="rect">
            <a:avLst/>
          </a:prstGeom>
          <a:solidFill>
            <a:srgbClr val="FFFFFF"/>
          </a:solidFill>
          <a:ln w="3048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84048" y="1572767"/>
            <a:ext cx="5166360" cy="146304"/>
          </a:xfrm>
          <a:prstGeom prst="rect">
            <a:avLst/>
          </a:prstGeom>
          <a:solidFill>
            <a:srgbClr val="F7F7F7"/>
          </a:solidFill>
          <a:ln w="3048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484632" y="1623059"/>
            <a:ext cx="45720" cy="45720"/>
          </a:xfrm>
          <a:prstGeom prst="ellipse">
            <a:avLst/>
          </a:prstGeom>
          <a:solidFill>
            <a:srgbClr val="CCC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585216" y="1623059"/>
            <a:ext cx="45720" cy="45720"/>
          </a:xfrm>
          <a:prstGeom prst="ellipse">
            <a:avLst/>
          </a:prstGeom>
          <a:solidFill>
            <a:srgbClr val="CCC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685800" y="1623059"/>
            <a:ext cx="45720" cy="45720"/>
          </a:xfrm>
          <a:prstGeom prst="ellipse">
            <a:avLst/>
          </a:prstGeom>
          <a:solidFill>
            <a:srgbClr val="CCC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12064" y="1847087"/>
            <a:ext cx="4910328" cy="256032"/>
          </a:xfrm>
          <a:prstGeom prst="rect">
            <a:avLst/>
          </a:prstGeom>
          <a:solidFill>
            <a:srgbClr val="F7F7F7"/>
          </a:solidFill>
          <a:ln w="1651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585216" y="1911095"/>
            <a:ext cx="658368" cy="12801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5166359" y="1883663"/>
            <a:ext cx="182880" cy="182880"/>
          </a:xfrm>
          <a:prstGeom prst="ellipse">
            <a:avLst/>
          </a:prstGeom>
          <a:solidFill>
            <a:srgbClr val="FFFFFF"/>
          </a:solidFill>
          <a:ln w="1524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12064" y="2157983"/>
            <a:ext cx="914400" cy="4187952"/>
          </a:xfrm>
          <a:prstGeom prst="rect">
            <a:avLst/>
          </a:prstGeom>
          <a:solidFill>
            <a:srgbClr val="F7F7F7"/>
          </a:solidFill>
          <a:ln w="1651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594360" y="2267711"/>
            <a:ext cx="749808" cy="14630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594360" y="2542031"/>
            <a:ext cx="749808" cy="14630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594360" y="2816351"/>
            <a:ext cx="749808" cy="14630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594360" y="3090671"/>
            <a:ext cx="749808" cy="14630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594360" y="3364991"/>
            <a:ext cx="749808" cy="14630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594360" y="3639311"/>
            <a:ext cx="749808" cy="14630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594360" y="3913631"/>
            <a:ext cx="749808" cy="14630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594360" y="4187952"/>
            <a:ext cx="749808" cy="14630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594360" y="4462271"/>
            <a:ext cx="749808" cy="14630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170432" y="2532887"/>
            <a:ext cx="128016" cy="128016"/>
          </a:xfrm>
          <a:prstGeom prst="ellipse">
            <a:avLst/>
          </a:prstGeom>
          <a:solidFill>
            <a:srgbClr val="FFFFFF"/>
          </a:solidFill>
          <a:ln w="1524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2" name="Connector 21"/>
          <p:cNvCxnSpPr/>
          <p:nvPr/>
        </p:nvCxnSpPr>
        <p:spPr>
          <a:xfrm>
            <a:off x="1572768" y="2322575"/>
            <a:ext cx="769924" cy="0"/>
          </a:xfrm>
          <a:prstGeom prst="line">
            <a:avLst/>
          </a:prstGeom>
          <a:ln w="22860">
            <a:solidFill>
              <a:srgbClr val="6666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Rounded Rectangle 22"/>
          <p:cNvSpPr/>
          <p:nvPr/>
        </p:nvSpPr>
        <p:spPr>
          <a:xfrm>
            <a:off x="2573670" y="2194559"/>
            <a:ext cx="1188720" cy="274320"/>
          </a:xfrm>
          <a:prstGeom prst="roundRect">
            <a:avLst/>
          </a:prstGeom>
          <a:solidFill>
            <a:srgbClr val="F7F7F7"/>
          </a:solidFill>
          <a:ln w="1524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2573670" y="2185415"/>
            <a:ext cx="1188720" cy="237744"/>
          </a:xfrm>
          <a:prstGeom prst="rect">
            <a:avLst/>
          </a:prstGeom>
          <a:noFill/>
        </p:spPr>
        <p:txBody>
          <a:bodyPr wrap="square" anchor="ctr" lIns="54864" rIns="54864" tIns="0" bIns="18288">
            <a:no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999999"/>
                </a:solidFill>
                <a:latin typeface="맑은 고딕"/>
                <a:ea typeface="맑은 고딕"/>
              </a:rPr>
              <a:t>범위</a:t>
            </a:r>
          </a:p>
        </p:txBody>
      </p:sp>
      <p:sp>
        <p:nvSpPr>
          <p:cNvPr id="25" name="Oval 24"/>
          <p:cNvSpPr/>
          <p:nvPr/>
        </p:nvSpPr>
        <p:spPr>
          <a:xfrm>
            <a:off x="2555382" y="2176271"/>
            <a:ext cx="237744" cy="237744"/>
          </a:xfrm>
          <a:prstGeom prst="ellipse">
            <a:avLst/>
          </a:prstGeom>
          <a:solidFill>
            <a:srgbClr val="DC2626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1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572768" y="2578607"/>
            <a:ext cx="1216151" cy="548640"/>
          </a:xfrm>
          <a:prstGeom prst="rect">
            <a:avLst/>
          </a:prstGeom>
          <a:solidFill>
            <a:srgbClr val="F7F7F7"/>
          </a:solidFill>
          <a:ln w="1651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7" name="Connector 26"/>
          <p:cNvCxnSpPr/>
          <p:nvPr/>
        </p:nvCxnSpPr>
        <p:spPr>
          <a:xfrm>
            <a:off x="1682495" y="2743199"/>
            <a:ext cx="632400" cy="0"/>
          </a:xfrm>
          <a:prstGeom prst="line">
            <a:avLst/>
          </a:prstGeom>
          <a:ln w="13970">
            <a:solidFill>
              <a:srgbClr val="6666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>
            <a:off x="1682495" y="2944367"/>
            <a:ext cx="875630" cy="0"/>
          </a:xfrm>
          <a:prstGeom prst="line">
            <a:avLst/>
          </a:prstGeom>
          <a:ln w="25400">
            <a:solidFill>
              <a:srgbClr val="6666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Rectangle 28"/>
          <p:cNvSpPr/>
          <p:nvPr/>
        </p:nvSpPr>
        <p:spPr>
          <a:xfrm>
            <a:off x="2889504" y="2578607"/>
            <a:ext cx="1216151" cy="548640"/>
          </a:xfrm>
          <a:prstGeom prst="rect">
            <a:avLst/>
          </a:prstGeom>
          <a:solidFill>
            <a:srgbClr val="F7F7F7"/>
          </a:solidFill>
          <a:ln w="1651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0" name="Connector 29"/>
          <p:cNvCxnSpPr/>
          <p:nvPr/>
        </p:nvCxnSpPr>
        <p:spPr>
          <a:xfrm>
            <a:off x="2999232" y="2743199"/>
            <a:ext cx="632399" cy="0"/>
          </a:xfrm>
          <a:prstGeom prst="line">
            <a:avLst/>
          </a:prstGeom>
          <a:ln w="13970">
            <a:solidFill>
              <a:srgbClr val="6666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2999232" y="2944367"/>
            <a:ext cx="875629" cy="0"/>
          </a:xfrm>
          <a:prstGeom prst="line">
            <a:avLst/>
          </a:prstGeom>
          <a:ln w="25400">
            <a:solidFill>
              <a:srgbClr val="6666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Rectangle 31"/>
          <p:cNvSpPr/>
          <p:nvPr/>
        </p:nvSpPr>
        <p:spPr>
          <a:xfrm>
            <a:off x="4206240" y="2578607"/>
            <a:ext cx="1216151" cy="548640"/>
          </a:xfrm>
          <a:prstGeom prst="rect">
            <a:avLst/>
          </a:prstGeom>
          <a:solidFill>
            <a:srgbClr val="F7F7F7"/>
          </a:solidFill>
          <a:ln w="1651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3" name="Connector 32"/>
          <p:cNvCxnSpPr/>
          <p:nvPr/>
        </p:nvCxnSpPr>
        <p:spPr>
          <a:xfrm>
            <a:off x="4315968" y="2743199"/>
            <a:ext cx="632399" cy="0"/>
          </a:xfrm>
          <a:prstGeom prst="line">
            <a:avLst/>
          </a:prstGeom>
          <a:ln w="13970">
            <a:solidFill>
              <a:srgbClr val="6666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4315968" y="2944367"/>
            <a:ext cx="875629" cy="0"/>
          </a:xfrm>
          <a:prstGeom prst="line">
            <a:avLst/>
          </a:prstGeom>
          <a:ln w="25400">
            <a:solidFill>
              <a:srgbClr val="6666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Oval 34"/>
          <p:cNvSpPr/>
          <p:nvPr/>
        </p:nvSpPr>
        <p:spPr>
          <a:xfrm>
            <a:off x="1554480" y="2560319"/>
            <a:ext cx="237744" cy="237744"/>
          </a:xfrm>
          <a:prstGeom prst="ellipse">
            <a:avLst/>
          </a:prstGeom>
          <a:solidFill>
            <a:srgbClr val="DC2626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2</a:t>
            </a:r>
          </a:p>
        </p:txBody>
      </p:sp>
      <p:sp>
        <p:nvSpPr>
          <p:cNvPr id="36" name="Rectangle 35"/>
          <p:cNvSpPr/>
          <p:nvPr/>
        </p:nvSpPr>
        <p:spPr>
          <a:xfrm>
            <a:off x="1572768" y="3236975"/>
            <a:ext cx="2061972" cy="1298448"/>
          </a:xfrm>
          <a:prstGeom prst="rect">
            <a:avLst/>
          </a:prstGeom>
          <a:solidFill>
            <a:srgbClr val="FFFFFF"/>
          </a:solidFill>
          <a:ln w="1651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7" name="Connector 36"/>
          <p:cNvCxnSpPr/>
          <p:nvPr/>
        </p:nvCxnSpPr>
        <p:spPr>
          <a:xfrm>
            <a:off x="1673352" y="3401567"/>
            <a:ext cx="866028" cy="0"/>
          </a:xfrm>
          <a:prstGeom prst="line">
            <a:avLst/>
          </a:prstGeom>
          <a:ln w="22860">
            <a:solidFill>
              <a:srgbClr val="6666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Rounded Rectangle 37"/>
          <p:cNvSpPr/>
          <p:nvPr/>
        </p:nvSpPr>
        <p:spPr>
          <a:xfrm>
            <a:off x="1673352" y="3529583"/>
            <a:ext cx="274320" cy="10972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ounded Rectangle 38"/>
          <p:cNvSpPr/>
          <p:nvPr/>
        </p:nvSpPr>
        <p:spPr>
          <a:xfrm>
            <a:off x="1984248" y="3529583"/>
            <a:ext cx="237744" cy="10972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0" name="Connector 39"/>
          <p:cNvCxnSpPr/>
          <p:nvPr/>
        </p:nvCxnSpPr>
        <p:spPr>
          <a:xfrm>
            <a:off x="2276856" y="3593591"/>
            <a:ext cx="1257300" cy="0"/>
          </a:xfrm>
          <a:prstGeom prst="line">
            <a:avLst/>
          </a:prstGeom>
          <a:ln w="13970">
            <a:solidFill>
              <a:srgbClr val="6666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" name="Rounded Rectangle 40"/>
          <p:cNvSpPr/>
          <p:nvPr/>
        </p:nvSpPr>
        <p:spPr>
          <a:xfrm>
            <a:off x="1673352" y="3703319"/>
            <a:ext cx="274320" cy="10972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ounded Rectangle 41"/>
          <p:cNvSpPr/>
          <p:nvPr/>
        </p:nvSpPr>
        <p:spPr>
          <a:xfrm>
            <a:off x="1984248" y="3703319"/>
            <a:ext cx="237744" cy="10972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3" name="Connector 42"/>
          <p:cNvCxnSpPr/>
          <p:nvPr/>
        </p:nvCxnSpPr>
        <p:spPr>
          <a:xfrm>
            <a:off x="2276856" y="3767327"/>
            <a:ext cx="1257300" cy="0"/>
          </a:xfrm>
          <a:prstGeom prst="line">
            <a:avLst/>
          </a:prstGeom>
          <a:ln w="13970">
            <a:solidFill>
              <a:srgbClr val="6666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Rounded Rectangle 43"/>
          <p:cNvSpPr/>
          <p:nvPr/>
        </p:nvSpPr>
        <p:spPr>
          <a:xfrm>
            <a:off x="1673352" y="3877055"/>
            <a:ext cx="274320" cy="10972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ounded Rectangle 44"/>
          <p:cNvSpPr/>
          <p:nvPr/>
        </p:nvSpPr>
        <p:spPr>
          <a:xfrm>
            <a:off x="1984248" y="3877055"/>
            <a:ext cx="237744" cy="10972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6" name="Connector 45"/>
          <p:cNvCxnSpPr/>
          <p:nvPr/>
        </p:nvCxnSpPr>
        <p:spPr>
          <a:xfrm>
            <a:off x="2276856" y="3941063"/>
            <a:ext cx="1257300" cy="0"/>
          </a:xfrm>
          <a:prstGeom prst="line">
            <a:avLst/>
          </a:prstGeom>
          <a:ln w="13970">
            <a:solidFill>
              <a:srgbClr val="6666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7" name="Rounded Rectangle 46"/>
          <p:cNvSpPr/>
          <p:nvPr/>
        </p:nvSpPr>
        <p:spPr>
          <a:xfrm>
            <a:off x="1673352" y="4050791"/>
            <a:ext cx="274320" cy="10972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ounded Rectangle 47"/>
          <p:cNvSpPr/>
          <p:nvPr/>
        </p:nvSpPr>
        <p:spPr>
          <a:xfrm>
            <a:off x="1984248" y="4050791"/>
            <a:ext cx="237744" cy="10972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9" name="Connector 48"/>
          <p:cNvCxnSpPr/>
          <p:nvPr/>
        </p:nvCxnSpPr>
        <p:spPr>
          <a:xfrm>
            <a:off x="2276856" y="4114799"/>
            <a:ext cx="1257300" cy="0"/>
          </a:xfrm>
          <a:prstGeom prst="line">
            <a:avLst/>
          </a:prstGeom>
          <a:ln w="13970">
            <a:solidFill>
              <a:srgbClr val="6666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0" name="Rounded Rectangle 49"/>
          <p:cNvSpPr/>
          <p:nvPr/>
        </p:nvSpPr>
        <p:spPr>
          <a:xfrm>
            <a:off x="1673352" y="4224527"/>
            <a:ext cx="274320" cy="10972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ounded Rectangle 50"/>
          <p:cNvSpPr/>
          <p:nvPr/>
        </p:nvSpPr>
        <p:spPr>
          <a:xfrm>
            <a:off x="1984248" y="4224527"/>
            <a:ext cx="237744" cy="10972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2" name="Connector 51"/>
          <p:cNvCxnSpPr/>
          <p:nvPr/>
        </p:nvCxnSpPr>
        <p:spPr>
          <a:xfrm>
            <a:off x="2276856" y="4288536"/>
            <a:ext cx="1257300" cy="0"/>
          </a:xfrm>
          <a:prstGeom prst="line">
            <a:avLst/>
          </a:prstGeom>
          <a:ln w="13970">
            <a:solidFill>
              <a:srgbClr val="6666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Connector 52"/>
          <p:cNvCxnSpPr/>
          <p:nvPr/>
        </p:nvCxnSpPr>
        <p:spPr>
          <a:xfrm>
            <a:off x="2802635" y="4370831"/>
            <a:ext cx="731520" cy="0"/>
          </a:xfrm>
          <a:prstGeom prst="line">
            <a:avLst/>
          </a:prstGeom>
          <a:ln w="13970">
            <a:solidFill>
              <a:srgbClr val="6666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4" name="Oval 53"/>
          <p:cNvSpPr/>
          <p:nvPr/>
        </p:nvSpPr>
        <p:spPr>
          <a:xfrm>
            <a:off x="1554480" y="3218687"/>
            <a:ext cx="237744" cy="237744"/>
          </a:xfrm>
          <a:prstGeom prst="ellipse">
            <a:avLst/>
          </a:prstGeom>
          <a:solidFill>
            <a:srgbClr val="DC2626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3</a:t>
            </a:r>
          </a:p>
        </p:txBody>
      </p:sp>
      <p:sp>
        <p:nvSpPr>
          <p:cNvPr id="55" name="Rectangle 54"/>
          <p:cNvSpPr/>
          <p:nvPr/>
        </p:nvSpPr>
        <p:spPr>
          <a:xfrm>
            <a:off x="3735324" y="3236975"/>
            <a:ext cx="1687068" cy="1298448"/>
          </a:xfrm>
          <a:prstGeom prst="rect">
            <a:avLst/>
          </a:prstGeom>
          <a:solidFill>
            <a:srgbClr val="FFFFFF"/>
          </a:solidFill>
          <a:ln w="1651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6" name="Connector 55"/>
          <p:cNvCxnSpPr/>
          <p:nvPr/>
        </p:nvCxnSpPr>
        <p:spPr>
          <a:xfrm>
            <a:off x="3835908" y="3401567"/>
            <a:ext cx="708568" cy="0"/>
          </a:xfrm>
          <a:prstGeom prst="line">
            <a:avLst/>
          </a:prstGeom>
          <a:ln w="22860">
            <a:solidFill>
              <a:srgbClr val="6666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7" name="Rectangle 56"/>
          <p:cNvSpPr/>
          <p:nvPr/>
        </p:nvSpPr>
        <p:spPr>
          <a:xfrm>
            <a:off x="3835908" y="3529583"/>
            <a:ext cx="1485900" cy="420624"/>
          </a:xfrm>
          <a:prstGeom prst="rect">
            <a:avLst/>
          </a:prstGeom>
          <a:solidFill>
            <a:srgbClr val="F7F7F7"/>
          </a:solidFill>
          <a:ln w="1524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8" name="Connector 57"/>
          <p:cNvCxnSpPr/>
          <p:nvPr/>
        </p:nvCxnSpPr>
        <p:spPr>
          <a:xfrm>
            <a:off x="3835908" y="4096511"/>
            <a:ext cx="1485900" cy="0"/>
          </a:xfrm>
          <a:prstGeom prst="line">
            <a:avLst/>
          </a:prstGeom>
          <a:ln w="13970">
            <a:solidFill>
              <a:srgbClr val="6666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" name="Connector 58"/>
          <p:cNvCxnSpPr/>
          <p:nvPr/>
        </p:nvCxnSpPr>
        <p:spPr>
          <a:xfrm>
            <a:off x="3835908" y="4251959"/>
            <a:ext cx="1485900" cy="0"/>
          </a:xfrm>
          <a:prstGeom prst="line">
            <a:avLst/>
          </a:prstGeom>
          <a:ln w="13970">
            <a:solidFill>
              <a:srgbClr val="6666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" name="Connector 59"/>
          <p:cNvCxnSpPr/>
          <p:nvPr/>
        </p:nvCxnSpPr>
        <p:spPr>
          <a:xfrm>
            <a:off x="3835908" y="4407407"/>
            <a:ext cx="817245" cy="0"/>
          </a:xfrm>
          <a:prstGeom prst="line">
            <a:avLst/>
          </a:prstGeom>
          <a:ln w="13970">
            <a:solidFill>
              <a:srgbClr val="6666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1" name="Oval 60"/>
          <p:cNvSpPr/>
          <p:nvPr/>
        </p:nvSpPr>
        <p:spPr>
          <a:xfrm>
            <a:off x="3717036" y="3218687"/>
            <a:ext cx="237744" cy="237744"/>
          </a:xfrm>
          <a:prstGeom prst="ellipse">
            <a:avLst/>
          </a:prstGeom>
          <a:solidFill>
            <a:srgbClr val="DC2626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4</a:t>
            </a:r>
          </a:p>
        </p:txBody>
      </p:sp>
      <p:sp>
        <p:nvSpPr>
          <p:cNvPr id="62" name="Rectangle 61"/>
          <p:cNvSpPr/>
          <p:nvPr/>
        </p:nvSpPr>
        <p:spPr>
          <a:xfrm>
            <a:off x="1572768" y="4645151"/>
            <a:ext cx="1874519" cy="1298448"/>
          </a:xfrm>
          <a:prstGeom prst="rect">
            <a:avLst/>
          </a:prstGeom>
          <a:solidFill>
            <a:srgbClr val="FFFFFF"/>
          </a:solidFill>
          <a:ln w="1651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3" name="Connector 62"/>
          <p:cNvCxnSpPr/>
          <p:nvPr/>
        </p:nvCxnSpPr>
        <p:spPr>
          <a:xfrm>
            <a:off x="1673352" y="4809743"/>
            <a:ext cx="824788" cy="0"/>
          </a:xfrm>
          <a:prstGeom prst="line">
            <a:avLst/>
          </a:prstGeom>
          <a:ln w="22860">
            <a:solidFill>
              <a:srgbClr val="6666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4" name="Rounded Rectangle 63"/>
          <p:cNvSpPr/>
          <p:nvPr/>
        </p:nvSpPr>
        <p:spPr>
          <a:xfrm>
            <a:off x="1673352" y="4956047"/>
            <a:ext cx="256032" cy="1188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5" name="Connector 64"/>
          <p:cNvCxnSpPr/>
          <p:nvPr/>
        </p:nvCxnSpPr>
        <p:spPr>
          <a:xfrm>
            <a:off x="1984248" y="5020055"/>
            <a:ext cx="1362455" cy="0"/>
          </a:xfrm>
          <a:prstGeom prst="line">
            <a:avLst/>
          </a:prstGeom>
          <a:ln w="13970">
            <a:solidFill>
              <a:srgbClr val="6666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6" name="Rounded Rectangle 65"/>
          <p:cNvSpPr/>
          <p:nvPr/>
        </p:nvSpPr>
        <p:spPr>
          <a:xfrm>
            <a:off x="1673352" y="5175503"/>
            <a:ext cx="256032" cy="1188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7" name="Connector 66"/>
          <p:cNvCxnSpPr/>
          <p:nvPr/>
        </p:nvCxnSpPr>
        <p:spPr>
          <a:xfrm>
            <a:off x="1984248" y="5239512"/>
            <a:ext cx="1362455" cy="0"/>
          </a:xfrm>
          <a:prstGeom prst="line">
            <a:avLst/>
          </a:prstGeom>
          <a:ln w="13970">
            <a:solidFill>
              <a:srgbClr val="6666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8" name="Rounded Rectangle 67"/>
          <p:cNvSpPr/>
          <p:nvPr/>
        </p:nvSpPr>
        <p:spPr>
          <a:xfrm>
            <a:off x="1673352" y="5394959"/>
            <a:ext cx="256032" cy="1188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9" name="Connector 68"/>
          <p:cNvCxnSpPr/>
          <p:nvPr/>
        </p:nvCxnSpPr>
        <p:spPr>
          <a:xfrm>
            <a:off x="1984248" y="5458967"/>
            <a:ext cx="1362455" cy="0"/>
          </a:xfrm>
          <a:prstGeom prst="line">
            <a:avLst/>
          </a:prstGeom>
          <a:ln w="13970">
            <a:solidFill>
              <a:srgbClr val="6666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0" name="Rounded Rectangle 69"/>
          <p:cNvSpPr/>
          <p:nvPr/>
        </p:nvSpPr>
        <p:spPr>
          <a:xfrm>
            <a:off x="1673352" y="5614415"/>
            <a:ext cx="256032" cy="1188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1" name="Connector 70"/>
          <p:cNvCxnSpPr/>
          <p:nvPr/>
        </p:nvCxnSpPr>
        <p:spPr>
          <a:xfrm>
            <a:off x="1984248" y="5678423"/>
            <a:ext cx="1362455" cy="0"/>
          </a:xfrm>
          <a:prstGeom prst="line">
            <a:avLst/>
          </a:prstGeom>
          <a:ln w="13970">
            <a:solidFill>
              <a:srgbClr val="6666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2" name="Oval 71"/>
          <p:cNvSpPr/>
          <p:nvPr/>
        </p:nvSpPr>
        <p:spPr>
          <a:xfrm>
            <a:off x="1554480" y="4626864"/>
            <a:ext cx="237744" cy="237744"/>
          </a:xfrm>
          <a:prstGeom prst="ellipse">
            <a:avLst/>
          </a:prstGeom>
          <a:solidFill>
            <a:srgbClr val="DC2626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5</a:t>
            </a:r>
          </a:p>
        </p:txBody>
      </p:sp>
      <p:sp>
        <p:nvSpPr>
          <p:cNvPr id="73" name="Rectangle 72"/>
          <p:cNvSpPr/>
          <p:nvPr/>
        </p:nvSpPr>
        <p:spPr>
          <a:xfrm>
            <a:off x="3547871" y="4645151"/>
            <a:ext cx="1874519" cy="1298448"/>
          </a:xfrm>
          <a:prstGeom prst="rect">
            <a:avLst/>
          </a:prstGeom>
          <a:solidFill>
            <a:srgbClr val="F7F7F7"/>
          </a:solidFill>
          <a:ln w="1651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4" name="Connector 73"/>
          <p:cNvCxnSpPr/>
          <p:nvPr/>
        </p:nvCxnSpPr>
        <p:spPr>
          <a:xfrm>
            <a:off x="3648455" y="4809743"/>
            <a:ext cx="749809" cy="0"/>
          </a:xfrm>
          <a:prstGeom prst="line">
            <a:avLst/>
          </a:prstGeom>
          <a:ln w="22860">
            <a:solidFill>
              <a:srgbClr val="6666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5" name="Oval 74"/>
          <p:cNvSpPr/>
          <p:nvPr/>
        </p:nvSpPr>
        <p:spPr>
          <a:xfrm>
            <a:off x="3648455" y="4956047"/>
            <a:ext cx="128016" cy="128016"/>
          </a:xfrm>
          <a:prstGeom prst="ellipse">
            <a:avLst/>
          </a:prstGeom>
          <a:solidFill>
            <a:srgbClr val="FFFFFF"/>
          </a:solidFill>
          <a:ln w="1524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6" name="Connector 75"/>
          <p:cNvCxnSpPr/>
          <p:nvPr/>
        </p:nvCxnSpPr>
        <p:spPr>
          <a:xfrm>
            <a:off x="3849623" y="5020055"/>
            <a:ext cx="1472184" cy="0"/>
          </a:xfrm>
          <a:prstGeom prst="line">
            <a:avLst/>
          </a:prstGeom>
          <a:ln w="13970">
            <a:solidFill>
              <a:srgbClr val="6666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7" name="Oval 76"/>
          <p:cNvSpPr/>
          <p:nvPr/>
        </p:nvSpPr>
        <p:spPr>
          <a:xfrm>
            <a:off x="3648455" y="5138927"/>
            <a:ext cx="128016" cy="128016"/>
          </a:xfrm>
          <a:prstGeom prst="ellipse">
            <a:avLst/>
          </a:prstGeom>
          <a:solidFill>
            <a:srgbClr val="FFFFFF"/>
          </a:solidFill>
          <a:ln w="1524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8" name="Connector 77"/>
          <p:cNvCxnSpPr/>
          <p:nvPr/>
        </p:nvCxnSpPr>
        <p:spPr>
          <a:xfrm>
            <a:off x="3849623" y="5202936"/>
            <a:ext cx="1472184" cy="0"/>
          </a:xfrm>
          <a:prstGeom prst="line">
            <a:avLst/>
          </a:prstGeom>
          <a:ln w="13970">
            <a:solidFill>
              <a:srgbClr val="6666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9" name="Oval 78"/>
          <p:cNvSpPr/>
          <p:nvPr/>
        </p:nvSpPr>
        <p:spPr>
          <a:xfrm>
            <a:off x="3648455" y="5321807"/>
            <a:ext cx="128016" cy="128016"/>
          </a:xfrm>
          <a:prstGeom prst="ellipse">
            <a:avLst/>
          </a:prstGeom>
          <a:solidFill>
            <a:srgbClr val="FFFFFF"/>
          </a:solidFill>
          <a:ln w="1524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80" name="Connector 79"/>
          <p:cNvCxnSpPr/>
          <p:nvPr/>
        </p:nvCxnSpPr>
        <p:spPr>
          <a:xfrm>
            <a:off x="3849623" y="5385816"/>
            <a:ext cx="1472184" cy="0"/>
          </a:xfrm>
          <a:prstGeom prst="line">
            <a:avLst/>
          </a:prstGeom>
          <a:ln w="13970">
            <a:solidFill>
              <a:srgbClr val="6666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1" name="Oval 80"/>
          <p:cNvSpPr/>
          <p:nvPr/>
        </p:nvSpPr>
        <p:spPr>
          <a:xfrm>
            <a:off x="3648455" y="5504688"/>
            <a:ext cx="128016" cy="128016"/>
          </a:xfrm>
          <a:prstGeom prst="ellipse">
            <a:avLst/>
          </a:prstGeom>
          <a:solidFill>
            <a:srgbClr val="FFFFFF"/>
          </a:solidFill>
          <a:ln w="1524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82" name="Connector 81"/>
          <p:cNvCxnSpPr/>
          <p:nvPr/>
        </p:nvCxnSpPr>
        <p:spPr>
          <a:xfrm>
            <a:off x="3849623" y="5568696"/>
            <a:ext cx="1472184" cy="0"/>
          </a:xfrm>
          <a:prstGeom prst="line">
            <a:avLst/>
          </a:prstGeom>
          <a:ln w="13970">
            <a:solidFill>
              <a:srgbClr val="6666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3" name="Oval 82"/>
          <p:cNvSpPr/>
          <p:nvPr/>
        </p:nvSpPr>
        <p:spPr>
          <a:xfrm>
            <a:off x="3648455" y="5687567"/>
            <a:ext cx="128016" cy="128016"/>
          </a:xfrm>
          <a:prstGeom prst="ellipse">
            <a:avLst/>
          </a:prstGeom>
          <a:solidFill>
            <a:srgbClr val="FFFFFF"/>
          </a:solidFill>
          <a:ln w="1524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84" name="Connector 83"/>
          <p:cNvCxnSpPr/>
          <p:nvPr/>
        </p:nvCxnSpPr>
        <p:spPr>
          <a:xfrm>
            <a:off x="3849623" y="5751575"/>
            <a:ext cx="1472184" cy="0"/>
          </a:xfrm>
          <a:prstGeom prst="line">
            <a:avLst/>
          </a:prstGeom>
          <a:ln w="13970">
            <a:solidFill>
              <a:srgbClr val="6666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5" name="Oval 84"/>
          <p:cNvSpPr/>
          <p:nvPr/>
        </p:nvSpPr>
        <p:spPr>
          <a:xfrm>
            <a:off x="3529583" y="4626864"/>
            <a:ext cx="237744" cy="237744"/>
          </a:xfrm>
          <a:prstGeom prst="ellipse">
            <a:avLst/>
          </a:prstGeom>
          <a:solidFill>
            <a:srgbClr val="DC2626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6</a:t>
            </a:r>
          </a:p>
        </p:txBody>
      </p:sp>
      <p:cxnSp>
        <p:nvCxnSpPr>
          <p:cNvPr id="86" name="Connector 85"/>
          <p:cNvCxnSpPr/>
          <p:nvPr/>
        </p:nvCxnSpPr>
        <p:spPr>
          <a:xfrm>
            <a:off x="4416552" y="6153911"/>
            <a:ext cx="1005840" cy="0"/>
          </a:xfrm>
          <a:prstGeom prst="line">
            <a:avLst/>
          </a:prstGeom>
          <a:ln w="17780">
            <a:solidFill>
              <a:srgbClr val="6666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7" name="Oval 86"/>
          <p:cNvSpPr/>
          <p:nvPr/>
        </p:nvSpPr>
        <p:spPr>
          <a:xfrm>
            <a:off x="4142232" y="6016751"/>
            <a:ext cx="237744" cy="237744"/>
          </a:xfrm>
          <a:prstGeom prst="ellipse">
            <a:avLst/>
          </a:prstGeom>
          <a:solidFill>
            <a:srgbClr val="DC2626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7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5824728" y="1572767"/>
            <a:ext cx="5982919" cy="256032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111111"/>
                </a:solidFill>
                <a:latin typeface="맑은 고딕"/>
                <a:ea typeface="맑은 고딕"/>
              </a:rPr>
              <a:t>Description</a:t>
            </a:r>
          </a:p>
        </p:txBody>
      </p:sp>
      <p:sp>
        <p:nvSpPr>
          <p:cNvPr id="89" name="Oval 88"/>
          <p:cNvSpPr/>
          <p:nvPr/>
        </p:nvSpPr>
        <p:spPr>
          <a:xfrm>
            <a:off x="5824728" y="1929383"/>
            <a:ext cx="219456" cy="219456"/>
          </a:xfrm>
          <a:prstGeom prst="ellipse">
            <a:avLst/>
          </a:prstGeom>
          <a:solidFill>
            <a:srgbClr val="DC2626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1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6135624" y="1901951"/>
            <a:ext cx="5672023" cy="477055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100"/>
              </a:spcAft>
            </a:pPr>
            <a:r>
              <a:rPr sz="950" b="1">
                <a:solidFill>
                  <a:srgbClr val="111111"/>
                </a:solidFill>
                <a:latin typeface="맑은 고딕"/>
                <a:ea typeface="맑은 고딕"/>
              </a:rPr>
              <a:t>헤더 </a:t>
            </a:r>
            <a:r>
              <a:rPr sz="950" b="0">
                <a:solidFill>
                  <a:srgbClr val="999999"/>
                </a:solidFill>
                <a:latin typeface="맑은 고딕"/>
                <a:ea typeface="맑은 고딕"/>
              </a:rPr>
              <a:t>—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조회 범위 선택기[admin]·담당 범위 뱃지[companyAdmin]</a:t>
            </a:r>
          </a:p>
        </p:txBody>
      </p:sp>
      <p:cxnSp>
        <p:nvCxnSpPr>
          <p:cNvPr id="91" name="Connector 90"/>
          <p:cNvCxnSpPr/>
          <p:nvPr/>
        </p:nvCxnSpPr>
        <p:spPr>
          <a:xfrm>
            <a:off x="5824728" y="2360719"/>
            <a:ext cx="5982919" cy="0"/>
          </a:xfrm>
          <a:prstGeom prst="line">
            <a:avLst/>
          </a:prstGeom>
          <a:ln w="9525">
            <a:solidFill>
              <a:srgbClr val="EEEEE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2" name="Oval 91"/>
          <p:cNvSpPr/>
          <p:nvPr/>
        </p:nvSpPr>
        <p:spPr>
          <a:xfrm>
            <a:off x="5824728" y="2406439"/>
            <a:ext cx="219456" cy="219456"/>
          </a:xfrm>
          <a:prstGeom prst="ellipse">
            <a:avLst/>
          </a:prstGeom>
          <a:solidFill>
            <a:srgbClr val="DC2626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2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6135624" y="2379007"/>
            <a:ext cx="5672023" cy="477055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100"/>
              </a:spcAft>
            </a:pPr>
            <a:r>
              <a:rPr sz="950" b="1">
                <a:solidFill>
                  <a:srgbClr val="111111"/>
                </a:solidFill>
                <a:latin typeface="맑은 고딕"/>
                <a:ea typeface="맑은 고딕"/>
              </a:rPr>
              <a:t>KPI 3종 </a:t>
            </a:r>
            <a:r>
              <a:rPr sz="950" b="0">
                <a:solidFill>
                  <a:srgbClr val="999999"/>
                </a:solidFill>
                <a:latin typeface="맑은 고딕"/>
                <a:ea typeface="맑은 고딕"/>
              </a:rPr>
              <a:t>—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총 카드 수·이번 달 신규·승인 대기 총계[부분 승인 병기]</a:t>
            </a:r>
          </a:p>
        </p:txBody>
      </p:sp>
      <p:cxnSp>
        <p:nvCxnSpPr>
          <p:cNvPr id="94" name="Connector 93"/>
          <p:cNvCxnSpPr/>
          <p:nvPr/>
        </p:nvCxnSpPr>
        <p:spPr>
          <a:xfrm>
            <a:off x="5824728" y="2837775"/>
            <a:ext cx="5982919" cy="0"/>
          </a:xfrm>
          <a:prstGeom prst="line">
            <a:avLst/>
          </a:prstGeom>
          <a:ln w="9525">
            <a:solidFill>
              <a:srgbClr val="EEEEE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5" name="Oval 94"/>
          <p:cNvSpPr/>
          <p:nvPr/>
        </p:nvSpPr>
        <p:spPr>
          <a:xfrm>
            <a:off x="5824728" y="2883495"/>
            <a:ext cx="219456" cy="219456"/>
          </a:xfrm>
          <a:prstGeom prst="ellipse">
            <a:avLst/>
          </a:prstGeom>
          <a:solidFill>
            <a:srgbClr val="DC2626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3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6135624" y="2856063"/>
            <a:ext cx="5672023" cy="477055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100"/>
              </a:spcAft>
            </a:pPr>
            <a:r>
              <a:rPr sz="950" b="1">
                <a:solidFill>
                  <a:srgbClr val="111111"/>
                </a:solidFill>
                <a:latin typeface="맑은 고딕"/>
                <a:ea typeface="맑은 고딕"/>
              </a:rPr>
              <a:t>승인 대기 큐 </a:t>
            </a:r>
            <a:r>
              <a:rPr sz="950" b="0">
                <a:solidFill>
                  <a:srgbClr val="999999"/>
                </a:solidFill>
                <a:latin typeface="맑은 고딕"/>
                <a:ea typeface="맑은 고딕"/>
              </a:rPr>
              <a:t>—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상위 5건: 카드 ID·제목·단계 칩·등록 관계사 뱃지 → 검토 화면</a:t>
            </a:r>
          </a:p>
        </p:txBody>
      </p:sp>
      <p:cxnSp>
        <p:nvCxnSpPr>
          <p:cNvPr id="97" name="Connector 96"/>
          <p:cNvCxnSpPr/>
          <p:nvPr/>
        </p:nvCxnSpPr>
        <p:spPr>
          <a:xfrm>
            <a:off x="5824728" y="3314830"/>
            <a:ext cx="5982919" cy="0"/>
          </a:xfrm>
          <a:prstGeom prst="line">
            <a:avLst/>
          </a:prstGeom>
          <a:ln w="9525">
            <a:solidFill>
              <a:srgbClr val="EEEEE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8" name="Oval 97"/>
          <p:cNvSpPr/>
          <p:nvPr/>
        </p:nvSpPr>
        <p:spPr>
          <a:xfrm>
            <a:off x="5824728" y="3360550"/>
            <a:ext cx="219456" cy="219456"/>
          </a:xfrm>
          <a:prstGeom prst="ellipse">
            <a:avLst/>
          </a:prstGeom>
          <a:solidFill>
            <a:srgbClr val="DC2626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4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6135624" y="3333118"/>
            <a:ext cx="5672023" cy="477055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100"/>
              </a:spcAft>
            </a:pPr>
            <a:r>
              <a:rPr sz="950" b="1">
                <a:solidFill>
                  <a:srgbClr val="111111"/>
                </a:solidFill>
                <a:latin typeface="맑은 고딕"/>
                <a:ea typeface="맑은 고딕"/>
              </a:rPr>
              <a:t>수정 요청 대기 </a:t>
            </a:r>
            <a:r>
              <a:rPr sz="950" b="0">
                <a:solidFill>
                  <a:srgbClr val="999999"/>
                </a:solidFill>
                <a:latin typeface="맑은 고딕"/>
                <a:ea typeface="맑은 고딕"/>
              </a:rPr>
              <a:t>—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건수·최근 건 → 검토 화면</a:t>
            </a:r>
          </a:p>
        </p:txBody>
      </p:sp>
      <p:cxnSp>
        <p:nvCxnSpPr>
          <p:cNvPr id="100" name="Connector 99"/>
          <p:cNvCxnSpPr/>
          <p:nvPr/>
        </p:nvCxnSpPr>
        <p:spPr>
          <a:xfrm>
            <a:off x="5824728" y="3791886"/>
            <a:ext cx="5982919" cy="0"/>
          </a:xfrm>
          <a:prstGeom prst="line">
            <a:avLst/>
          </a:prstGeom>
          <a:ln w="9525">
            <a:solidFill>
              <a:srgbClr val="EEEEE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1" name="Oval 100"/>
          <p:cNvSpPr/>
          <p:nvPr/>
        </p:nvSpPr>
        <p:spPr>
          <a:xfrm>
            <a:off x="5824728" y="3837606"/>
            <a:ext cx="219456" cy="219456"/>
          </a:xfrm>
          <a:prstGeom prst="ellipse">
            <a:avLst/>
          </a:prstGeom>
          <a:solidFill>
            <a:srgbClr val="DC2626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5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6135624" y="3810174"/>
            <a:ext cx="5672023" cy="477055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100"/>
              </a:spcAft>
            </a:pPr>
            <a:r>
              <a:rPr sz="950" b="1">
                <a:solidFill>
                  <a:srgbClr val="111111"/>
                </a:solidFill>
                <a:latin typeface="맑은 고딕"/>
                <a:ea typeface="맑은 고딕"/>
              </a:rPr>
              <a:t>최근 게시된 카드 </a:t>
            </a:r>
            <a:r>
              <a:rPr sz="950" b="0">
                <a:solidFill>
                  <a:srgbClr val="999999"/>
                </a:solidFill>
                <a:latin typeface="맑은 고딕"/>
                <a:ea typeface="맑은 고딕"/>
              </a:rPr>
              <a:t>—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→ 카드 관리</a:t>
            </a:r>
          </a:p>
        </p:txBody>
      </p:sp>
      <p:cxnSp>
        <p:nvCxnSpPr>
          <p:cNvPr id="103" name="Connector 102"/>
          <p:cNvCxnSpPr/>
          <p:nvPr/>
        </p:nvCxnSpPr>
        <p:spPr>
          <a:xfrm>
            <a:off x="5824728" y="4268941"/>
            <a:ext cx="5982919" cy="0"/>
          </a:xfrm>
          <a:prstGeom prst="line">
            <a:avLst/>
          </a:prstGeom>
          <a:ln w="9525">
            <a:solidFill>
              <a:srgbClr val="EEEEE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4" name="Oval 103"/>
          <p:cNvSpPr/>
          <p:nvPr/>
        </p:nvSpPr>
        <p:spPr>
          <a:xfrm>
            <a:off x="5824728" y="4314661"/>
            <a:ext cx="219456" cy="219456"/>
          </a:xfrm>
          <a:prstGeom prst="ellipse">
            <a:avLst/>
          </a:prstGeom>
          <a:solidFill>
            <a:srgbClr val="DC2626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6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6135624" y="4287229"/>
            <a:ext cx="5672023" cy="477055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100"/>
              </a:spcAft>
            </a:pPr>
            <a:r>
              <a:rPr sz="950" b="1">
                <a:solidFill>
                  <a:srgbClr val="111111"/>
                </a:solidFill>
                <a:latin typeface="맑은 고딕"/>
                <a:ea typeface="맑은 고딕"/>
              </a:rPr>
              <a:t>최근 활동 </a:t>
            </a:r>
            <a:r>
              <a:rPr sz="950" b="0">
                <a:solidFill>
                  <a:srgbClr val="999999"/>
                </a:solidFill>
                <a:latin typeface="맑은 고딕"/>
                <a:ea typeface="맑은 고딕"/>
              </a:rPr>
              <a:t>—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후기·게시글 최신 5 → 카드 상세</a:t>
            </a:r>
          </a:p>
        </p:txBody>
      </p:sp>
      <p:cxnSp>
        <p:nvCxnSpPr>
          <p:cNvPr id="106" name="Connector 105"/>
          <p:cNvCxnSpPr/>
          <p:nvPr/>
        </p:nvCxnSpPr>
        <p:spPr>
          <a:xfrm>
            <a:off x="5824728" y="4745997"/>
            <a:ext cx="5982919" cy="0"/>
          </a:xfrm>
          <a:prstGeom prst="line">
            <a:avLst/>
          </a:prstGeom>
          <a:ln w="9525">
            <a:solidFill>
              <a:srgbClr val="EEEEE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7" name="Oval 106"/>
          <p:cNvSpPr/>
          <p:nvPr/>
        </p:nvSpPr>
        <p:spPr>
          <a:xfrm>
            <a:off x="5824728" y="4791717"/>
            <a:ext cx="219456" cy="219456"/>
          </a:xfrm>
          <a:prstGeom prst="ellipse">
            <a:avLst/>
          </a:prstGeom>
          <a:solidFill>
            <a:srgbClr val="DC2626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7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6135624" y="4764285"/>
            <a:ext cx="5672023" cy="477055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100"/>
              </a:spcAft>
            </a:pPr>
            <a:r>
              <a:rPr sz="950" b="1">
                <a:solidFill>
                  <a:srgbClr val="111111"/>
                </a:solidFill>
                <a:latin typeface="맑은 고딕"/>
                <a:ea typeface="맑은 고딕"/>
              </a:rPr>
              <a:t>통계 링크 </a:t>
            </a:r>
            <a:r>
              <a:rPr sz="950" b="0">
                <a:solidFill>
                  <a:srgbClr val="999999"/>
                </a:solidFill>
                <a:latin typeface="맑은 고딕"/>
                <a:ea typeface="맑은 고딕"/>
              </a:rPr>
              <a:t>—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"상세 분석은 통계에서 보기"</a:t>
            </a:r>
          </a:p>
        </p:txBody>
      </p:sp>
      <p:sp>
        <p:nvSpPr>
          <p:cNvPr id="109" name="Rectangle 108"/>
          <p:cNvSpPr/>
          <p:nvPr/>
        </p:nvSpPr>
        <p:spPr>
          <a:xfrm>
            <a:off x="5824728" y="5387644"/>
            <a:ext cx="5982919" cy="1086307"/>
          </a:xfrm>
          <a:prstGeom prst="rect">
            <a:avLst/>
          </a:prstGeom>
          <a:solidFill>
            <a:srgbClr val="F7F7F7"/>
          </a:solidFill>
          <a:ln w="12700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10" name="Connector 109"/>
          <p:cNvCxnSpPr/>
          <p:nvPr/>
        </p:nvCxnSpPr>
        <p:spPr>
          <a:xfrm>
            <a:off x="5824728" y="5661964"/>
            <a:ext cx="5982919" cy="0"/>
          </a:xfrm>
          <a:prstGeom prst="line">
            <a:avLst/>
          </a:prstGeom>
          <a:ln w="12700">
            <a:solidFill>
              <a:srgbClr val="CCCCC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1" name="TextBox 110"/>
          <p:cNvSpPr txBox="1"/>
          <p:nvPr/>
        </p:nvSpPr>
        <p:spPr>
          <a:xfrm>
            <a:off x="5934456" y="5428792"/>
            <a:ext cx="5763463" cy="237744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11111"/>
                </a:solidFill>
                <a:latin typeface="맑은 고딕"/>
                <a:ea typeface="맑은 고딕"/>
              </a:rPr>
              <a:t>화면 룰·기획 근거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5952744" y="5698540"/>
            <a:ext cx="5726887" cy="738835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100"/>
              </a:spcAft>
            </a:pPr>
            <a:r>
              <a:rPr sz="85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850" b="0">
                <a:solidFill>
                  <a:srgbClr val="333333"/>
                </a:solidFill>
                <a:latin typeface="맑은 고딕"/>
                <a:ea typeface="맑은 고딕"/>
              </a:rPr>
              <a:t>기간 필터를 두지 않는다(고정 스냅숏)</a:t>
            </a:r>
          </a:p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100"/>
              </a:spcAft>
            </a:pPr>
            <a:r>
              <a:rPr sz="85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850" b="0">
                <a:solidFill>
                  <a:srgbClr val="333333"/>
                </a:solidFill>
                <a:latin typeface="맑은 고딕"/>
                <a:ea typeface="맑은 고딕"/>
              </a:rPr>
              <a:t>담당 관계사 미지정 companyAdmin에게 안내 배너</a:t>
            </a:r>
          </a:p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DC2626"/>
                </a:solidFill>
                <a:latin typeface="맑은 고딕"/>
                <a:ea typeface="맑은 고딕"/>
              </a:rPr>
              <a:t>BE·DB  </a:t>
            </a:r>
            <a:r>
              <a:rPr sz="850" b="0">
                <a:solidFill>
                  <a:srgbClr val="666666"/>
                </a:solidFill>
                <a:latin typeface="맑은 고딕"/>
                <a:ea typeface="맑은 고딕"/>
              </a:rPr>
              <a:t>getDashboardData(scope) — 검토 큐·카탈로그·활동 피드 파생. 연동 시 기존 자원 조합 우선(활동 피드 GET /activity 후보), 가시성 서버 재검증.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84048" y="384048"/>
            <a:ext cx="7996519" cy="365760"/>
          </a:xfrm>
          <a:prstGeom prst="rect">
            <a:avLst/>
          </a:prstGeom>
          <a:noFill/>
        </p:spPr>
        <p:txBody>
          <a:bodyPr wrap="square" anchor="ctr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111111"/>
                </a:solidFill>
                <a:latin typeface="맑은 고딕"/>
                <a:ea typeface="맑은 고딕"/>
              </a:rPr>
              <a:t>ADM-02  ·  등록 신청 검토 (Review)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238207" y="384048"/>
            <a:ext cx="4569439" cy="365760"/>
          </a:xfrm>
          <a:prstGeom prst="rect">
            <a:avLst/>
          </a:prstGeom>
          <a:noFill/>
        </p:spPr>
        <p:txBody>
          <a:bodyPr wrap="square" anchor="ctr" lIns="54864" rIns="54864" tIns="27432" bIns="18288">
            <a:no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999999"/>
                </a:solidFill>
                <a:latin typeface="맑은 고딕"/>
                <a:ea typeface="맑은 고딕"/>
              </a:rPr>
              <a:t>화면 정의 (Screen Definition)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384048" y="786384"/>
            <a:ext cx="11423599" cy="0"/>
          </a:xfrm>
          <a:prstGeom prst="line">
            <a:avLst/>
          </a:prstGeom>
          <a:ln w="19050">
            <a:solidFill>
              <a:srgbClr val="CCCCC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384048" y="822959"/>
            <a:ext cx="11423599" cy="182880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999999"/>
                </a:solidFill>
                <a:latin typeface="맑은 고딕"/>
                <a:ea typeface="맑은 고딕"/>
              </a:rPr>
              <a:t>화면에 표기된 카테고리·업무 도메인 등 분류 개수는 마스터 데이터에서 파생되는 현재값이며, 고정 상수가 아니다(0.9).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84048" y="1097280"/>
            <a:ext cx="6282979" cy="219456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999999"/>
                </a:solidFill>
                <a:latin typeface="맑은 고딕"/>
                <a:ea typeface="맑은 고딕"/>
              </a:rPr>
              <a:t>화면 구조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29768" y="1371600"/>
            <a:ext cx="3838754" cy="233172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75488" y="1371600"/>
            <a:ext cx="3747314" cy="233172"/>
          </a:xfrm>
          <a:prstGeom prst="rect">
            <a:avLst/>
          </a:prstGeom>
          <a:noFill/>
        </p:spPr>
        <p:txBody>
          <a:bodyPr wrap="square" anchor="ctr" lIns="54864" rIns="54864" tIns="27432" bIns="18288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333333"/>
                </a:solidFill>
                <a:latin typeface="맑은 고딕"/>
                <a:ea typeface="맑은 고딕"/>
              </a:rPr>
              <a:t>검토 (/admin/review)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13815" y="1714500"/>
            <a:ext cx="3600644" cy="233172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59536" y="1714500"/>
            <a:ext cx="3509204" cy="233172"/>
          </a:xfrm>
          <a:prstGeom prst="rect">
            <a:avLst/>
          </a:prstGeom>
          <a:noFill/>
        </p:spPr>
        <p:txBody>
          <a:bodyPr wrap="square" anchor="ctr" lIns="54864" rIns="54864" tIns="27432" bIns="18288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333333"/>
                </a:solidFill>
                <a:latin typeface="맑은 고딕"/>
                <a:ea typeface="맑은 고딕"/>
              </a:rPr>
              <a:t>좌 신청 목록 (요약 칩·필터·행)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539496" y="1488186"/>
            <a:ext cx="0" cy="342900"/>
          </a:xfrm>
          <a:prstGeom prst="line">
            <a:avLst/>
          </a:prstGeom>
          <a:ln w="16510">
            <a:solidFill>
              <a:srgbClr val="99999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539496" y="1831086"/>
            <a:ext cx="274319" cy="0"/>
          </a:xfrm>
          <a:prstGeom prst="line">
            <a:avLst/>
          </a:prstGeom>
          <a:ln w="16510">
            <a:solidFill>
              <a:srgbClr val="99999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813815" y="2057400"/>
            <a:ext cx="3600644" cy="233172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59536" y="2057400"/>
            <a:ext cx="3509204" cy="233172"/>
          </a:xfrm>
          <a:prstGeom prst="rect">
            <a:avLst/>
          </a:prstGeom>
          <a:noFill/>
        </p:spPr>
        <p:txBody>
          <a:bodyPr wrap="square" anchor="ctr" lIns="54864" rIns="54864" tIns="27432" bIns="18288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333333"/>
                </a:solidFill>
                <a:latin typeface="맑은 고딕"/>
                <a:ea typeface="맑은 고딕"/>
              </a:rPr>
              <a:t>우 상세 (이력·편집 폼·슬롯 2·반려)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539496" y="1488186"/>
            <a:ext cx="0" cy="685800"/>
          </a:xfrm>
          <a:prstGeom prst="line">
            <a:avLst/>
          </a:prstGeom>
          <a:ln w="16510">
            <a:solidFill>
              <a:srgbClr val="99999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539496" y="2173986"/>
            <a:ext cx="274319" cy="0"/>
          </a:xfrm>
          <a:prstGeom prst="line">
            <a:avLst/>
          </a:prstGeom>
          <a:ln w="16510">
            <a:solidFill>
              <a:srgbClr val="99999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384048" y="4288536"/>
            <a:ext cx="6282979" cy="219456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999999"/>
                </a:solidFill>
                <a:latin typeface="맑은 고딕"/>
                <a:ea typeface="맑은 고딕"/>
              </a:rPr>
              <a:t>사용자 흐름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29768" y="4562855"/>
            <a:ext cx="1369576" cy="4572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75488" y="4562855"/>
            <a:ext cx="1278136" cy="457200"/>
          </a:xfrm>
          <a:prstGeom prst="rect">
            <a:avLst/>
          </a:prstGeom>
          <a:noFill/>
        </p:spPr>
        <p:txBody>
          <a:bodyPr wrap="square" anchor="ctr" lIns="54864" rIns="54864" tIns="27432" bIns="18288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333333"/>
                </a:solidFill>
                <a:latin typeface="맑은 고딕"/>
                <a:ea typeface="맑은 고딕"/>
              </a:rPr>
              <a:t>목록 선택</a:t>
            </a:r>
          </a:p>
        </p:txBody>
      </p:sp>
      <p:sp>
        <p:nvSpPr>
          <p:cNvPr id="20" name="Right Arrow 19"/>
          <p:cNvSpPr/>
          <p:nvPr/>
        </p:nvSpPr>
        <p:spPr>
          <a:xfrm>
            <a:off x="1817632" y="4727447"/>
            <a:ext cx="201168" cy="128016"/>
          </a:xfrm>
          <a:prstGeom prst="rightArrow">
            <a:avLst/>
          </a:prstGeom>
          <a:solidFill>
            <a:srgbClr val="CCC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2037088" y="4562855"/>
            <a:ext cx="1369576" cy="4572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2082808" y="4562855"/>
            <a:ext cx="1278136" cy="457200"/>
          </a:xfrm>
          <a:prstGeom prst="rect">
            <a:avLst/>
          </a:prstGeom>
          <a:noFill/>
        </p:spPr>
        <p:txBody>
          <a:bodyPr wrap="square" anchor="ctr" lIns="54864" rIns="54864" tIns="27432" bIns="18288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333333"/>
                </a:solidFill>
                <a:latin typeface="맑은 고딕"/>
                <a:ea typeface="맑은 고딕"/>
              </a:rPr>
              <a:t>내용 확인·보완 편집</a:t>
            </a:r>
          </a:p>
        </p:txBody>
      </p:sp>
      <p:sp>
        <p:nvSpPr>
          <p:cNvPr id="23" name="Right Arrow 22"/>
          <p:cNvSpPr/>
          <p:nvPr/>
        </p:nvSpPr>
        <p:spPr>
          <a:xfrm>
            <a:off x="3424953" y="4727447"/>
            <a:ext cx="201168" cy="128016"/>
          </a:xfrm>
          <a:prstGeom prst="rightArrow">
            <a:avLst/>
          </a:prstGeom>
          <a:solidFill>
            <a:srgbClr val="CCC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3644409" y="4562855"/>
            <a:ext cx="1369576" cy="4572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690129" y="4562855"/>
            <a:ext cx="1278136" cy="457200"/>
          </a:xfrm>
          <a:prstGeom prst="rect">
            <a:avLst/>
          </a:prstGeom>
          <a:noFill/>
        </p:spPr>
        <p:txBody>
          <a:bodyPr wrap="square" anchor="ctr" lIns="54864" rIns="54864" tIns="27432" bIns="18288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333333"/>
                </a:solidFill>
                <a:latin typeface="맑은 고딕"/>
                <a:ea typeface="맑은 고딕"/>
              </a:rPr>
              <a:t>슬롯 승인(관계사/전사)</a:t>
            </a:r>
          </a:p>
        </p:txBody>
      </p:sp>
      <p:sp>
        <p:nvSpPr>
          <p:cNvPr id="26" name="Right Arrow 25"/>
          <p:cNvSpPr/>
          <p:nvPr/>
        </p:nvSpPr>
        <p:spPr>
          <a:xfrm>
            <a:off x="5032274" y="4727447"/>
            <a:ext cx="201168" cy="128016"/>
          </a:xfrm>
          <a:prstGeom prst="rightArrow">
            <a:avLst/>
          </a:prstGeom>
          <a:solidFill>
            <a:srgbClr val="CCC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5251730" y="4562855"/>
            <a:ext cx="1369576" cy="4572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297450" y="4562855"/>
            <a:ext cx="1278136" cy="457200"/>
          </a:xfrm>
          <a:prstGeom prst="rect">
            <a:avLst/>
          </a:prstGeom>
          <a:noFill/>
        </p:spPr>
        <p:txBody>
          <a:bodyPr wrap="square" anchor="ctr" lIns="54864" rIns="54864" tIns="27432" bIns="18288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333333"/>
                </a:solidFill>
                <a:latin typeface="맑은 고딕"/>
                <a:ea typeface="맑은 고딕"/>
              </a:rPr>
              <a:t>2/2 게시</a:t>
            </a:r>
          </a:p>
        </p:txBody>
      </p:sp>
      <p:sp>
        <p:nvSpPr>
          <p:cNvPr id="29" name="Down Arrow 28"/>
          <p:cNvSpPr/>
          <p:nvPr/>
        </p:nvSpPr>
        <p:spPr>
          <a:xfrm>
            <a:off x="1050548" y="5038343"/>
            <a:ext cx="128016" cy="256032"/>
          </a:xfrm>
          <a:prstGeom prst="downArrow">
            <a:avLst/>
          </a:prstGeom>
          <a:solidFill>
            <a:srgbClr val="CCC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429768" y="5330951"/>
            <a:ext cx="1369576" cy="384048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75488" y="5330951"/>
            <a:ext cx="1278136" cy="384048"/>
          </a:xfrm>
          <a:prstGeom prst="rect">
            <a:avLst/>
          </a:prstGeom>
          <a:noFill/>
        </p:spPr>
        <p:txBody>
          <a:bodyPr wrap="square" anchor="ctr" lIns="54864" rIns="54864" tIns="27432" bIns="18288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333333"/>
                </a:solidFill>
                <a:latin typeface="맑은 고딕"/>
                <a:ea typeface="맑은 고딕"/>
              </a:rPr>
              <a:t>companyAdmin → 담당 등록 건만 가시</a:t>
            </a:r>
          </a:p>
        </p:txBody>
      </p:sp>
      <p:sp>
        <p:nvSpPr>
          <p:cNvPr id="32" name="Down Arrow 31"/>
          <p:cNvSpPr/>
          <p:nvPr/>
        </p:nvSpPr>
        <p:spPr>
          <a:xfrm>
            <a:off x="2657869" y="5038343"/>
            <a:ext cx="128016" cy="256032"/>
          </a:xfrm>
          <a:prstGeom prst="downArrow">
            <a:avLst/>
          </a:prstGeom>
          <a:solidFill>
            <a:srgbClr val="CCC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2037088" y="5330951"/>
            <a:ext cx="1369576" cy="384048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2082808" y="5330951"/>
            <a:ext cx="1278136" cy="384048"/>
          </a:xfrm>
          <a:prstGeom prst="rect">
            <a:avLst/>
          </a:prstGeom>
          <a:noFill/>
        </p:spPr>
        <p:txBody>
          <a:bodyPr wrap="square" anchor="ctr" lIns="54864" rIns="54864" tIns="27432" bIns="18288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333333"/>
                </a:solidFill>
                <a:latin typeface="맑은 고딕"/>
                <a:ea typeface="맑은 고딕"/>
              </a:rPr>
              <a:t>반려(사유 필수)</a:t>
            </a:r>
          </a:p>
        </p:txBody>
      </p:sp>
      <p:sp>
        <p:nvSpPr>
          <p:cNvPr id="35" name="Down Arrow 34"/>
          <p:cNvSpPr/>
          <p:nvPr/>
        </p:nvSpPr>
        <p:spPr>
          <a:xfrm>
            <a:off x="4265190" y="5038343"/>
            <a:ext cx="128016" cy="256032"/>
          </a:xfrm>
          <a:prstGeom prst="downArrow">
            <a:avLst/>
          </a:prstGeom>
          <a:solidFill>
            <a:srgbClr val="CCC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3644409" y="5330951"/>
            <a:ext cx="1369576" cy="384048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3690129" y="5330951"/>
            <a:ext cx="1278136" cy="384048"/>
          </a:xfrm>
          <a:prstGeom prst="rect">
            <a:avLst/>
          </a:prstGeom>
          <a:noFill/>
        </p:spPr>
        <p:txBody>
          <a:bodyPr wrap="square" anchor="ctr" lIns="54864" rIns="54864" tIns="27432" bIns="18288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333333"/>
                </a:solidFill>
                <a:latin typeface="맑은 고딕"/>
                <a:ea typeface="맑은 고딕"/>
              </a:rPr>
              <a:t>승인 취소(게시 전)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8" y="5861303"/>
            <a:ext cx="6191539" cy="201168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999999"/>
                </a:solidFill>
                <a:latin typeface="맑은 고딕"/>
                <a:ea typeface="맑은 고딕"/>
              </a:rPr>
              <a:t>설계 근거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48056" y="6080759"/>
            <a:ext cx="6154963" cy="393192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85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850" b="0">
                <a:solidFill>
                  <a:srgbClr val="666666"/>
                </a:solidFill>
                <a:latin typeface="맑은 고딕"/>
                <a:ea typeface="맑은 고딕"/>
              </a:rPr>
              <a:t>검토 중 편집을 허용해 경미한 보완 때문에 반려-재신청을 반복하는 비용을 줄인다.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85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850" b="0">
                <a:solidFill>
                  <a:srgbClr val="666666"/>
                </a:solidFill>
                <a:latin typeface="맑은 고딕"/>
                <a:ea typeface="맑은 고딕"/>
              </a:rPr>
              <a:t>한 슬롯 오승인 후 상대가 승인하면 즉시 게시되므로, 승인 취소를 실수 복구 경로로 남긴다.</a:t>
            </a:r>
          </a:p>
        </p:txBody>
      </p:sp>
      <p:sp>
        <p:nvSpPr>
          <p:cNvPr id="40" name="Rectangle 39"/>
          <p:cNvSpPr/>
          <p:nvPr/>
        </p:nvSpPr>
        <p:spPr>
          <a:xfrm>
            <a:off x="6941347" y="1097280"/>
            <a:ext cx="4866299" cy="886392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7051075" y="1133856"/>
            <a:ext cx="4646843" cy="237744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333333"/>
                </a:solidFill>
                <a:latin typeface="맑은 고딕"/>
                <a:ea typeface="맑은 고딕"/>
              </a:rPr>
              <a:t>정의·역할</a:t>
            </a:r>
          </a:p>
        </p:txBody>
      </p:sp>
      <p:cxnSp>
        <p:nvCxnSpPr>
          <p:cNvPr id="42" name="Connector 41"/>
          <p:cNvCxnSpPr/>
          <p:nvPr/>
        </p:nvCxnSpPr>
        <p:spPr>
          <a:xfrm>
            <a:off x="7051075" y="1371600"/>
            <a:ext cx="4646844" cy="0"/>
          </a:xfrm>
          <a:prstGeom prst="line">
            <a:avLst/>
          </a:prstGeom>
          <a:ln w="12700">
            <a:solidFill>
              <a:srgbClr val="EEEEE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" name="TextBox 42"/>
          <p:cNvSpPr txBox="1"/>
          <p:nvPr/>
        </p:nvSpPr>
        <p:spPr>
          <a:xfrm>
            <a:off x="7069363" y="1408176"/>
            <a:ext cx="4610267" cy="538920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접근: admin · companyAdmin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등록 신청의 검토·승인·반려 — 병렬 2-슬롯 승인 실행 지점</a:t>
            </a:r>
          </a:p>
        </p:txBody>
      </p:sp>
      <p:sp>
        <p:nvSpPr>
          <p:cNvPr id="44" name="Rectangle 43"/>
          <p:cNvSpPr/>
          <p:nvPr/>
        </p:nvSpPr>
        <p:spPr>
          <a:xfrm>
            <a:off x="6941347" y="2111688"/>
            <a:ext cx="4866299" cy="670070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7051075" y="2148264"/>
            <a:ext cx="4646843" cy="237744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333333"/>
                </a:solidFill>
                <a:latin typeface="맑은 고딕"/>
                <a:ea typeface="맑은 고딕"/>
              </a:rPr>
              <a:t>목적</a:t>
            </a:r>
          </a:p>
        </p:txBody>
      </p:sp>
      <p:cxnSp>
        <p:nvCxnSpPr>
          <p:cNvPr id="46" name="Connector 45"/>
          <p:cNvCxnSpPr/>
          <p:nvPr/>
        </p:nvCxnSpPr>
        <p:spPr>
          <a:xfrm>
            <a:off x="7051075" y="2386008"/>
            <a:ext cx="4646844" cy="0"/>
          </a:xfrm>
          <a:prstGeom prst="line">
            <a:avLst/>
          </a:prstGeom>
          <a:ln w="12700">
            <a:solidFill>
              <a:srgbClr val="EEEEE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7" name="TextBox 46"/>
          <p:cNvSpPr txBox="1"/>
          <p:nvPr/>
        </p:nvSpPr>
        <p:spPr>
          <a:xfrm>
            <a:off x="7069363" y="2422584"/>
            <a:ext cx="4610267" cy="322598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내용 확인·보완 후 슬롯 승인 또는 사유 반려</a:t>
            </a:r>
          </a:p>
        </p:txBody>
      </p:sp>
      <p:sp>
        <p:nvSpPr>
          <p:cNvPr id="48" name="Rectangle 47"/>
          <p:cNvSpPr/>
          <p:nvPr/>
        </p:nvSpPr>
        <p:spPr>
          <a:xfrm>
            <a:off x="6941347" y="2909775"/>
            <a:ext cx="4866299" cy="1102714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7051075" y="2946351"/>
            <a:ext cx="4646843" cy="237744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333333"/>
                </a:solidFill>
                <a:latin typeface="맑은 고딕"/>
                <a:ea typeface="맑은 고딕"/>
              </a:rPr>
              <a:t>기획 의도</a:t>
            </a:r>
          </a:p>
        </p:txBody>
      </p:sp>
      <p:cxnSp>
        <p:nvCxnSpPr>
          <p:cNvPr id="50" name="Connector 49"/>
          <p:cNvCxnSpPr/>
          <p:nvPr/>
        </p:nvCxnSpPr>
        <p:spPr>
          <a:xfrm>
            <a:off x="7051075" y="3184095"/>
            <a:ext cx="4646844" cy="0"/>
          </a:xfrm>
          <a:prstGeom prst="line">
            <a:avLst/>
          </a:prstGeom>
          <a:ln w="12700">
            <a:solidFill>
              <a:srgbClr val="EEEEE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1" name="TextBox 50"/>
          <p:cNvSpPr txBox="1"/>
          <p:nvPr/>
        </p:nvSpPr>
        <p:spPr>
          <a:xfrm>
            <a:off x="7069363" y="3220671"/>
            <a:ext cx="4610267" cy="755242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검토 중 편집 허용 — 경미 보완의 반려-재신청 반복 비용 축소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승인 취소는 실수 복구 경로(한 슬롯 오승인 후 상대 승인 시 즉시 게시되므로)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companyAdmin에겐 자격 있는 건만 표시 — 권한 혼란 방지</a:t>
            </a:r>
          </a:p>
        </p:txBody>
      </p:sp>
      <p:sp>
        <p:nvSpPr>
          <p:cNvPr id="52" name="Rectangle 51"/>
          <p:cNvSpPr/>
          <p:nvPr/>
        </p:nvSpPr>
        <p:spPr>
          <a:xfrm>
            <a:off x="6941347" y="4140506"/>
            <a:ext cx="4866299" cy="1102714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7051075" y="4177082"/>
            <a:ext cx="4646843" cy="237744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333333"/>
                </a:solidFill>
                <a:latin typeface="맑은 고딕"/>
                <a:ea typeface="맑은 고딕"/>
              </a:rPr>
              <a:t>지켜야 할 룰</a:t>
            </a:r>
          </a:p>
        </p:txBody>
      </p:sp>
      <p:cxnSp>
        <p:nvCxnSpPr>
          <p:cNvPr id="54" name="Connector 53"/>
          <p:cNvCxnSpPr/>
          <p:nvPr/>
        </p:nvCxnSpPr>
        <p:spPr>
          <a:xfrm>
            <a:off x="7051075" y="4414826"/>
            <a:ext cx="4646844" cy="0"/>
          </a:xfrm>
          <a:prstGeom prst="line">
            <a:avLst/>
          </a:prstGeom>
          <a:ln w="12700">
            <a:solidFill>
              <a:srgbClr val="EEEEE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5" name="TextBox 54"/>
          <p:cNvSpPr txBox="1"/>
          <p:nvPr/>
        </p:nvSpPr>
        <p:spPr>
          <a:xfrm>
            <a:off x="7069363" y="4451402"/>
            <a:ext cx="4610267" cy="755242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가시성·승인 자격 = ownerCompany 단일 축 · 전사 슬롯 admin 전용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취소는 게시 전·본인 슬롯·확인 절차(0.7)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반려 사유 필수</a:t>
            </a:r>
          </a:p>
        </p:txBody>
      </p:sp>
      <p:sp>
        <p:nvSpPr>
          <p:cNvPr id="56" name="Rectangle 55"/>
          <p:cNvSpPr/>
          <p:nvPr/>
        </p:nvSpPr>
        <p:spPr>
          <a:xfrm>
            <a:off x="6941347" y="5371237"/>
            <a:ext cx="4866299" cy="1102714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7051075" y="5407813"/>
            <a:ext cx="4646843" cy="237744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333333"/>
                </a:solidFill>
                <a:latin typeface="맑은 고딕"/>
                <a:ea typeface="맑은 고딕"/>
              </a:rPr>
              <a:t>개발 연동 노트</a:t>
            </a:r>
          </a:p>
        </p:txBody>
      </p:sp>
      <p:cxnSp>
        <p:nvCxnSpPr>
          <p:cNvPr id="58" name="Connector 57"/>
          <p:cNvCxnSpPr/>
          <p:nvPr/>
        </p:nvCxnSpPr>
        <p:spPr>
          <a:xfrm>
            <a:off x="7051075" y="5645557"/>
            <a:ext cx="4646844" cy="0"/>
          </a:xfrm>
          <a:prstGeom prst="line">
            <a:avLst/>
          </a:prstGeom>
          <a:ln w="12700">
            <a:solidFill>
              <a:srgbClr val="EEEEE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9" name="TextBox 58"/>
          <p:cNvSpPr txBox="1"/>
          <p:nvPr/>
        </p:nvSpPr>
        <p:spPr>
          <a:xfrm>
            <a:off x="7069363" y="5682133"/>
            <a:ext cx="4610267" cy="755242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getReviewQueue·deriveStage. companyAdmin 필터 서버 적용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승인·취소·반려 = 슬롯+이력(approve/reject/cancel)+게시 판정 단일 트랜잭션, 각각 알림 발송(0.10)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aphicFrame>
        <p:nvGraphicFramePr>
          <p:cNvPr id="2" name="Table 1"/>
          <p:cNvGraphicFramePr>
            <a:graphicFrameLocks noGrp="1"/>
          </p:cNvGraphicFramePr>
          <p:nvPr/>
        </p:nvGraphicFramePr>
        <p:xfrm>
          <a:off x="384048" y="384048"/>
          <a:ext cx="11423599" cy="1042416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371600"/>
                <a:gridCol w="4297680"/>
                <a:gridCol w="1280160"/>
                <a:gridCol w="4474159"/>
              </a:tblGrid>
              <a:tr h="384048">
                <a:tc gridSpan="3"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등록 신청 검토  —  좌 목록</a:t>
                      </a:r>
                    </a:p>
                  </a:txBody>
                  <a:tcPr anchor="ctr" marL="73152" marR="54864" marT="18288" marB="18288">
                    <a:solidFill>
                      <a:srgbClr val="111111"/>
                    </a:solidFill>
                    <a:lnL w="9525" cap="flat">
                      <a:solidFill>
                        <a:srgbClr val="666666"/>
                      </a:solidFill>
                    </a:lnL>
                    <a:lnR w="9525" cap="flat">
                      <a:solidFill>
                        <a:srgbClr val="666666"/>
                      </a:solidFill>
                    </a:lnR>
                    <a:lnT w="9525" cap="flat">
                      <a:solidFill>
                        <a:srgbClr val="666666"/>
                      </a:solidFill>
                    </a:lnT>
                    <a:lnB w="9525" cap="flat">
                      <a:solidFill>
                        <a:srgbClr val="666666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Page 1 / 2</a:t>
                      </a:r>
                    </a:p>
                  </a:txBody>
                  <a:tcPr anchor="ctr" marL="73152" marR="54864" marT="18288" marB="18288">
                    <a:solidFill>
                      <a:srgbClr val="111111"/>
                    </a:solidFill>
                    <a:lnL w="9525" cap="flat">
                      <a:solidFill>
                        <a:srgbClr val="666666"/>
                      </a:solidFill>
                    </a:lnL>
                    <a:lnR w="9525" cap="flat">
                      <a:solidFill>
                        <a:srgbClr val="666666"/>
                      </a:solidFill>
                    </a:lnR>
                    <a:lnT w="9525" cap="flat">
                      <a:solidFill>
                        <a:srgbClr val="666666"/>
                      </a:solidFill>
                    </a:lnT>
                    <a:lnB w="9525" cap="flat">
                      <a:solidFill>
                        <a:srgbClr val="666666"/>
                      </a:solidFill>
                    </a:lnB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</a:rPr>
                        <a:t>Page Title</a:t>
                      </a:r>
                    </a:p>
                  </a:txBody>
                  <a:tcPr anchor="ctr" marL="73152" marR="54864" marT="18288" marB="18288">
                    <a:solidFill>
                      <a:srgbClr val="EEEEEE"/>
                    </a:solidFill>
                    <a:lnL w="9525" cap="flat">
                      <a:solidFill>
                        <a:srgbClr val="666666"/>
                      </a:solidFill>
                    </a:lnL>
                    <a:lnR w="9525" cap="flat">
                      <a:solidFill>
                        <a:srgbClr val="666666"/>
                      </a:solidFill>
                    </a:lnR>
                    <a:lnT w="9525" cap="flat">
                      <a:solidFill>
                        <a:srgbClr val="666666"/>
                      </a:solidFill>
                    </a:lnT>
                    <a:lnB w="9525" cap="flat">
                      <a:solidFill>
                        <a:srgbClr val="666666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111111"/>
                          </a:solidFill>
                          <a:latin typeface="맑은 고딕"/>
                          <a:ea typeface="맑은 고딕"/>
                        </a:rPr>
                        <a:t>등록 신청 검토</a:t>
                      </a:r>
                    </a:p>
                  </a:txBody>
                  <a:tcPr anchor="ctr" marL="73152" marR="54864" marT="18288" marB="18288">
                    <a:solidFill>
                      <a:srgbClr val="FFFFFF"/>
                    </a:solidFill>
                    <a:lnL w="9525" cap="flat">
                      <a:solidFill>
                        <a:srgbClr val="666666"/>
                      </a:solidFill>
                    </a:lnL>
                    <a:lnR w="9525" cap="flat">
                      <a:solidFill>
                        <a:srgbClr val="666666"/>
                      </a:solidFill>
                    </a:lnR>
                    <a:lnT w="9525" cap="flat">
                      <a:solidFill>
                        <a:srgbClr val="666666"/>
                      </a:solidFill>
                    </a:lnT>
                    <a:lnB w="9525" cap="flat">
                      <a:solidFill>
                        <a:srgbClr val="666666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</a:rPr>
                        <a:t>Screen ID</a:t>
                      </a:r>
                    </a:p>
                  </a:txBody>
                  <a:tcPr anchor="ctr" marL="73152" marR="54864" marT="18288" marB="18288">
                    <a:solidFill>
                      <a:srgbClr val="EEEEEE"/>
                    </a:solidFill>
                    <a:lnL w="9525" cap="flat">
                      <a:solidFill>
                        <a:srgbClr val="666666"/>
                      </a:solidFill>
                    </a:lnL>
                    <a:lnR w="9525" cap="flat">
                      <a:solidFill>
                        <a:srgbClr val="666666"/>
                      </a:solidFill>
                    </a:lnR>
                    <a:lnT w="9525" cap="flat">
                      <a:solidFill>
                        <a:srgbClr val="666666"/>
                      </a:solidFill>
                    </a:lnT>
                    <a:lnB w="9525" cap="flat">
                      <a:solidFill>
                        <a:srgbClr val="666666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111111"/>
                          </a:solidFill>
                          <a:latin typeface="맑은 고딕"/>
                          <a:ea typeface="맑은 고딕"/>
                        </a:rPr>
                        <a:t>ADM-02</a:t>
                      </a:r>
                    </a:p>
                  </a:txBody>
                  <a:tcPr anchor="ctr" marL="73152" marR="54864" marT="18288" marB="18288">
                    <a:solidFill>
                      <a:srgbClr val="FFFFFF"/>
                    </a:solidFill>
                    <a:lnL w="9525" cap="flat">
                      <a:solidFill>
                        <a:srgbClr val="666666"/>
                      </a:solidFill>
                    </a:lnL>
                    <a:lnR w="9525" cap="flat">
                      <a:solidFill>
                        <a:srgbClr val="666666"/>
                      </a:solidFill>
                    </a:lnR>
                    <a:lnT w="9525" cap="flat">
                      <a:solidFill>
                        <a:srgbClr val="666666"/>
                      </a:solidFill>
                    </a:lnT>
                    <a:lnB w="9525" cap="flat">
                      <a:solidFill>
                        <a:srgbClr val="666666"/>
                      </a:solidFill>
                    </a:lnB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</a:rPr>
                        <a:t>Screen Path</a:t>
                      </a:r>
                    </a:p>
                  </a:txBody>
                  <a:tcPr anchor="ctr" marL="73152" marR="54864" marT="18288" marB="18288">
                    <a:solidFill>
                      <a:srgbClr val="EEEEEE"/>
                    </a:solidFill>
                    <a:lnL w="9525" cap="flat">
                      <a:solidFill>
                        <a:srgbClr val="666666"/>
                      </a:solidFill>
                    </a:lnL>
                    <a:lnR w="9525" cap="flat">
                      <a:solidFill>
                        <a:srgbClr val="666666"/>
                      </a:solidFill>
                    </a:lnR>
                    <a:lnT w="9525" cap="flat">
                      <a:solidFill>
                        <a:srgbClr val="666666"/>
                      </a:solidFill>
                    </a:lnT>
                    <a:lnB w="9525" cap="flat">
                      <a:solidFill>
                        <a:srgbClr val="666666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</a:rPr>
                        <a:t>/admin/review  (admin·companyAdmin)</a:t>
                      </a:r>
                    </a:p>
                  </a:txBody>
                  <a:tcPr anchor="ctr" marL="73152" marR="54864" marT="18288" marB="18288">
                    <a:solidFill>
                      <a:srgbClr val="FFFFFF"/>
                    </a:solidFill>
                    <a:lnL w="9525" cap="flat">
                      <a:solidFill>
                        <a:srgbClr val="666666"/>
                      </a:solidFill>
                    </a:lnL>
                    <a:lnR w="9525" cap="flat">
                      <a:solidFill>
                        <a:srgbClr val="666666"/>
                      </a:solidFill>
                    </a:lnR>
                    <a:lnT w="9525" cap="flat">
                      <a:solidFill>
                        <a:srgbClr val="666666"/>
                      </a:solidFill>
                    </a:lnT>
                    <a:lnB w="9525" cap="flat">
                      <a:solidFill>
                        <a:srgbClr val="666666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</a:rPr>
                        <a:t>작성자</a:t>
                      </a:r>
                    </a:p>
                  </a:txBody>
                  <a:tcPr anchor="ctr" marL="73152" marR="54864" marT="18288" marB="18288">
                    <a:solidFill>
                      <a:srgbClr val="EEEEEE"/>
                    </a:solidFill>
                    <a:lnL w="9525" cap="flat">
                      <a:solidFill>
                        <a:srgbClr val="666666"/>
                      </a:solidFill>
                    </a:lnL>
                    <a:lnR w="9525" cap="flat">
                      <a:solidFill>
                        <a:srgbClr val="666666"/>
                      </a:solidFill>
                    </a:lnR>
                    <a:lnT w="9525" cap="flat">
                      <a:solidFill>
                        <a:srgbClr val="666666"/>
                      </a:solidFill>
                    </a:lnT>
                    <a:lnB w="9525" cap="flat">
                      <a:solidFill>
                        <a:srgbClr val="666666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11111"/>
                          </a:solidFill>
                          <a:latin typeface="맑은 고딕"/>
                          <a:ea typeface="맑은 고딕"/>
                        </a:rPr>
                        <a:t>배상혁</a:t>
                      </a:r>
                    </a:p>
                  </a:txBody>
                  <a:tcPr anchor="ctr" marL="73152" marR="54864" marT="18288" marB="18288">
                    <a:solidFill>
                      <a:srgbClr val="FFFFFF"/>
                    </a:solidFill>
                    <a:lnL w="9525" cap="flat">
                      <a:solidFill>
                        <a:srgbClr val="666666"/>
                      </a:solidFill>
                    </a:lnL>
                    <a:lnR w="9525" cap="flat">
                      <a:solidFill>
                        <a:srgbClr val="666666"/>
                      </a:solidFill>
                    </a:lnR>
                    <a:lnT w="9525" cap="flat">
                      <a:solidFill>
                        <a:srgbClr val="666666"/>
                      </a:solidFill>
                    </a:lnT>
                    <a:lnB w="9525" cap="flat">
                      <a:solidFill>
                        <a:srgbClr val="666666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3" name="Rectangle 2"/>
          <p:cNvSpPr/>
          <p:nvPr/>
        </p:nvSpPr>
        <p:spPr>
          <a:xfrm>
            <a:off x="384048" y="1572767"/>
            <a:ext cx="5166360" cy="4901184"/>
          </a:xfrm>
          <a:prstGeom prst="rect">
            <a:avLst/>
          </a:prstGeom>
          <a:solidFill>
            <a:srgbClr val="FFFFFF"/>
          </a:solidFill>
          <a:ln w="3048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84048" y="1572767"/>
            <a:ext cx="5166360" cy="146304"/>
          </a:xfrm>
          <a:prstGeom prst="rect">
            <a:avLst/>
          </a:prstGeom>
          <a:solidFill>
            <a:srgbClr val="F7F7F7"/>
          </a:solidFill>
          <a:ln w="3048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484632" y="1623059"/>
            <a:ext cx="45720" cy="45720"/>
          </a:xfrm>
          <a:prstGeom prst="ellipse">
            <a:avLst/>
          </a:prstGeom>
          <a:solidFill>
            <a:srgbClr val="CCC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585216" y="1623059"/>
            <a:ext cx="45720" cy="45720"/>
          </a:xfrm>
          <a:prstGeom prst="ellipse">
            <a:avLst/>
          </a:prstGeom>
          <a:solidFill>
            <a:srgbClr val="CCC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685800" y="1623059"/>
            <a:ext cx="45720" cy="45720"/>
          </a:xfrm>
          <a:prstGeom prst="ellipse">
            <a:avLst/>
          </a:prstGeom>
          <a:solidFill>
            <a:srgbClr val="CCC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12064" y="1847087"/>
            <a:ext cx="4910328" cy="256032"/>
          </a:xfrm>
          <a:prstGeom prst="rect">
            <a:avLst/>
          </a:prstGeom>
          <a:solidFill>
            <a:srgbClr val="F7F7F7"/>
          </a:solidFill>
          <a:ln w="1651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585216" y="1911095"/>
            <a:ext cx="658368" cy="12801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5166359" y="1883663"/>
            <a:ext cx="182880" cy="182880"/>
          </a:xfrm>
          <a:prstGeom prst="ellipse">
            <a:avLst/>
          </a:prstGeom>
          <a:solidFill>
            <a:srgbClr val="FFFFFF"/>
          </a:solidFill>
          <a:ln w="1524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12064" y="2157983"/>
            <a:ext cx="914400" cy="4187952"/>
          </a:xfrm>
          <a:prstGeom prst="rect">
            <a:avLst/>
          </a:prstGeom>
          <a:solidFill>
            <a:srgbClr val="F7F7F7"/>
          </a:solidFill>
          <a:ln w="1651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594360" y="2267711"/>
            <a:ext cx="749808" cy="14630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594360" y="2542031"/>
            <a:ext cx="749808" cy="14630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594360" y="2816351"/>
            <a:ext cx="749808" cy="14630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594360" y="3090671"/>
            <a:ext cx="749808" cy="14630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594360" y="3364991"/>
            <a:ext cx="749808" cy="14630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594360" y="3639311"/>
            <a:ext cx="749808" cy="14630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594360" y="3913631"/>
            <a:ext cx="749808" cy="14630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594360" y="4187952"/>
            <a:ext cx="749808" cy="14630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594360" y="4462271"/>
            <a:ext cx="749808" cy="14630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170432" y="2532887"/>
            <a:ext cx="128016" cy="128016"/>
          </a:xfrm>
          <a:prstGeom prst="ellipse">
            <a:avLst/>
          </a:prstGeom>
          <a:solidFill>
            <a:srgbClr val="FFFFFF"/>
          </a:solidFill>
          <a:ln w="1524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2593986" y="2194559"/>
            <a:ext cx="2828405" cy="457200"/>
          </a:xfrm>
          <a:prstGeom prst="rect">
            <a:avLst/>
          </a:prstGeom>
          <a:solidFill>
            <a:srgbClr val="F7F7F7"/>
          </a:solidFill>
          <a:ln w="1524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2694570" y="2276855"/>
            <a:ext cx="128016" cy="128016"/>
          </a:xfrm>
          <a:prstGeom prst="ellipse">
            <a:avLst/>
          </a:prstGeom>
          <a:solidFill>
            <a:srgbClr val="FFFFFF"/>
          </a:solidFill>
          <a:ln w="1524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4" name="Connector 23"/>
          <p:cNvCxnSpPr/>
          <p:nvPr/>
        </p:nvCxnSpPr>
        <p:spPr>
          <a:xfrm>
            <a:off x="2895738" y="2340863"/>
            <a:ext cx="1753611" cy="0"/>
          </a:xfrm>
          <a:prstGeom prst="line">
            <a:avLst/>
          </a:prstGeom>
          <a:ln w="13970">
            <a:solidFill>
              <a:srgbClr val="DDDDD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Oval 24"/>
          <p:cNvSpPr/>
          <p:nvPr/>
        </p:nvSpPr>
        <p:spPr>
          <a:xfrm>
            <a:off x="2694570" y="2450591"/>
            <a:ext cx="128016" cy="128016"/>
          </a:xfrm>
          <a:prstGeom prst="ellipse">
            <a:avLst/>
          </a:prstGeom>
          <a:solidFill>
            <a:srgbClr val="FFFFFF"/>
          </a:solidFill>
          <a:ln w="1524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6" name="Connector 25"/>
          <p:cNvCxnSpPr/>
          <p:nvPr/>
        </p:nvCxnSpPr>
        <p:spPr>
          <a:xfrm>
            <a:off x="2895738" y="2514599"/>
            <a:ext cx="1753611" cy="0"/>
          </a:xfrm>
          <a:prstGeom prst="line">
            <a:avLst/>
          </a:prstGeom>
          <a:ln w="13970">
            <a:solidFill>
              <a:srgbClr val="DDDDD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Rectangle 26"/>
          <p:cNvSpPr/>
          <p:nvPr/>
        </p:nvSpPr>
        <p:spPr>
          <a:xfrm>
            <a:off x="2593986" y="2761487"/>
            <a:ext cx="2828405" cy="237744"/>
          </a:xfrm>
          <a:prstGeom prst="rect">
            <a:avLst/>
          </a:prstGeom>
          <a:solidFill>
            <a:srgbClr val="F7F7F7"/>
          </a:solidFill>
          <a:ln w="1524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8" name="Connector 27"/>
          <p:cNvCxnSpPr/>
          <p:nvPr/>
        </p:nvCxnSpPr>
        <p:spPr>
          <a:xfrm>
            <a:off x="2694570" y="2889503"/>
            <a:ext cx="1866748" cy="0"/>
          </a:xfrm>
          <a:prstGeom prst="line">
            <a:avLst/>
          </a:prstGeom>
          <a:ln w="13970">
            <a:solidFill>
              <a:srgbClr val="DDDDD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Rectangle 28"/>
          <p:cNvSpPr/>
          <p:nvPr/>
        </p:nvSpPr>
        <p:spPr>
          <a:xfrm>
            <a:off x="2593986" y="3072383"/>
            <a:ext cx="2828405" cy="768096"/>
          </a:xfrm>
          <a:prstGeom prst="rect">
            <a:avLst/>
          </a:prstGeom>
          <a:solidFill>
            <a:srgbClr val="FFFFFF"/>
          </a:solidFill>
          <a:ln w="1651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0" name="Connector 29"/>
          <p:cNvCxnSpPr/>
          <p:nvPr/>
        </p:nvCxnSpPr>
        <p:spPr>
          <a:xfrm>
            <a:off x="2694570" y="3218687"/>
            <a:ext cx="848522" cy="0"/>
          </a:xfrm>
          <a:prstGeom prst="line">
            <a:avLst/>
          </a:prstGeom>
          <a:ln w="20320">
            <a:solidFill>
              <a:srgbClr val="DDDDD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Rectangle 30"/>
          <p:cNvSpPr/>
          <p:nvPr/>
        </p:nvSpPr>
        <p:spPr>
          <a:xfrm>
            <a:off x="2694570" y="3364991"/>
            <a:ext cx="1244498" cy="164592"/>
          </a:xfrm>
          <a:prstGeom prst="rect">
            <a:avLst/>
          </a:prstGeom>
          <a:solidFill>
            <a:srgbClr val="FFFFFF"/>
          </a:solidFill>
          <a:ln w="12700">
            <a:solidFill>
              <a:srgbClr val="EEEE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2" name="Connector 31"/>
          <p:cNvCxnSpPr/>
          <p:nvPr/>
        </p:nvCxnSpPr>
        <p:spPr>
          <a:xfrm>
            <a:off x="2694570" y="3529583"/>
            <a:ext cx="1244498" cy="0"/>
          </a:xfrm>
          <a:prstGeom prst="line">
            <a:avLst/>
          </a:prstGeom>
          <a:ln w="22860">
            <a:solidFill>
              <a:srgbClr val="DDDDD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Rectangle 32"/>
          <p:cNvSpPr/>
          <p:nvPr/>
        </p:nvSpPr>
        <p:spPr>
          <a:xfrm>
            <a:off x="4108773" y="3364991"/>
            <a:ext cx="1143914" cy="164592"/>
          </a:xfrm>
          <a:prstGeom prst="rect">
            <a:avLst/>
          </a:prstGeom>
          <a:solidFill>
            <a:srgbClr val="FFFFFF"/>
          </a:solidFill>
          <a:ln w="12700">
            <a:solidFill>
              <a:srgbClr val="EEEE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4" name="Connector 33"/>
          <p:cNvCxnSpPr/>
          <p:nvPr/>
        </p:nvCxnSpPr>
        <p:spPr>
          <a:xfrm>
            <a:off x="4108773" y="3529583"/>
            <a:ext cx="1143914" cy="0"/>
          </a:xfrm>
          <a:prstGeom prst="line">
            <a:avLst/>
          </a:prstGeom>
          <a:ln w="22860">
            <a:solidFill>
              <a:srgbClr val="DDDDD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Rectangle 34"/>
          <p:cNvSpPr/>
          <p:nvPr/>
        </p:nvSpPr>
        <p:spPr>
          <a:xfrm>
            <a:off x="2694570" y="3602735"/>
            <a:ext cx="2627237" cy="164592"/>
          </a:xfrm>
          <a:prstGeom prst="rect">
            <a:avLst/>
          </a:prstGeom>
          <a:solidFill>
            <a:srgbClr val="FFFFFF"/>
          </a:solidFill>
          <a:ln w="12700">
            <a:solidFill>
              <a:srgbClr val="EEEE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6" name="Connector 35"/>
          <p:cNvCxnSpPr/>
          <p:nvPr/>
        </p:nvCxnSpPr>
        <p:spPr>
          <a:xfrm>
            <a:off x="2694570" y="3767327"/>
            <a:ext cx="2627237" cy="0"/>
          </a:xfrm>
          <a:prstGeom prst="line">
            <a:avLst/>
          </a:prstGeom>
          <a:ln w="22860">
            <a:solidFill>
              <a:srgbClr val="DDDDD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Rectangle 36"/>
          <p:cNvSpPr/>
          <p:nvPr/>
        </p:nvSpPr>
        <p:spPr>
          <a:xfrm>
            <a:off x="2593986" y="3913631"/>
            <a:ext cx="2828405" cy="768096"/>
          </a:xfrm>
          <a:prstGeom prst="rect">
            <a:avLst/>
          </a:prstGeom>
          <a:solidFill>
            <a:srgbClr val="FFFFFF"/>
          </a:solidFill>
          <a:ln w="1651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8" name="Connector 37"/>
          <p:cNvCxnSpPr/>
          <p:nvPr/>
        </p:nvCxnSpPr>
        <p:spPr>
          <a:xfrm>
            <a:off x="2694570" y="4059935"/>
            <a:ext cx="848522" cy="0"/>
          </a:xfrm>
          <a:prstGeom prst="line">
            <a:avLst/>
          </a:prstGeom>
          <a:ln w="20320">
            <a:solidFill>
              <a:srgbClr val="DDDDD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Rectangle 38"/>
          <p:cNvSpPr/>
          <p:nvPr/>
        </p:nvSpPr>
        <p:spPr>
          <a:xfrm>
            <a:off x="2694570" y="4206240"/>
            <a:ext cx="1244498" cy="164592"/>
          </a:xfrm>
          <a:prstGeom prst="rect">
            <a:avLst/>
          </a:prstGeom>
          <a:solidFill>
            <a:srgbClr val="FFFFFF"/>
          </a:solidFill>
          <a:ln w="12700">
            <a:solidFill>
              <a:srgbClr val="EEEE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0" name="Connector 39"/>
          <p:cNvCxnSpPr/>
          <p:nvPr/>
        </p:nvCxnSpPr>
        <p:spPr>
          <a:xfrm>
            <a:off x="2694570" y="4370831"/>
            <a:ext cx="1244498" cy="0"/>
          </a:xfrm>
          <a:prstGeom prst="line">
            <a:avLst/>
          </a:prstGeom>
          <a:ln w="22860">
            <a:solidFill>
              <a:srgbClr val="DDDDD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" name="Rectangle 40"/>
          <p:cNvSpPr/>
          <p:nvPr/>
        </p:nvSpPr>
        <p:spPr>
          <a:xfrm>
            <a:off x="4108773" y="4206240"/>
            <a:ext cx="1143914" cy="164592"/>
          </a:xfrm>
          <a:prstGeom prst="rect">
            <a:avLst/>
          </a:prstGeom>
          <a:solidFill>
            <a:srgbClr val="FFFFFF"/>
          </a:solidFill>
          <a:ln w="12700">
            <a:solidFill>
              <a:srgbClr val="EEEE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2" name="Connector 41"/>
          <p:cNvCxnSpPr/>
          <p:nvPr/>
        </p:nvCxnSpPr>
        <p:spPr>
          <a:xfrm>
            <a:off x="4108773" y="4370831"/>
            <a:ext cx="1143914" cy="0"/>
          </a:xfrm>
          <a:prstGeom prst="line">
            <a:avLst/>
          </a:prstGeom>
          <a:ln w="22860">
            <a:solidFill>
              <a:srgbClr val="DDDDD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" name="Rectangle 42"/>
          <p:cNvSpPr/>
          <p:nvPr/>
        </p:nvSpPr>
        <p:spPr>
          <a:xfrm>
            <a:off x="2694570" y="4443983"/>
            <a:ext cx="2627237" cy="164592"/>
          </a:xfrm>
          <a:prstGeom prst="rect">
            <a:avLst/>
          </a:prstGeom>
          <a:solidFill>
            <a:srgbClr val="FFFFFF"/>
          </a:solidFill>
          <a:ln w="12700">
            <a:solidFill>
              <a:srgbClr val="EEEE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4" name="Connector 43"/>
          <p:cNvCxnSpPr/>
          <p:nvPr/>
        </p:nvCxnSpPr>
        <p:spPr>
          <a:xfrm>
            <a:off x="2694570" y="4608575"/>
            <a:ext cx="2627237" cy="0"/>
          </a:xfrm>
          <a:prstGeom prst="line">
            <a:avLst/>
          </a:prstGeom>
          <a:ln w="22860">
            <a:solidFill>
              <a:srgbClr val="DDDDD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5" name="Rectangle 44"/>
          <p:cNvSpPr/>
          <p:nvPr/>
        </p:nvSpPr>
        <p:spPr>
          <a:xfrm>
            <a:off x="2593986" y="4791455"/>
            <a:ext cx="1363910" cy="713232"/>
          </a:xfrm>
          <a:prstGeom prst="rect">
            <a:avLst/>
          </a:prstGeom>
          <a:solidFill>
            <a:srgbClr val="F7F7F7"/>
          </a:solidFill>
          <a:ln w="1651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6" name="Connector 45"/>
          <p:cNvCxnSpPr/>
          <p:nvPr/>
        </p:nvCxnSpPr>
        <p:spPr>
          <a:xfrm>
            <a:off x="2694570" y="4937759"/>
            <a:ext cx="681955" cy="0"/>
          </a:xfrm>
          <a:prstGeom prst="line">
            <a:avLst/>
          </a:prstGeom>
          <a:ln w="20320">
            <a:solidFill>
              <a:srgbClr val="DDDDD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Connector 46"/>
          <p:cNvCxnSpPr/>
          <p:nvPr/>
        </p:nvCxnSpPr>
        <p:spPr>
          <a:xfrm>
            <a:off x="2694570" y="5084064"/>
            <a:ext cx="491008" cy="0"/>
          </a:xfrm>
          <a:prstGeom prst="line">
            <a:avLst/>
          </a:prstGeom>
          <a:ln w="13970">
            <a:solidFill>
              <a:srgbClr val="DDDDD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8" name="Rounded Rectangle 47"/>
          <p:cNvSpPr/>
          <p:nvPr/>
        </p:nvSpPr>
        <p:spPr>
          <a:xfrm>
            <a:off x="2694570" y="5193792"/>
            <a:ext cx="1162742" cy="219456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4058481" y="4791455"/>
            <a:ext cx="1363910" cy="713232"/>
          </a:xfrm>
          <a:prstGeom prst="rect">
            <a:avLst/>
          </a:prstGeom>
          <a:solidFill>
            <a:srgbClr val="F7F7F7"/>
          </a:solidFill>
          <a:ln w="1651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0" name="Connector 49"/>
          <p:cNvCxnSpPr/>
          <p:nvPr/>
        </p:nvCxnSpPr>
        <p:spPr>
          <a:xfrm>
            <a:off x="4159065" y="4937759"/>
            <a:ext cx="681955" cy="0"/>
          </a:xfrm>
          <a:prstGeom prst="line">
            <a:avLst/>
          </a:prstGeom>
          <a:ln w="20320">
            <a:solidFill>
              <a:srgbClr val="DDDDD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Connector 50"/>
          <p:cNvCxnSpPr/>
          <p:nvPr/>
        </p:nvCxnSpPr>
        <p:spPr>
          <a:xfrm>
            <a:off x="4159065" y="5084064"/>
            <a:ext cx="491008" cy="0"/>
          </a:xfrm>
          <a:prstGeom prst="line">
            <a:avLst/>
          </a:prstGeom>
          <a:ln w="13970">
            <a:solidFill>
              <a:srgbClr val="DDDDD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2" name="Rounded Rectangle 51"/>
          <p:cNvSpPr/>
          <p:nvPr/>
        </p:nvSpPr>
        <p:spPr>
          <a:xfrm>
            <a:off x="4159065" y="5193792"/>
            <a:ext cx="1162742" cy="219456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2593986" y="5614416"/>
            <a:ext cx="2828405" cy="694944"/>
          </a:xfrm>
          <a:prstGeom prst="rect">
            <a:avLst/>
          </a:prstGeom>
          <a:solidFill>
            <a:srgbClr val="FFFFFF"/>
          </a:solidFill>
          <a:ln w="1651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4" name="Connector 53"/>
          <p:cNvCxnSpPr/>
          <p:nvPr/>
        </p:nvCxnSpPr>
        <p:spPr>
          <a:xfrm>
            <a:off x="2694570" y="5760720"/>
            <a:ext cx="848522" cy="0"/>
          </a:xfrm>
          <a:prstGeom prst="line">
            <a:avLst/>
          </a:prstGeom>
          <a:ln w="20320">
            <a:solidFill>
              <a:srgbClr val="DDDDD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5" name="Rectangle 54"/>
          <p:cNvSpPr/>
          <p:nvPr/>
        </p:nvSpPr>
        <p:spPr>
          <a:xfrm>
            <a:off x="2694570" y="5907024"/>
            <a:ext cx="1785989" cy="182880"/>
          </a:xfrm>
          <a:prstGeom prst="rect">
            <a:avLst/>
          </a:prstGeom>
          <a:solidFill>
            <a:srgbClr val="FFFFFF"/>
          </a:solidFill>
          <a:ln w="12700">
            <a:solidFill>
              <a:srgbClr val="EEEE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6" name="Connector 55"/>
          <p:cNvCxnSpPr/>
          <p:nvPr/>
        </p:nvCxnSpPr>
        <p:spPr>
          <a:xfrm>
            <a:off x="2694570" y="6089904"/>
            <a:ext cx="1785989" cy="0"/>
          </a:xfrm>
          <a:prstGeom prst="line">
            <a:avLst/>
          </a:prstGeom>
          <a:ln w="22860">
            <a:solidFill>
              <a:srgbClr val="DDDDD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7" name="Rounded Rectangle 56"/>
          <p:cNvSpPr/>
          <p:nvPr/>
        </p:nvSpPr>
        <p:spPr>
          <a:xfrm>
            <a:off x="4590288" y="5888736"/>
            <a:ext cx="731520" cy="219456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2548266" y="2148839"/>
            <a:ext cx="2919845" cy="4206240"/>
          </a:xfrm>
          <a:prstGeom prst="rect">
            <a:avLst/>
          </a:prstGeom>
          <a:noFill/>
          <a:ln w="12700">
            <a:solidFill>
              <a:srgbClr val="DC2626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ounded Rectangle 58"/>
          <p:cNvSpPr/>
          <p:nvPr/>
        </p:nvSpPr>
        <p:spPr>
          <a:xfrm>
            <a:off x="1572768" y="2194559"/>
            <a:ext cx="410025" cy="219456"/>
          </a:xfrm>
          <a:prstGeom prst="roundRect">
            <a:avLst/>
          </a:prstGeom>
          <a:solidFill>
            <a:srgbClr val="F7F7F7"/>
          </a:solidFill>
          <a:ln w="1397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ounded Rectangle 59"/>
          <p:cNvSpPr/>
          <p:nvPr/>
        </p:nvSpPr>
        <p:spPr>
          <a:xfrm>
            <a:off x="2037657" y="2194559"/>
            <a:ext cx="410025" cy="219456"/>
          </a:xfrm>
          <a:prstGeom prst="roundRect">
            <a:avLst/>
          </a:prstGeom>
          <a:solidFill>
            <a:srgbClr val="F7F7F7"/>
          </a:solidFill>
          <a:ln w="1397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ounded Rectangle 60"/>
          <p:cNvSpPr/>
          <p:nvPr/>
        </p:nvSpPr>
        <p:spPr>
          <a:xfrm>
            <a:off x="1572768" y="2450591"/>
            <a:ext cx="410025" cy="219456"/>
          </a:xfrm>
          <a:prstGeom prst="roundRect">
            <a:avLst/>
          </a:prstGeom>
          <a:solidFill>
            <a:srgbClr val="F7F7F7"/>
          </a:solidFill>
          <a:ln w="1397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ounded Rectangle 61"/>
          <p:cNvSpPr/>
          <p:nvPr/>
        </p:nvSpPr>
        <p:spPr>
          <a:xfrm>
            <a:off x="2037657" y="2450591"/>
            <a:ext cx="410025" cy="219456"/>
          </a:xfrm>
          <a:prstGeom prst="roundRect">
            <a:avLst/>
          </a:prstGeom>
          <a:solidFill>
            <a:srgbClr val="F7F7F7"/>
          </a:solidFill>
          <a:ln w="1397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Oval 62"/>
          <p:cNvSpPr/>
          <p:nvPr/>
        </p:nvSpPr>
        <p:spPr>
          <a:xfrm>
            <a:off x="1554480" y="2176271"/>
            <a:ext cx="237744" cy="237744"/>
          </a:xfrm>
          <a:prstGeom prst="ellipse">
            <a:avLst/>
          </a:prstGeom>
          <a:solidFill>
            <a:srgbClr val="DC2626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1</a:t>
            </a:r>
          </a:p>
        </p:txBody>
      </p:sp>
      <p:sp>
        <p:nvSpPr>
          <p:cNvPr id="64" name="Rectangle 63"/>
          <p:cNvSpPr/>
          <p:nvPr/>
        </p:nvSpPr>
        <p:spPr>
          <a:xfrm>
            <a:off x="1572768" y="2761487"/>
            <a:ext cx="874914" cy="201168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5" name="Connector 64"/>
          <p:cNvCxnSpPr/>
          <p:nvPr/>
        </p:nvCxnSpPr>
        <p:spPr>
          <a:xfrm>
            <a:off x="1572768" y="2962656"/>
            <a:ext cx="874914" cy="0"/>
          </a:xfrm>
          <a:prstGeom prst="line">
            <a:avLst/>
          </a:prstGeom>
          <a:ln w="22860">
            <a:solidFill>
              <a:srgbClr val="33333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6" name="Oval 65"/>
          <p:cNvSpPr/>
          <p:nvPr/>
        </p:nvSpPr>
        <p:spPr>
          <a:xfrm>
            <a:off x="1554480" y="2743199"/>
            <a:ext cx="237744" cy="237744"/>
          </a:xfrm>
          <a:prstGeom prst="ellipse">
            <a:avLst/>
          </a:prstGeom>
          <a:solidFill>
            <a:srgbClr val="DC2626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2</a:t>
            </a:r>
          </a:p>
        </p:txBody>
      </p:sp>
      <p:sp>
        <p:nvSpPr>
          <p:cNvPr id="67" name="Rectangle 66"/>
          <p:cNvSpPr/>
          <p:nvPr/>
        </p:nvSpPr>
        <p:spPr>
          <a:xfrm>
            <a:off x="1572768" y="3072383"/>
            <a:ext cx="874914" cy="512064"/>
          </a:xfrm>
          <a:prstGeom prst="rect">
            <a:avLst/>
          </a:prstGeom>
          <a:solidFill>
            <a:srgbClr val="FFFFFF"/>
          </a:solidFill>
          <a:ln w="1524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Rounded Rectangle 67"/>
          <p:cNvSpPr/>
          <p:nvPr/>
        </p:nvSpPr>
        <p:spPr>
          <a:xfrm>
            <a:off x="1618488" y="3118103"/>
            <a:ext cx="237744" cy="10058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Rounded Rectangle 68"/>
          <p:cNvSpPr/>
          <p:nvPr/>
        </p:nvSpPr>
        <p:spPr>
          <a:xfrm>
            <a:off x="1883664" y="3118103"/>
            <a:ext cx="201168" cy="10058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Rounded Rectangle 69"/>
          <p:cNvSpPr/>
          <p:nvPr/>
        </p:nvSpPr>
        <p:spPr>
          <a:xfrm>
            <a:off x="2112264" y="3118103"/>
            <a:ext cx="201168" cy="10058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1" name="Connector 70"/>
          <p:cNvCxnSpPr/>
          <p:nvPr/>
        </p:nvCxnSpPr>
        <p:spPr>
          <a:xfrm>
            <a:off x="1618488" y="3328415"/>
            <a:ext cx="728610" cy="0"/>
          </a:xfrm>
          <a:prstGeom prst="line">
            <a:avLst/>
          </a:prstGeom>
          <a:ln w="13970">
            <a:solidFill>
              <a:srgbClr val="6666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2" name="Connector 71"/>
          <p:cNvCxnSpPr/>
          <p:nvPr/>
        </p:nvCxnSpPr>
        <p:spPr>
          <a:xfrm>
            <a:off x="1618488" y="3474719"/>
            <a:ext cx="349965" cy="0"/>
          </a:xfrm>
          <a:prstGeom prst="line">
            <a:avLst/>
          </a:prstGeom>
          <a:ln w="13970">
            <a:solidFill>
              <a:srgbClr val="6666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3" name="Rounded Rectangle 72"/>
          <p:cNvSpPr/>
          <p:nvPr/>
        </p:nvSpPr>
        <p:spPr>
          <a:xfrm>
            <a:off x="2091066" y="3401567"/>
            <a:ext cx="146304" cy="10972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Rounded Rectangle 73"/>
          <p:cNvSpPr/>
          <p:nvPr/>
        </p:nvSpPr>
        <p:spPr>
          <a:xfrm>
            <a:off x="2264802" y="3401567"/>
            <a:ext cx="146304" cy="10972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Rectangle 74"/>
          <p:cNvSpPr/>
          <p:nvPr/>
        </p:nvSpPr>
        <p:spPr>
          <a:xfrm>
            <a:off x="1572768" y="3639311"/>
            <a:ext cx="874914" cy="512064"/>
          </a:xfrm>
          <a:prstGeom prst="rect">
            <a:avLst/>
          </a:prstGeom>
          <a:solidFill>
            <a:srgbClr val="FFFFFF"/>
          </a:solidFill>
          <a:ln w="1524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Rounded Rectangle 75"/>
          <p:cNvSpPr/>
          <p:nvPr/>
        </p:nvSpPr>
        <p:spPr>
          <a:xfrm>
            <a:off x="1618488" y="3685031"/>
            <a:ext cx="237744" cy="10058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Rounded Rectangle 76"/>
          <p:cNvSpPr/>
          <p:nvPr/>
        </p:nvSpPr>
        <p:spPr>
          <a:xfrm>
            <a:off x="1883664" y="3685031"/>
            <a:ext cx="201168" cy="10058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Rounded Rectangle 77"/>
          <p:cNvSpPr/>
          <p:nvPr/>
        </p:nvSpPr>
        <p:spPr>
          <a:xfrm>
            <a:off x="2112264" y="3685031"/>
            <a:ext cx="201168" cy="10058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9" name="Connector 78"/>
          <p:cNvCxnSpPr/>
          <p:nvPr/>
        </p:nvCxnSpPr>
        <p:spPr>
          <a:xfrm>
            <a:off x="1618488" y="3895344"/>
            <a:ext cx="728610" cy="0"/>
          </a:xfrm>
          <a:prstGeom prst="line">
            <a:avLst/>
          </a:prstGeom>
          <a:ln w="13970">
            <a:solidFill>
              <a:srgbClr val="6666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0" name="Connector 79"/>
          <p:cNvCxnSpPr/>
          <p:nvPr/>
        </p:nvCxnSpPr>
        <p:spPr>
          <a:xfrm>
            <a:off x="1618488" y="4041648"/>
            <a:ext cx="349965" cy="0"/>
          </a:xfrm>
          <a:prstGeom prst="line">
            <a:avLst/>
          </a:prstGeom>
          <a:ln w="13970">
            <a:solidFill>
              <a:srgbClr val="6666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1" name="Rounded Rectangle 80"/>
          <p:cNvSpPr/>
          <p:nvPr/>
        </p:nvSpPr>
        <p:spPr>
          <a:xfrm>
            <a:off x="2091066" y="3968496"/>
            <a:ext cx="146304" cy="10972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Rounded Rectangle 81"/>
          <p:cNvSpPr/>
          <p:nvPr/>
        </p:nvSpPr>
        <p:spPr>
          <a:xfrm>
            <a:off x="2264802" y="3968496"/>
            <a:ext cx="146304" cy="10972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Rectangle 82"/>
          <p:cNvSpPr/>
          <p:nvPr/>
        </p:nvSpPr>
        <p:spPr>
          <a:xfrm>
            <a:off x="1572768" y="4206240"/>
            <a:ext cx="874914" cy="512064"/>
          </a:xfrm>
          <a:prstGeom prst="rect">
            <a:avLst/>
          </a:prstGeom>
          <a:solidFill>
            <a:srgbClr val="FFFFFF"/>
          </a:solidFill>
          <a:ln w="1524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Rounded Rectangle 83"/>
          <p:cNvSpPr/>
          <p:nvPr/>
        </p:nvSpPr>
        <p:spPr>
          <a:xfrm>
            <a:off x="1618488" y="4251959"/>
            <a:ext cx="237744" cy="10058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Rounded Rectangle 84"/>
          <p:cNvSpPr/>
          <p:nvPr/>
        </p:nvSpPr>
        <p:spPr>
          <a:xfrm>
            <a:off x="1883664" y="4251959"/>
            <a:ext cx="201168" cy="10058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Rounded Rectangle 85"/>
          <p:cNvSpPr/>
          <p:nvPr/>
        </p:nvSpPr>
        <p:spPr>
          <a:xfrm>
            <a:off x="2112264" y="4251959"/>
            <a:ext cx="201168" cy="10058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87" name="Connector 86"/>
          <p:cNvCxnSpPr/>
          <p:nvPr/>
        </p:nvCxnSpPr>
        <p:spPr>
          <a:xfrm>
            <a:off x="1618488" y="4462272"/>
            <a:ext cx="728610" cy="0"/>
          </a:xfrm>
          <a:prstGeom prst="line">
            <a:avLst/>
          </a:prstGeom>
          <a:ln w="13970">
            <a:solidFill>
              <a:srgbClr val="6666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8" name="Connector 87"/>
          <p:cNvCxnSpPr/>
          <p:nvPr/>
        </p:nvCxnSpPr>
        <p:spPr>
          <a:xfrm>
            <a:off x="1618488" y="4608576"/>
            <a:ext cx="349965" cy="0"/>
          </a:xfrm>
          <a:prstGeom prst="line">
            <a:avLst/>
          </a:prstGeom>
          <a:ln w="13970">
            <a:solidFill>
              <a:srgbClr val="6666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9" name="Rounded Rectangle 88"/>
          <p:cNvSpPr/>
          <p:nvPr/>
        </p:nvSpPr>
        <p:spPr>
          <a:xfrm>
            <a:off x="2091066" y="4535424"/>
            <a:ext cx="146304" cy="10972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Rounded Rectangle 89"/>
          <p:cNvSpPr/>
          <p:nvPr/>
        </p:nvSpPr>
        <p:spPr>
          <a:xfrm>
            <a:off x="2264802" y="4535424"/>
            <a:ext cx="146304" cy="10972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Rectangle 90"/>
          <p:cNvSpPr/>
          <p:nvPr/>
        </p:nvSpPr>
        <p:spPr>
          <a:xfrm>
            <a:off x="1572768" y="4773167"/>
            <a:ext cx="874914" cy="512064"/>
          </a:xfrm>
          <a:prstGeom prst="rect">
            <a:avLst/>
          </a:prstGeom>
          <a:solidFill>
            <a:srgbClr val="FFFFFF"/>
          </a:solidFill>
          <a:ln w="1524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Rounded Rectangle 91"/>
          <p:cNvSpPr/>
          <p:nvPr/>
        </p:nvSpPr>
        <p:spPr>
          <a:xfrm>
            <a:off x="1618488" y="4818887"/>
            <a:ext cx="237744" cy="10058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Rounded Rectangle 92"/>
          <p:cNvSpPr/>
          <p:nvPr/>
        </p:nvSpPr>
        <p:spPr>
          <a:xfrm>
            <a:off x="1883664" y="4818887"/>
            <a:ext cx="201168" cy="10058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Rounded Rectangle 93"/>
          <p:cNvSpPr/>
          <p:nvPr/>
        </p:nvSpPr>
        <p:spPr>
          <a:xfrm>
            <a:off x="2112264" y="4818887"/>
            <a:ext cx="201168" cy="10058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95" name="Connector 94"/>
          <p:cNvCxnSpPr/>
          <p:nvPr/>
        </p:nvCxnSpPr>
        <p:spPr>
          <a:xfrm>
            <a:off x="1618488" y="5029199"/>
            <a:ext cx="728610" cy="0"/>
          </a:xfrm>
          <a:prstGeom prst="line">
            <a:avLst/>
          </a:prstGeom>
          <a:ln w="13970">
            <a:solidFill>
              <a:srgbClr val="6666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6" name="Connector 95"/>
          <p:cNvCxnSpPr/>
          <p:nvPr/>
        </p:nvCxnSpPr>
        <p:spPr>
          <a:xfrm>
            <a:off x="1618488" y="5175503"/>
            <a:ext cx="349965" cy="0"/>
          </a:xfrm>
          <a:prstGeom prst="line">
            <a:avLst/>
          </a:prstGeom>
          <a:ln w="13970">
            <a:solidFill>
              <a:srgbClr val="6666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7" name="Rounded Rectangle 96"/>
          <p:cNvSpPr/>
          <p:nvPr/>
        </p:nvSpPr>
        <p:spPr>
          <a:xfrm>
            <a:off x="2091066" y="5102351"/>
            <a:ext cx="146304" cy="10972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Rounded Rectangle 97"/>
          <p:cNvSpPr/>
          <p:nvPr/>
        </p:nvSpPr>
        <p:spPr>
          <a:xfrm>
            <a:off x="2264802" y="5102351"/>
            <a:ext cx="146304" cy="10972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Rectangle 98"/>
          <p:cNvSpPr/>
          <p:nvPr/>
        </p:nvSpPr>
        <p:spPr>
          <a:xfrm>
            <a:off x="1572768" y="5340096"/>
            <a:ext cx="874914" cy="512064"/>
          </a:xfrm>
          <a:prstGeom prst="rect">
            <a:avLst/>
          </a:prstGeom>
          <a:solidFill>
            <a:srgbClr val="FFFFFF"/>
          </a:solidFill>
          <a:ln w="1524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Rounded Rectangle 99"/>
          <p:cNvSpPr/>
          <p:nvPr/>
        </p:nvSpPr>
        <p:spPr>
          <a:xfrm>
            <a:off x="1618488" y="5385816"/>
            <a:ext cx="237744" cy="10058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Rounded Rectangle 100"/>
          <p:cNvSpPr/>
          <p:nvPr/>
        </p:nvSpPr>
        <p:spPr>
          <a:xfrm>
            <a:off x="1883664" y="5385816"/>
            <a:ext cx="201168" cy="10058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Rounded Rectangle 101"/>
          <p:cNvSpPr/>
          <p:nvPr/>
        </p:nvSpPr>
        <p:spPr>
          <a:xfrm>
            <a:off x="2112264" y="5385816"/>
            <a:ext cx="201168" cy="10058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03" name="Connector 102"/>
          <p:cNvCxnSpPr/>
          <p:nvPr/>
        </p:nvCxnSpPr>
        <p:spPr>
          <a:xfrm>
            <a:off x="1618488" y="5596128"/>
            <a:ext cx="728610" cy="0"/>
          </a:xfrm>
          <a:prstGeom prst="line">
            <a:avLst/>
          </a:prstGeom>
          <a:ln w="13970">
            <a:solidFill>
              <a:srgbClr val="6666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4" name="Connector 103"/>
          <p:cNvCxnSpPr/>
          <p:nvPr/>
        </p:nvCxnSpPr>
        <p:spPr>
          <a:xfrm>
            <a:off x="1618488" y="5742432"/>
            <a:ext cx="349965" cy="0"/>
          </a:xfrm>
          <a:prstGeom prst="line">
            <a:avLst/>
          </a:prstGeom>
          <a:ln w="13970">
            <a:solidFill>
              <a:srgbClr val="6666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5" name="Rounded Rectangle 104"/>
          <p:cNvSpPr/>
          <p:nvPr/>
        </p:nvSpPr>
        <p:spPr>
          <a:xfrm>
            <a:off x="2091066" y="5669280"/>
            <a:ext cx="146304" cy="10972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Rounded Rectangle 105"/>
          <p:cNvSpPr/>
          <p:nvPr/>
        </p:nvSpPr>
        <p:spPr>
          <a:xfrm>
            <a:off x="2264802" y="5669280"/>
            <a:ext cx="146304" cy="10972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Oval 106"/>
          <p:cNvSpPr/>
          <p:nvPr/>
        </p:nvSpPr>
        <p:spPr>
          <a:xfrm>
            <a:off x="1554480" y="3054095"/>
            <a:ext cx="237744" cy="237744"/>
          </a:xfrm>
          <a:prstGeom prst="ellipse">
            <a:avLst/>
          </a:prstGeom>
          <a:solidFill>
            <a:srgbClr val="DC2626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3</a:t>
            </a:r>
          </a:p>
        </p:txBody>
      </p:sp>
      <p:sp>
        <p:nvSpPr>
          <p:cNvPr id="108" name="Rounded Rectangle 107"/>
          <p:cNvSpPr/>
          <p:nvPr/>
        </p:nvSpPr>
        <p:spPr>
          <a:xfrm>
            <a:off x="1572768" y="5961887"/>
            <a:ext cx="874914" cy="237744"/>
          </a:xfrm>
          <a:prstGeom prst="roundRect">
            <a:avLst/>
          </a:prstGeom>
          <a:solidFill>
            <a:srgbClr val="F7F7F7"/>
          </a:solidFill>
          <a:ln w="1524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Oval 108"/>
          <p:cNvSpPr/>
          <p:nvPr/>
        </p:nvSpPr>
        <p:spPr>
          <a:xfrm>
            <a:off x="1554480" y="5943599"/>
            <a:ext cx="237744" cy="237744"/>
          </a:xfrm>
          <a:prstGeom prst="ellipse">
            <a:avLst/>
          </a:prstGeom>
          <a:solidFill>
            <a:srgbClr val="DC2626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4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5824728" y="1572767"/>
            <a:ext cx="5982919" cy="256032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111111"/>
                </a:solidFill>
                <a:latin typeface="맑은 고딕"/>
                <a:ea typeface="맑은 고딕"/>
              </a:rPr>
              <a:t>Description</a:t>
            </a:r>
          </a:p>
        </p:txBody>
      </p:sp>
      <p:sp>
        <p:nvSpPr>
          <p:cNvPr id="111" name="Oval 110"/>
          <p:cNvSpPr/>
          <p:nvPr/>
        </p:nvSpPr>
        <p:spPr>
          <a:xfrm>
            <a:off x="5824728" y="1929383"/>
            <a:ext cx="219456" cy="219456"/>
          </a:xfrm>
          <a:prstGeom prst="ellipse">
            <a:avLst/>
          </a:prstGeom>
          <a:solidFill>
            <a:srgbClr val="DC2626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1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6135624" y="1901951"/>
            <a:ext cx="5672023" cy="834847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100"/>
              </a:spcAft>
            </a:pPr>
            <a:r>
              <a:rPr sz="950" b="1">
                <a:solidFill>
                  <a:srgbClr val="111111"/>
                </a:solidFill>
                <a:latin typeface="맑은 고딕"/>
                <a:ea typeface="맑은 고딕"/>
              </a:rPr>
              <a:t>요약 칩 4종 </a:t>
            </a:r>
            <a:r>
              <a:rPr sz="950" b="0">
                <a:solidFill>
                  <a:srgbClr val="999999"/>
                </a:solidFill>
                <a:latin typeface="맑은 고딕"/>
                <a:ea typeface="맑은 고딕"/>
              </a:rPr>
              <a:t>—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전체·승인 대기·부분 승인[관계사만/전사만 세분]·처리완료</a:t>
            </a:r>
          </a:p>
        </p:txBody>
      </p:sp>
      <p:cxnSp>
        <p:nvCxnSpPr>
          <p:cNvPr id="113" name="Connector 112"/>
          <p:cNvCxnSpPr/>
          <p:nvPr/>
        </p:nvCxnSpPr>
        <p:spPr>
          <a:xfrm>
            <a:off x="5824728" y="2718511"/>
            <a:ext cx="5982919" cy="0"/>
          </a:xfrm>
          <a:prstGeom prst="line">
            <a:avLst/>
          </a:prstGeom>
          <a:ln w="9525">
            <a:solidFill>
              <a:srgbClr val="EEEEE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4" name="Oval 113"/>
          <p:cNvSpPr/>
          <p:nvPr/>
        </p:nvSpPr>
        <p:spPr>
          <a:xfrm>
            <a:off x="5824728" y="2764231"/>
            <a:ext cx="219456" cy="219456"/>
          </a:xfrm>
          <a:prstGeom prst="ellipse">
            <a:avLst/>
          </a:prstGeom>
          <a:solidFill>
            <a:srgbClr val="DC2626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2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6135624" y="2736799"/>
            <a:ext cx="5672023" cy="834847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100"/>
              </a:spcAft>
            </a:pPr>
            <a:r>
              <a:rPr sz="950" b="1">
                <a:solidFill>
                  <a:srgbClr val="111111"/>
                </a:solidFill>
                <a:latin typeface="맑은 고딕"/>
                <a:ea typeface="맑은 고딕"/>
              </a:rPr>
              <a:t>유형 필터 </a:t>
            </a:r>
            <a:r>
              <a:rPr sz="950" b="0">
                <a:solidFill>
                  <a:srgbClr val="999999"/>
                </a:solidFill>
                <a:latin typeface="맑은 고딕"/>
                <a:ea typeface="맑은 고딕"/>
              </a:rPr>
              <a:t>—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카테고리 선택</a:t>
            </a:r>
          </a:p>
        </p:txBody>
      </p:sp>
      <p:cxnSp>
        <p:nvCxnSpPr>
          <p:cNvPr id="116" name="Connector 115"/>
          <p:cNvCxnSpPr/>
          <p:nvPr/>
        </p:nvCxnSpPr>
        <p:spPr>
          <a:xfrm>
            <a:off x="5824728" y="3553358"/>
            <a:ext cx="5982919" cy="0"/>
          </a:xfrm>
          <a:prstGeom prst="line">
            <a:avLst/>
          </a:prstGeom>
          <a:ln w="9525">
            <a:solidFill>
              <a:srgbClr val="EEEEE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7" name="Oval 116"/>
          <p:cNvSpPr/>
          <p:nvPr/>
        </p:nvSpPr>
        <p:spPr>
          <a:xfrm>
            <a:off x="5824728" y="3599078"/>
            <a:ext cx="219456" cy="219456"/>
          </a:xfrm>
          <a:prstGeom prst="ellipse">
            <a:avLst/>
          </a:prstGeom>
          <a:solidFill>
            <a:srgbClr val="DC2626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3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6135624" y="3571646"/>
            <a:ext cx="5672023" cy="834847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100"/>
              </a:spcAft>
            </a:pPr>
            <a:r>
              <a:rPr sz="950" b="1">
                <a:solidFill>
                  <a:srgbClr val="111111"/>
                </a:solidFill>
                <a:latin typeface="맑은 고딕"/>
                <a:ea typeface="맑은 고딕"/>
              </a:rPr>
              <a:t>신청 행 </a:t>
            </a:r>
            <a:r>
              <a:rPr sz="950" b="0">
                <a:solidFill>
                  <a:srgbClr val="999999"/>
                </a:solidFill>
                <a:latin typeface="맑은 고딕"/>
                <a:ea typeface="맑은 고딕"/>
              </a:rPr>
              <a:t>—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카테고리·단계·등록 관계사 뱃지·제목·부서·슬롯 표시</a:t>
            </a:r>
          </a:p>
        </p:txBody>
      </p:sp>
      <p:cxnSp>
        <p:nvCxnSpPr>
          <p:cNvPr id="119" name="Connector 118"/>
          <p:cNvCxnSpPr/>
          <p:nvPr/>
        </p:nvCxnSpPr>
        <p:spPr>
          <a:xfrm>
            <a:off x="5824728" y="4388205"/>
            <a:ext cx="5982919" cy="0"/>
          </a:xfrm>
          <a:prstGeom prst="line">
            <a:avLst/>
          </a:prstGeom>
          <a:ln w="9525">
            <a:solidFill>
              <a:srgbClr val="EEEEE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0" name="Oval 119"/>
          <p:cNvSpPr/>
          <p:nvPr/>
        </p:nvSpPr>
        <p:spPr>
          <a:xfrm>
            <a:off x="5824728" y="4433925"/>
            <a:ext cx="219456" cy="219456"/>
          </a:xfrm>
          <a:prstGeom prst="ellipse">
            <a:avLst/>
          </a:prstGeom>
          <a:solidFill>
            <a:srgbClr val="DC2626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4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6135624" y="4406493"/>
            <a:ext cx="5672023" cy="834847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100"/>
              </a:spcAft>
            </a:pPr>
            <a:r>
              <a:rPr sz="950" b="1">
                <a:solidFill>
                  <a:srgbClr val="111111"/>
                </a:solidFill>
                <a:latin typeface="맑은 고딕"/>
                <a:ea typeface="맑은 고딕"/>
              </a:rPr>
              <a:t>더보기 </a:t>
            </a:r>
            <a:r>
              <a:rPr sz="950" b="0">
                <a:solidFill>
                  <a:srgbClr val="999999"/>
                </a:solidFill>
                <a:latin typeface="맑은 고딕"/>
                <a:ea typeface="맑은 고딕"/>
              </a:rPr>
              <a:t>—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증분 로드</a:t>
            </a:r>
          </a:p>
        </p:txBody>
      </p:sp>
      <p:sp>
        <p:nvSpPr>
          <p:cNvPr id="122" name="Rectangle 121"/>
          <p:cNvSpPr/>
          <p:nvPr/>
        </p:nvSpPr>
        <p:spPr>
          <a:xfrm>
            <a:off x="5824728" y="5387644"/>
            <a:ext cx="5982919" cy="1086307"/>
          </a:xfrm>
          <a:prstGeom prst="rect">
            <a:avLst/>
          </a:prstGeom>
          <a:solidFill>
            <a:srgbClr val="F7F7F7"/>
          </a:solidFill>
          <a:ln w="12700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23" name="Connector 122"/>
          <p:cNvCxnSpPr/>
          <p:nvPr/>
        </p:nvCxnSpPr>
        <p:spPr>
          <a:xfrm>
            <a:off x="5824728" y="5661964"/>
            <a:ext cx="5982919" cy="0"/>
          </a:xfrm>
          <a:prstGeom prst="line">
            <a:avLst/>
          </a:prstGeom>
          <a:ln w="12700">
            <a:solidFill>
              <a:srgbClr val="CCCCC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4" name="TextBox 123"/>
          <p:cNvSpPr txBox="1"/>
          <p:nvPr/>
        </p:nvSpPr>
        <p:spPr>
          <a:xfrm>
            <a:off x="5934456" y="5428792"/>
            <a:ext cx="5763463" cy="237744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11111"/>
                </a:solidFill>
                <a:latin typeface="맑은 고딕"/>
                <a:ea typeface="맑은 고딕"/>
              </a:rPr>
              <a:t>화면 룰·기획 근거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5952744" y="5698540"/>
            <a:ext cx="5726887" cy="738835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100"/>
              </a:spcAft>
            </a:pPr>
            <a:r>
              <a:rPr sz="85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850" b="0">
                <a:solidFill>
                  <a:srgbClr val="333333"/>
                </a:solidFill>
                <a:latin typeface="맑은 고딕"/>
                <a:ea typeface="맑은 고딕"/>
              </a:rPr>
              <a:t>companyAdmin은 담당 관계사 등록 건만 표시</a:t>
            </a:r>
          </a:p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100"/>
              </a:spcAft>
            </a:pPr>
            <a:r>
              <a:rPr sz="85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850" b="0">
                <a:solidFill>
                  <a:srgbClr val="333333"/>
                </a:solidFill>
                <a:latin typeface="맑은 고딕"/>
                <a:ea typeface="맑은 고딕"/>
              </a:rPr>
              <a:t>빈 상태 "담당 관계사의 승인 대기 신청이 없습니다"</a:t>
            </a:r>
          </a:p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DC2626"/>
                </a:solidFill>
                <a:latin typeface="맑은 고딕"/>
                <a:ea typeface="맑은 고딕"/>
              </a:rPr>
              <a:t>BE·DB  </a:t>
            </a:r>
            <a:r>
              <a:rPr sz="850" b="0">
                <a:solidFill>
                  <a:srgbClr val="666666"/>
                </a:solidFill>
                <a:latin typeface="맑은 고딕"/>
                <a:ea typeface="맑은 고딕"/>
              </a:rPr>
              <a:t>getReviewQueue·deriveStage. companyAdmin 필터 서버 적용, 승인·취소·반려 = 슬롯+이력(approve/reject/cancel)+게시 판정 단일 트랜잭션, 각각 알림 발송(0.10).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aphicFrame>
        <p:nvGraphicFramePr>
          <p:cNvPr id="2" name="Table 1"/>
          <p:cNvGraphicFramePr>
            <a:graphicFrameLocks noGrp="1"/>
          </p:cNvGraphicFramePr>
          <p:nvPr/>
        </p:nvGraphicFramePr>
        <p:xfrm>
          <a:off x="384048" y="384048"/>
          <a:ext cx="11423599" cy="1042416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371600"/>
                <a:gridCol w="4297680"/>
                <a:gridCol w="1280160"/>
                <a:gridCol w="4474159"/>
              </a:tblGrid>
              <a:tr h="384048">
                <a:tc gridSpan="3"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등록 신청 검토  —  우 상세</a:t>
                      </a:r>
                    </a:p>
                  </a:txBody>
                  <a:tcPr anchor="ctr" marL="73152" marR="54864" marT="18288" marB="18288">
                    <a:solidFill>
                      <a:srgbClr val="111111"/>
                    </a:solidFill>
                    <a:lnL w="9525" cap="flat">
                      <a:solidFill>
                        <a:srgbClr val="666666"/>
                      </a:solidFill>
                    </a:lnL>
                    <a:lnR w="9525" cap="flat">
                      <a:solidFill>
                        <a:srgbClr val="666666"/>
                      </a:solidFill>
                    </a:lnR>
                    <a:lnT w="9525" cap="flat">
                      <a:solidFill>
                        <a:srgbClr val="666666"/>
                      </a:solidFill>
                    </a:lnT>
                    <a:lnB w="9525" cap="flat">
                      <a:solidFill>
                        <a:srgbClr val="666666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Page 2 / 2</a:t>
                      </a:r>
                    </a:p>
                  </a:txBody>
                  <a:tcPr anchor="ctr" marL="73152" marR="54864" marT="18288" marB="18288">
                    <a:solidFill>
                      <a:srgbClr val="111111"/>
                    </a:solidFill>
                    <a:lnL w="9525" cap="flat">
                      <a:solidFill>
                        <a:srgbClr val="666666"/>
                      </a:solidFill>
                    </a:lnL>
                    <a:lnR w="9525" cap="flat">
                      <a:solidFill>
                        <a:srgbClr val="666666"/>
                      </a:solidFill>
                    </a:lnR>
                    <a:lnT w="9525" cap="flat">
                      <a:solidFill>
                        <a:srgbClr val="666666"/>
                      </a:solidFill>
                    </a:lnT>
                    <a:lnB w="9525" cap="flat">
                      <a:solidFill>
                        <a:srgbClr val="666666"/>
                      </a:solidFill>
                    </a:lnB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</a:rPr>
                        <a:t>Page Title</a:t>
                      </a:r>
                    </a:p>
                  </a:txBody>
                  <a:tcPr anchor="ctr" marL="73152" marR="54864" marT="18288" marB="18288">
                    <a:solidFill>
                      <a:srgbClr val="EEEEEE"/>
                    </a:solidFill>
                    <a:lnL w="9525" cap="flat">
                      <a:solidFill>
                        <a:srgbClr val="666666"/>
                      </a:solidFill>
                    </a:lnL>
                    <a:lnR w="9525" cap="flat">
                      <a:solidFill>
                        <a:srgbClr val="666666"/>
                      </a:solidFill>
                    </a:lnR>
                    <a:lnT w="9525" cap="flat">
                      <a:solidFill>
                        <a:srgbClr val="666666"/>
                      </a:solidFill>
                    </a:lnT>
                    <a:lnB w="9525" cap="flat">
                      <a:solidFill>
                        <a:srgbClr val="666666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111111"/>
                          </a:solidFill>
                          <a:latin typeface="맑은 고딕"/>
                          <a:ea typeface="맑은 고딕"/>
                        </a:rPr>
                        <a:t>등록 신청 검토</a:t>
                      </a:r>
                    </a:p>
                  </a:txBody>
                  <a:tcPr anchor="ctr" marL="73152" marR="54864" marT="18288" marB="18288">
                    <a:solidFill>
                      <a:srgbClr val="FFFFFF"/>
                    </a:solidFill>
                    <a:lnL w="9525" cap="flat">
                      <a:solidFill>
                        <a:srgbClr val="666666"/>
                      </a:solidFill>
                    </a:lnL>
                    <a:lnR w="9525" cap="flat">
                      <a:solidFill>
                        <a:srgbClr val="666666"/>
                      </a:solidFill>
                    </a:lnR>
                    <a:lnT w="9525" cap="flat">
                      <a:solidFill>
                        <a:srgbClr val="666666"/>
                      </a:solidFill>
                    </a:lnT>
                    <a:lnB w="9525" cap="flat">
                      <a:solidFill>
                        <a:srgbClr val="666666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</a:rPr>
                        <a:t>Screen ID</a:t>
                      </a:r>
                    </a:p>
                  </a:txBody>
                  <a:tcPr anchor="ctr" marL="73152" marR="54864" marT="18288" marB="18288">
                    <a:solidFill>
                      <a:srgbClr val="EEEEEE"/>
                    </a:solidFill>
                    <a:lnL w="9525" cap="flat">
                      <a:solidFill>
                        <a:srgbClr val="666666"/>
                      </a:solidFill>
                    </a:lnL>
                    <a:lnR w="9525" cap="flat">
                      <a:solidFill>
                        <a:srgbClr val="666666"/>
                      </a:solidFill>
                    </a:lnR>
                    <a:lnT w="9525" cap="flat">
                      <a:solidFill>
                        <a:srgbClr val="666666"/>
                      </a:solidFill>
                    </a:lnT>
                    <a:lnB w="9525" cap="flat">
                      <a:solidFill>
                        <a:srgbClr val="666666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111111"/>
                          </a:solidFill>
                          <a:latin typeface="맑은 고딕"/>
                          <a:ea typeface="맑은 고딕"/>
                        </a:rPr>
                        <a:t>ADM-02</a:t>
                      </a:r>
                    </a:p>
                  </a:txBody>
                  <a:tcPr anchor="ctr" marL="73152" marR="54864" marT="18288" marB="18288">
                    <a:solidFill>
                      <a:srgbClr val="FFFFFF"/>
                    </a:solidFill>
                    <a:lnL w="9525" cap="flat">
                      <a:solidFill>
                        <a:srgbClr val="666666"/>
                      </a:solidFill>
                    </a:lnL>
                    <a:lnR w="9525" cap="flat">
                      <a:solidFill>
                        <a:srgbClr val="666666"/>
                      </a:solidFill>
                    </a:lnR>
                    <a:lnT w="9525" cap="flat">
                      <a:solidFill>
                        <a:srgbClr val="666666"/>
                      </a:solidFill>
                    </a:lnT>
                    <a:lnB w="9525" cap="flat">
                      <a:solidFill>
                        <a:srgbClr val="666666"/>
                      </a:solidFill>
                    </a:lnB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</a:rPr>
                        <a:t>Screen Path</a:t>
                      </a:r>
                    </a:p>
                  </a:txBody>
                  <a:tcPr anchor="ctr" marL="73152" marR="54864" marT="18288" marB="18288">
                    <a:solidFill>
                      <a:srgbClr val="EEEEEE"/>
                    </a:solidFill>
                    <a:lnL w="9525" cap="flat">
                      <a:solidFill>
                        <a:srgbClr val="666666"/>
                      </a:solidFill>
                    </a:lnL>
                    <a:lnR w="9525" cap="flat">
                      <a:solidFill>
                        <a:srgbClr val="666666"/>
                      </a:solidFill>
                    </a:lnR>
                    <a:lnT w="9525" cap="flat">
                      <a:solidFill>
                        <a:srgbClr val="666666"/>
                      </a:solidFill>
                    </a:lnT>
                    <a:lnB w="9525" cap="flat">
                      <a:solidFill>
                        <a:srgbClr val="666666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</a:rPr>
                        <a:t>/admin/review  (admin·companyAdmin)</a:t>
                      </a:r>
                    </a:p>
                  </a:txBody>
                  <a:tcPr anchor="ctr" marL="73152" marR="54864" marT="18288" marB="18288">
                    <a:solidFill>
                      <a:srgbClr val="FFFFFF"/>
                    </a:solidFill>
                    <a:lnL w="9525" cap="flat">
                      <a:solidFill>
                        <a:srgbClr val="666666"/>
                      </a:solidFill>
                    </a:lnL>
                    <a:lnR w="9525" cap="flat">
                      <a:solidFill>
                        <a:srgbClr val="666666"/>
                      </a:solidFill>
                    </a:lnR>
                    <a:lnT w="9525" cap="flat">
                      <a:solidFill>
                        <a:srgbClr val="666666"/>
                      </a:solidFill>
                    </a:lnT>
                    <a:lnB w="9525" cap="flat">
                      <a:solidFill>
                        <a:srgbClr val="666666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</a:rPr>
                        <a:t>작성자</a:t>
                      </a:r>
                    </a:p>
                  </a:txBody>
                  <a:tcPr anchor="ctr" marL="73152" marR="54864" marT="18288" marB="18288">
                    <a:solidFill>
                      <a:srgbClr val="EEEEEE"/>
                    </a:solidFill>
                    <a:lnL w="9525" cap="flat">
                      <a:solidFill>
                        <a:srgbClr val="666666"/>
                      </a:solidFill>
                    </a:lnL>
                    <a:lnR w="9525" cap="flat">
                      <a:solidFill>
                        <a:srgbClr val="666666"/>
                      </a:solidFill>
                    </a:lnR>
                    <a:lnT w="9525" cap="flat">
                      <a:solidFill>
                        <a:srgbClr val="666666"/>
                      </a:solidFill>
                    </a:lnT>
                    <a:lnB w="9525" cap="flat">
                      <a:solidFill>
                        <a:srgbClr val="666666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11111"/>
                          </a:solidFill>
                          <a:latin typeface="맑은 고딕"/>
                          <a:ea typeface="맑은 고딕"/>
                        </a:rPr>
                        <a:t>배상혁</a:t>
                      </a:r>
                    </a:p>
                  </a:txBody>
                  <a:tcPr anchor="ctr" marL="73152" marR="54864" marT="18288" marB="18288">
                    <a:solidFill>
                      <a:srgbClr val="FFFFFF"/>
                    </a:solidFill>
                    <a:lnL w="9525" cap="flat">
                      <a:solidFill>
                        <a:srgbClr val="666666"/>
                      </a:solidFill>
                    </a:lnL>
                    <a:lnR w="9525" cap="flat">
                      <a:solidFill>
                        <a:srgbClr val="666666"/>
                      </a:solidFill>
                    </a:lnR>
                    <a:lnT w="9525" cap="flat">
                      <a:solidFill>
                        <a:srgbClr val="666666"/>
                      </a:solidFill>
                    </a:lnT>
                    <a:lnB w="9525" cap="flat">
                      <a:solidFill>
                        <a:srgbClr val="666666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3" name="Rectangle 2"/>
          <p:cNvSpPr/>
          <p:nvPr/>
        </p:nvSpPr>
        <p:spPr>
          <a:xfrm>
            <a:off x="384048" y="1572767"/>
            <a:ext cx="5166360" cy="4901184"/>
          </a:xfrm>
          <a:prstGeom prst="rect">
            <a:avLst/>
          </a:prstGeom>
          <a:solidFill>
            <a:srgbClr val="FFFFFF"/>
          </a:solidFill>
          <a:ln w="3048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84048" y="1572767"/>
            <a:ext cx="5166360" cy="146304"/>
          </a:xfrm>
          <a:prstGeom prst="rect">
            <a:avLst/>
          </a:prstGeom>
          <a:solidFill>
            <a:srgbClr val="F7F7F7"/>
          </a:solidFill>
          <a:ln w="3048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484632" y="1623059"/>
            <a:ext cx="45720" cy="45720"/>
          </a:xfrm>
          <a:prstGeom prst="ellipse">
            <a:avLst/>
          </a:prstGeom>
          <a:solidFill>
            <a:srgbClr val="CCC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585216" y="1623059"/>
            <a:ext cx="45720" cy="45720"/>
          </a:xfrm>
          <a:prstGeom prst="ellipse">
            <a:avLst/>
          </a:prstGeom>
          <a:solidFill>
            <a:srgbClr val="CCC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685800" y="1623059"/>
            <a:ext cx="45720" cy="45720"/>
          </a:xfrm>
          <a:prstGeom prst="ellipse">
            <a:avLst/>
          </a:prstGeom>
          <a:solidFill>
            <a:srgbClr val="CCC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12064" y="1847087"/>
            <a:ext cx="4910328" cy="256032"/>
          </a:xfrm>
          <a:prstGeom prst="rect">
            <a:avLst/>
          </a:prstGeom>
          <a:solidFill>
            <a:srgbClr val="F7F7F7"/>
          </a:solidFill>
          <a:ln w="1651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585216" y="1911095"/>
            <a:ext cx="658368" cy="12801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5166359" y="1883663"/>
            <a:ext cx="182880" cy="182880"/>
          </a:xfrm>
          <a:prstGeom prst="ellipse">
            <a:avLst/>
          </a:prstGeom>
          <a:solidFill>
            <a:srgbClr val="FFFFFF"/>
          </a:solidFill>
          <a:ln w="1524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12064" y="2157983"/>
            <a:ext cx="914400" cy="4187952"/>
          </a:xfrm>
          <a:prstGeom prst="rect">
            <a:avLst/>
          </a:prstGeom>
          <a:solidFill>
            <a:srgbClr val="F7F7F7"/>
          </a:solidFill>
          <a:ln w="1651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594360" y="2267711"/>
            <a:ext cx="749808" cy="14630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594360" y="2542031"/>
            <a:ext cx="749808" cy="14630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594360" y="2816351"/>
            <a:ext cx="749808" cy="14630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594360" y="3090671"/>
            <a:ext cx="749808" cy="14630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594360" y="3364991"/>
            <a:ext cx="749808" cy="14630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594360" y="3639311"/>
            <a:ext cx="749808" cy="14630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594360" y="3913631"/>
            <a:ext cx="749808" cy="14630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594360" y="4187952"/>
            <a:ext cx="749808" cy="14630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594360" y="4462271"/>
            <a:ext cx="749808" cy="14630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170432" y="2532887"/>
            <a:ext cx="128016" cy="128016"/>
          </a:xfrm>
          <a:prstGeom prst="ellipse">
            <a:avLst/>
          </a:prstGeom>
          <a:solidFill>
            <a:srgbClr val="FFFFFF"/>
          </a:solidFill>
          <a:ln w="1524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1572768" y="2194559"/>
            <a:ext cx="410025" cy="219456"/>
          </a:xfrm>
          <a:prstGeom prst="roundRect">
            <a:avLst/>
          </a:prstGeom>
          <a:solidFill>
            <a:srgbClr val="F7F7F7"/>
          </a:solidFill>
          <a:ln w="1397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2037657" y="2194559"/>
            <a:ext cx="410025" cy="219456"/>
          </a:xfrm>
          <a:prstGeom prst="roundRect">
            <a:avLst/>
          </a:prstGeom>
          <a:solidFill>
            <a:srgbClr val="F7F7F7"/>
          </a:solidFill>
          <a:ln w="1397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1572768" y="2450591"/>
            <a:ext cx="410025" cy="219456"/>
          </a:xfrm>
          <a:prstGeom prst="roundRect">
            <a:avLst/>
          </a:prstGeom>
          <a:solidFill>
            <a:srgbClr val="F7F7F7"/>
          </a:solidFill>
          <a:ln w="1397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2037657" y="2450591"/>
            <a:ext cx="410025" cy="219456"/>
          </a:xfrm>
          <a:prstGeom prst="roundRect">
            <a:avLst/>
          </a:prstGeom>
          <a:solidFill>
            <a:srgbClr val="F7F7F7"/>
          </a:solidFill>
          <a:ln w="1397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1572768" y="2761487"/>
            <a:ext cx="874914" cy="201168"/>
          </a:xfrm>
          <a:prstGeom prst="rect">
            <a:avLst/>
          </a:prstGeom>
          <a:solidFill>
            <a:srgbClr val="FFFFFF"/>
          </a:solidFill>
          <a:ln w="12700">
            <a:solidFill>
              <a:srgbClr val="EEEE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7" name="Connector 26"/>
          <p:cNvCxnSpPr/>
          <p:nvPr/>
        </p:nvCxnSpPr>
        <p:spPr>
          <a:xfrm>
            <a:off x="1572768" y="2962656"/>
            <a:ext cx="874914" cy="0"/>
          </a:xfrm>
          <a:prstGeom prst="line">
            <a:avLst/>
          </a:prstGeom>
          <a:ln w="22860">
            <a:solidFill>
              <a:srgbClr val="DDDDD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Rectangle 27"/>
          <p:cNvSpPr/>
          <p:nvPr/>
        </p:nvSpPr>
        <p:spPr>
          <a:xfrm>
            <a:off x="1572768" y="3072383"/>
            <a:ext cx="874914" cy="512064"/>
          </a:xfrm>
          <a:prstGeom prst="rect">
            <a:avLst/>
          </a:prstGeom>
          <a:solidFill>
            <a:srgbClr val="FFFFFF"/>
          </a:solidFill>
          <a:ln w="1524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1618488" y="3118103"/>
            <a:ext cx="237744" cy="10058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1883664" y="3118103"/>
            <a:ext cx="201168" cy="10058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2112264" y="3118103"/>
            <a:ext cx="201168" cy="10058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2" name="Connector 31"/>
          <p:cNvCxnSpPr/>
          <p:nvPr/>
        </p:nvCxnSpPr>
        <p:spPr>
          <a:xfrm>
            <a:off x="1618488" y="3328415"/>
            <a:ext cx="728610" cy="0"/>
          </a:xfrm>
          <a:prstGeom prst="line">
            <a:avLst/>
          </a:prstGeom>
          <a:ln w="13970">
            <a:solidFill>
              <a:srgbClr val="DDDDD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1618488" y="3474719"/>
            <a:ext cx="349965" cy="0"/>
          </a:xfrm>
          <a:prstGeom prst="line">
            <a:avLst/>
          </a:prstGeom>
          <a:ln w="13970">
            <a:solidFill>
              <a:srgbClr val="DDDDD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Rounded Rectangle 33"/>
          <p:cNvSpPr/>
          <p:nvPr/>
        </p:nvSpPr>
        <p:spPr>
          <a:xfrm>
            <a:off x="2091066" y="3401567"/>
            <a:ext cx="146304" cy="10972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2264802" y="3401567"/>
            <a:ext cx="146304" cy="10972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1572768" y="3639311"/>
            <a:ext cx="874914" cy="512064"/>
          </a:xfrm>
          <a:prstGeom prst="rect">
            <a:avLst/>
          </a:prstGeom>
          <a:solidFill>
            <a:srgbClr val="FFFFFF"/>
          </a:solidFill>
          <a:ln w="1524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1618488" y="3685031"/>
            <a:ext cx="237744" cy="10058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ounded Rectangle 37"/>
          <p:cNvSpPr/>
          <p:nvPr/>
        </p:nvSpPr>
        <p:spPr>
          <a:xfrm>
            <a:off x="1883664" y="3685031"/>
            <a:ext cx="201168" cy="10058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ounded Rectangle 38"/>
          <p:cNvSpPr/>
          <p:nvPr/>
        </p:nvSpPr>
        <p:spPr>
          <a:xfrm>
            <a:off x="2112264" y="3685031"/>
            <a:ext cx="201168" cy="10058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0" name="Connector 39"/>
          <p:cNvCxnSpPr/>
          <p:nvPr/>
        </p:nvCxnSpPr>
        <p:spPr>
          <a:xfrm>
            <a:off x="1618488" y="3895344"/>
            <a:ext cx="728610" cy="0"/>
          </a:xfrm>
          <a:prstGeom prst="line">
            <a:avLst/>
          </a:prstGeom>
          <a:ln w="13970">
            <a:solidFill>
              <a:srgbClr val="DDDDD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Connector 40"/>
          <p:cNvCxnSpPr/>
          <p:nvPr/>
        </p:nvCxnSpPr>
        <p:spPr>
          <a:xfrm>
            <a:off x="1618488" y="4041648"/>
            <a:ext cx="349965" cy="0"/>
          </a:xfrm>
          <a:prstGeom prst="line">
            <a:avLst/>
          </a:prstGeom>
          <a:ln w="13970">
            <a:solidFill>
              <a:srgbClr val="DDDDD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2" name="Rounded Rectangle 41"/>
          <p:cNvSpPr/>
          <p:nvPr/>
        </p:nvSpPr>
        <p:spPr>
          <a:xfrm>
            <a:off x="2091066" y="3968496"/>
            <a:ext cx="146304" cy="10972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ounded Rectangle 42"/>
          <p:cNvSpPr/>
          <p:nvPr/>
        </p:nvSpPr>
        <p:spPr>
          <a:xfrm>
            <a:off x="2264802" y="3968496"/>
            <a:ext cx="146304" cy="10972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1572768" y="4206240"/>
            <a:ext cx="874914" cy="512064"/>
          </a:xfrm>
          <a:prstGeom prst="rect">
            <a:avLst/>
          </a:prstGeom>
          <a:solidFill>
            <a:srgbClr val="FFFFFF"/>
          </a:solidFill>
          <a:ln w="1524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ounded Rectangle 44"/>
          <p:cNvSpPr/>
          <p:nvPr/>
        </p:nvSpPr>
        <p:spPr>
          <a:xfrm>
            <a:off x="1618488" y="4251959"/>
            <a:ext cx="237744" cy="10058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ounded Rectangle 45"/>
          <p:cNvSpPr/>
          <p:nvPr/>
        </p:nvSpPr>
        <p:spPr>
          <a:xfrm>
            <a:off x="1883664" y="4251959"/>
            <a:ext cx="201168" cy="10058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ounded Rectangle 46"/>
          <p:cNvSpPr/>
          <p:nvPr/>
        </p:nvSpPr>
        <p:spPr>
          <a:xfrm>
            <a:off x="2112264" y="4251959"/>
            <a:ext cx="201168" cy="10058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8" name="Connector 47"/>
          <p:cNvCxnSpPr/>
          <p:nvPr/>
        </p:nvCxnSpPr>
        <p:spPr>
          <a:xfrm>
            <a:off x="1618488" y="4462272"/>
            <a:ext cx="728610" cy="0"/>
          </a:xfrm>
          <a:prstGeom prst="line">
            <a:avLst/>
          </a:prstGeom>
          <a:ln w="13970">
            <a:solidFill>
              <a:srgbClr val="DDDDD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Connector 48"/>
          <p:cNvCxnSpPr/>
          <p:nvPr/>
        </p:nvCxnSpPr>
        <p:spPr>
          <a:xfrm>
            <a:off x="1618488" y="4608576"/>
            <a:ext cx="349965" cy="0"/>
          </a:xfrm>
          <a:prstGeom prst="line">
            <a:avLst/>
          </a:prstGeom>
          <a:ln w="13970">
            <a:solidFill>
              <a:srgbClr val="DDDDD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0" name="Rounded Rectangle 49"/>
          <p:cNvSpPr/>
          <p:nvPr/>
        </p:nvSpPr>
        <p:spPr>
          <a:xfrm>
            <a:off x="2091066" y="4535424"/>
            <a:ext cx="146304" cy="10972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ounded Rectangle 50"/>
          <p:cNvSpPr/>
          <p:nvPr/>
        </p:nvSpPr>
        <p:spPr>
          <a:xfrm>
            <a:off x="2264802" y="4535424"/>
            <a:ext cx="146304" cy="10972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1572768" y="4773167"/>
            <a:ext cx="874914" cy="512064"/>
          </a:xfrm>
          <a:prstGeom prst="rect">
            <a:avLst/>
          </a:prstGeom>
          <a:solidFill>
            <a:srgbClr val="FFFFFF"/>
          </a:solidFill>
          <a:ln w="1524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ounded Rectangle 52"/>
          <p:cNvSpPr/>
          <p:nvPr/>
        </p:nvSpPr>
        <p:spPr>
          <a:xfrm>
            <a:off x="1618488" y="4818887"/>
            <a:ext cx="237744" cy="10058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ounded Rectangle 53"/>
          <p:cNvSpPr/>
          <p:nvPr/>
        </p:nvSpPr>
        <p:spPr>
          <a:xfrm>
            <a:off x="1883664" y="4818887"/>
            <a:ext cx="201168" cy="10058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ounded Rectangle 54"/>
          <p:cNvSpPr/>
          <p:nvPr/>
        </p:nvSpPr>
        <p:spPr>
          <a:xfrm>
            <a:off x="2112264" y="4818887"/>
            <a:ext cx="201168" cy="10058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6" name="Connector 55"/>
          <p:cNvCxnSpPr/>
          <p:nvPr/>
        </p:nvCxnSpPr>
        <p:spPr>
          <a:xfrm>
            <a:off x="1618488" y="5029199"/>
            <a:ext cx="728610" cy="0"/>
          </a:xfrm>
          <a:prstGeom prst="line">
            <a:avLst/>
          </a:prstGeom>
          <a:ln w="13970">
            <a:solidFill>
              <a:srgbClr val="DDDDD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Connector 56"/>
          <p:cNvCxnSpPr/>
          <p:nvPr/>
        </p:nvCxnSpPr>
        <p:spPr>
          <a:xfrm>
            <a:off x="1618488" y="5175503"/>
            <a:ext cx="349965" cy="0"/>
          </a:xfrm>
          <a:prstGeom prst="line">
            <a:avLst/>
          </a:prstGeom>
          <a:ln w="13970">
            <a:solidFill>
              <a:srgbClr val="DDDDD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8" name="Rounded Rectangle 57"/>
          <p:cNvSpPr/>
          <p:nvPr/>
        </p:nvSpPr>
        <p:spPr>
          <a:xfrm>
            <a:off x="2091066" y="5102351"/>
            <a:ext cx="146304" cy="10972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ounded Rectangle 58"/>
          <p:cNvSpPr/>
          <p:nvPr/>
        </p:nvSpPr>
        <p:spPr>
          <a:xfrm>
            <a:off x="2264802" y="5102351"/>
            <a:ext cx="146304" cy="10972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1572768" y="5340096"/>
            <a:ext cx="874914" cy="512064"/>
          </a:xfrm>
          <a:prstGeom prst="rect">
            <a:avLst/>
          </a:prstGeom>
          <a:solidFill>
            <a:srgbClr val="FFFFFF"/>
          </a:solidFill>
          <a:ln w="1524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ounded Rectangle 60"/>
          <p:cNvSpPr/>
          <p:nvPr/>
        </p:nvSpPr>
        <p:spPr>
          <a:xfrm>
            <a:off x="1618488" y="5385816"/>
            <a:ext cx="237744" cy="10058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ounded Rectangle 61"/>
          <p:cNvSpPr/>
          <p:nvPr/>
        </p:nvSpPr>
        <p:spPr>
          <a:xfrm>
            <a:off x="1883664" y="5385816"/>
            <a:ext cx="201168" cy="10058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ounded Rectangle 62"/>
          <p:cNvSpPr/>
          <p:nvPr/>
        </p:nvSpPr>
        <p:spPr>
          <a:xfrm>
            <a:off x="2112264" y="5385816"/>
            <a:ext cx="201168" cy="10058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4" name="Connector 63"/>
          <p:cNvCxnSpPr/>
          <p:nvPr/>
        </p:nvCxnSpPr>
        <p:spPr>
          <a:xfrm>
            <a:off x="1618488" y="5596128"/>
            <a:ext cx="728610" cy="0"/>
          </a:xfrm>
          <a:prstGeom prst="line">
            <a:avLst/>
          </a:prstGeom>
          <a:ln w="13970">
            <a:solidFill>
              <a:srgbClr val="DDDDD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" name="Connector 64"/>
          <p:cNvCxnSpPr/>
          <p:nvPr/>
        </p:nvCxnSpPr>
        <p:spPr>
          <a:xfrm>
            <a:off x="1618488" y="5742432"/>
            <a:ext cx="349965" cy="0"/>
          </a:xfrm>
          <a:prstGeom prst="line">
            <a:avLst/>
          </a:prstGeom>
          <a:ln w="13970">
            <a:solidFill>
              <a:srgbClr val="DDDDD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6" name="Rounded Rectangle 65"/>
          <p:cNvSpPr/>
          <p:nvPr/>
        </p:nvSpPr>
        <p:spPr>
          <a:xfrm>
            <a:off x="2091066" y="5669280"/>
            <a:ext cx="146304" cy="10972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ounded Rectangle 66"/>
          <p:cNvSpPr/>
          <p:nvPr/>
        </p:nvSpPr>
        <p:spPr>
          <a:xfrm>
            <a:off x="2264802" y="5669280"/>
            <a:ext cx="146304" cy="10972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Rounded Rectangle 67"/>
          <p:cNvSpPr/>
          <p:nvPr/>
        </p:nvSpPr>
        <p:spPr>
          <a:xfrm>
            <a:off x="1572768" y="5961887"/>
            <a:ext cx="874914" cy="237744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Rectangle 68"/>
          <p:cNvSpPr/>
          <p:nvPr/>
        </p:nvSpPr>
        <p:spPr>
          <a:xfrm>
            <a:off x="1527048" y="2148839"/>
            <a:ext cx="966354" cy="4206240"/>
          </a:xfrm>
          <a:prstGeom prst="rect">
            <a:avLst/>
          </a:prstGeom>
          <a:noFill/>
          <a:ln w="12700">
            <a:solidFill>
              <a:srgbClr val="DC2626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Rectangle 69"/>
          <p:cNvSpPr/>
          <p:nvPr/>
        </p:nvSpPr>
        <p:spPr>
          <a:xfrm>
            <a:off x="2593986" y="2194559"/>
            <a:ext cx="2828405" cy="457200"/>
          </a:xfrm>
          <a:prstGeom prst="rect">
            <a:avLst/>
          </a:prstGeom>
          <a:solidFill>
            <a:srgbClr val="F7F7F7"/>
          </a:solidFill>
          <a:ln w="1524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Oval 70"/>
          <p:cNvSpPr/>
          <p:nvPr/>
        </p:nvSpPr>
        <p:spPr>
          <a:xfrm>
            <a:off x="2694570" y="2276855"/>
            <a:ext cx="128016" cy="128016"/>
          </a:xfrm>
          <a:prstGeom prst="ellipse">
            <a:avLst/>
          </a:prstGeom>
          <a:solidFill>
            <a:srgbClr val="FFFFFF"/>
          </a:solidFill>
          <a:ln w="1524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2" name="Connector 71"/>
          <p:cNvCxnSpPr/>
          <p:nvPr/>
        </p:nvCxnSpPr>
        <p:spPr>
          <a:xfrm>
            <a:off x="2895738" y="2340863"/>
            <a:ext cx="1753611" cy="0"/>
          </a:xfrm>
          <a:prstGeom prst="line">
            <a:avLst/>
          </a:prstGeom>
          <a:ln w="13970">
            <a:solidFill>
              <a:srgbClr val="6666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3" name="Oval 72"/>
          <p:cNvSpPr/>
          <p:nvPr/>
        </p:nvSpPr>
        <p:spPr>
          <a:xfrm>
            <a:off x="2694570" y="2450591"/>
            <a:ext cx="128016" cy="128016"/>
          </a:xfrm>
          <a:prstGeom prst="ellipse">
            <a:avLst/>
          </a:prstGeom>
          <a:solidFill>
            <a:srgbClr val="FFFFFF"/>
          </a:solidFill>
          <a:ln w="1524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4" name="Connector 73"/>
          <p:cNvCxnSpPr/>
          <p:nvPr/>
        </p:nvCxnSpPr>
        <p:spPr>
          <a:xfrm>
            <a:off x="2895738" y="2514599"/>
            <a:ext cx="1753611" cy="0"/>
          </a:xfrm>
          <a:prstGeom prst="line">
            <a:avLst/>
          </a:prstGeom>
          <a:ln w="13970">
            <a:solidFill>
              <a:srgbClr val="6666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5" name="Oval 74"/>
          <p:cNvSpPr/>
          <p:nvPr/>
        </p:nvSpPr>
        <p:spPr>
          <a:xfrm>
            <a:off x="2575698" y="2176271"/>
            <a:ext cx="237744" cy="237744"/>
          </a:xfrm>
          <a:prstGeom prst="ellipse">
            <a:avLst/>
          </a:prstGeom>
          <a:solidFill>
            <a:srgbClr val="DC2626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5</a:t>
            </a:r>
          </a:p>
        </p:txBody>
      </p:sp>
      <p:sp>
        <p:nvSpPr>
          <p:cNvPr id="76" name="Rectangle 75"/>
          <p:cNvSpPr/>
          <p:nvPr/>
        </p:nvSpPr>
        <p:spPr>
          <a:xfrm>
            <a:off x="2593986" y="2761487"/>
            <a:ext cx="2828405" cy="237744"/>
          </a:xfrm>
          <a:prstGeom prst="rect">
            <a:avLst/>
          </a:prstGeom>
          <a:solidFill>
            <a:srgbClr val="F7F7F7"/>
          </a:solidFill>
          <a:ln w="1524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7" name="Connector 76"/>
          <p:cNvCxnSpPr/>
          <p:nvPr/>
        </p:nvCxnSpPr>
        <p:spPr>
          <a:xfrm>
            <a:off x="2694570" y="2889503"/>
            <a:ext cx="1866748" cy="0"/>
          </a:xfrm>
          <a:prstGeom prst="line">
            <a:avLst/>
          </a:prstGeom>
          <a:ln w="13970">
            <a:solidFill>
              <a:srgbClr val="6666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8" name="Rectangle 77"/>
          <p:cNvSpPr/>
          <p:nvPr/>
        </p:nvSpPr>
        <p:spPr>
          <a:xfrm>
            <a:off x="2593986" y="3072383"/>
            <a:ext cx="2828405" cy="768096"/>
          </a:xfrm>
          <a:prstGeom prst="rect">
            <a:avLst/>
          </a:prstGeom>
          <a:solidFill>
            <a:srgbClr val="FFFFFF"/>
          </a:solidFill>
          <a:ln w="1651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9" name="Connector 78"/>
          <p:cNvCxnSpPr/>
          <p:nvPr/>
        </p:nvCxnSpPr>
        <p:spPr>
          <a:xfrm>
            <a:off x="2694570" y="3218687"/>
            <a:ext cx="848522" cy="0"/>
          </a:xfrm>
          <a:prstGeom prst="line">
            <a:avLst/>
          </a:prstGeom>
          <a:ln w="20320">
            <a:solidFill>
              <a:srgbClr val="6666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0" name="Rectangle 79"/>
          <p:cNvSpPr/>
          <p:nvPr/>
        </p:nvSpPr>
        <p:spPr>
          <a:xfrm>
            <a:off x="2694570" y="3364991"/>
            <a:ext cx="1244498" cy="164592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81" name="Connector 80"/>
          <p:cNvCxnSpPr/>
          <p:nvPr/>
        </p:nvCxnSpPr>
        <p:spPr>
          <a:xfrm>
            <a:off x="2694570" y="3529583"/>
            <a:ext cx="1244498" cy="0"/>
          </a:xfrm>
          <a:prstGeom prst="line">
            <a:avLst/>
          </a:prstGeom>
          <a:ln w="22860">
            <a:solidFill>
              <a:srgbClr val="33333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2" name="Rectangle 81"/>
          <p:cNvSpPr/>
          <p:nvPr/>
        </p:nvSpPr>
        <p:spPr>
          <a:xfrm>
            <a:off x="4108773" y="3364991"/>
            <a:ext cx="1143914" cy="164592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83" name="Connector 82"/>
          <p:cNvCxnSpPr/>
          <p:nvPr/>
        </p:nvCxnSpPr>
        <p:spPr>
          <a:xfrm>
            <a:off x="4108773" y="3529583"/>
            <a:ext cx="1143914" cy="0"/>
          </a:xfrm>
          <a:prstGeom prst="line">
            <a:avLst/>
          </a:prstGeom>
          <a:ln w="22860">
            <a:solidFill>
              <a:srgbClr val="33333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4" name="Rectangle 83"/>
          <p:cNvSpPr/>
          <p:nvPr/>
        </p:nvSpPr>
        <p:spPr>
          <a:xfrm>
            <a:off x="2694570" y="3602735"/>
            <a:ext cx="2627237" cy="164592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85" name="Connector 84"/>
          <p:cNvCxnSpPr/>
          <p:nvPr/>
        </p:nvCxnSpPr>
        <p:spPr>
          <a:xfrm>
            <a:off x="2694570" y="3767327"/>
            <a:ext cx="2627237" cy="0"/>
          </a:xfrm>
          <a:prstGeom prst="line">
            <a:avLst/>
          </a:prstGeom>
          <a:ln w="22860">
            <a:solidFill>
              <a:srgbClr val="33333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6" name="Rectangle 85"/>
          <p:cNvSpPr/>
          <p:nvPr/>
        </p:nvSpPr>
        <p:spPr>
          <a:xfrm>
            <a:off x="2593986" y="3913631"/>
            <a:ext cx="2828405" cy="768096"/>
          </a:xfrm>
          <a:prstGeom prst="rect">
            <a:avLst/>
          </a:prstGeom>
          <a:solidFill>
            <a:srgbClr val="FFFFFF"/>
          </a:solidFill>
          <a:ln w="1651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87" name="Connector 86"/>
          <p:cNvCxnSpPr/>
          <p:nvPr/>
        </p:nvCxnSpPr>
        <p:spPr>
          <a:xfrm>
            <a:off x="2694570" y="4059935"/>
            <a:ext cx="848522" cy="0"/>
          </a:xfrm>
          <a:prstGeom prst="line">
            <a:avLst/>
          </a:prstGeom>
          <a:ln w="20320">
            <a:solidFill>
              <a:srgbClr val="6666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8" name="Rectangle 87"/>
          <p:cNvSpPr/>
          <p:nvPr/>
        </p:nvSpPr>
        <p:spPr>
          <a:xfrm>
            <a:off x="2694570" y="4206240"/>
            <a:ext cx="1244498" cy="164592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89" name="Connector 88"/>
          <p:cNvCxnSpPr/>
          <p:nvPr/>
        </p:nvCxnSpPr>
        <p:spPr>
          <a:xfrm>
            <a:off x="2694570" y="4370831"/>
            <a:ext cx="1244498" cy="0"/>
          </a:xfrm>
          <a:prstGeom prst="line">
            <a:avLst/>
          </a:prstGeom>
          <a:ln w="22860">
            <a:solidFill>
              <a:srgbClr val="33333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0" name="Rectangle 89"/>
          <p:cNvSpPr/>
          <p:nvPr/>
        </p:nvSpPr>
        <p:spPr>
          <a:xfrm>
            <a:off x="4108773" y="4206240"/>
            <a:ext cx="1143914" cy="164592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91" name="Connector 90"/>
          <p:cNvCxnSpPr/>
          <p:nvPr/>
        </p:nvCxnSpPr>
        <p:spPr>
          <a:xfrm>
            <a:off x="4108773" y="4370831"/>
            <a:ext cx="1143914" cy="0"/>
          </a:xfrm>
          <a:prstGeom prst="line">
            <a:avLst/>
          </a:prstGeom>
          <a:ln w="22860">
            <a:solidFill>
              <a:srgbClr val="33333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2" name="Rectangle 91"/>
          <p:cNvSpPr/>
          <p:nvPr/>
        </p:nvSpPr>
        <p:spPr>
          <a:xfrm>
            <a:off x="2694570" y="4443983"/>
            <a:ext cx="2627237" cy="164592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93" name="Connector 92"/>
          <p:cNvCxnSpPr/>
          <p:nvPr/>
        </p:nvCxnSpPr>
        <p:spPr>
          <a:xfrm>
            <a:off x="2694570" y="4608575"/>
            <a:ext cx="2627237" cy="0"/>
          </a:xfrm>
          <a:prstGeom prst="line">
            <a:avLst/>
          </a:prstGeom>
          <a:ln w="22860">
            <a:solidFill>
              <a:srgbClr val="33333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4" name="Oval 93"/>
          <p:cNvSpPr/>
          <p:nvPr/>
        </p:nvSpPr>
        <p:spPr>
          <a:xfrm>
            <a:off x="2575698" y="2743199"/>
            <a:ext cx="237744" cy="237744"/>
          </a:xfrm>
          <a:prstGeom prst="ellipse">
            <a:avLst/>
          </a:prstGeom>
          <a:solidFill>
            <a:srgbClr val="DC2626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6</a:t>
            </a:r>
          </a:p>
        </p:txBody>
      </p:sp>
      <p:sp>
        <p:nvSpPr>
          <p:cNvPr id="95" name="Rectangle 94"/>
          <p:cNvSpPr/>
          <p:nvPr/>
        </p:nvSpPr>
        <p:spPr>
          <a:xfrm>
            <a:off x="2593986" y="4791455"/>
            <a:ext cx="1363910" cy="713232"/>
          </a:xfrm>
          <a:prstGeom prst="rect">
            <a:avLst/>
          </a:prstGeom>
          <a:solidFill>
            <a:srgbClr val="F7F7F7"/>
          </a:solidFill>
          <a:ln w="1651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96" name="Connector 95"/>
          <p:cNvCxnSpPr/>
          <p:nvPr/>
        </p:nvCxnSpPr>
        <p:spPr>
          <a:xfrm>
            <a:off x="2694570" y="4937759"/>
            <a:ext cx="681955" cy="0"/>
          </a:xfrm>
          <a:prstGeom prst="line">
            <a:avLst/>
          </a:prstGeom>
          <a:ln w="20320">
            <a:solidFill>
              <a:srgbClr val="6666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7" name="Connector 96"/>
          <p:cNvCxnSpPr/>
          <p:nvPr/>
        </p:nvCxnSpPr>
        <p:spPr>
          <a:xfrm>
            <a:off x="2694570" y="5084064"/>
            <a:ext cx="491008" cy="0"/>
          </a:xfrm>
          <a:prstGeom prst="line">
            <a:avLst/>
          </a:prstGeom>
          <a:ln w="13970">
            <a:solidFill>
              <a:srgbClr val="6666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8" name="Rounded Rectangle 97"/>
          <p:cNvSpPr/>
          <p:nvPr/>
        </p:nvSpPr>
        <p:spPr>
          <a:xfrm>
            <a:off x="2694570" y="5193792"/>
            <a:ext cx="1162742" cy="219456"/>
          </a:xfrm>
          <a:prstGeom prst="roundRect">
            <a:avLst/>
          </a:prstGeom>
          <a:solidFill>
            <a:srgbClr val="F7F7F7"/>
          </a:solidFill>
          <a:ln w="1524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Rectangle 98"/>
          <p:cNvSpPr/>
          <p:nvPr/>
        </p:nvSpPr>
        <p:spPr>
          <a:xfrm>
            <a:off x="4058481" y="4791455"/>
            <a:ext cx="1363910" cy="713232"/>
          </a:xfrm>
          <a:prstGeom prst="rect">
            <a:avLst/>
          </a:prstGeom>
          <a:solidFill>
            <a:srgbClr val="F7F7F7"/>
          </a:solidFill>
          <a:ln w="1651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00" name="Connector 99"/>
          <p:cNvCxnSpPr/>
          <p:nvPr/>
        </p:nvCxnSpPr>
        <p:spPr>
          <a:xfrm>
            <a:off x="4159065" y="4937759"/>
            <a:ext cx="681955" cy="0"/>
          </a:xfrm>
          <a:prstGeom prst="line">
            <a:avLst/>
          </a:prstGeom>
          <a:ln w="20320">
            <a:solidFill>
              <a:srgbClr val="6666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1" name="Connector 100"/>
          <p:cNvCxnSpPr/>
          <p:nvPr/>
        </p:nvCxnSpPr>
        <p:spPr>
          <a:xfrm>
            <a:off x="4159065" y="5084064"/>
            <a:ext cx="491008" cy="0"/>
          </a:xfrm>
          <a:prstGeom prst="line">
            <a:avLst/>
          </a:prstGeom>
          <a:ln w="13970">
            <a:solidFill>
              <a:srgbClr val="6666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2" name="Rounded Rectangle 101"/>
          <p:cNvSpPr/>
          <p:nvPr/>
        </p:nvSpPr>
        <p:spPr>
          <a:xfrm>
            <a:off x="4159065" y="5193792"/>
            <a:ext cx="1162742" cy="219456"/>
          </a:xfrm>
          <a:prstGeom prst="roundRect">
            <a:avLst/>
          </a:prstGeom>
          <a:solidFill>
            <a:srgbClr val="F7F7F7"/>
          </a:solidFill>
          <a:ln w="1524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Oval 102"/>
          <p:cNvSpPr/>
          <p:nvPr/>
        </p:nvSpPr>
        <p:spPr>
          <a:xfrm>
            <a:off x="2575698" y="4773168"/>
            <a:ext cx="237744" cy="237744"/>
          </a:xfrm>
          <a:prstGeom prst="ellipse">
            <a:avLst/>
          </a:prstGeom>
          <a:solidFill>
            <a:srgbClr val="DC2626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7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2593986" y="5614416"/>
            <a:ext cx="2828405" cy="694944"/>
          </a:xfrm>
          <a:prstGeom prst="rect">
            <a:avLst/>
          </a:prstGeom>
          <a:solidFill>
            <a:srgbClr val="FFFFFF"/>
          </a:solidFill>
          <a:ln w="1651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05" name="Connector 104"/>
          <p:cNvCxnSpPr/>
          <p:nvPr/>
        </p:nvCxnSpPr>
        <p:spPr>
          <a:xfrm>
            <a:off x="2694570" y="5760720"/>
            <a:ext cx="848522" cy="0"/>
          </a:xfrm>
          <a:prstGeom prst="line">
            <a:avLst/>
          </a:prstGeom>
          <a:ln w="20320">
            <a:solidFill>
              <a:srgbClr val="6666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6" name="Rectangle 105"/>
          <p:cNvSpPr/>
          <p:nvPr/>
        </p:nvSpPr>
        <p:spPr>
          <a:xfrm>
            <a:off x="2694570" y="5907024"/>
            <a:ext cx="1785989" cy="182880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07" name="Connector 106"/>
          <p:cNvCxnSpPr/>
          <p:nvPr/>
        </p:nvCxnSpPr>
        <p:spPr>
          <a:xfrm>
            <a:off x="2694570" y="6089904"/>
            <a:ext cx="1785989" cy="0"/>
          </a:xfrm>
          <a:prstGeom prst="line">
            <a:avLst/>
          </a:prstGeom>
          <a:ln w="22860">
            <a:solidFill>
              <a:srgbClr val="33333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8" name="Rounded Rectangle 107"/>
          <p:cNvSpPr/>
          <p:nvPr/>
        </p:nvSpPr>
        <p:spPr>
          <a:xfrm>
            <a:off x="4590288" y="5888736"/>
            <a:ext cx="731520" cy="219456"/>
          </a:xfrm>
          <a:prstGeom prst="roundRect">
            <a:avLst/>
          </a:prstGeom>
          <a:solidFill>
            <a:srgbClr val="F7F7F7"/>
          </a:solidFill>
          <a:ln w="1524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Oval 108"/>
          <p:cNvSpPr/>
          <p:nvPr/>
        </p:nvSpPr>
        <p:spPr>
          <a:xfrm>
            <a:off x="2575698" y="5596128"/>
            <a:ext cx="237744" cy="237744"/>
          </a:xfrm>
          <a:prstGeom prst="ellipse">
            <a:avLst/>
          </a:prstGeom>
          <a:solidFill>
            <a:srgbClr val="DC2626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8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5824728" y="1572767"/>
            <a:ext cx="5982919" cy="256032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111111"/>
                </a:solidFill>
                <a:latin typeface="맑은 고딕"/>
                <a:ea typeface="맑은 고딕"/>
              </a:rPr>
              <a:t>Description</a:t>
            </a:r>
          </a:p>
        </p:txBody>
      </p:sp>
      <p:sp>
        <p:nvSpPr>
          <p:cNvPr id="111" name="Oval 110"/>
          <p:cNvSpPr/>
          <p:nvPr/>
        </p:nvSpPr>
        <p:spPr>
          <a:xfrm>
            <a:off x="5824728" y="1929383"/>
            <a:ext cx="219456" cy="219456"/>
          </a:xfrm>
          <a:prstGeom prst="ellipse">
            <a:avLst/>
          </a:prstGeom>
          <a:solidFill>
            <a:srgbClr val="DC2626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5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6135624" y="1901951"/>
            <a:ext cx="5672023" cy="834847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100"/>
              </a:spcAft>
            </a:pPr>
            <a:r>
              <a:rPr sz="950" b="1">
                <a:solidFill>
                  <a:srgbClr val="111111"/>
                </a:solidFill>
                <a:latin typeface="맑은 고딕"/>
                <a:ea typeface="맑은 고딕"/>
              </a:rPr>
              <a:t>승인 이력 </a:t>
            </a:r>
            <a:r>
              <a:rPr sz="950" b="0">
                <a:solidFill>
                  <a:srgbClr val="999999"/>
                </a:solidFill>
                <a:latin typeface="맑은 고딕"/>
                <a:ea typeface="맑은 고딕"/>
              </a:rPr>
              <a:t>—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approve/reject/cancel 기록</a:t>
            </a:r>
          </a:p>
        </p:txBody>
      </p:sp>
      <p:cxnSp>
        <p:nvCxnSpPr>
          <p:cNvPr id="113" name="Connector 112"/>
          <p:cNvCxnSpPr/>
          <p:nvPr/>
        </p:nvCxnSpPr>
        <p:spPr>
          <a:xfrm>
            <a:off x="5824728" y="2718511"/>
            <a:ext cx="5982919" cy="0"/>
          </a:xfrm>
          <a:prstGeom prst="line">
            <a:avLst/>
          </a:prstGeom>
          <a:ln w="9525">
            <a:solidFill>
              <a:srgbClr val="EEEEE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4" name="Oval 113"/>
          <p:cNvSpPr/>
          <p:nvPr/>
        </p:nvSpPr>
        <p:spPr>
          <a:xfrm>
            <a:off x="5824728" y="2764231"/>
            <a:ext cx="219456" cy="219456"/>
          </a:xfrm>
          <a:prstGeom prst="ellipse">
            <a:avLst/>
          </a:prstGeom>
          <a:solidFill>
            <a:srgbClr val="DC2626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6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6135624" y="2736799"/>
            <a:ext cx="5672023" cy="834847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100"/>
              </a:spcAft>
            </a:pPr>
            <a:r>
              <a:rPr sz="950" b="1">
                <a:solidFill>
                  <a:srgbClr val="111111"/>
                </a:solidFill>
                <a:latin typeface="맑은 고딕"/>
                <a:ea typeface="맑은 고딕"/>
              </a:rPr>
              <a:t>편집 안내·폼 </a:t>
            </a:r>
            <a:r>
              <a:rPr sz="950" b="0">
                <a:solidFill>
                  <a:srgbClr val="999999"/>
                </a:solidFill>
                <a:latin typeface="맑은 고딕"/>
                <a:ea typeface="맑은 고딕"/>
              </a:rPr>
              <a:t>—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"내용을 직접 수정한 후 승인할 수 있습니다" — 기본 정보·유형별·담당자</a:t>
            </a:r>
          </a:p>
        </p:txBody>
      </p:sp>
      <p:cxnSp>
        <p:nvCxnSpPr>
          <p:cNvPr id="116" name="Connector 115"/>
          <p:cNvCxnSpPr/>
          <p:nvPr/>
        </p:nvCxnSpPr>
        <p:spPr>
          <a:xfrm>
            <a:off x="5824728" y="3553358"/>
            <a:ext cx="5982919" cy="0"/>
          </a:xfrm>
          <a:prstGeom prst="line">
            <a:avLst/>
          </a:prstGeom>
          <a:ln w="9525">
            <a:solidFill>
              <a:srgbClr val="EEEEE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7" name="Oval 116"/>
          <p:cNvSpPr/>
          <p:nvPr/>
        </p:nvSpPr>
        <p:spPr>
          <a:xfrm>
            <a:off x="5824728" y="3599078"/>
            <a:ext cx="219456" cy="219456"/>
          </a:xfrm>
          <a:prstGeom prst="ellipse">
            <a:avLst/>
          </a:prstGeom>
          <a:solidFill>
            <a:srgbClr val="DC2626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7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6135624" y="3571646"/>
            <a:ext cx="5672023" cy="834847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100"/>
              </a:spcAft>
            </a:pPr>
            <a:r>
              <a:rPr sz="950" b="1">
                <a:solidFill>
                  <a:srgbClr val="111111"/>
                </a:solidFill>
                <a:latin typeface="맑은 고딕"/>
                <a:ea typeface="맑은 고딕"/>
              </a:rPr>
              <a:t>슬롯 카드 2개 </a:t>
            </a:r>
            <a:r>
              <a:rPr sz="950" b="0">
                <a:solidFill>
                  <a:srgbClr val="999999"/>
                </a:solidFill>
                <a:latin typeface="맑은 고딕"/>
                <a:ea typeface="맑은 고딕"/>
              </a:rPr>
              <a:t>—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관계사/전사 — 승인·승인 취소[게시 전·확인 절차]</a:t>
            </a:r>
          </a:p>
        </p:txBody>
      </p:sp>
      <p:cxnSp>
        <p:nvCxnSpPr>
          <p:cNvPr id="119" name="Connector 118"/>
          <p:cNvCxnSpPr/>
          <p:nvPr/>
        </p:nvCxnSpPr>
        <p:spPr>
          <a:xfrm>
            <a:off x="5824728" y="4388205"/>
            <a:ext cx="5982919" cy="0"/>
          </a:xfrm>
          <a:prstGeom prst="line">
            <a:avLst/>
          </a:prstGeom>
          <a:ln w="9525">
            <a:solidFill>
              <a:srgbClr val="EEEEE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0" name="Oval 119"/>
          <p:cNvSpPr/>
          <p:nvPr/>
        </p:nvSpPr>
        <p:spPr>
          <a:xfrm>
            <a:off x="5824728" y="4433925"/>
            <a:ext cx="219456" cy="219456"/>
          </a:xfrm>
          <a:prstGeom prst="ellipse">
            <a:avLst/>
          </a:prstGeom>
          <a:solidFill>
            <a:srgbClr val="DC2626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8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6135624" y="4406493"/>
            <a:ext cx="5672023" cy="834847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100"/>
              </a:spcAft>
            </a:pPr>
            <a:r>
              <a:rPr sz="950" b="1">
                <a:solidFill>
                  <a:srgbClr val="111111"/>
                </a:solidFill>
                <a:latin typeface="맑은 고딕"/>
                <a:ea typeface="맑은 고딕"/>
              </a:rPr>
              <a:t>반려 </a:t>
            </a:r>
            <a:r>
              <a:rPr sz="950" b="0">
                <a:solidFill>
                  <a:srgbClr val="999999"/>
                </a:solidFill>
                <a:latin typeface="맑은 고딕"/>
                <a:ea typeface="맑은 고딕"/>
              </a:rPr>
              <a:t>—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사유 필수 — "신청자에게 그대로 전달됩니다"</a:t>
            </a:r>
          </a:p>
        </p:txBody>
      </p:sp>
      <p:sp>
        <p:nvSpPr>
          <p:cNvPr id="122" name="Rectangle 121"/>
          <p:cNvSpPr/>
          <p:nvPr/>
        </p:nvSpPr>
        <p:spPr>
          <a:xfrm>
            <a:off x="5824728" y="5387644"/>
            <a:ext cx="5982919" cy="1086307"/>
          </a:xfrm>
          <a:prstGeom prst="rect">
            <a:avLst/>
          </a:prstGeom>
          <a:solidFill>
            <a:srgbClr val="F7F7F7"/>
          </a:solidFill>
          <a:ln w="12700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23" name="Connector 122"/>
          <p:cNvCxnSpPr/>
          <p:nvPr/>
        </p:nvCxnSpPr>
        <p:spPr>
          <a:xfrm>
            <a:off x="5824728" y="5661964"/>
            <a:ext cx="5982919" cy="0"/>
          </a:xfrm>
          <a:prstGeom prst="line">
            <a:avLst/>
          </a:prstGeom>
          <a:ln w="12700">
            <a:solidFill>
              <a:srgbClr val="CCCCC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4" name="TextBox 123"/>
          <p:cNvSpPr txBox="1"/>
          <p:nvPr/>
        </p:nvSpPr>
        <p:spPr>
          <a:xfrm>
            <a:off x="5934456" y="5428792"/>
            <a:ext cx="5763463" cy="237744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11111"/>
                </a:solidFill>
                <a:latin typeface="맑은 고딕"/>
                <a:ea typeface="맑은 고딕"/>
              </a:rPr>
              <a:t>화면 룰·기획 근거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5952744" y="5698540"/>
            <a:ext cx="5726887" cy="738835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100"/>
              </a:spcAft>
            </a:pPr>
            <a:r>
              <a:rPr sz="85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850" b="0">
                <a:solidFill>
                  <a:srgbClr val="333333"/>
                </a:solidFill>
                <a:latin typeface="맑은 고딕"/>
                <a:ea typeface="맑은 고딕"/>
              </a:rPr>
              <a:t>두 슬롯 승인 완료 시 게시(0.7)</a:t>
            </a:r>
          </a:p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100"/>
              </a:spcAft>
            </a:pPr>
            <a:r>
              <a:rPr sz="85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850" b="0">
                <a:solidFill>
                  <a:srgbClr val="333333"/>
                </a:solidFill>
                <a:latin typeface="맑은 고딕"/>
                <a:ea typeface="맑은 고딕"/>
              </a:rPr>
              <a:t>게시 후 정정은 별도 경로</a:t>
            </a:r>
          </a:p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DC2626"/>
                </a:solidFill>
                <a:latin typeface="맑은 고딕"/>
                <a:ea typeface="맑은 고딕"/>
              </a:rPr>
              <a:t>BE·DB  </a:t>
            </a:r>
            <a:r>
              <a:rPr sz="850" b="0">
                <a:solidFill>
                  <a:srgbClr val="666666"/>
                </a:solidFill>
                <a:latin typeface="맑은 고딕"/>
                <a:ea typeface="맑은 고딕"/>
              </a:rPr>
              <a:t>getReviewQueue·deriveStage. companyAdmin 필터 서버 적용, 승인·취소·반려 = 슬롯+이력(approve/reject/cancel)+게시 판정 단일 트랜잭션, 각각 알림 발송(0.10).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84048" y="384048"/>
            <a:ext cx="7996519" cy="365760"/>
          </a:xfrm>
          <a:prstGeom prst="rect">
            <a:avLst/>
          </a:prstGeom>
          <a:noFill/>
        </p:spPr>
        <p:txBody>
          <a:bodyPr wrap="square" anchor="ctr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111111"/>
                </a:solidFill>
                <a:latin typeface="맑은 고딕"/>
                <a:ea typeface="맑은 고딕"/>
              </a:rPr>
              <a:t>ADM-03  ·  카드 관리 (Cards)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238207" y="384048"/>
            <a:ext cx="4569439" cy="365760"/>
          </a:xfrm>
          <a:prstGeom prst="rect">
            <a:avLst/>
          </a:prstGeom>
          <a:noFill/>
        </p:spPr>
        <p:txBody>
          <a:bodyPr wrap="square" anchor="ctr" lIns="54864" rIns="54864" tIns="27432" bIns="18288">
            <a:no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999999"/>
                </a:solidFill>
                <a:latin typeface="맑은 고딕"/>
                <a:ea typeface="맑은 고딕"/>
              </a:rPr>
              <a:t>화면 정의 (Screen Definition)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384048" y="786384"/>
            <a:ext cx="11423599" cy="0"/>
          </a:xfrm>
          <a:prstGeom prst="line">
            <a:avLst/>
          </a:prstGeom>
          <a:ln w="19050">
            <a:solidFill>
              <a:srgbClr val="CCCCC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384048" y="822959"/>
            <a:ext cx="11423599" cy="182880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999999"/>
                </a:solidFill>
                <a:latin typeface="맑은 고딕"/>
                <a:ea typeface="맑은 고딕"/>
              </a:rPr>
              <a:t>화면에 표기된 카테고리·업무 도메인 등 분류 개수는 마스터 데이터에서 파생되는 현재값이며, 고정 상수가 아니다(0.9).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84048" y="1097280"/>
            <a:ext cx="6282979" cy="219456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999999"/>
                </a:solidFill>
                <a:latin typeface="맑은 고딕"/>
                <a:ea typeface="맑은 고딕"/>
              </a:rPr>
              <a:t>화면 구조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29768" y="1371600"/>
            <a:ext cx="3838754" cy="233172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75488" y="1371600"/>
            <a:ext cx="3747314" cy="233172"/>
          </a:xfrm>
          <a:prstGeom prst="rect">
            <a:avLst/>
          </a:prstGeom>
          <a:noFill/>
        </p:spPr>
        <p:txBody>
          <a:bodyPr wrap="square" anchor="ctr" lIns="54864" rIns="54864" tIns="27432" bIns="18288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333333"/>
                </a:solidFill>
                <a:latin typeface="맑은 고딕"/>
                <a:ea typeface="맑은 고딕"/>
              </a:rPr>
              <a:t>카드 관리 (/admin/projects)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13815" y="1714500"/>
            <a:ext cx="3600644" cy="233172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59536" y="1714500"/>
            <a:ext cx="3509204" cy="233172"/>
          </a:xfrm>
          <a:prstGeom prst="rect">
            <a:avLst/>
          </a:prstGeom>
          <a:noFill/>
        </p:spPr>
        <p:txBody>
          <a:bodyPr wrap="square" anchor="ctr" lIns="54864" rIns="54864" tIns="27432" bIns="18288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333333"/>
                </a:solidFill>
                <a:latin typeface="맑은 고딕"/>
                <a:ea typeface="맑은 고딕"/>
              </a:rPr>
              <a:t>좌 목록 (검색·유형 칩·카테고리 아코디언)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539496" y="1488186"/>
            <a:ext cx="0" cy="342900"/>
          </a:xfrm>
          <a:prstGeom prst="line">
            <a:avLst/>
          </a:prstGeom>
          <a:ln w="16510">
            <a:solidFill>
              <a:srgbClr val="99999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539496" y="1831086"/>
            <a:ext cx="274319" cy="0"/>
          </a:xfrm>
          <a:prstGeom prst="line">
            <a:avLst/>
          </a:prstGeom>
          <a:ln w="16510">
            <a:solidFill>
              <a:srgbClr val="99999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813815" y="2057400"/>
            <a:ext cx="3600644" cy="233172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59536" y="2057400"/>
            <a:ext cx="3509204" cy="233172"/>
          </a:xfrm>
          <a:prstGeom prst="rect">
            <a:avLst/>
          </a:prstGeom>
          <a:noFill/>
        </p:spPr>
        <p:txBody>
          <a:bodyPr wrap="square" anchor="ctr" lIns="54864" rIns="54864" tIns="27432" bIns="18288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333333"/>
                </a:solidFill>
                <a:latin typeface="맑은 고딕"/>
                <a:ea typeface="맑은 고딕"/>
              </a:rPr>
              <a:t>우 상세·편집 (이미지·유형별·신청자·담당자)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539496" y="1488186"/>
            <a:ext cx="0" cy="685800"/>
          </a:xfrm>
          <a:prstGeom prst="line">
            <a:avLst/>
          </a:prstGeom>
          <a:ln w="16510">
            <a:solidFill>
              <a:srgbClr val="99999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539496" y="2173986"/>
            <a:ext cx="274319" cy="0"/>
          </a:xfrm>
          <a:prstGeom prst="line">
            <a:avLst/>
          </a:prstGeom>
          <a:ln w="16510">
            <a:solidFill>
              <a:srgbClr val="99999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384048" y="4288536"/>
            <a:ext cx="6282979" cy="219456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999999"/>
                </a:solidFill>
                <a:latin typeface="맑은 고딕"/>
                <a:ea typeface="맑은 고딕"/>
              </a:rPr>
              <a:t>사용자 흐름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29768" y="4562855"/>
            <a:ext cx="1369576" cy="4572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75488" y="4562855"/>
            <a:ext cx="1278136" cy="457200"/>
          </a:xfrm>
          <a:prstGeom prst="rect">
            <a:avLst/>
          </a:prstGeom>
          <a:noFill/>
        </p:spPr>
        <p:txBody>
          <a:bodyPr wrap="square" anchor="ctr" lIns="54864" rIns="54864" tIns="27432" bIns="18288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333333"/>
                </a:solidFill>
                <a:latin typeface="맑은 고딕"/>
                <a:ea typeface="맑은 고딕"/>
              </a:rPr>
              <a:t>카드 선택</a:t>
            </a:r>
          </a:p>
        </p:txBody>
      </p:sp>
      <p:sp>
        <p:nvSpPr>
          <p:cNvPr id="20" name="Right Arrow 19"/>
          <p:cNvSpPr/>
          <p:nvPr/>
        </p:nvSpPr>
        <p:spPr>
          <a:xfrm>
            <a:off x="1817632" y="4727447"/>
            <a:ext cx="201168" cy="128016"/>
          </a:xfrm>
          <a:prstGeom prst="rightArrow">
            <a:avLst/>
          </a:prstGeom>
          <a:solidFill>
            <a:srgbClr val="CCC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2037088" y="4562855"/>
            <a:ext cx="1369576" cy="4572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2082808" y="4562855"/>
            <a:ext cx="1278136" cy="457200"/>
          </a:xfrm>
          <a:prstGeom prst="rect">
            <a:avLst/>
          </a:prstGeom>
          <a:noFill/>
        </p:spPr>
        <p:txBody>
          <a:bodyPr wrap="square" anchor="ctr" lIns="54864" rIns="54864" tIns="27432" bIns="18288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333333"/>
                </a:solidFill>
                <a:latin typeface="맑은 고딕"/>
                <a:ea typeface="맑은 고딕"/>
              </a:rPr>
              <a:t>조회</a:t>
            </a:r>
          </a:p>
        </p:txBody>
      </p:sp>
      <p:sp>
        <p:nvSpPr>
          <p:cNvPr id="23" name="Right Arrow 22"/>
          <p:cNvSpPr/>
          <p:nvPr/>
        </p:nvSpPr>
        <p:spPr>
          <a:xfrm>
            <a:off x="3424953" y="4727447"/>
            <a:ext cx="201168" cy="128016"/>
          </a:xfrm>
          <a:prstGeom prst="rightArrow">
            <a:avLst/>
          </a:prstGeom>
          <a:solidFill>
            <a:srgbClr val="CCC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3644409" y="4562855"/>
            <a:ext cx="1369576" cy="4572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690129" y="4562855"/>
            <a:ext cx="1278136" cy="457200"/>
          </a:xfrm>
          <a:prstGeom prst="rect">
            <a:avLst/>
          </a:prstGeom>
          <a:noFill/>
        </p:spPr>
        <p:txBody>
          <a:bodyPr wrap="square" anchor="ctr" lIns="54864" rIns="54864" tIns="27432" bIns="18288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333333"/>
                </a:solidFill>
                <a:latin typeface="맑은 고딕"/>
                <a:ea typeface="맑은 고딕"/>
              </a:rPr>
              <a:t>수정(admin)/삭제</a:t>
            </a:r>
          </a:p>
        </p:txBody>
      </p:sp>
      <p:sp>
        <p:nvSpPr>
          <p:cNvPr id="26" name="Right Arrow 25"/>
          <p:cNvSpPr/>
          <p:nvPr/>
        </p:nvSpPr>
        <p:spPr>
          <a:xfrm>
            <a:off x="5032274" y="4727447"/>
            <a:ext cx="201168" cy="128016"/>
          </a:xfrm>
          <a:prstGeom prst="rightArrow">
            <a:avLst/>
          </a:prstGeom>
          <a:solidFill>
            <a:srgbClr val="CCC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5251730" y="4562855"/>
            <a:ext cx="1369576" cy="4572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297450" y="4562855"/>
            <a:ext cx="1278136" cy="457200"/>
          </a:xfrm>
          <a:prstGeom prst="rect">
            <a:avLst/>
          </a:prstGeom>
          <a:noFill/>
        </p:spPr>
        <p:txBody>
          <a:bodyPr wrap="square" anchor="ctr" lIns="54864" rIns="54864" tIns="27432" bIns="18288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333333"/>
                </a:solidFill>
                <a:latin typeface="맑은 고딕"/>
                <a:ea typeface="맑은 고딕"/>
              </a:rPr>
              <a:t>저장</a:t>
            </a:r>
          </a:p>
        </p:txBody>
      </p:sp>
      <p:sp>
        <p:nvSpPr>
          <p:cNvPr id="29" name="Down Arrow 28"/>
          <p:cNvSpPr/>
          <p:nvPr/>
        </p:nvSpPr>
        <p:spPr>
          <a:xfrm>
            <a:off x="1050548" y="5038343"/>
            <a:ext cx="128016" cy="256032"/>
          </a:xfrm>
          <a:prstGeom prst="downArrow">
            <a:avLst/>
          </a:prstGeom>
          <a:solidFill>
            <a:srgbClr val="CCC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429768" y="5330951"/>
            <a:ext cx="1369576" cy="384048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75488" y="5330951"/>
            <a:ext cx="1278136" cy="384048"/>
          </a:xfrm>
          <a:prstGeom prst="rect">
            <a:avLst/>
          </a:prstGeom>
          <a:noFill/>
        </p:spPr>
        <p:txBody>
          <a:bodyPr wrap="square" anchor="ctr" lIns="54864" rIns="54864" tIns="27432" bIns="18288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333333"/>
                </a:solidFill>
                <a:latin typeface="맑은 고딕"/>
                <a:ea typeface="맑은 고딕"/>
              </a:rPr>
              <a:t>companyAdmin → 담당 등록 건만·삭제만</a:t>
            </a:r>
          </a:p>
        </p:txBody>
      </p:sp>
      <p:sp>
        <p:nvSpPr>
          <p:cNvPr id="32" name="Down Arrow 31"/>
          <p:cNvSpPr/>
          <p:nvPr/>
        </p:nvSpPr>
        <p:spPr>
          <a:xfrm>
            <a:off x="4265190" y="5038343"/>
            <a:ext cx="128016" cy="256032"/>
          </a:xfrm>
          <a:prstGeom prst="downArrow">
            <a:avLst/>
          </a:prstGeom>
          <a:solidFill>
            <a:srgbClr val="CCC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3644409" y="5330951"/>
            <a:ext cx="1369576" cy="384048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90129" y="5330951"/>
            <a:ext cx="1278136" cy="384048"/>
          </a:xfrm>
          <a:prstGeom prst="rect">
            <a:avLst/>
          </a:prstGeom>
          <a:noFill/>
        </p:spPr>
        <p:txBody>
          <a:bodyPr wrap="square" anchor="ctr" lIns="54864" rIns="54864" tIns="27432" bIns="18288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333333"/>
                </a:solidFill>
                <a:latin typeface="맑은 고딕"/>
                <a:ea typeface="맑은 고딕"/>
              </a:rPr>
              <a:t>직접 등록(admin)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29768" y="5861303"/>
            <a:ext cx="6191539" cy="201168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999999"/>
                </a:solidFill>
                <a:latin typeface="맑은 고딕"/>
                <a:ea typeface="맑은 고딕"/>
              </a:rPr>
              <a:t>설계 근거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48056" y="6080759"/>
            <a:ext cx="6154963" cy="393192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85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850" b="0">
                <a:solidFill>
                  <a:srgbClr val="666666"/>
                </a:solidFill>
                <a:latin typeface="맑은 고딕"/>
                <a:ea typeface="맑은 고딕"/>
              </a:rPr>
              <a:t>카테고리 아코디언(기본 접힘·검색 자동 펼침)으로 카드 수가 늘어도 목록이 무너지지 않게 한다.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85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850" b="0">
                <a:solidFill>
                  <a:srgbClr val="666666"/>
                </a:solidFill>
                <a:latin typeface="맑은 고딕"/>
                <a:ea typeface="맑은 고딕"/>
              </a:rPr>
              <a:t>편집 항목을 등록 폼과 같은 체계로 두어 관리자의 학습 비용을 없앤다.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941347" y="1097280"/>
            <a:ext cx="4866299" cy="886392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7051075" y="1133856"/>
            <a:ext cx="4646843" cy="237744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333333"/>
                </a:solidFill>
                <a:latin typeface="맑은 고딕"/>
                <a:ea typeface="맑은 고딕"/>
              </a:rPr>
              <a:t>정의·역할</a:t>
            </a:r>
          </a:p>
        </p:txBody>
      </p:sp>
      <p:cxnSp>
        <p:nvCxnSpPr>
          <p:cNvPr id="39" name="Connector 38"/>
          <p:cNvCxnSpPr/>
          <p:nvPr/>
        </p:nvCxnSpPr>
        <p:spPr>
          <a:xfrm>
            <a:off x="7051075" y="1371600"/>
            <a:ext cx="4646844" cy="0"/>
          </a:xfrm>
          <a:prstGeom prst="line">
            <a:avLst/>
          </a:prstGeom>
          <a:ln w="12700">
            <a:solidFill>
              <a:srgbClr val="EEEEE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0" name="TextBox 39"/>
          <p:cNvSpPr txBox="1"/>
          <p:nvPr/>
        </p:nvSpPr>
        <p:spPr>
          <a:xfrm>
            <a:off x="7069363" y="1408176"/>
            <a:ext cx="4610267" cy="538920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접근: admin · companyAdmin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게시된 전체 카드의 관리(조회·수정·삭제·직접 등록)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941347" y="2111688"/>
            <a:ext cx="4866299" cy="670070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7051075" y="2148264"/>
            <a:ext cx="4646843" cy="237744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333333"/>
                </a:solidFill>
                <a:latin typeface="맑은 고딕"/>
                <a:ea typeface="맑은 고딕"/>
              </a:rPr>
              <a:t>목적</a:t>
            </a:r>
          </a:p>
        </p:txBody>
      </p:sp>
      <p:cxnSp>
        <p:nvCxnSpPr>
          <p:cNvPr id="43" name="Connector 42"/>
          <p:cNvCxnSpPr/>
          <p:nvPr/>
        </p:nvCxnSpPr>
        <p:spPr>
          <a:xfrm>
            <a:off x="7051075" y="2386008"/>
            <a:ext cx="4646844" cy="0"/>
          </a:xfrm>
          <a:prstGeom prst="line">
            <a:avLst/>
          </a:prstGeom>
          <a:ln w="12700">
            <a:solidFill>
              <a:srgbClr val="EEEEE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TextBox 43"/>
          <p:cNvSpPr txBox="1"/>
          <p:nvPr/>
        </p:nvSpPr>
        <p:spPr>
          <a:xfrm>
            <a:off x="7069363" y="2422584"/>
            <a:ext cx="4610267" cy="322598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게시본 품질 유지</a:t>
            </a:r>
          </a:p>
        </p:txBody>
      </p:sp>
      <p:sp>
        <p:nvSpPr>
          <p:cNvPr id="45" name="Rectangle 44"/>
          <p:cNvSpPr/>
          <p:nvPr/>
        </p:nvSpPr>
        <p:spPr>
          <a:xfrm>
            <a:off x="6941347" y="2909775"/>
            <a:ext cx="4866299" cy="1102714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7051075" y="2946351"/>
            <a:ext cx="4646843" cy="237744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333333"/>
                </a:solidFill>
                <a:latin typeface="맑은 고딕"/>
                <a:ea typeface="맑은 고딕"/>
              </a:rPr>
              <a:t>기획 의도</a:t>
            </a:r>
          </a:p>
        </p:txBody>
      </p:sp>
      <p:cxnSp>
        <p:nvCxnSpPr>
          <p:cNvPr id="47" name="Connector 46"/>
          <p:cNvCxnSpPr/>
          <p:nvPr/>
        </p:nvCxnSpPr>
        <p:spPr>
          <a:xfrm>
            <a:off x="7051075" y="3184095"/>
            <a:ext cx="4646844" cy="0"/>
          </a:xfrm>
          <a:prstGeom prst="line">
            <a:avLst/>
          </a:prstGeom>
          <a:ln w="12700">
            <a:solidFill>
              <a:srgbClr val="EEEEE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8" name="TextBox 47"/>
          <p:cNvSpPr txBox="1"/>
          <p:nvPr/>
        </p:nvSpPr>
        <p:spPr>
          <a:xfrm>
            <a:off x="7069363" y="3220671"/>
            <a:ext cx="4610267" cy="755242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카테고리 아코디언(기본 접힘·검색 자동 펼침)으로 카드 증가에 대비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편집 항목은 등록 폼과 동일 체계(이미지 포함) — 학습 비용 제거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수정·직접 등록=admin, 삭제=담당 companyAdmin 허용 — 관계사 차원 품질 관리</a:t>
            </a:r>
          </a:p>
        </p:txBody>
      </p:sp>
      <p:sp>
        <p:nvSpPr>
          <p:cNvPr id="49" name="Rectangle 48"/>
          <p:cNvSpPr/>
          <p:nvPr/>
        </p:nvSpPr>
        <p:spPr>
          <a:xfrm>
            <a:off x="6941347" y="4140506"/>
            <a:ext cx="4866299" cy="1102714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7051075" y="4177082"/>
            <a:ext cx="4646843" cy="237744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333333"/>
                </a:solidFill>
                <a:latin typeface="맑은 고딕"/>
                <a:ea typeface="맑은 고딕"/>
              </a:rPr>
              <a:t>지켜야 할 룰</a:t>
            </a:r>
          </a:p>
        </p:txBody>
      </p:sp>
      <p:cxnSp>
        <p:nvCxnSpPr>
          <p:cNvPr id="51" name="Connector 50"/>
          <p:cNvCxnSpPr/>
          <p:nvPr/>
        </p:nvCxnSpPr>
        <p:spPr>
          <a:xfrm>
            <a:off x="7051075" y="4414826"/>
            <a:ext cx="4646844" cy="0"/>
          </a:xfrm>
          <a:prstGeom prst="line">
            <a:avLst/>
          </a:prstGeom>
          <a:ln w="12700">
            <a:solidFill>
              <a:srgbClr val="EEEEE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2" name="TextBox 51"/>
          <p:cNvSpPr txBox="1"/>
          <p:nvPr/>
        </p:nvSpPr>
        <p:spPr>
          <a:xfrm>
            <a:off x="7069363" y="4451402"/>
            <a:ext cx="4610267" cy="755242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가시성·삭제 권한 = ownerCompany 축(검토와 동일 판정)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삭제는 확인+복구 불가 고지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직접 등록도 ID 규칙(0.3)</a:t>
            </a:r>
          </a:p>
        </p:txBody>
      </p:sp>
      <p:sp>
        <p:nvSpPr>
          <p:cNvPr id="53" name="Rectangle 52"/>
          <p:cNvSpPr/>
          <p:nvPr/>
        </p:nvSpPr>
        <p:spPr>
          <a:xfrm>
            <a:off x="6941347" y="5371237"/>
            <a:ext cx="4866299" cy="1102714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7051075" y="5407813"/>
            <a:ext cx="4646843" cy="237744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333333"/>
                </a:solidFill>
                <a:latin typeface="맑은 고딕"/>
                <a:ea typeface="맑은 고딕"/>
              </a:rPr>
              <a:t>개발 연동 노트</a:t>
            </a:r>
          </a:p>
        </p:txBody>
      </p:sp>
      <p:cxnSp>
        <p:nvCxnSpPr>
          <p:cNvPr id="55" name="Connector 54"/>
          <p:cNvCxnSpPr/>
          <p:nvPr/>
        </p:nvCxnSpPr>
        <p:spPr>
          <a:xfrm>
            <a:off x="7051075" y="5645557"/>
            <a:ext cx="4646844" cy="0"/>
          </a:xfrm>
          <a:prstGeom prst="line">
            <a:avLst/>
          </a:prstGeom>
          <a:ln w="12700">
            <a:solidFill>
              <a:srgbClr val="EEEEE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6" name="TextBox 55"/>
          <p:cNvSpPr txBox="1"/>
          <p:nvPr/>
        </p:nvSpPr>
        <p:spPr>
          <a:xfrm>
            <a:off x="7069363" y="5682133"/>
            <a:ext cx="4610267" cy="755242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getManagedAssetItems(카탈로그 파생). 수정 PATCH·삭제 DELETE·직접 등록 POST, 권한 서버 검증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이미지는 스토리지 선정 연동(부록 B)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aphicFrame>
        <p:nvGraphicFramePr>
          <p:cNvPr id="2" name="Table 1"/>
          <p:cNvGraphicFramePr>
            <a:graphicFrameLocks noGrp="1"/>
          </p:cNvGraphicFramePr>
          <p:nvPr/>
        </p:nvGraphicFramePr>
        <p:xfrm>
          <a:off x="384048" y="384048"/>
          <a:ext cx="11423599" cy="1042416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371600"/>
                <a:gridCol w="4297680"/>
                <a:gridCol w="1280160"/>
                <a:gridCol w="4474159"/>
              </a:tblGrid>
              <a:tr h="384048">
                <a:tc gridSpan="3"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카드 관리  —  좌 목록</a:t>
                      </a:r>
                    </a:p>
                  </a:txBody>
                  <a:tcPr anchor="ctr" marL="73152" marR="54864" marT="18288" marB="18288">
                    <a:solidFill>
                      <a:srgbClr val="111111"/>
                    </a:solidFill>
                    <a:lnL w="9525" cap="flat">
                      <a:solidFill>
                        <a:srgbClr val="666666"/>
                      </a:solidFill>
                    </a:lnL>
                    <a:lnR w="9525" cap="flat">
                      <a:solidFill>
                        <a:srgbClr val="666666"/>
                      </a:solidFill>
                    </a:lnR>
                    <a:lnT w="9525" cap="flat">
                      <a:solidFill>
                        <a:srgbClr val="666666"/>
                      </a:solidFill>
                    </a:lnT>
                    <a:lnB w="9525" cap="flat">
                      <a:solidFill>
                        <a:srgbClr val="666666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Page 1 / 2</a:t>
                      </a:r>
                    </a:p>
                  </a:txBody>
                  <a:tcPr anchor="ctr" marL="73152" marR="54864" marT="18288" marB="18288">
                    <a:solidFill>
                      <a:srgbClr val="111111"/>
                    </a:solidFill>
                    <a:lnL w="9525" cap="flat">
                      <a:solidFill>
                        <a:srgbClr val="666666"/>
                      </a:solidFill>
                    </a:lnL>
                    <a:lnR w="9525" cap="flat">
                      <a:solidFill>
                        <a:srgbClr val="666666"/>
                      </a:solidFill>
                    </a:lnR>
                    <a:lnT w="9525" cap="flat">
                      <a:solidFill>
                        <a:srgbClr val="666666"/>
                      </a:solidFill>
                    </a:lnT>
                    <a:lnB w="9525" cap="flat">
                      <a:solidFill>
                        <a:srgbClr val="666666"/>
                      </a:solidFill>
                    </a:lnB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</a:rPr>
                        <a:t>Page Title</a:t>
                      </a:r>
                    </a:p>
                  </a:txBody>
                  <a:tcPr anchor="ctr" marL="73152" marR="54864" marT="18288" marB="18288">
                    <a:solidFill>
                      <a:srgbClr val="EEEEEE"/>
                    </a:solidFill>
                    <a:lnL w="9525" cap="flat">
                      <a:solidFill>
                        <a:srgbClr val="666666"/>
                      </a:solidFill>
                    </a:lnL>
                    <a:lnR w="9525" cap="flat">
                      <a:solidFill>
                        <a:srgbClr val="666666"/>
                      </a:solidFill>
                    </a:lnR>
                    <a:lnT w="9525" cap="flat">
                      <a:solidFill>
                        <a:srgbClr val="666666"/>
                      </a:solidFill>
                    </a:lnT>
                    <a:lnB w="9525" cap="flat">
                      <a:solidFill>
                        <a:srgbClr val="666666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111111"/>
                          </a:solidFill>
                          <a:latin typeface="맑은 고딕"/>
                          <a:ea typeface="맑은 고딕"/>
                        </a:rPr>
                        <a:t>카드 관리</a:t>
                      </a:r>
                    </a:p>
                  </a:txBody>
                  <a:tcPr anchor="ctr" marL="73152" marR="54864" marT="18288" marB="18288">
                    <a:solidFill>
                      <a:srgbClr val="FFFFFF"/>
                    </a:solidFill>
                    <a:lnL w="9525" cap="flat">
                      <a:solidFill>
                        <a:srgbClr val="666666"/>
                      </a:solidFill>
                    </a:lnL>
                    <a:lnR w="9525" cap="flat">
                      <a:solidFill>
                        <a:srgbClr val="666666"/>
                      </a:solidFill>
                    </a:lnR>
                    <a:lnT w="9525" cap="flat">
                      <a:solidFill>
                        <a:srgbClr val="666666"/>
                      </a:solidFill>
                    </a:lnT>
                    <a:lnB w="9525" cap="flat">
                      <a:solidFill>
                        <a:srgbClr val="666666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</a:rPr>
                        <a:t>Screen ID</a:t>
                      </a:r>
                    </a:p>
                  </a:txBody>
                  <a:tcPr anchor="ctr" marL="73152" marR="54864" marT="18288" marB="18288">
                    <a:solidFill>
                      <a:srgbClr val="EEEEEE"/>
                    </a:solidFill>
                    <a:lnL w="9525" cap="flat">
                      <a:solidFill>
                        <a:srgbClr val="666666"/>
                      </a:solidFill>
                    </a:lnL>
                    <a:lnR w="9525" cap="flat">
                      <a:solidFill>
                        <a:srgbClr val="666666"/>
                      </a:solidFill>
                    </a:lnR>
                    <a:lnT w="9525" cap="flat">
                      <a:solidFill>
                        <a:srgbClr val="666666"/>
                      </a:solidFill>
                    </a:lnT>
                    <a:lnB w="9525" cap="flat">
                      <a:solidFill>
                        <a:srgbClr val="666666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111111"/>
                          </a:solidFill>
                          <a:latin typeface="맑은 고딕"/>
                          <a:ea typeface="맑은 고딕"/>
                        </a:rPr>
                        <a:t>ADM-03</a:t>
                      </a:r>
                    </a:p>
                  </a:txBody>
                  <a:tcPr anchor="ctr" marL="73152" marR="54864" marT="18288" marB="18288">
                    <a:solidFill>
                      <a:srgbClr val="FFFFFF"/>
                    </a:solidFill>
                    <a:lnL w="9525" cap="flat">
                      <a:solidFill>
                        <a:srgbClr val="666666"/>
                      </a:solidFill>
                    </a:lnL>
                    <a:lnR w="9525" cap="flat">
                      <a:solidFill>
                        <a:srgbClr val="666666"/>
                      </a:solidFill>
                    </a:lnR>
                    <a:lnT w="9525" cap="flat">
                      <a:solidFill>
                        <a:srgbClr val="666666"/>
                      </a:solidFill>
                    </a:lnT>
                    <a:lnB w="9525" cap="flat">
                      <a:solidFill>
                        <a:srgbClr val="666666"/>
                      </a:solidFill>
                    </a:lnB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</a:rPr>
                        <a:t>Screen Path</a:t>
                      </a:r>
                    </a:p>
                  </a:txBody>
                  <a:tcPr anchor="ctr" marL="73152" marR="54864" marT="18288" marB="18288">
                    <a:solidFill>
                      <a:srgbClr val="EEEEEE"/>
                    </a:solidFill>
                    <a:lnL w="9525" cap="flat">
                      <a:solidFill>
                        <a:srgbClr val="666666"/>
                      </a:solidFill>
                    </a:lnL>
                    <a:lnR w="9525" cap="flat">
                      <a:solidFill>
                        <a:srgbClr val="666666"/>
                      </a:solidFill>
                    </a:lnR>
                    <a:lnT w="9525" cap="flat">
                      <a:solidFill>
                        <a:srgbClr val="666666"/>
                      </a:solidFill>
                    </a:lnT>
                    <a:lnB w="9525" cap="flat">
                      <a:solidFill>
                        <a:srgbClr val="666666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</a:rPr>
                        <a:t>/admin/projects  (admin·companyAdmin)</a:t>
                      </a:r>
                    </a:p>
                  </a:txBody>
                  <a:tcPr anchor="ctr" marL="73152" marR="54864" marT="18288" marB="18288">
                    <a:solidFill>
                      <a:srgbClr val="FFFFFF"/>
                    </a:solidFill>
                    <a:lnL w="9525" cap="flat">
                      <a:solidFill>
                        <a:srgbClr val="666666"/>
                      </a:solidFill>
                    </a:lnL>
                    <a:lnR w="9525" cap="flat">
                      <a:solidFill>
                        <a:srgbClr val="666666"/>
                      </a:solidFill>
                    </a:lnR>
                    <a:lnT w="9525" cap="flat">
                      <a:solidFill>
                        <a:srgbClr val="666666"/>
                      </a:solidFill>
                    </a:lnT>
                    <a:lnB w="9525" cap="flat">
                      <a:solidFill>
                        <a:srgbClr val="666666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</a:rPr>
                        <a:t>작성자</a:t>
                      </a:r>
                    </a:p>
                  </a:txBody>
                  <a:tcPr anchor="ctr" marL="73152" marR="54864" marT="18288" marB="18288">
                    <a:solidFill>
                      <a:srgbClr val="EEEEEE"/>
                    </a:solidFill>
                    <a:lnL w="9525" cap="flat">
                      <a:solidFill>
                        <a:srgbClr val="666666"/>
                      </a:solidFill>
                    </a:lnL>
                    <a:lnR w="9525" cap="flat">
                      <a:solidFill>
                        <a:srgbClr val="666666"/>
                      </a:solidFill>
                    </a:lnR>
                    <a:lnT w="9525" cap="flat">
                      <a:solidFill>
                        <a:srgbClr val="666666"/>
                      </a:solidFill>
                    </a:lnT>
                    <a:lnB w="9525" cap="flat">
                      <a:solidFill>
                        <a:srgbClr val="666666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11111"/>
                          </a:solidFill>
                          <a:latin typeface="맑은 고딕"/>
                          <a:ea typeface="맑은 고딕"/>
                        </a:rPr>
                        <a:t>배상혁</a:t>
                      </a:r>
                    </a:p>
                  </a:txBody>
                  <a:tcPr anchor="ctr" marL="73152" marR="54864" marT="18288" marB="18288">
                    <a:solidFill>
                      <a:srgbClr val="FFFFFF"/>
                    </a:solidFill>
                    <a:lnL w="9525" cap="flat">
                      <a:solidFill>
                        <a:srgbClr val="666666"/>
                      </a:solidFill>
                    </a:lnL>
                    <a:lnR w="9525" cap="flat">
                      <a:solidFill>
                        <a:srgbClr val="666666"/>
                      </a:solidFill>
                    </a:lnR>
                    <a:lnT w="9525" cap="flat">
                      <a:solidFill>
                        <a:srgbClr val="666666"/>
                      </a:solidFill>
                    </a:lnT>
                    <a:lnB w="9525" cap="flat">
                      <a:solidFill>
                        <a:srgbClr val="666666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3" name="Rectangle 2"/>
          <p:cNvSpPr/>
          <p:nvPr/>
        </p:nvSpPr>
        <p:spPr>
          <a:xfrm>
            <a:off x="384048" y="1572767"/>
            <a:ext cx="5166360" cy="4901184"/>
          </a:xfrm>
          <a:prstGeom prst="rect">
            <a:avLst/>
          </a:prstGeom>
          <a:solidFill>
            <a:srgbClr val="FFFFFF"/>
          </a:solidFill>
          <a:ln w="3048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84048" y="1572767"/>
            <a:ext cx="5166360" cy="146304"/>
          </a:xfrm>
          <a:prstGeom prst="rect">
            <a:avLst/>
          </a:prstGeom>
          <a:solidFill>
            <a:srgbClr val="F7F7F7"/>
          </a:solidFill>
          <a:ln w="3048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484632" y="1623059"/>
            <a:ext cx="45720" cy="45720"/>
          </a:xfrm>
          <a:prstGeom prst="ellipse">
            <a:avLst/>
          </a:prstGeom>
          <a:solidFill>
            <a:srgbClr val="CCC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585216" y="1623059"/>
            <a:ext cx="45720" cy="45720"/>
          </a:xfrm>
          <a:prstGeom prst="ellipse">
            <a:avLst/>
          </a:prstGeom>
          <a:solidFill>
            <a:srgbClr val="CCC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685800" y="1623059"/>
            <a:ext cx="45720" cy="45720"/>
          </a:xfrm>
          <a:prstGeom prst="ellipse">
            <a:avLst/>
          </a:prstGeom>
          <a:solidFill>
            <a:srgbClr val="CCC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12064" y="1847087"/>
            <a:ext cx="4910328" cy="256032"/>
          </a:xfrm>
          <a:prstGeom prst="rect">
            <a:avLst/>
          </a:prstGeom>
          <a:solidFill>
            <a:srgbClr val="F7F7F7"/>
          </a:solidFill>
          <a:ln w="1651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585216" y="1911095"/>
            <a:ext cx="658368" cy="12801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5166359" y="1883663"/>
            <a:ext cx="182880" cy="182880"/>
          </a:xfrm>
          <a:prstGeom prst="ellipse">
            <a:avLst/>
          </a:prstGeom>
          <a:solidFill>
            <a:srgbClr val="FFFFFF"/>
          </a:solidFill>
          <a:ln w="1524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12064" y="2157983"/>
            <a:ext cx="914400" cy="4187952"/>
          </a:xfrm>
          <a:prstGeom prst="rect">
            <a:avLst/>
          </a:prstGeom>
          <a:solidFill>
            <a:srgbClr val="F7F7F7"/>
          </a:solidFill>
          <a:ln w="1651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594360" y="2267711"/>
            <a:ext cx="749808" cy="14630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594360" y="2542031"/>
            <a:ext cx="749808" cy="14630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594360" y="2816351"/>
            <a:ext cx="749808" cy="14630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594360" y="3090671"/>
            <a:ext cx="749808" cy="14630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594360" y="3364991"/>
            <a:ext cx="749808" cy="14630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594360" y="3639311"/>
            <a:ext cx="749808" cy="14630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594360" y="3913631"/>
            <a:ext cx="749808" cy="14630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594360" y="4187952"/>
            <a:ext cx="749808" cy="14630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594360" y="4462271"/>
            <a:ext cx="749808" cy="14630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170432" y="2532887"/>
            <a:ext cx="128016" cy="128016"/>
          </a:xfrm>
          <a:prstGeom prst="ellipse">
            <a:avLst/>
          </a:prstGeom>
          <a:solidFill>
            <a:srgbClr val="FFFFFF"/>
          </a:solidFill>
          <a:ln w="1524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2" name="Connector 21"/>
          <p:cNvCxnSpPr/>
          <p:nvPr/>
        </p:nvCxnSpPr>
        <p:spPr>
          <a:xfrm>
            <a:off x="2593986" y="2322575"/>
            <a:ext cx="905090" cy="0"/>
          </a:xfrm>
          <a:prstGeom prst="line">
            <a:avLst/>
          </a:prstGeom>
          <a:ln w="22860">
            <a:solidFill>
              <a:srgbClr val="DDDDD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Rounded Rectangle 22"/>
          <p:cNvSpPr/>
          <p:nvPr/>
        </p:nvSpPr>
        <p:spPr>
          <a:xfrm>
            <a:off x="4306824" y="2194559"/>
            <a:ext cx="530352" cy="237744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4892040" y="2194559"/>
            <a:ext cx="530352" cy="237744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2593986" y="2542031"/>
            <a:ext cx="2828405" cy="1481328"/>
          </a:xfrm>
          <a:prstGeom prst="rect">
            <a:avLst/>
          </a:prstGeom>
          <a:solidFill>
            <a:srgbClr val="FFFFFF"/>
          </a:solidFill>
          <a:ln w="1651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6" name="Connector 25"/>
          <p:cNvCxnSpPr/>
          <p:nvPr/>
        </p:nvCxnSpPr>
        <p:spPr>
          <a:xfrm>
            <a:off x="2694570" y="2688335"/>
            <a:ext cx="678817" cy="0"/>
          </a:xfrm>
          <a:prstGeom prst="line">
            <a:avLst/>
          </a:prstGeom>
          <a:ln w="20320">
            <a:solidFill>
              <a:srgbClr val="DDDDD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Rectangle 26"/>
          <p:cNvSpPr/>
          <p:nvPr/>
        </p:nvSpPr>
        <p:spPr>
          <a:xfrm>
            <a:off x="2694570" y="2798063"/>
            <a:ext cx="493776" cy="384048"/>
          </a:xfrm>
          <a:prstGeom prst="rect">
            <a:avLst/>
          </a:prstGeom>
          <a:solidFill>
            <a:srgbClr val="F7F7F7"/>
          </a:solidFill>
          <a:ln w="1397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3042042" y="2825495"/>
            <a:ext cx="118872" cy="118872"/>
          </a:xfrm>
          <a:prstGeom prst="ellipse">
            <a:avLst/>
          </a:prstGeom>
          <a:solidFill>
            <a:srgbClr val="FFFFFF"/>
          </a:solidFill>
          <a:ln w="1524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3072949" y="2856402"/>
            <a:ext cx="57058" cy="57059"/>
          </a:xfrm>
          <a:prstGeom prst="line">
            <a:avLst/>
          </a:prstGeom>
          <a:ln w="12700">
            <a:solidFill>
              <a:srgbClr val="DDDDD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 flipH="1">
            <a:off x="3072949" y="2856402"/>
            <a:ext cx="57058" cy="57059"/>
          </a:xfrm>
          <a:prstGeom prst="line">
            <a:avLst/>
          </a:prstGeom>
          <a:ln w="12700">
            <a:solidFill>
              <a:srgbClr val="DDDDD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Rectangle 30"/>
          <p:cNvSpPr/>
          <p:nvPr/>
        </p:nvSpPr>
        <p:spPr>
          <a:xfrm>
            <a:off x="3261498" y="2798063"/>
            <a:ext cx="493776" cy="384048"/>
          </a:xfrm>
          <a:prstGeom prst="rect">
            <a:avLst/>
          </a:prstGeom>
          <a:solidFill>
            <a:srgbClr val="F7F7F7"/>
          </a:solidFill>
          <a:ln w="1397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3608970" y="2825495"/>
            <a:ext cx="118872" cy="118872"/>
          </a:xfrm>
          <a:prstGeom prst="ellipse">
            <a:avLst/>
          </a:prstGeom>
          <a:solidFill>
            <a:srgbClr val="FFFFFF"/>
          </a:solidFill>
          <a:ln w="1524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3" name="Connector 32"/>
          <p:cNvCxnSpPr/>
          <p:nvPr/>
        </p:nvCxnSpPr>
        <p:spPr>
          <a:xfrm>
            <a:off x="3639877" y="2856402"/>
            <a:ext cx="57058" cy="57059"/>
          </a:xfrm>
          <a:prstGeom prst="line">
            <a:avLst/>
          </a:prstGeom>
          <a:ln w="12700">
            <a:solidFill>
              <a:srgbClr val="DDDDD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 flipH="1">
            <a:off x="3639877" y="2856402"/>
            <a:ext cx="57058" cy="57059"/>
          </a:xfrm>
          <a:prstGeom prst="line">
            <a:avLst/>
          </a:prstGeom>
          <a:ln w="12700">
            <a:solidFill>
              <a:srgbClr val="DDDDD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Rectangle 34"/>
          <p:cNvSpPr/>
          <p:nvPr/>
        </p:nvSpPr>
        <p:spPr>
          <a:xfrm>
            <a:off x="3828426" y="2798063"/>
            <a:ext cx="493776" cy="384048"/>
          </a:xfrm>
          <a:prstGeom prst="rect">
            <a:avLst/>
          </a:prstGeom>
          <a:solidFill>
            <a:srgbClr val="F7F7F7"/>
          </a:solidFill>
          <a:ln w="1397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4175898" y="2825495"/>
            <a:ext cx="118872" cy="118872"/>
          </a:xfrm>
          <a:prstGeom prst="ellipse">
            <a:avLst/>
          </a:prstGeom>
          <a:solidFill>
            <a:srgbClr val="FFFFFF"/>
          </a:solidFill>
          <a:ln w="1524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7" name="Connector 36"/>
          <p:cNvCxnSpPr/>
          <p:nvPr/>
        </p:nvCxnSpPr>
        <p:spPr>
          <a:xfrm>
            <a:off x="4206805" y="2856402"/>
            <a:ext cx="57058" cy="57059"/>
          </a:xfrm>
          <a:prstGeom prst="line">
            <a:avLst/>
          </a:prstGeom>
          <a:ln w="12700">
            <a:solidFill>
              <a:srgbClr val="DDDDD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 flipH="1">
            <a:off x="4206805" y="2856402"/>
            <a:ext cx="57058" cy="57059"/>
          </a:xfrm>
          <a:prstGeom prst="line">
            <a:avLst/>
          </a:prstGeom>
          <a:ln w="12700">
            <a:solidFill>
              <a:srgbClr val="DDDDD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Rectangle 38"/>
          <p:cNvSpPr/>
          <p:nvPr/>
        </p:nvSpPr>
        <p:spPr>
          <a:xfrm>
            <a:off x="4395354" y="2798063"/>
            <a:ext cx="384048" cy="384048"/>
          </a:xfrm>
          <a:prstGeom prst="rect">
            <a:avLst/>
          </a:prstGeom>
          <a:solidFill>
            <a:srgbClr val="FFFFFF"/>
          </a:solidFill>
          <a:ln w="13970">
            <a:solidFill>
              <a:srgbClr val="DDDDDD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2694570" y="3310127"/>
            <a:ext cx="2627237" cy="164592"/>
          </a:xfrm>
          <a:prstGeom prst="rect">
            <a:avLst/>
          </a:prstGeom>
          <a:solidFill>
            <a:srgbClr val="FFFFFF"/>
          </a:solidFill>
          <a:ln w="12700">
            <a:solidFill>
              <a:srgbClr val="EEEE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1" name="Connector 40"/>
          <p:cNvCxnSpPr/>
          <p:nvPr/>
        </p:nvCxnSpPr>
        <p:spPr>
          <a:xfrm>
            <a:off x="2694570" y="3474719"/>
            <a:ext cx="2627237" cy="0"/>
          </a:xfrm>
          <a:prstGeom prst="line">
            <a:avLst/>
          </a:prstGeom>
          <a:ln w="22860">
            <a:solidFill>
              <a:srgbClr val="DDDDD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2" name="Rectangle 41"/>
          <p:cNvSpPr/>
          <p:nvPr/>
        </p:nvSpPr>
        <p:spPr>
          <a:xfrm>
            <a:off x="2694570" y="3529583"/>
            <a:ext cx="2627237" cy="164592"/>
          </a:xfrm>
          <a:prstGeom prst="rect">
            <a:avLst/>
          </a:prstGeom>
          <a:solidFill>
            <a:srgbClr val="FFFFFF"/>
          </a:solidFill>
          <a:ln w="12700">
            <a:solidFill>
              <a:srgbClr val="EEEE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3" name="Connector 42"/>
          <p:cNvCxnSpPr/>
          <p:nvPr/>
        </p:nvCxnSpPr>
        <p:spPr>
          <a:xfrm>
            <a:off x="2694570" y="3694175"/>
            <a:ext cx="2627237" cy="0"/>
          </a:xfrm>
          <a:prstGeom prst="line">
            <a:avLst/>
          </a:prstGeom>
          <a:ln w="22860">
            <a:solidFill>
              <a:srgbClr val="DDDDD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Rectangle 43"/>
          <p:cNvSpPr/>
          <p:nvPr/>
        </p:nvSpPr>
        <p:spPr>
          <a:xfrm>
            <a:off x="2694570" y="3749039"/>
            <a:ext cx="2627237" cy="164592"/>
          </a:xfrm>
          <a:prstGeom prst="rect">
            <a:avLst/>
          </a:prstGeom>
          <a:solidFill>
            <a:srgbClr val="FFFFFF"/>
          </a:solidFill>
          <a:ln w="12700">
            <a:solidFill>
              <a:srgbClr val="EEEE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5" name="Connector 44"/>
          <p:cNvCxnSpPr/>
          <p:nvPr/>
        </p:nvCxnSpPr>
        <p:spPr>
          <a:xfrm>
            <a:off x="2694570" y="3913631"/>
            <a:ext cx="2627237" cy="0"/>
          </a:xfrm>
          <a:prstGeom prst="line">
            <a:avLst/>
          </a:prstGeom>
          <a:ln w="22860">
            <a:solidFill>
              <a:srgbClr val="DDDDD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6" name="Rectangle 45"/>
          <p:cNvSpPr/>
          <p:nvPr/>
        </p:nvSpPr>
        <p:spPr>
          <a:xfrm>
            <a:off x="2593986" y="4133087"/>
            <a:ext cx="2828405" cy="749808"/>
          </a:xfrm>
          <a:prstGeom prst="rect">
            <a:avLst/>
          </a:prstGeom>
          <a:solidFill>
            <a:srgbClr val="F7F7F7"/>
          </a:solidFill>
          <a:ln w="1651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7" name="Connector 46"/>
          <p:cNvCxnSpPr/>
          <p:nvPr/>
        </p:nvCxnSpPr>
        <p:spPr>
          <a:xfrm>
            <a:off x="2694570" y="4279392"/>
            <a:ext cx="791954" cy="0"/>
          </a:xfrm>
          <a:prstGeom prst="line">
            <a:avLst/>
          </a:prstGeom>
          <a:ln w="20320">
            <a:solidFill>
              <a:srgbClr val="DDDDD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8" name="Rectangle 47"/>
          <p:cNvSpPr/>
          <p:nvPr/>
        </p:nvSpPr>
        <p:spPr>
          <a:xfrm>
            <a:off x="2694570" y="4425696"/>
            <a:ext cx="1244498" cy="164592"/>
          </a:xfrm>
          <a:prstGeom prst="rect">
            <a:avLst/>
          </a:prstGeom>
          <a:solidFill>
            <a:srgbClr val="FFFFFF"/>
          </a:solidFill>
          <a:ln w="12700">
            <a:solidFill>
              <a:srgbClr val="EEEE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9" name="Connector 48"/>
          <p:cNvCxnSpPr/>
          <p:nvPr/>
        </p:nvCxnSpPr>
        <p:spPr>
          <a:xfrm>
            <a:off x="2694570" y="4590288"/>
            <a:ext cx="1244498" cy="0"/>
          </a:xfrm>
          <a:prstGeom prst="line">
            <a:avLst/>
          </a:prstGeom>
          <a:ln w="22860">
            <a:solidFill>
              <a:srgbClr val="DDDDD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0" name="Rectangle 49"/>
          <p:cNvSpPr/>
          <p:nvPr/>
        </p:nvSpPr>
        <p:spPr>
          <a:xfrm>
            <a:off x="4108773" y="4425696"/>
            <a:ext cx="1143914" cy="164592"/>
          </a:xfrm>
          <a:prstGeom prst="rect">
            <a:avLst/>
          </a:prstGeom>
          <a:solidFill>
            <a:srgbClr val="FFFFFF"/>
          </a:solidFill>
          <a:ln w="12700">
            <a:solidFill>
              <a:srgbClr val="EEEE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1" name="Connector 50"/>
          <p:cNvCxnSpPr/>
          <p:nvPr/>
        </p:nvCxnSpPr>
        <p:spPr>
          <a:xfrm>
            <a:off x="4108773" y="4590288"/>
            <a:ext cx="1143914" cy="0"/>
          </a:xfrm>
          <a:prstGeom prst="line">
            <a:avLst/>
          </a:prstGeom>
          <a:ln w="22860">
            <a:solidFill>
              <a:srgbClr val="DDDDD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2" name="Rectangle 51"/>
          <p:cNvSpPr/>
          <p:nvPr/>
        </p:nvSpPr>
        <p:spPr>
          <a:xfrm>
            <a:off x="2694570" y="4663440"/>
            <a:ext cx="2627237" cy="164592"/>
          </a:xfrm>
          <a:prstGeom prst="rect">
            <a:avLst/>
          </a:prstGeom>
          <a:solidFill>
            <a:srgbClr val="FFFFFF"/>
          </a:solidFill>
          <a:ln w="12700">
            <a:solidFill>
              <a:srgbClr val="EEEE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3" name="Connector 52"/>
          <p:cNvCxnSpPr/>
          <p:nvPr/>
        </p:nvCxnSpPr>
        <p:spPr>
          <a:xfrm>
            <a:off x="2694570" y="4828031"/>
            <a:ext cx="2627237" cy="0"/>
          </a:xfrm>
          <a:prstGeom prst="line">
            <a:avLst/>
          </a:prstGeom>
          <a:ln w="22860">
            <a:solidFill>
              <a:srgbClr val="DDDDD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4" name="Rectangle 53"/>
          <p:cNvSpPr/>
          <p:nvPr/>
        </p:nvSpPr>
        <p:spPr>
          <a:xfrm>
            <a:off x="2593986" y="4992624"/>
            <a:ext cx="2828405" cy="530352"/>
          </a:xfrm>
          <a:prstGeom prst="rect">
            <a:avLst/>
          </a:prstGeom>
          <a:solidFill>
            <a:srgbClr val="FFFFFF"/>
          </a:solidFill>
          <a:ln w="1651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5" name="Connector 54"/>
          <p:cNvCxnSpPr/>
          <p:nvPr/>
        </p:nvCxnSpPr>
        <p:spPr>
          <a:xfrm>
            <a:off x="2694570" y="5138928"/>
            <a:ext cx="735385" cy="0"/>
          </a:xfrm>
          <a:prstGeom prst="line">
            <a:avLst/>
          </a:prstGeom>
          <a:ln w="20320">
            <a:solidFill>
              <a:srgbClr val="DDDDD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6" name="Rectangle 55"/>
          <p:cNvSpPr/>
          <p:nvPr/>
        </p:nvSpPr>
        <p:spPr>
          <a:xfrm>
            <a:off x="2694570" y="5285232"/>
            <a:ext cx="1697043" cy="164592"/>
          </a:xfrm>
          <a:prstGeom prst="rect">
            <a:avLst/>
          </a:prstGeom>
          <a:solidFill>
            <a:srgbClr val="FFFFFF"/>
          </a:solidFill>
          <a:ln w="12700">
            <a:solidFill>
              <a:srgbClr val="EEEE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7" name="Connector 56"/>
          <p:cNvCxnSpPr/>
          <p:nvPr/>
        </p:nvCxnSpPr>
        <p:spPr>
          <a:xfrm>
            <a:off x="2694570" y="5449824"/>
            <a:ext cx="1697043" cy="0"/>
          </a:xfrm>
          <a:prstGeom prst="line">
            <a:avLst/>
          </a:prstGeom>
          <a:ln w="22860">
            <a:solidFill>
              <a:srgbClr val="DDDDD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8" name="Rectangle 57"/>
          <p:cNvSpPr/>
          <p:nvPr/>
        </p:nvSpPr>
        <p:spPr>
          <a:xfrm>
            <a:off x="2593986" y="5632704"/>
            <a:ext cx="2828405" cy="676656"/>
          </a:xfrm>
          <a:prstGeom prst="rect">
            <a:avLst/>
          </a:prstGeom>
          <a:solidFill>
            <a:srgbClr val="FFFFFF"/>
          </a:solidFill>
          <a:ln w="1651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9" name="Connector 58"/>
          <p:cNvCxnSpPr/>
          <p:nvPr/>
        </p:nvCxnSpPr>
        <p:spPr>
          <a:xfrm>
            <a:off x="2694570" y="5779008"/>
            <a:ext cx="622249" cy="0"/>
          </a:xfrm>
          <a:prstGeom prst="line">
            <a:avLst/>
          </a:prstGeom>
          <a:ln w="20320">
            <a:solidFill>
              <a:srgbClr val="DDDDD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0" name="Rectangle 59"/>
          <p:cNvSpPr/>
          <p:nvPr/>
        </p:nvSpPr>
        <p:spPr>
          <a:xfrm>
            <a:off x="2694570" y="5925312"/>
            <a:ext cx="820881" cy="164592"/>
          </a:xfrm>
          <a:prstGeom prst="rect">
            <a:avLst/>
          </a:prstGeom>
          <a:solidFill>
            <a:srgbClr val="FFFFFF"/>
          </a:solidFill>
          <a:ln w="12700">
            <a:solidFill>
              <a:srgbClr val="EEEE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1" name="Connector 60"/>
          <p:cNvCxnSpPr/>
          <p:nvPr/>
        </p:nvCxnSpPr>
        <p:spPr>
          <a:xfrm>
            <a:off x="2694570" y="6089904"/>
            <a:ext cx="820882" cy="0"/>
          </a:xfrm>
          <a:prstGeom prst="line">
            <a:avLst/>
          </a:prstGeom>
          <a:ln w="22860">
            <a:solidFill>
              <a:srgbClr val="DDDDD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2" name="Rectangle 61"/>
          <p:cNvSpPr/>
          <p:nvPr/>
        </p:nvSpPr>
        <p:spPr>
          <a:xfrm>
            <a:off x="3570316" y="5925312"/>
            <a:ext cx="820881" cy="164592"/>
          </a:xfrm>
          <a:prstGeom prst="rect">
            <a:avLst/>
          </a:prstGeom>
          <a:solidFill>
            <a:srgbClr val="FFFFFF"/>
          </a:solidFill>
          <a:ln w="12700">
            <a:solidFill>
              <a:srgbClr val="EEEE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3" name="Connector 62"/>
          <p:cNvCxnSpPr/>
          <p:nvPr/>
        </p:nvCxnSpPr>
        <p:spPr>
          <a:xfrm>
            <a:off x="3570316" y="6089904"/>
            <a:ext cx="820882" cy="0"/>
          </a:xfrm>
          <a:prstGeom prst="line">
            <a:avLst/>
          </a:prstGeom>
          <a:ln w="22860">
            <a:solidFill>
              <a:srgbClr val="DDDDD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4" name="Rectangle 63"/>
          <p:cNvSpPr/>
          <p:nvPr/>
        </p:nvSpPr>
        <p:spPr>
          <a:xfrm>
            <a:off x="4446062" y="5925312"/>
            <a:ext cx="820881" cy="164592"/>
          </a:xfrm>
          <a:prstGeom prst="rect">
            <a:avLst/>
          </a:prstGeom>
          <a:solidFill>
            <a:srgbClr val="FFFFFF"/>
          </a:solidFill>
          <a:ln w="12700">
            <a:solidFill>
              <a:srgbClr val="EEEE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5" name="Connector 64"/>
          <p:cNvCxnSpPr/>
          <p:nvPr/>
        </p:nvCxnSpPr>
        <p:spPr>
          <a:xfrm>
            <a:off x="4446062" y="6089904"/>
            <a:ext cx="820881" cy="0"/>
          </a:xfrm>
          <a:prstGeom prst="line">
            <a:avLst/>
          </a:prstGeom>
          <a:ln w="22860">
            <a:solidFill>
              <a:srgbClr val="DDDDD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6" name="Connector 65"/>
          <p:cNvCxnSpPr/>
          <p:nvPr/>
        </p:nvCxnSpPr>
        <p:spPr>
          <a:xfrm>
            <a:off x="2694570" y="6199632"/>
            <a:ext cx="1074794" cy="0"/>
          </a:xfrm>
          <a:prstGeom prst="line">
            <a:avLst/>
          </a:prstGeom>
          <a:ln w="13970">
            <a:solidFill>
              <a:srgbClr val="DDDDD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7" name="Rectangle 66"/>
          <p:cNvSpPr/>
          <p:nvPr/>
        </p:nvSpPr>
        <p:spPr>
          <a:xfrm>
            <a:off x="2548266" y="2148839"/>
            <a:ext cx="2919845" cy="4206240"/>
          </a:xfrm>
          <a:prstGeom prst="rect">
            <a:avLst/>
          </a:prstGeom>
          <a:noFill/>
          <a:ln w="12700">
            <a:solidFill>
              <a:srgbClr val="DC2626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8" name="Connector 67"/>
          <p:cNvCxnSpPr/>
          <p:nvPr/>
        </p:nvCxnSpPr>
        <p:spPr>
          <a:xfrm>
            <a:off x="1572768" y="2304287"/>
            <a:ext cx="332467" cy="0"/>
          </a:xfrm>
          <a:prstGeom prst="line">
            <a:avLst/>
          </a:prstGeom>
          <a:ln w="22860">
            <a:solidFill>
              <a:srgbClr val="6666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9" name="Rounded Rectangle 68"/>
          <p:cNvSpPr/>
          <p:nvPr/>
        </p:nvSpPr>
        <p:spPr>
          <a:xfrm>
            <a:off x="1899042" y="2194559"/>
            <a:ext cx="548640" cy="219456"/>
          </a:xfrm>
          <a:prstGeom prst="roundRect">
            <a:avLst/>
          </a:prstGeom>
          <a:solidFill>
            <a:srgbClr val="F7F7F7"/>
          </a:solidFill>
          <a:ln w="1524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Oval 69"/>
          <p:cNvSpPr/>
          <p:nvPr/>
        </p:nvSpPr>
        <p:spPr>
          <a:xfrm>
            <a:off x="1554480" y="2176271"/>
            <a:ext cx="237744" cy="237744"/>
          </a:xfrm>
          <a:prstGeom prst="ellipse">
            <a:avLst/>
          </a:prstGeom>
          <a:solidFill>
            <a:srgbClr val="DC2626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1</a:t>
            </a:r>
          </a:p>
        </p:txBody>
      </p:sp>
      <p:sp>
        <p:nvSpPr>
          <p:cNvPr id="71" name="Rectangle 70"/>
          <p:cNvSpPr/>
          <p:nvPr/>
        </p:nvSpPr>
        <p:spPr>
          <a:xfrm>
            <a:off x="1572768" y="2523743"/>
            <a:ext cx="874914" cy="201168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2" name="Connector 71"/>
          <p:cNvCxnSpPr/>
          <p:nvPr/>
        </p:nvCxnSpPr>
        <p:spPr>
          <a:xfrm>
            <a:off x="1572768" y="2724911"/>
            <a:ext cx="874914" cy="0"/>
          </a:xfrm>
          <a:prstGeom prst="line">
            <a:avLst/>
          </a:prstGeom>
          <a:ln w="22860">
            <a:solidFill>
              <a:srgbClr val="33333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3" name="Rounded Rectangle 72"/>
          <p:cNvSpPr/>
          <p:nvPr/>
        </p:nvSpPr>
        <p:spPr>
          <a:xfrm>
            <a:off x="1572768" y="2798063"/>
            <a:ext cx="261158" cy="1371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Rounded Rectangle 73"/>
          <p:cNvSpPr/>
          <p:nvPr/>
        </p:nvSpPr>
        <p:spPr>
          <a:xfrm>
            <a:off x="1879646" y="2798063"/>
            <a:ext cx="261158" cy="1371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Rounded Rectangle 74"/>
          <p:cNvSpPr/>
          <p:nvPr/>
        </p:nvSpPr>
        <p:spPr>
          <a:xfrm>
            <a:off x="2186524" y="2798063"/>
            <a:ext cx="261158" cy="1371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Oval 75"/>
          <p:cNvSpPr/>
          <p:nvPr/>
        </p:nvSpPr>
        <p:spPr>
          <a:xfrm>
            <a:off x="1554480" y="2505455"/>
            <a:ext cx="237744" cy="237744"/>
          </a:xfrm>
          <a:prstGeom prst="ellipse">
            <a:avLst/>
          </a:prstGeom>
          <a:solidFill>
            <a:srgbClr val="DC2626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2</a:t>
            </a:r>
          </a:p>
        </p:txBody>
      </p:sp>
      <p:sp>
        <p:nvSpPr>
          <p:cNvPr id="77" name="Rectangle 76"/>
          <p:cNvSpPr/>
          <p:nvPr/>
        </p:nvSpPr>
        <p:spPr>
          <a:xfrm>
            <a:off x="1572768" y="3054095"/>
            <a:ext cx="874914" cy="237744"/>
          </a:xfrm>
          <a:prstGeom prst="rect">
            <a:avLst/>
          </a:prstGeom>
          <a:solidFill>
            <a:srgbClr val="F7F7F7"/>
          </a:solidFill>
          <a:ln w="1524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Oval 77"/>
          <p:cNvSpPr/>
          <p:nvPr/>
        </p:nvSpPr>
        <p:spPr>
          <a:xfrm>
            <a:off x="1627632" y="3118103"/>
            <a:ext cx="109728" cy="109728"/>
          </a:xfrm>
          <a:prstGeom prst="ellipse">
            <a:avLst/>
          </a:prstGeom>
          <a:solidFill>
            <a:srgbClr val="FFFFFF"/>
          </a:solidFill>
          <a:ln w="1524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9" name="Connector 78"/>
          <p:cNvCxnSpPr/>
          <p:nvPr/>
        </p:nvCxnSpPr>
        <p:spPr>
          <a:xfrm>
            <a:off x="1792224" y="3191255"/>
            <a:ext cx="349965" cy="0"/>
          </a:xfrm>
          <a:prstGeom prst="line">
            <a:avLst/>
          </a:prstGeom>
          <a:ln w="13970">
            <a:solidFill>
              <a:srgbClr val="6666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0" name="Connector 79"/>
          <p:cNvCxnSpPr/>
          <p:nvPr/>
        </p:nvCxnSpPr>
        <p:spPr>
          <a:xfrm>
            <a:off x="2209938" y="3191255"/>
            <a:ext cx="182880" cy="0"/>
          </a:xfrm>
          <a:prstGeom prst="line">
            <a:avLst/>
          </a:prstGeom>
          <a:ln w="13970">
            <a:solidFill>
              <a:srgbClr val="6666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1" name="Oval 80"/>
          <p:cNvSpPr/>
          <p:nvPr/>
        </p:nvSpPr>
        <p:spPr>
          <a:xfrm>
            <a:off x="1554480" y="3035807"/>
            <a:ext cx="237744" cy="237744"/>
          </a:xfrm>
          <a:prstGeom prst="ellipse">
            <a:avLst/>
          </a:prstGeom>
          <a:solidFill>
            <a:srgbClr val="DC2626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3</a:t>
            </a:r>
          </a:p>
        </p:txBody>
      </p:sp>
      <p:sp>
        <p:nvSpPr>
          <p:cNvPr id="82" name="Rectangle 81"/>
          <p:cNvSpPr/>
          <p:nvPr/>
        </p:nvSpPr>
        <p:spPr>
          <a:xfrm>
            <a:off x="1655064" y="3291839"/>
            <a:ext cx="792618" cy="1773936"/>
          </a:xfrm>
          <a:prstGeom prst="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83" name="Connector 82"/>
          <p:cNvCxnSpPr/>
          <p:nvPr/>
        </p:nvCxnSpPr>
        <p:spPr>
          <a:xfrm>
            <a:off x="1719072" y="3438144"/>
            <a:ext cx="554832" cy="0"/>
          </a:xfrm>
          <a:prstGeom prst="line">
            <a:avLst/>
          </a:prstGeom>
          <a:ln w="13970">
            <a:solidFill>
              <a:srgbClr val="6666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4" name="Connector 83"/>
          <p:cNvCxnSpPr/>
          <p:nvPr/>
        </p:nvCxnSpPr>
        <p:spPr>
          <a:xfrm>
            <a:off x="1719072" y="3584448"/>
            <a:ext cx="301195" cy="0"/>
          </a:xfrm>
          <a:prstGeom prst="line">
            <a:avLst/>
          </a:prstGeom>
          <a:ln w="13970">
            <a:solidFill>
              <a:srgbClr val="6666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5" name="Rounded Rectangle 84"/>
          <p:cNvSpPr/>
          <p:nvPr/>
        </p:nvSpPr>
        <p:spPr>
          <a:xfrm>
            <a:off x="2118498" y="3529584"/>
            <a:ext cx="256032" cy="10972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86" name="Connector 85"/>
          <p:cNvCxnSpPr/>
          <p:nvPr/>
        </p:nvCxnSpPr>
        <p:spPr>
          <a:xfrm>
            <a:off x="1719072" y="3858768"/>
            <a:ext cx="554832" cy="0"/>
          </a:xfrm>
          <a:prstGeom prst="line">
            <a:avLst/>
          </a:prstGeom>
          <a:ln w="13970">
            <a:solidFill>
              <a:srgbClr val="6666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7" name="Connector 86"/>
          <p:cNvCxnSpPr/>
          <p:nvPr/>
        </p:nvCxnSpPr>
        <p:spPr>
          <a:xfrm>
            <a:off x="1719072" y="4005072"/>
            <a:ext cx="301195" cy="0"/>
          </a:xfrm>
          <a:prstGeom prst="line">
            <a:avLst/>
          </a:prstGeom>
          <a:ln w="13970">
            <a:solidFill>
              <a:srgbClr val="6666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8" name="Rounded Rectangle 87"/>
          <p:cNvSpPr/>
          <p:nvPr/>
        </p:nvSpPr>
        <p:spPr>
          <a:xfrm>
            <a:off x="2118498" y="3950208"/>
            <a:ext cx="256032" cy="10972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89" name="Connector 88"/>
          <p:cNvCxnSpPr/>
          <p:nvPr/>
        </p:nvCxnSpPr>
        <p:spPr>
          <a:xfrm>
            <a:off x="1719072" y="4279392"/>
            <a:ext cx="554832" cy="0"/>
          </a:xfrm>
          <a:prstGeom prst="line">
            <a:avLst/>
          </a:prstGeom>
          <a:ln w="13970">
            <a:solidFill>
              <a:srgbClr val="6666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0" name="Connector 89"/>
          <p:cNvCxnSpPr/>
          <p:nvPr/>
        </p:nvCxnSpPr>
        <p:spPr>
          <a:xfrm>
            <a:off x="1719072" y="4425696"/>
            <a:ext cx="301195" cy="0"/>
          </a:xfrm>
          <a:prstGeom prst="line">
            <a:avLst/>
          </a:prstGeom>
          <a:ln w="13970">
            <a:solidFill>
              <a:srgbClr val="6666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1" name="Rounded Rectangle 90"/>
          <p:cNvSpPr/>
          <p:nvPr/>
        </p:nvSpPr>
        <p:spPr>
          <a:xfrm>
            <a:off x="2118498" y="4370832"/>
            <a:ext cx="256032" cy="10972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92" name="Connector 91"/>
          <p:cNvCxnSpPr/>
          <p:nvPr/>
        </p:nvCxnSpPr>
        <p:spPr>
          <a:xfrm>
            <a:off x="1719072" y="4700016"/>
            <a:ext cx="554832" cy="0"/>
          </a:xfrm>
          <a:prstGeom prst="line">
            <a:avLst/>
          </a:prstGeom>
          <a:ln w="13970">
            <a:solidFill>
              <a:srgbClr val="6666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3" name="Connector 92"/>
          <p:cNvCxnSpPr/>
          <p:nvPr/>
        </p:nvCxnSpPr>
        <p:spPr>
          <a:xfrm>
            <a:off x="1719072" y="4846320"/>
            <a:ext cx="301195" cy="0"/>
          </a:xfrm>
          <a:prstGeom prst="line">
            <a:avLst/>
          </a:prstGeom>
          <a:ln w="13970">
            <a:solidFill>
              <a:srgbClr val="6666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4" name="Rounded Rectangle 93"/>
          <p:cNvSpPr/>
          <p:nvPr/>
        </p:nvSpPr>
        <p:spPr>
          <a:xfrm>
            <a:off x="2118498" y="4791456"/>
            <a:ext cx="256032" cy="10972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Oval 94"/>
          <p:cNvSpPr/>
          <p:nvPr/>
        </p:nvSpPr>
        <p:spPr>
          <a:xfrm>
            <a:off x="1636776" y="3310127"/>
            <a:ext cx="237744" cy="237744"/>
          </a:xfrm>
          <a:prstGeom prst="ellipse">
            <a:avLst/>
          </a:prstGeom>
          <a:solidFill>
            <a:srgbClr val="DC2626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4</a:t>
            </a:r>
          </a:p>
        </p:txBody>
      </p:sp>
      <p:sp>
        <p:nvSpPr>
          <p:cNvPr id="96" name="Rectangle 95"/>
          <p:cNvSpPr/>
          <p:nvPr/>
        </p:nvSpPr>
        <p:spPr>
          <a:xfrm>
            <a:off x="1572768" y="5157216"/>
            <a:ext cx="874914" cy="237744"/>
          </a:xfrm>
          <a:prstGeom prst="rect">
            <a:avLst/>
          </a:prstGeom>
          <a:solidFill>
            <a:srgbClr val="F7F7F7"/>
          </a:solidFill>
          <a:ln w="1524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Oval 96"/>
          <p:cNvSpPr/>
          <p:nvPr/>
        </p:nvSpPr>
        <p:spPr>
          <a:xfrm>
            <a:off x="1627632" y="5221224"/>
            <a:ext cx="109728" cy="109728"/>
          </a:xfrm>
          <a:prstGeom prst="ellipse">
            <a:avLst/>
          </a:prstGeom>
          <a:solidFill>
            <a:srgbClr val="FFFFFF"/>
          </a:solidFill>
          <a:ln w="1524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98" name="Connector 97"/>
          <p:cNvCxnSpPr/>
          <p:nvPr/>
        </p:nvCxnSpPr>
        <p:spPr>
          <a:xfrm>
            <a:off x="1792224" y="5294376"/>
            <a:ext cx="349965" cy="0"/>
          </a:xfrm>
          <a:prstGeom prst="line">
            <a:avLst/>
          </a:prstGeom>
          <a:ln w="13970">
            <a:solidFill>
              <a:srgbClr val="6666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9" name="Connector 98"/>
          <p:cNvCxnSpPr/>
          <p:nvPr/>
        </p:nvCxnSpPr>
        <p:spPr>
          <a:xfrm>
            <a:off x="2209938" y="5294376"/>
            <a:ext cx="182880" cy="0"/>
          </a:xfrm>
          <a:prstGeom prst="line">
            <a:avLst/>
          </a:prstGeom>
          <a:ln w="13970">
            <a:solidFill>
              <a:srgbClr val="6666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0" name="Rectangle 99"/>
          <p:cNvSpPr/>
          <p:nvPr/>
        </p:nvSpPr>
        <p:spPr>
          <a:xfrm>
            <a:off x="1572768" y="5468112"/>
            <a:ext cx="874914" cy="237744"/>
          </a:xfrm>
          <a:prstGeom prst="rect">
            <a:avLst/>
          </a:prstGeom>
          <a:solidFill>
            <a:srgbClr val="F7F7F7"/>
          </a:solidFill>
          <a:ln w="1524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Oval 100"/>
          <p:cNvSpPr/>
          <p:nvPr/>
        </p:nvSpPr>
        <p:spPr>
          <a:xfrm>
            <a:off x="1627632" y="5532120"/>
            <a:ext cx="109728" cy="109728"/>
          </a:xfrm>
          <a:prstGeom prst="ellipse">
            <a:avLst/>
          </a:prstGeom>
          <a:solidFill>
            <a:srgbClr val="FFFFFF"/>
          </a:solidFill>
          <a:ln w="1524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02" name="Connector 101"/>
          <p:cNvCxnSpPr/>
          <p:nvPr/>
        </p:nvCxnSpPr>
        <p:spPr>
          <a:xfrm>
            <a:off x="1792224" y="5605272"/>
            <a:ext cx="349965" cy="0"/>
          </a:xfrm>
          <a:prstGeom prst="line">
            <a:avLst/>
          </a:prstGeom>
          <a:ln w="13970">
            <a:solidFill>
              <a:srgbClr val="6666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3" name="Connector 102"/>
          <p:cNvCxnSpPr/>
          <p:nvPr/>
        </p:nvCxnSpPr>
        <p:spPr>
          <a:xfrm>
            <a:off x="2209938" y="5605272"/>
            <a:ext cx="182880" cy="0"/>
          </a:xfrm>
          <a:prstGeom prst="line">
            <a:avLst/>
          </a:prstGeom>
          <a:ln w="13970">
            <a:solidFill>
              <a:srgbClr val="6666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4" name="TextBox 103"/>
          <p:cNvSpPr txBox="1"/>
          <p:nvPr/>
        </p:nvSpPr>
        <p:spPr>
          <a:xfrm>
            <a:off x="5824728" y="1572767"/>
            <a:ext cx="5982919" cy="256032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111111"/>
                </a:solidFill>
                <a:latin typeface="맑은 고딕"/>
                <a:ea typeface="맑은 고딕"/>
              </a:rPr>
              <a:t>Description</a:t>
            </a:r>
          </a:p>
        </p:txBody>
      </p:sp>
      <p:sp>
        <p:nvSpPr>
          <p:cNvPr id="105" name="Oval 104"/>
          <p:cNvSpPr/>
          <p:nvPr/>
        </p:nvSpPr>
        <p:spPr>
          <a:xfrm>
            <a:off x="5824728" y="1929383"/>
            <a:ext cx="219456" cy="219456"/>
          </a:xfrm>
          <a:prstGeom prst="ellipse">
            <a:avLst/>
          </a:prstGeom>
          <a:solidFill>
            <a:srgbClr val="DC2626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1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6135624" y="1901951"/>
            <a:ext cx="5672023" cy="876452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100"/>
              </a:spcAft>
            </a:pPr>
            <a:r>
              <a:rPr sz="950" b="1">
                <a:solidFill>
                  <a:srgbClr val="111111"/>
                </a:solidFill>
                <a:latin typeface="맑은 고딕"/>
                <a:ea typeface="맑은 고딕"/>
              </a:rPr>
              <a:t>헤더 </a:t>
            </a:r>
            <a:r>
              <a:rPr sz="950" b="0">
                <a:solidFill>
                  <a:srgbClr val="999999"/>
                </a:solidFill>
                <a:latin typeface="맑은 고딕"/>
                <a:ea typeface="맑은 고딕"/>
              </a:rPr>
              <a:t>—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전체 카드 수·직접 등록[admin]·담당 뱃지[companyAdmin]</a:t>
            </a:r>
          </a:p>
        </p:txBody>
      </p:sp>
      <p:cxnSp>
        <p:nvCxnSpPr>
          <p:cNvPr id="107" name="Connector 106"/>
          <p:cNvCxnSpPr/>
          <p:nvPr/>
        </p:nvCxnSpPr>
        <p:spPr>
          <a:xfrm>
            <a:off x="5824728" y="2760116"/>
            <a:ext cx="5982919" cy="0"/>
          </a:xfrm>
          <a:prstGeom prst="line">
            <a:avLst/>
          </a:prstGeom>
          <a:ln w="9525">
            <a:solidFill>
              <a:srgbClr val="EEEEE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8" name="Oval 107"/>
          <p:cNvSpPr/>
          <p:nvPr/>
        </p:nvSpPr>
        <p:spPr>
          <a:xfrm>
            <a:off x="5824728" y="2805836"/>
            <a:ext cx="219456" cy="219456"/>
          </a:xfrm>
          <a:prstGeom prst="ellipse">
            <a:avLst/>
          </a:prstGeom>
          <a:solidFill>
            <a:srgbClr val="DC2626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2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6135624" y="2778404"/>
            <a:ext cx="5672023" cy="876452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100"/>
              </a:spcAft>
            </a:pPr>
            <a:r>
              <a:rPr sz="950" b="1">
                <a:solidFill>
                  <a:srgbClr val="111111"/>
                </a:solidFill>
                <a:latin typeface="맑은 고딕"/>
                <a:ea typeface="맑은 고딕"/>
              </a:rPr>
              <a:t>검색·유형 칩 </a:t>
            </a:r>
            <a:r>
              <a:rPr sz="950" b="0">
                <a:solidFill>
                  <a:srgbClr val="999999"/>
                </a:solidFill>
                <a:latin typeface="맑은 고딕"/>
                <a:ea typeface="맑은 고딕"/>
              </a:rPr>
              <a:t>—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카드명·부서 검색+카테고리 필터</a:t>
            </a:r>
          </a:p>
        </p:txBody>
      </p:sp>
      <p:cxnSp>
        <p:nvCxnSpPr>
          <p:cNvPr id="110" name="Connector 109"/>
          <p:cNvCxnSpPr/>
          <p:nvPr/>
        </p:nvCxnSpPr>
        <p:spPr>
          <a:xfrm>
            <a:off x="5824728" y="3636568"/>
            <a:ext cx="5982919" cy="0"/>
          </a:xfrm>
          <a:prstGeom prst="line">
            <a:avLst/>
          </a:prstGeom>
          <a:ln w="9525">
            <a:solidFill>
              <a:srgbClr val="EEEEE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1" name="Oval 110"/>
          <p:cNvSpPr/>
          <p:nvPr/>
        </p:nvSpPr>
        <p:spPr>
          <a:xfrm>
            <a:off x="5824728" y="3682288"/>
            <a:ext cx="219456" cy="219456"/>
          </a:xfrm>
          <a:prstGeom prst="ellipse">
            <a:avLst/>
          </a:prstGeom>
          <a:solidFill>
            <a:srgbClr val="DC2626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3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6135624" y="3654856"/>
            <a:ext cx="5672023" cy="876452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100"/>
              </a:spcAft>
            </a:pPr>
            <a:r>
              <a:rPr sz="950" b="1">
                <a:solidFill>
                  <a:srgbClr val="111111"/>
                </a:solidFill>
                <a:latin typeface="맑은 고딕"/>
                <a:ea typeface="맑은 고딕"/>
              </a:rPr>
              <a:t>카테고리 아코디언 </a:t>
            </a:r>
            <a:r>
              <a:rPr sz="950" b="0">
                <a:solidFill>
                  <a:srgbClr val="999999"/>
                </a:solidFill>
                <a:latin typeface="맑은 고딕"/>
                <a:ea typeface="맑은 고딕"/>
              </a:rPr>
              <a:t>—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그룹 헤더: 색 dot·카테고리명·건수 — 기본 접힘·검색 시 자동 펼침</a:t>
            </a:r>
          </a:p>
        </p:txBody>
      </p:sp>
      <p:cxnSp>
        <p:nvCxnSpPr>
          <p:cNvPr id="113" name="Connector 112"/>
          <p:cNvCxnSpPr/>
          <p:nvPr/>
        </p:nvCxnSpPr>
        <p:spPr>
          <a:xfrm>
            <a:off x="5824728" y="4513021"/>
            <a:ext cx="5982919" cy="0"/>
          </a:xfrm>
          <a:prstGeom prst="line">
            <a:avLst/>
          </a:prstGeom>
          <a:ln w="9525">
            <a:solidFill>
              <a:srgbClr val="EEEEE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4" name="Oval 113"/>
          <p:cNvSpPr/>
          <p:nvPr/>
        </p:nvSpPr>
        <p:spPr>
          <a:xfrm>
            <a:off x="5824728" y="4558741"/>
            <a:ext cx="219456" cy="219456"/>
          </a:xfrm>
          <a:prstGeom prst="ellipse">
            <a:avLst/>
          </a:prstGeom>
          <a:solidFill>
            <a:srgbClr val="DC2626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4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6135624" y="4531309"/>
            <a:ext cx="5672023" cy="876452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100"/>
              </a:spcAft>
            </a:pPr>
            <a:r>
              <a:rPr sz="950" b="1">
                <a:solidFill>
                  <a:srgbClr val="111111"/>
                </a:solidFill>
                <a:latin typeface="맑은 고딕"/>
                <a:ea typeface="맑은 고딕"/>
              </a:rPr>
              <a:t>카드 행 </a:t>
            </a:r>
            <a:r>
              <a:rPr sz="950" b="0">
                <a:solidFill>
                  <a:srgbClr val="999999"/>
                </a:solidFill>
                <a:latin typeface="맑은 고딕"/>
                <a:ea typeface="맑은 고딕"/>
              </a:rPr>
              <a:t>—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제목·카드 ID·부서·등록 관계사 뱃지</a:t>
            </a:r>
          </a:p>
        </p:txBody>
      </p:sp>
      <p:sp>
        <p:nvSpPr>
          <p:cNvPr id="116" name="Rectangle 115"/>
          <p:cNvSpPr/>
          <p:nvPr/>
        </p:nvSpPr>
        <p:spPr>
          <a:xfrm>
            <a:off x="5824728" y="5554065"/>
            <a:ext cx="5982919" cy="919886"/>
          </a:xfrm>
          <a:prstGeom prst="rect">
            <a:avLst/>
          </a:prstGeom>
          <a:solidFill>
            <a:srgbClr val="F7F7F7"/>
          </a:solidFill>
          <a:ln w="12700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17" name="Connector 116"/>
          <p:cNvCxnSpPr/>
          <p:nvPr/>
        </p:nvCxnSpPr>
        <p:spPr>
          <a:xfrm>
            <a:off x="5824728" y="5828385"/>
            <a:ext cx="5982919" cy="0"/>
          </a:xfrm>
          <a:prstGeom prst="line">
            <a:avLst/>
          </a:prstGeom>
          <a:ln w="12700">
            <a:solidFill>
              <a:srgbClr val="CCCCC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8" name="TextBox 117"/>
          <p:cNvSpPr txBox="1"/>
          <p:nvPr/>
        </p:nvSpPr>
        <p:spPr>
          <a:xfrm>
            <a:off x="5934456" y="5595213"/>
            <a:ext cx="5763463" cy="237744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11111"/>
                </a:solidFill>
                <a:latin typeface="맑은 고딕"/>
                <a:ea typeface="맑은 고딕"/>
              </a:rPr>
              <a:t>화면 룰·기획 근거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5952744" y="5864961"/>
            <a:ext cx="5726887" cy="572414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100"/>
              </a:spcAft>
            </a:pPr>
            <a:r>
              <a:rPr sz="85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850" b="0">
                <a:solidFill>
                  <a:srgbClr val="333333"/>
                </a:solidFill>
                <a:latin typeface="맑은 고딕"/>
                <a:ea typeface="맑은 고딕"/>
              </a:rPr>
              <a:t>미선택 시 우측에 총 건수·카테고리 분포 안내</a:t>
            </a:r>
          </a:p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DC2626"/>
                </a:solidFill>
                <a:latin typeface="맑은 고딕"/>
                <a:ea typeface="맑은 고딕"/>
              </a:rPr>
              <a:t>BE·DB  </a:t>
            </a:r>
            <a:r>
              <a:rPr sz="850" b="0">
                <a:solidFill>
                  <a:srgbClr val="666666"/>
                </a:solidFill>
                <a:latin typeface="맑은 고딕"/>
                <a:ea typeface="맑은 고딕"/>
              </a:rPr>
              <a:t>getManagedAssetItems(카탈로그 파생). 수정 PATCH·삭제 DELETE·직접 등록 POST, 권한 서버 검증. 이미지는 스토리지 선정 연동(부록 B).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aphicFrame>
        <p:nvGraphicFramePr>
          <p:cNvPr id="2" name="Table 1"/>
          <p:cNvGraphicFramePr>
            <a:graphicFrameLocks noGrp="1"/>
          </p:cNvGraphicFramePr>
          <p:nvPr/>
        </p:nvGraphicFramePr>
        <p:xfrm>
          <a:off x="384048" y="384048"/>
          <a:ext cx="11423599" cy="1042416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371600"/>
                <a:gridCol w="4297680"/>
                <a:gridCol w="1280160"/>
                <a:gridCol w="4474159"/>
              </a:tblGrid>
              <a:tr h="384048">
                <a:tc gridSpan="3"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카드 관리  —  우 상세·편집</a:t>
                      </a:r>
                    </a:p>
                  </a:txBody>
                  <a:tcPr anchor="ctr" marL="73152" marR="54864" marT="18288" marB="18288">
                    <a:solidFill>
                      <a:srgbClr val="111111"/>
                    </a:solidFill>
                    <a:lnL w="9525" cap="flat">
                      <a:solidFill>
                        <a:srgbClr val="666666"/>
                      </a:solidFill>
                    </a:lnL>
                    <a:lnR w="9525" cap="flat">
                      <a:solidFill>
                        <a:srgbClr val="666666"/>
                      </a:solidFill>
                    </a:lnR>
                    <a:lnT w="9525" cap="flat">
                      <a:solidFill>
                        <a:srgbClr val="666666"/>
                      </a:solidFill>
                    </a:lnT>
                    <a:lnB w="9525" cap="flat">
                      <a:solidFill>
                        <a:srgbClr val="666666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Page 2 / 2</a:t>
                      </a:r>
                    </a:p>
                  </a:txBody>
                  <a:tcPr anchor="ctr" marL="73152" marR="54864" marT="18288" marB="18288">
                    <a:solidFill>
                      <a:srgbClr val="111111"/>
                    </a:solidFill>
                    <a:lnL w="9525" cap="flat">
                      <a:solidFill>
                        <a:srgbClr val="666666"/>
                      </a:solidFill>
                    </a:lnL>
                    <a:lnR w="9525" cap="flat">
                      <a:solidFill>
                        <a:srgbClr val="666666"/>
                      </a:solidFill>
                    </a:lnR>
                    <a:lnT w="9525" cap="flat">
                      <a:solidFill>
                        <a:srgbClr val="666666"/>
                      </a:solidFill>
                    </a:lnT>
                    <a:lnB w="9525" cap="flat">
                      <a:solidFill>
                        <a:srgbClr val="666666"/>
                      </a:solidFill>
                    </a:lnB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</a:rPr>
                        <a:t>Page Title</a:t>
                      </a:r>
                    </a:p>
                  </a:txBody>
                  <a:tcPr anchor="ctr" marL="73152" marR="54864" marT="18288" marB="18288">
                    <a:solidFill>
                      <a:srgbClr val="EEEEEE"/>
                    </a:solidFill>
                    <a:lnL w="9525" cap="flat">
                      <a:solidFill>
                        <a:srgbClr val="666666"/>
                      </a:solidFill>
                    </a:lnL>
                    <a:lnR w="9525" cap="flat">
                      <a:solidFill>
                        <a:srgbClr val="666666"/>
                      </a:solidFill>
                    </a:lnR>
                    <a:lnT w="9525" cap="flat">
                      <a:solidFill>
                        <a:srgbClr val="666666"/>
                      </a:solidFill>
                    </a:lnT>
                    <a:lnB w="9525" cap="flat">
                      <a:solidFill>
                        <a:srgbClr val="666666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111111"/>
                          </a:solidFill>
                          <a:latin typeface="맑은 고딕"/>
                          <a:ea typeface="맑은 고딕"/>
                        </a:rPr>
                        <a:t>카드 관리</a:t>
                      </a:r>
                    </a:p>
                  </a:txBody>
                  <a:tcPr anchor="ctr" marL="73152" marR="54864" marT="18288" marB="18288">
                    <a:solidFill>
                      <a:srgbClr val="FFFFFF"/>
                    </a:solidFill>
                    <a:lnL w="9525" cap="flat">
                      <a:solidFill>
                        <a:srgbClr val="666666"/>
                      </a:solidFill>
                    </a:lnL>
                    <a:lnR w="9525" cap="flat">
                      <a:solidFill>
                        <a:srgbClr val="666666"/>
                      </a:solidFill>
                    </a:lnR>
                    <a:lnT w="9525" cap="flat">
                      <a:solidFill>
                        <a:srgbClr val="666666"/>
                      </a:solidFill>
                    </a:lnT>
                    <a:lnB w="9525" cap="flat">
                      <a:solidFill>
                        <a:srgbClr val="666666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</a:rPr>
                        <a:t>Screen ID</a:t>
                      </a:r>
                    </a:p>
                  </a:txBody>
                  <a:tcPr anchor="ctr" marL="73152" marR="54864" marT="18288" marB="18288">
                    <a:solidFill>
                      <a:srgbClr val="EEEEEE"/>
                    </a:solidFill>
                    <a:lnL w="9525" cap="flat">
                      <a:solidFill>
                        <a:srgbClr val="666666"/>
                      </a:solidFill>
                    </a:lnL>
                    <a:lnR w="9525" cap="flat">
                      <a:solidFill>
                        <a:srgbClr val="666666"/>
                      </a:solidFill>
                    </a:lnR>
                    <a:lnT w="9525" cap="flat">
                      <a:solidFill>
                        <a:srgbClr val="666666"/>
                      </a:solidFill>
                    </a:lnT>
                    <a:lnB w="9525" cap="flat">
                      <a:solidFill>
                        <a:srgbClr val="666666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111111"/>
                          </a:solidFill>
                          <a:latin typeface="맑은 고딕"/>
                          <a:ea typeface="맑은 고딕"/>
                        </a:rPr>
                        <a:t>ADM-03</a:t>
                      </a:r>
                    </a:p>
                  </a:txBody>
                  <a:tcPr anchor="ctr" marL="73152" marR="54864" marT="18288" marB="18288">
                    <a:solidFill>
                      <a:srgbClr val="FFFFFF"/>
                    </a:solidFill>
                    <a:lnL w="9525" cap="flat">
                      <a:solidFill>
                        <a:srgbClr val="666666"/>
                      </a:solidFill>
                    </a:lnL>
                    <a:lnR w="9525" cap="flat">
                      <a:solidFill>
                        <a:srgbClr val="666666"/>
                      </a:solidFill>
                    </a:lnR>
                    <a:lnT w="9525" cap="flat">
                      <a:solidFill>
                        <a:srgbClr val="666666"/>
                      </a:solidFill>
                    </a:lnT>
                    <a:lnB w="9525" cap="flat">
                      <a:solidFill>
                        <a:srgbClr val="666666"/>
                      </a:solidFill>
                    </a:lnB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</a:rPr>
                        <a:t>Screen Path</a:t>
                      </a:r>
                    </a:p>
                  </a:txBody>
                  <a:tcPr anchor="ctr" marL="73152" marR="54864" marT="18288" marB="18288">
                    <a:solidFill>
                      <a:srgbClr val="EEEEEE"/>
                    </a:solidFill>
                    <a:lnL w="9525" cap="flat">
                      <a:solidFill>
                        <a:srgbClr val="666666"/>
                      </a:solidFill>
                    </a:lnL>
                    <a:lnR w="9525" cap="flat">
                      <a:solidFill>
                        <a:srgbClr val="666666"/>
                      </a:solidFill>
                    </a:lnR>
                    <a:lnT w="9525" cap="flat">
                      <a:solidFill>
                        <a:srgbClr val="666666"/>
                      </a:solidFill>
                    </a:lnT>
                    <a:lnB w="9525" cap="flat">
                      <a:solidFill>
                        <a:srgbClr val="666666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</a:rPr>
                        <a:t>/admin/projects  (admin·companyAdmin)</a:t>
                      </a:r>
                    </a:p>
                  </a:txBody>
                  <a:tcPr anchor="ctr" marL="73152" marR="54864" marT="18288" marB="18288">
                    <a:solidFill>
                      <a:srgbClr val="FFFFFF"/>
                    </a:solidFill>
                    <a:lnL w="9525" cap="flat">
                      <a:solidFill>
                        <a:srgbClr val="666666"/>
                      </a:solidFill>
                    </a:lnL>
                    <a:lnR w="9525" cap="flat">
                      <a:solidFill>
                        <a:srgbClr val="666666"/>
                      </a:solidFill>
                    </a:lnR>
                    <a:lnT w="9525" cap="flat">
                      <a:solidFill>
                        <a:srgbClr val="666666"/>
                      </a:solidFill>
                    </a:lnT>
                    <a:lnB w="9525" cap="flat">
                      <a:solidFill>
                        <a:srgbClr val="666666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</a:rPr>
                        <a:t>작성자</a:t>
                      </a:r>
                    </a:p>
                  </a:txBody>
                  <a:tcPr anchor="ctr" marL="73152" marR="54864" marT="18288" marB="18288">
                    <a:solidFill>
                      <a:srgbClr val="EEEEEE"/>
                    </a:solidFill>
                    <a:lnL w="9525" cap="flat">
                      <a:solidFill>
                        <a:srgbClr val="666666"/>
                      </a:solidFill>
                    </a:lnL>
                    <a:lnR w="9525" cap="flat">
                      <a:solidFill>
                        <a:srgbClr val="666666"/>
                      </a:solidFill>
                    </a:lnR>
                    <a:lnT w="9525" cap="flat">
                      <a:solidFill>
                        <a:srgbClr val="666666"/>
                      </a:solidFill>
                    </a:lnT>
                    <a:lnB w="9525" cap="flat">
                      <a:solidFill>
                        <a:srgbClr val="666666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11111"/>
                          </a:solidFill>
                          <a:latin typeface="맑은 고딕"/>
                          <a:ea typeface="맑은 고딕"/>
                        </a:rPr>
                        <a:t>배상혁</a:t>
                      </a:r>
                    </a:p>
                  </a:txBody>
                  <a:tcPr anchor="ctr" marL="73152" marR="54864" marT="18288" marB="18288">
                    <a:solidFill>
                      <a:srgbClr val="FFFFFF"/>
                    </a:solidFill>
                    <a:lnL w="9525" cap="flat">
                      <a:solidFill>
                        <a:srgbClr val="666666"/>
                      </a:solidFill>
                    </a:lnL>
                    <a:lnR w="9525" cap="flat">
                      <a:solidFill>
                        <a:srgbClr val="666666"/>
                      </a:solidFill>
                    </a:lnR>
                    <a:lnT w="9525" cap="flat">
                      <a:solidFill>
                        <a:srgbClr val="666666"/>
                      </a:solidFill>
                    </a:lnT>
                    <a:lnB w="9525" cap="flat">
                      <a:solidFill>
                        <a:srgbClr val="666666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3" name="Rectangle 2"/>
          <p:cNvSpPr/>
          <p:nvPr/>
        </p:nvSpPr>
        <p:spPr>
          <a:xfrm>
            <a:off x="384048" y="1572767"/>
            <a:ext cx="5166360" cy="4901184"/>
          </a:xfrm>
          <a:prstGeom prst="rect">
            <a:avLst/>
          </a:prstGeom>
          <a:solidFill>
            <a:srgbClr val="FFFFFF"/>
          </a:solidFill>
          <a:ln w="3048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84048" y="1572767"/>
            <a:ext cx="5166360" cy="146304"/>
          </a:xfrm>
          <a:prstGeom prst="rect">
            <a:avLst/>
          </a:prstGeom>
          <a:solidFill>
            <a:srgbClr val="F7F7F7"/>
          </a:solidFill>
          <a:ln w="3048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484632" y="1623059"/>
            <a:ext cx="45720" cy="45720"/>
          </a:xfrm>
          <a:prstGeom prst="ellipse">
            <a:avLst/>
          </a:prstGeom>
          <a:solidFill>
            <a:srgbClr val="CCC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585216" y="1623059"/>
            <a:ext cx="45720" cy="45720"/>
          </a:xfrm>
          <a:prstGeom prst="ellipse">
            <a:avLst/>
          </a:prstGeom>
          <a:solidFill>
            <a:srgbClr val="CCC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685800" y="1623059"/>
            <a:ext cx="45720" cy="45720"/>
          </a:xfrm>
          <a:prstGeom prst="ellipse">
            <a:avLst/>
          </a:prstGeom>
          <a:solidFill>
            <a:srgbClr val="CCC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12064" y="1847087"/>
            <a:ext cx="4910328" cy="256032"/>
          </a:xfrm>
          <a:prstGeom prst="rect">
            <a:avLst/>
          </a:prstGeom>
          <a:solidFill>
            <a:srgbClr val="F7F7F7"/>
          </a:solidFill>
          <a:ln w="1651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585216" y="1911095"/>
            <a:ext cx="658368" cy="12801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5166359" y="1883663"/>
            <a:ext cx="182880" cy="182880"/>
          </a:xfrm>
          <a:prstGeom prst="ellipse">
            <a:avLst/>
          </a:prstGeom>
          <a:solidFill>
            <a:srgbClr val="FFFFFF"/>
          </a:solidFill>
          <a:ln w="1524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12064" y="2157983"/>
            <a:ext cx="914400" cy="4187952"/>
          </a:xfrm>
          <a:prstGeom prst="rect">
            <a:avLst/>
          </a:prstGeom>
          <a:solidFill>
            <a:srgbClr val="F7F7F7"/>
          </a:solidFill>
          <a:ln w="1651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594360" y="2267711"/>
            <a:ext cx="749808" cy="14630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594360" y="2542031"/>
            <a:ext cx="749808" cy="14630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594360" y="2816351"/>
            <a:ext cx="749808" cy="14630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594360" y="3090671"/>
            <a:ext cx="749808" cy="14630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594360" y="3364991"/>
            <a:ext cx="749808" cy="14630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594360" y="3639311"/>
            <a:ext cx="749808" cy="14630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594360" y="3913631"/>
            <a:ext cx="749808" cy="14630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594360" y="4187952"/>
            <a:ext cx="749808" cy="14630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594360" y="4462271"/>
            <a:ext cx="749808" cy="14630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170432" y="2532887"/>
            <a:ext cx="128016" cy="128016"/>
          </a:xfrm>
          <a:prstGeom prst="ellipse">
            <a:avLst/>
          </a:prstGeom>
          <a:solidFill>
            <a:srgbClr val="FFFFFF"/>
          </a:solidFill>
          <a:ln w="1524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2" name="Connector 21"/>
          <p:cNvCxnSpPr/>
          <p:nvPr/>
        </p:nvCxnSpPr>
        <p:spPr>
          <a:xfrm>
            <a:off x="1572768" y="2304287"/>
            <a:ext cx="332467" cy="0"/>
          </a:xfrm>
          <a:prstGeom prst="line">
            <a:avLst/>
          </a:prstGeom>
          <a:ln w="22860">
            <a:solidFill>
              <a:srgbClr val="DDDDD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Rounded Rectangle 22"/>
          <p:cNvSpPr/>
          <p:nvPr/>
        </p:nvSpPr>
        <p:spPr>
          <a:xfrm>
            <a:off x="1899042" y="2194559"/>
            <a:ext cx="548640" cy="219456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1572768" y="2523743"/>
            <a:ext cx="874914" cy="201168"/>
          </a:xfrm>
          <a:prstGeom prst="rect">
            <a:avLst/>
          </a:prstGeom>
          <a:solidFill>
            <a:srgbClr val="FFFFFF"/>
          </a:solidFill>
          <a:ln w="12700">
            <a:solidFill>
              <a:srgbClr val="EEEE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5" name="Connector 24"/>
          <p:cNvCxnSpPr/>
          <p:nvPr/>
        </p:nvCxnSpPr>
        <p:spPr>
          <a:xfrm>
            <a:off x="1572768" y="2724911"/>
            <a:ext cx="874914" cy="0"/>
          </a:xfrm>
          <a:prstGeom prst="line">
            <a:avLst/>
          </a:prstGeom>
          <a:ln w="22860">
            <a:solidFill>
              <a:srgbClr val="DDDDD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Rounded Rectangle 25"/>
          <p:cNvSpPr/>
          <p:nvPr/>
        </p:nvSpPr>
        <p:spPr>
          <a:xfrm>
            <a:off x="1572768" y="2798063"/>
            <a:ext cx="261158" cy="1371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1879646" y="2798063"/>
            <a:ext cx="261158" cy="1371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2186524" y="2798063"/>
            <a:ext cx="261158" cy="1371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1572768" y="3054095"/>
            <a:ext cx="874914" cy="237744"/>
          </a:xfrm>
          <a:prstGeom prst="rect">
            <a:avLst/>
          </a:prstGeom>
          <a:solidFill>
            <a:srgbClr val="F7F7F7"/>
          </a:solidFill>
          <a:ln w="1524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1627632" y="3118103"/>
            <a:ext cx="109728" cy="109728"/>
          </a:xfrm>
          <a:prstGeom prst="ellipse">
            <a:avLst/>
          </a:prstGeom>
          <a:solidFill>
            <a:srgbClr val="FFFFFF"/>
          </a:solidFill>
          <a:ln w="1524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1" name="Connector 30"/>
          <p:cNvCxnSpPr/>
          <p:nvPr/>
        </p:nvCxnSpPr>
        <p:spPr>
          <a:xfrm>
            <a:off x="1792224" y="3191255"/>
            <a:ext cx="349965" cy="0"/>
          </a:xfrm>
          <a:prstGeom prst="line">
            <a:avLst/>
          </a:prstGeom>
          <a:ln w="13970">
            <a:solidFill>
              <a:srgbClr val="DDDDD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2209938" y="3191255"/>
            <a:ext cx="182880" cy="0"/>
          </a:xfrm>
          <a:prstGeom prst="line">
            <a:avLst/>
          </a:prstGeom>
          <a:ln w="13970">
            <a:solidFill>
              <a:srgbClr val="DDDDD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Rectangle 32"/>
          <p:cNvSpPr/>
          <p:nvPr/>
        </p:nvSpPr>
        <p:spPr>
          <a:xfrm>
            <a:off x="1655064" y="3291839"/>
            <a:ext cx="792618" cy="1773936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4" name="Connector 33"/>
          <p:cNvCxnSpPr/>
          <p:nvPr/>
        </p:nvCxnSpPr>
        <p:spPr>
          <a:xfrm>
            <a:off x="1719072" y="3438144"/>
            <a:ext cx="554832" cy="0"/>
          </a:xfrm>
          <a:prstGeom prst="line">
            <a:avLst/>
          </a:prstGeom>
          <a:ln w="13970">
            <a:solidFill>
              <a:srgbClr val="DDDDD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1719072" y="3584448"/>
            <a:ext cx="301195" cy="0"/>
          </a:xfrm>
          <a:prstGeom prst="line">
            <a:avLst/>
          </a:prstGeom>
          <a:ln w="13970">
            <a:solidFill>
              <a:srgbClr val="DDDDD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ounded Rectangle 35"/>
          <p:cNvSpPr/>
          <p:nvPr/>
        </p:nvSpPr>
        <p:spPr>
          <a:xfrm>
            <a:off x="2118498" y="3529584"/>
            <a:ext cx="256032" cy="10972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7" name="Connector 36"/>
          <p:cNvCxnSpPr/>
          <p:nvPr/>
        </p:nvCxnSpPr>
        <p:spPr>
          <a:xfrm>
            <a:off x="1719072" y="3858768"/>
            <a:ext cx="554832" cy="0"/>
          </a:xfrm>
          <a:prstGeom prst="line">
            <a:avLst/>
          </a:prstGeom>
          <a:ln w="13970">
            <a:solidFill>
              <a:srgbClr val="DDDDD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>
            <a:off x="1719072" y="4005072"/>
            <a:ext cx="301195" cy="0"/>
          </a:xfrm>
          <a:prstGeom prst="line">
            <a:avLst/>
          </a:prstGeom>
          <a:ln w="13970">
            <a:solidFill>
              <a:srgbClr val="DDDDD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Rounded Rectangle 38"/>
          <p:cNvSpPr/>
          <p:nvPr/>
        </p:nvSpPr>
        <p:spPr>
          <a:xfrm>
            <a:off x="2118498" y="3950208"/>
            <a:ext cx="256032" cy="10972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0" name="Connector 39"/>
          <p:cNvCxnSpPr/>
          <p:nvPr/>
        </p:nvCxnSpPr>
        <p:spPr>
          <a:xfrm>
            <a:off x="1719072" y="4279392"/>
            <a:ext cx="554832" cy="0"/>
          </a:xfrm>
          <a:prstGeom prst="line">
            <a:avLst/>
          </a:prstGeom>
          <a:ln w="13970">
            <a:solidFill>
              <a:srgbClr val="DDDDD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Connector 40"/>
          <p:cNvCxnSpPr/>
          <p:nvPr/>
        </p:nvCxnSpPr>
        <p:spPr>
          <a:xfrm>
            <a:off x="1719072" y="4425696"/>
            <a:ext cx="301195" cy="0"/>
          </a:xfrm>
          <a:prstGeom prst="line">
            <a:avLst/>
          </a:prstGeom>
          <a:ln w="13970">
            <a:solidFill>
              <a:srgbClr val="DDDDD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2" name="Rounded Rectangle 41"/>
          <p:cNvSpPr/>
          <p:nvPr/>
        </p:nvSpPr>
        <p:spPr>
          <a:xfrm>
            <a:off x="2118498" y="4370832"/>
            <a:ext cx="256032" cy="10972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3" name="Connector 42"/>
          <p:cNvCxnSpPr/>
          <p:nvPr/>
        </p:nvCxnSpPr>
        <p:spPr>
          <a:xfrm>
            <a:off x="1719072" y="4700016"/>
            <a:ext cx="554832" cy="0"/>
          </a:xfrm>
          <a:prstGeom prst="line">
            <a:avLst/>
          </a:prstGeom>
          <a:ln w="13970">
            <a:solidFill>
              <a:srgbClr val="DDDDD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Connector 43"/>
          <p:cNvCxnSpPr/>
          <p:nvPr/>
        </p:nvCxnSpPr>
        <p:spPr>
          <a:xfrm>
            <a:off x="1719072" y="4846320"/>
            <a:ext cx="301195" cy="0"/>
          </a:xfrm>
          <a:prstGeom prst="line">
            <a:avLst/>
          </a:prstGeom>
          <a:ln w="13970">
            <a:solidFill>
              <a:srgbClr val="DDDDD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5" name="Rounded Rectangle 44"/>
          <p:cNvSpPr/>
          <p:nvPr/>
        </p:nvSpPr>
        <p:spPr>
          <a:xfrm>
            <a:off x="2118498" y="4791456"/>
            <a:ext cx="256032" cy="10972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1572768" y="5157216"/>
            <a:ext cx="874914" cy="237744"/>
          </a:xfrm>
          <a:prstGeom prst="rect">
            <a:avLst/>
          </a:prstGeom>
          <a:solidFill>
            <a:srgbClr val="F7F7F7"/>
          </a:solidFill>
          <a:ln w="1524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Oval 46"/>
          <p:cNvSpPr/>
          <p:nvPr/>
        </p:nvSpPr>
        <p:spPr>
          <a:xfrm>
            <a:off x="1627632" y="5221224"/>
            <a:ext cx="109728" cy="109728"/>
          </a:xfrm>
          <a:prstGeom prst="ellipse">
            <a:avLst/>
          </a:prstGeom>
          <a:solidFill>
            <a:srgbClr val="FFFFFF"/>
          </a:solidFill>
          <a:ln w="1524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8" name="Connector 47"/>
          <p:cNvCxnSpPr/>
          <p:nvPr/>
        </p:nvCxnSpPr>
        <p:spPr>
          <a:xfrm>
            <a:off x="1792224" y="5294376"/>
            <a:ext cx="349965" cy="0"/>
          </a:xfrm>
          <a:prstGeom prst="line">
            <a:avLst/>
          </a:prstGeom>
          <a:ln w="13970">
            <a:solidFill>
              <a:srgbClr val="DDDDD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Connector 48"/>
          <p:cNvCxnSpPr/>
          <p:nvPr/>
        </p:nvCxnSpPr>
        <p:spPr>
          <a:xfrm>
            <a:off x="2209938" y="5294376"/>
            <a:ext cx="182880" cy="0"/>
          </a:xfrm>
          <a:prstGeom prst="line">
            <a:avLst/>
          </a:prstGeom>
          <a:ln w="13970">
            <a:solidFill>
              <a:srgbClr val="DDDDD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0" name="Rectangle 49"/>
          <p:cNvSpPr/>
          <p:nvPr/>
        </p:nvSpPr>
        <p:spPr>
          <a:xfrm>
            <a:off x="1572768" y="5468112"/>
            <a:ext cx="874914" cy="237744"/>
          </a:xfrm>
          <a:prstGeom prst="rect">
            <a:avLst/>
          </a:prstGeom>
          <a:solidFill>
            <a:srgbClr val="F7F7F7"/>
          </a:solidFill>
          <a:ln w="1524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Oval 50"/>
          <p:cNvSpPr/>
          <p:nvPr/>
        </p:nvSpPr>
        <p:spPr>
          <a:xfrm>
            <a:off x="1627632" y="5532120"/>
            <a:ext cx="109728" cy="109728"/>
          </a:xfrm>
          <a:prstGeom prst="ellipse">
            <a:avLst/>
          </a:prstGeom>
          <a:solidFill>
            <a:srgbClr val="FFFFFF"/>
          </a:solidFill>
          <a:ln w="1524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2" name="Connector 51"/>
          <p:cNvCxnSpPr/>
          <p:nvPr/>
        </p:nvCxnSpPr>
        <p:spPr>
          <a:xfrm>
            <a:off x="1792224" y="5605272"/>
            <a:ext cx="349965" cy="0"/>
          </a:xfrm>
          <a:prstGeom prst="line">
            <a:avLst/>
          </a:prstGeom>
          <a:ln w="13970">
            <a:solidFill>
              <a:srgbClr val="DDDDD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Connector 52"/>
          <p:cNvCxnSpPr/>
          <p:nvPr/>
        </p:nvCxnSpPr>
        <p:spPr>
          <a:xfrm>
            <a:off x="2209938" y="5605272"/>
            <a:ext cx="182880" cy="0"/>
          </a:xfrm>
          <a:prstGeom prst="line">
            <a:avLst/>
          </a:prstGeom>
          <a:ln w="13970">
            <a:solidFill>
              <a:srgbClr val="DDDDD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4" name="Rectangle 53"/>
          <p:cNvSpPr/>
          <p:nvPr/>
        </p:nvSpPr>
        <p:spPr>
          <a:xfrm>
            <a:off x="1527048" y="2148839"/>
            <a:ext cx="966354" cy="4206240"/>
          </a:xfrm>
          <a:prstGeom prst="rect">
            <a:avLst/>
          </a:prstGeom>
          <a:noFill/>
          <a:ln w="12700">
            <a:solidFill>
              <a:srgbClr val="DC2626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5" name="Connector 54"/>
          <p:cNvCxnSpPr/>
          <p:nvPr/>
        </p:nvCxnSpPr>
        <p:spPr>
          <a:xfrm>
            <a:off x="2593986" y="2322575"/>
            <a:ext cx="905090" cy="0"/>
          </a:xfrm>
          <a:prstGeom prst="line">
            <a:avLst/>
          </a:prstGeom>
          <a:ln w="22860">
            <a:solidFill>
              <a:srgbClr val="6666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6" name="Rounded Rectangle 55"/>
          <p:cNvSpPr/>
          <p:nvPr/>
        </p:nvSpPr>
        <p:spPr>
          <a:xfrm>
            <a:off x="4306824" y="2194559"/>
            <a:ext cx="530352" cy="237744"/>
          </a:xfrm>
          <a:prstGeom prst="roundRect">
            <a:avLst/>
          </a:prstGeom>
          <a:solidFill>
            <a:srgbClr val="F7F7F7"/>
          </a:solidFill>
          <a:ln w="1524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ounded Rectangle 56"/>
          <p:cNvSpPr/>
          <p:nvPr/>
        </p:nvSpPr>
        <p:spPr>
          <a:xfrm>
            <a:off x="4892040" y="2194559"/>
            <a:ext cx="530352" cy="237744"/>
          </a:xfrm>
          <a:prstGeom prst="roundRect">
            <a:avLst/>
          </a:prstGeom>
          <a:solidFill>
            <a:srgbClr val="F7F7F7"/>
          </a:solidFill>
          <a:ln w="1524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Oval 57"/>
          <p:cNvSpPr/>
          <p:nvPr/>
        </p:nvSpPr>
        <p:spPr>
          <a:xfrm>
            <a:off x="2575698" y="2176271"/>
            <a:ext cx="237744" cy="237744"/>
          </a:xfrm>
          <a:prstGeom prst="ellipse">
            <a:avLst/>
          </a:prstGeom>
          <a:solidFill>
            <a:srgbClr val="DC2626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5</a:t>
            </a:r>
          </a:p>
        </p:txBody>
      </p:sp>
      <p:sp>
        <p:nvSpPr>
          <p:cNvPr id="59" name="Rectangle 58"/>
          <p:cNvSpPr/>
          <p:nvPr/>
        </p:nvSpPr>
        <p:spPr>
          <a:xfrm>
            <a:off x="2593986" y="2542031"/>
            <a:ext cx="2828405" cy="1481328"/>
          </a:xfrm>
          <a:prstGeom prst="rect">
            <a:avLst/>
          </a:prstGeom>
          <a:solidFill>
            <a:srgbClr val="FFFFFF"/>
          </a:solidFill>
          <a:ln w="1651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0" name="Connector 59"/>
          <p:cNvCxnSpPr/>
          <p:nvPr/>
        </p:nvCxnSpPr>
        <p:spPr>
          <a:xfrm>
            <a:off x="2694570" y="2688335"/>
            <a:ext cx="678817" cy="0"/>
          </a:xfrm>
          <a:prstGeom prst="line">
            <a:avLst/>
          </a:prstGeom>
          <a:ln w="20320">
            <a:solidFill>
              <a:srgbClr val="6666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1" name="Rectangle 60"/>
          <p:cNvSpPr/>
          <p:nvPr/>
        </p:nvSpPr>
        <p:spPr>
          <a:xfrm>
            <a:off x="2694570" y="2798063"/>
            <a:ext cx="493776" cy="384048"/>
          </a:xfrm>
          <a:prstGeom prst="rect">
            <a:avLst/>
          </a:prstGeom>
          <a:solidFill>
            <a:srgbClr val="F7F7F7"/>
          </a:solidFill>
          <a:ln w="1397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Oval 61"/>
          <p:cNvSpPr/>
          <p:nvPr/>
        </p:nvSpPr>
        <p:spPr>
          <a:xfrm>
            <a:off x="3042042" y="2825495"/>
            <a:ext cx="118872" cy="118872"/>
          </a:xfrm>
          <a:prstGeom prst="ellipse">
            <a:avLst/>
          </a:prstGeom>
          <a:solidFill>
            <a:srgbClr val="FFFFFF"/>
          </a:solidFill>
          <a:ln w="1524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3" name="Connector 62"/>
          <p:cNvCxnSpPr/>
          <p:nvPr/>
        </p:nvCxnSpPr>
        <p:spPr>
          <a:xfrm>
            <a:off x="3072949" y="2856402"/>
            <a:ext cx="57058" cy="57059"/>
          </a:xfrm>
          <a:prstGeom prst="line">
            <a:avLst/>
          </a:prstGeom>
          <a:ln w="12700">
            <a:solidFill>
              <a:srgbClr val="6666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" name="Connector 63"/>
          <p:cNvCxnSpPr/>
          <p:nvPr/>
        </p:nvCxnSpPr>
        <p:spPr>
          <a:xfrm flipH="1">
            <a:off x="3072949" y="2856402"/>
            <a:ext cx="57058" cy="57059"/>
          </a:xfrm>
          <a:prstGeom prst="line">
            <a:avLst/>
          </a:prstGeom>
          <a:ln w="12700">
            <a:solidFill>
              <a:srgbClr val="6666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5" name="Rectangle 64"/>
          <p:cNvSpPr/>
          <p:nvPr/>
        </p:nvSpPr>
        <p:spPr>
          <a:xfrm>
            <a:off x="3261498" y="2798063"/>
            <a:ext cx="493776" cy="384048"/>
          </a:xfrm>
          <a:prstGeom prst="rect">
            <a:avLst/>
          </a:prstGeom>
          <a:solidFill>
            <a:srgbClr val="F7F7F7"/>
          </a:solidFill>
          <a:ln w="1397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Oval 65"/>
          <p:cNvSpPr/>
          <p:nvPr/>
        </p:nvSpPr>
        <p:spPr>
          <a:xfrm>
            <a:off x="3608970" y="2825495"/>
            <a:ext cx="118872" cy="118872"/>
          </a:xfrm>
          <a:prstGeom prst="ellipse">
            <a:avLst/>
          </a:prstGeom>
          <a:solidFill>
            <a:srgbClr val="FFFFFF"/>
          </a:solidFill>
          <a:ln w="1524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7" name="Connector 66"/>
          <p:cNvCxnSpPr/>
          <p:nvPr/>
        </p:nvCxnSpPr>
        <p:spPr>
          <a:xfrm>
            <a:off x="3639877" y="2856402"/>
            <a:ext cx="57058" cy="57059"/>
          </a:xfrm>
          <a:prstGeom prst="line">
            <a:avLst/>
          </a:prstGeom>
          <a:ln w="12700">
            <a:solidFill>
              <a:srgbClr val="6666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8" name="Connector 67"/>
          <p:cNvCxnSpPr/>
          <p:nvPr/>
        </p:nvCxnSpPr>
        <p:spPr>
          <a:xfrm flipH="1">
            <a:off x="3639877" y="2856402"/>
            <a:ext cx="57058" cy="57059"/>
          </a:xfrm>
          <a:prstGeom prst="line">
            <a:avLst/>
          </a:prstGeom>
          <a:ln w="12700">
            <a:solidFill>
              <a:srgbClr val="6666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9" name="Rectangle 68"/>
          <p:cNvSpPr/>
          <p:nvPr/>
        </p:nvSpPr>
        <p:spPr>
          <a:xfrm>
            <a:off x="3828426" y="2798063"/>
            <a:ext cx="493776" cy="384048"/>
          </a:xfrm>
          <a:prstGeom prst="rect">
            <a:avLst/>
          </a:prstGeom>
          <a:solidFill>
            <a:srgbClr val="F7F7F7"/>
          </a:solidFill>
          <a:ln w="1397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Oval 69"/>
          <p:cNvSpPr/>
          <p:nvPr/>
        </p:nvSpPr>
        <p:spPr>
          <a:xfrm>
            <a:off x="4175898" y="2825495"/>
            <a:ext cx="118872" cy="118872"/>
          </a:xfrm>
          <a:prstGeom prst="ellipse">
            <a:avLst/>
          </a:prstGeom>
          <a:solidFill>
            <a:srgbClr val="FFFFFF"/>
          </a:solidFill>
          <a:ln w="1524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1" name="Connector 70"/>
          <p:cNvCxnSpPr/>
          <p:nvPr/>
        </p:nvCxnSpPr>
        <p:spPr>
          <a:xfrm>
            <a:off x="4206805" y="2856402"/>
            <a:ext cx="57058" cy="57059"/>
          </a:xfrm>
          <a:prstGeom prst="line">
            <a:avLst/>
          </a:prstGeom>
          <a:ln w="12700">
            <a:solidFill>
              <a:srgbClr val="6666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2" name="Connector 71"/>
          <p:cNvCxnSpPr/>
          <p:nvPr/>
        </p:nvCxnSpPr>
        <p:spPr>
          <a:xfrm flipH="1">
            <a:off x="4206805" y="2856402"/>
            <a:ext cx="57058" cy="57059"/>
          </a:xfrm>
          <a:prstGeom prst="line">
            <a:avLst/>
          </a:prstGeom>
          <a:ln w="12700">
            <a:solidFill>
              <a:srgbClr val="6666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3" name="Rectangle 72"/>
          <p:cNvSpPr/>
          <p:nvPr/>
        </p:nvSpPr>
        <p:spPr>
          <a:xfrm>
            <a:off x="4395354" y="2798063"/>
            <a:ext cx="384048" cy="384048"/>
          </a:xfrm>
          <a:prstGeom prst="rect">
            <a:avLst/>
          </a:prstGeom>
          <a:solidFill>
            <a:srgbClr val="FFFFFF"/>
          </a:solidFill>
          <a:ln w="13970">
            <a:solidFill>
              <a:srgbClr val="999999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Rectangle 73"/>
          <p:cNvSpPr/>
          <p:nvPr/>
        </p:nvSpPr>
        <p:spPr>
          <a:xfrm>
            <a:off x="2694570" y="3310127"/>
            <a:ext cx="2627237" cy="164592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5" name="Connector 74"/>
          <p:cNvCxnSpPr/>
          <p:nvPr/>
        </p:nvCxnSpPr>
        <p:spPr>
          <a:xfrm>
            <a:off x="2694570" y="3474719"/>
            <a:ext cx="2627237" cy="0"/>
          </a:xfrm>
          <a:prstGeom prst="line">
            <a:avLst/>
          </a:prstGeom>
          <a:ln w="22860">
            <a:solidFill>
              <a:srgbClr val="33333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6" name="Rectangle 75"/>
          <p:cNvSpPr/>
          <p:nvPr/>
        </p:nvSpPr>
        <p:spPr>
          <a:xfrm>
            <a:off x="2694570" y="3529583"/>
            <a:ext cx="2627237" cy="164592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7" name="Connector 76"/>
          <p:cNvCxnSpPr/>
          <p:nvPr/>
        </p:nvCxnSpPr>
        <p:spPr>
          <a:xfrm>
            <a:off x="2694570" y="3694175"/>
            <a:ext cx="2627237" cy="0"/>
          </a:xfrm>
          <a:prstGeom prst="line">
            <a:avLst/>
          </a:prstGeom>
          <a:ln w="22860">
            <a:solidFill>
              <a:srgbClr val="33333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8" name="Rectangle 77"/>
          <p:cNvSpPr/>
          <p:nvPr/>
        </p:nvSpPr>
        <p:spPr>
          <a:xfrm>
            <a:off x="2694570" y="3749039"/>
            <a:ext cx="2627237" cy="164592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9" name="Connector 78"/>
          <p:cNvCxnSpPr/>
          <p:nvPr/>
        </p:nvCxnSpPr>
        <p:spPr>
          <a:xfrm>
            <a:off x="2694570" y="3913631"/>
            <a:ext cx="2627237" cy="0"/>
          </a:xfrm>
          <a:prstGeom prst="line">
            <a:avLst/>
          </a:prstGeom>
          <a:ln w="22860">
            <a:solidFill>
              <a:srgbClr val="33333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0" name="Oval 79"/>
          <p:cNvSpPr/>
          <p:nvPr/>
        </p:nvSpPr>
        <p:spPr>
          <a:xfrm>
            <a:off x="2575698" y="2523743"/>
            <a:ext cx="237744" cy="237744"/>
          </a:xfrm>
          <a:prstGeom prst="ellipse">
            <a:avLst/>
          </a:prstGeom>
          <a:solidFill>
            <a:srgbClr val="DC2626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6</a:t>
            </a:r>
          </a:p>
        </p:txBody>
      </p:sp>
      <p:sp>
        <p:nvSpPr>
          <p:cNvPr id="81" name="Rectangle 80"/>
          <p:cNvSpPr/>
          <p:nvPr/>
        </p:nvSpPr>
        <p:spPr>
          <a:xfrm>
            <a:off x="2593986" y="4133087"/>
            <a:ext cx="2828405" cy="749808"/>
          </a:xfrm>
          <a:prstGeom prst="rect">
            <a:avLst/>
          </a:prstGeom>
          <a:solidFill>
            <a:srgbClr val="F7F7F7"/>
          </a:solidFill>
          <a:ln w="1651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82" name="Connector 81"/>
          <p:cNvCxnSpPr/>
          <p:nvPr/>
        </p:nvCxnSpPr>
        <p:spPr>
          <a:xfrm>
            <a:off x="2694570" y="4279392"/>
            <a:ext cx="791954" cy="0"/>
          </a:xfrm>
          <a:prstGeom prst="line">
            <a:avLst/>
          </a:prstGeom>
          <a:ln w="20320">
            <a:solidFill>
              <a:srgbClr val="6666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3" name="Rectangle 82"/>
          <p:cNvSpPr/>
          <p:nvPr/>
        </p:nvSpPr>
        <p:spPr>
          <a:xfrm>
            <a:off x="2694570" y="4425696"/>
            <a:ext cx="1244498" cy="164592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84" name="Connector 83"/>
          <p:cNvCxnSpPr/>
          <p:nvPr/>
        </p:nvCxnSpPr>
        <p:spPr>
          <a:xfrm>
            <a:off x="2694570" y="4590288"/>
            <a:ext cx="1244498" cy="0"/>
          </a:xfrm>
          <a:prstGeom prst="line">
            <a:avLst/>
          </a:prstGeom>
          <a:ln w="22860">
            <a:solidFill>
              <a:srgbClr val="33333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5" name="Rectangle 84"/>
          <p:cNvSpPr/>
          <p:nvPr/>
        </p:nvSpPr>
        <p:spPr>
          <a:xfrm>
            <a:off x="4108773" y="4425696"/>
            <a:ext cx="1143914" cy="164592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86" name="Connector 85"/>
          <p:cNvCxnSpPr/>
          <p:nvPr/>
        </p:nvCxnSpPr>
        <p:spPr>
          <a:xfrm>
            <a:off x="4108773" y="4590288"/>
            <a:ext cx="1143914" cy="0"/>
          </a:xfrm>
          <a:prstGeom prst="line">
            <a:avLst/>
          </a:prstGeom>
          <a:ln w="22860">
            <a:solidFill>
              <a:srgbClr val="33333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7" name="Rectangle 86"/>
          <p:cNvSpPr/>
          <p:nvPr/>
        </p:nvSpPr>
        <p:spPr>
          <a:xfrm>
            <a:off x="2694570" y="4663440"/>
            <a:ext cx="2627237" cy="164592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88" name="Connector 87"/>
          <p:cNvCxnSpPr/>
          <p:nvPr/>
        </p:nvCxnSpPr>
        <p:spPr>
          <a:xfrm>
            <a:off x="2694570" y="4828031"/>
            <a:ext cx="2627237" cy="0"/>
          </a:xfrm>
          <a:prstGeom prst="line">
            <a:avLst/>
          </a:prstGeom>
          <a:ln w="22860">
            <a:solidFill>
              <a:srgbClr val="33333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9" name="Oval 88"/>
          <p:cNvSpPr/>
          <p:nvPr/>
        </p:nvSpPr>
        <p:spPr>
          <a:xfrm>
            <a:off x="2575698" y="4114800"/>
            <a:ext cx="237744" cy="237744"/>
          </a:xfrm>
          <a:prstGeom prst="ellipse">
            <a:avLst/>
          </a:prstGeom>
          <a:solidFill>
            <a:srgbClr val="DC2626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7</a:t>
            </a:r>
          </a:p>
        </p:txBody>
      </p:sp>
      <p:sp>
        <p:nvSpPr>
          <p:cNvPr id="90" name="Rectangle 89"/>
          <p:cNvSpPr/>
          <p:nvPr/>
        </p:nvSpPr>
        <p:spPr>
          <a:xfrm>
            <a:off x="2593986" y="4992624"/>
            <a:ext cx="2828405" cy="530352"/>
          </a:xfrm>
          <a:prstGeom prst="rect">
            <a:avLst/>
          </a:prstGeom>
          <a:solidFill>
            <a:srgbClr val="FFFFFF"/>
          </a:solidFill>
          <a:ln w="1651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91" name="Connector 90"/>
          <p:cNvCxnSpPr/>
          <p:nvPr/>
        </p:nvCxnSpPr>
        <p:spPr>
          <a:xfrm>
            <a:off x="2694570" y="5138928"/>
            <a:ext cx="735385" cy="0"/>
          </a:xfrm>
          <a:prstGeom prst="line">
            <a:avLst/>
          </a:prstGeom>
          <a:ln w="20320">
            <a:solidFill>
              <a:srgbClr val="6666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2" name="Rectangle 91"/>
          <p:cNvSpPr/>
          <p:nvPr/>
        </p:nvSpPr>
        <p:spPr>
          <a:xfrm>
            <a:off x="2694570" y="5285232"/>
            <a:ext cx="1697043" cy="164592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93" name="Connector 92"/>
          <p:cNvCxnSpPr/>
          <p:nvPr/>
        </p:nvCxnSpPr>
        <p:spPr>
          <a:xfrm>
            <a:off x="2694570" y="5449824"/>
            <a:ext cx="1697043" cy="0"/>
          </a:xfrm>
          <a:prstGeom prst="line">
            <a:avLst/>
          </a:prstGeom>
          <a:ln w="22860">
            <a:solidFill>
              <a:srgbClr val="33333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4" name="Oval 93"/>
          <p:cNvSpPr/>
          <p:nvPr/>
        </p:nvSpPr>
        <p:spPr>
          <a:xfrm>
            <a:off x="2575698" y="4974336"/>
            <a:ext cx="237744" cy="237744"/>
          </a:xfrm>
          <a:prstGeom prst="ellipse">
            <a:avLst/>
          </a:prstGeom>
          <a:solidFill>
            <a:srgbClr val="DC2626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8</a:t>
            </a:r>
          </a:p>
        </p:txBody>
      </p:sp>
      <p:sp>
        <p:nvSpPr>
          <p:cNvPr id="95" name="Rectangle 94"/>
          <p:cNvSpPr/>
          <p:nvPr/>
        </p:nvSpPr>
        <p:spPr>
          <a:xfrm>
            <a:off x="2593986" y="5632704"/>
            <a:ext cx="2828405" cy="676656"/>
          </a:xfrm>
          <a:prstGeom prst="rect">
            <a:avLst/>
          </a:prstGeom>
          <a:solidFill>
            <a:srgbClr val="FFFFFF"/>
          </a:solidFill>
          <a:ln w="1651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96" name="Connector 95"/>
          <p:cNvCxnSpPr/>
          <p:nvPr/>
        </p:nvCxnSpPr>
        <p:spPr>
          <a:xfrm>
            <a:off x="2694570" y="5779008"/>
            <a:ext cx="622249" cy="0"/>
          </a:xfrm>
          <a:prstGeom prst="line">
            <a:avLst/>
          </a:prstGeom>
          <a:ln w="20320">
            <a:solidFill>
              <a:srgbClr val="6666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7" name="Rectangle 96"/>
          <p:cNvSpPr/>
          <p:nvPr/>
        </p:nvSpPr>
        <p:spPr>
          <a:xfrm>
            <a:off x="2694570" y="5925312"/>
            <a:ext cx="820881" cy="164592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98" name="Connector 97"/>
          <p:cNvCxnSpPr/>
          <p:nvPr/>
        </p:nvCxnSpPr>
        <p:spPr>
          <a:xfrm>
            <a:off x="2694570" y="6089904"/>
            <a:ext cx="820882" cy="0"/>
          </a:xfrm>
          <a:prstGeom prst="line">
            <a:avLst/>
          </a:prstGeom>
          <a:ln w="22860">
            <a:solidFill>
              <a:srgbClr val="33333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9" name="Rectangle 98"/>
          <p:cNvSpPr/>
          <p:nvPr/>
        </p:nvSpPr>
        <p:spPr>
          <a:xfrm>
            <a:off x="3570316" y="5925312"/>
            <a:ext cx="820881" cy="164592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00" name="Connector 99"/>
          <p:cNvCxnSpPr/>
          <p:nvPr/>
        </p:nvCxnSpPr>
        <p:spPr>
          <a:xfrm>
            <a:off x="3570316" y="6089904"/>
            <a:ext cx="820882" cy="0"/>
          </a:xfrm>
          <a:prstGeom prst="line">
            <a:avLst/>
          </a:prstGeom>
          <a:ln w="22860">
            <a:solidFill>
              <a:srgbClr val="33333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1" name="Rectangle 100"/>
          <p:cNvSpPr/>
          <p:nvPr/>
        </p:nvSpPr>
        <p:spPr>
          <a:xfrm>
            <a:off x="4446062" y="5925312"/>
            <a:ext cx="820881" cy="164592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02" name="Connector 101"/>
          <p:cNvCxnSpPr/>
          <p:nvPr/>
        </p:nvCxnSpPr>
        <p:spPr>
          <a:xfrm>
            <a:off x="4446062" y="6089904"/>
            <a:ext cx="820881" cy="0"/>
          </a:xfrm>
          <a:prstGeom prst="line">
            <a:avLst/>
          </a:prstGeom>
          <a:ln w="22860">
            <a:solidFill>
              <a:srgbClr val="33333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3" name="Connector 102"/>
          <p:cNvCxnSpPr/>
          <p:nvPr/>
        </p:nvCxnSpPr>
        <p:spPr>
          <a:xfrm>
            <a:off x="2694570" y="6199632"/>
            <a:ext cx="1074794" cy="0"/>
          </a:xfrm>
          <a:prstGeom prst="line">
            <a:avLst/>
          </a:prstGeom>
          <a:ln w="13970">
            <a:solidFill>
              <a:srgbClr val="6666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4" name="Oval 103"/>
          <p:cNvSpPr/>
          <p:nvPr/>
        </p:nvSpPr>
        <p:spPr>
          <a:xfrm>
            <a:off x="2575698" y="5614416"/>
            <a:ext cx="237744" cy="237744"/>
          </a:xfrm>
          <a:prstGeom prst="ellipse">
            <a:avLst/>
          </a:prstGeom>
          <a:solidFill>
            <a:srgbClr val="DC2626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9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5824728" y="1572767"/>
            <a:ext cx="5982919" cy="256032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111111"/>
                </a:solidFill>
                <a:latin typeface="맑은 고딕"/>
                <a:ea typeface="맑은 고딕"/>
              </a:rPr>
              <a:t>Description</a:t>
            </a:r>
          </a:p>
        </p:txBody>
      </p:sp>
      <p:sp>
        <p:nvSpPr>
          <p:cNvPr id="106" name="Oval 105"/>
          <p:cNvSpPr/>
          <p:nvPr/>
        </p:nvSpPr>
        <p:spPr>
          <a:xfrm>
            <a:off x="5824728" y="1929383"/>
            <a:ext cx="219456" cy="219456"/>
          </a:xfrm>
          <a:prstGeom prst="ellipse">
            <a:avLst/>
          </a:prstGeom>
          <a:solidFill>
            <a:srgbClr val="DC2626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5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6135624" y="1901951"/>
            <a:ext cx="5672023" cy="667877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100"/>
              </a:spcAft>
            </a:pPr>
            <a:r>
              <a:rPr sz="950" b="1">
                <a:solidFill>
                  <a:srgbClr val="111111"/>
                </a:solidFill>
                <a:latin typeface="맑은 고딕"/>
                <a:ea typeface="맑은 고딕"/>
              </a:rPr>
              <a:t>헤더 액션 </a:t>
            </a:r>
            <a:r>
              <a:rPr sz="950" b="0">
                <a:solidFill>
                  <a:srgbClr val="999999"/>
                </a:solidFill>
                <a:latin typeface="맑은 고딕"/>
                <a:ea typeface="맑은 고딕"/>
              </a:rPr>
              <a:t>—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수정[admin]·삭제[확인 절차]</a:t>
            </a:r>
          </a:p>
        </p:txBody>
      </p:sp>
      <p:cxnSp>
        <p:nvCxnSpPr>
          <p:cNvPr id="108" name="Connector 107"/>
          <p:cNvCxnSpPr/>
          <p:nvPr/>
        </p:nvCxnSpPr>
        <p:spPr>
          <a:xfrm>
            <a:off x="5824728" y="2551541"/>
            <a:ext cx="5982919" cy="0"/>
          </a:xfrm>
          <a:prstGeom prst="line">
            <a:avLst/>
          </a:prstGeom>
          <a:ln w="9525">
            <a:solidFill>
              <a:srgbClr val="EEEEE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9" name="Oval 108"/>
          <p:cNvSpPr/>
          <p:nvPr/>
        </p:nvSpPr>
        <p:spPr>
          <a:xfrm>
            <a:off x="5824728" y="2597261"/>
            <a:ext cx="219456" cy="219456"/>
          </a:xfrm>
          <a:prstGeom prst="ellipse">
            <a:avLst/>
          </a:prstGeom>
          <a:solidFill>
            <a:srgbClr val="DC2626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6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6135624" y="2569829"/>
            <a:ext cx="5672023" cy="667877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100"/>
              </a:spcAft>
            </a:pPr>
            <a:r>
              <a:rPr sz="950" b="1">
                <a:solidFill>
                  <a:srgbClr val="111111"/>
                </a:solidFill>
                <a:latin typeface="맑은 고딕"/>
                <a:ea typeface="맑은 고딕"/>
              </a:rPr>
              <a:t>기본 정보 </a:t>
            </a:r>
            <a:r>
              <a:rPr sz="950" b="0">
                <a:solidFill>
                  <a:srgbClr val="999999"/>
                </a:solidFill>
                <a:latin typeface="맑은 고딕"/>
                <a:ea typeface="맑은 고딕"/>
              </a:rPr>
              <a:t>—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수정 모드에서 이미지 추가/삭제 포함 — 등록 폼과 동일 구성</a:t>
            </a:r>
          </a:p>
        </p:txBody>
      </p:sp>
      <p:cxnSp>
        <p:nvCxnSpPr>
          <p:cNvPr id="111" name="Connector 110"/>
          <p:cNvCxnSpPr/>
          <p:nvPr/>
        </p:nvCxnSpPr>
        <p:spPr>
          <a:xfrm>
            <a:off x="5824728" y="3219419"/>
            <a:ext cx="5982919" cy="0"/>
          </a:xfrm>
          <a:prstGeom prst="line">
            <a:avLst/>
          </a:prstGeom>
          <a:ln w="9525">
            <a:solidFill>
              <a:srgbClr val="EEEEE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2" name="Oval 111"/>
          <p:cNvSpPr/>
          <p:nvPr/>
        </p:nvSpPr>
        <p:spPr>
          <a:xfrm>
            <a:off x="5824728" y="3265139"/>
            <a:ext cx="219456" cy="219456"/>
          </a:xfrm>
          <a:prstGeom prst="ellipse">
            <a:avLst/>
          </a:prstGeom>
          <a:solidFill>
            <a:srgbClr val="DC2626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7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6135624" y="3237707"/>
            <a:ext cx="5672023" cy="667877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100"/>
              </a:spcAft>
            </a:pPr>
            <a:r>
              <a:rPr sz="950" b="1">
                <a:solidFill>
                  <a:srgbClr val="111111"/>
                </a:solidFill>
                <a:latin typeface="맑은 고딕"/>
                <a:ea typeface="맑은 고딕"/>
              </a:rPr>
              <a:t>유형별 섹션 </a:t>
            </a:r>
            <a:r>
              <a:rPr sz="950" b="0">
                <a:solidFill>
                  <a:srgbClr val="999999"/>
                </a:solidFill>
                <a:latin typeface="맑은 고딕"/>
                <a:ea typeface="맑은 고딕"/>
              </a:rPr>
              <a:t>—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대상 카드 유형에 따름</a:t>
            </a:r>
          </a:p>
        </p:txBody>
      </p:sp>
      <p:cxnSp>
        <p:nvCxnSpPr>
          <p:cNvPr id="114" name="Connector 113"/>
          <p:cNvCxnSpPr/>
          <p:nvPr/>
        </p:nvCxnSpPr>
        <p:spPr>
          <a:xfrm>
            <a:off x="5824728" y="3887297"/>
            <a:ext cx="5982919" cy="0"/>
          </a:xfrm>
          <a:prstGeom prst="line">
            <a:avLst/>
          </a:prstGeom>
          <a:ln w="9525">
            <a:solidFill>
              <a:srgbClr val="EEEEE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5" name="Oval 114"/>
          <p:cNvSpPr/>
          <p:nvPr/>
        </p:nvSpPr>
        <p:spPr>
          <a:xfrm>
            <a:off x="5824728" y="3933017"/>
            <a:ext cx="219456" cy="219456"/>
          </a:xfrm>
          <a:prstGeom prst="ellipse">
            <a:avLst/>
          </a:prstGeom>
          <a:solidFill>
            <a:srgbClr val="DC2626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8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6135624" y="3905585"/>
            <a:ext cx="5672023" cy="667877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100"/>
              </a:spcAft>
            </a:pPr>
            <a:r>
              <a:rPr sz="950" b="1">
                <a:solidFill>
                  <a:srgbClr val="111111"/>
                </a:solidFill>
                <a:latin typeface="맑은 고딕"/>
                <a:ea typeface="맑은 고딕"/>
              </a:rPr>
              <a:t>등록 신청자 정보 </a:t>
            </a:r>
            <a:r>
              <a:rPr sz="950" b="0">
                <a:solidFill>
                  <a:srgbClr val="999999"/>
                </a:solidFill>
                <a:latin typeface="맑은 고딕"/>
                <a:ea typeface="맑은 고딕"/>
              </a:rPr>
              <a:t>—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신청자 이메일 등</a:t>
            </a:r>
          </a:p>
        </p:txBody>
      </p:sp>
      <p:cxnSp>
        <p:nvCxnSpPr>
          <p:cNvPr id="117" name="Connector 116"/>
          <p:cNvCxnSpPr/>
          <p:nvPr/>
        </p:nvCxnSpPr>
        <p:spPr>
          <a:xfrm>
            <a:off x="5824728" y="4555175"/>
            <a:ext cx="5982919" cy="0"/>
          </a:xfrm>
          <a:prstGeom prst="line">
            <a:avLst/>
          </a:prstGeom>
          <a:ln w="9525">
            <a:solidFill>
              <a:srgbClr val="EEEEE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8" name="Oval 117"/>
          <p:cNvSpPr/>
          <p:nvPr/>
        </p:nvSpPr>
        <p:spPr>
          <a:xfrm>
            <a:off x="5824728" y="4600895"/>
            <a:ext cx="219456" cy="219456"/>
          </a:xfrm>
          <a:prstGeom prst="ellipse">
            <a:avLst/>
          </a:prstGeom>
          <a:solidFill>
            <a:srgbClr val="DC2626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9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6135624" y="4573463"/>
            <a:ext cx="5672023" cy="667877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100"/>
              </a:spcAft>
            </a:pPr>
            <a:r>
              <a:rPr sz="950" b="1">
                <a:solidFill>
                  <a:srgbClr val="111111"/>
                </a:solidFill>
                <a:latin typeface="맑은 고딕"/>
                <a:ea typeface="맑은 고딕"/>
              </a:rPr>
              <a:t>담당자 </a:t>
            </a:r>
            <a:r>
              <a:rPr sz="950" b="0">
                <a:solidFill>
                  <a:srgbClr val="999999"/>
                </a:solidFill>
                <a:latin typeface="맑은 고딕"/>
                <a:ea typeface="맑은 고딕"/>
              </a:rPr>
              <a:t>—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조회·편집</a:t>
            </a:r>
          </a:p>
        </p:txBody>
      </p:sp>
      <p:sp>
        <p:nvSpPr>
          <p:cNvPr id="120" name="Rectangle 119"/>
          <p:cNvSpPr/>
          <p:nvPr/>
        </p:nvSpPr>
        <p:spPr>
          <a:xfrm>
            <a:off x="5824728" y="5387644"/>
            <a:ext cx="5982919" cy="1086307"/>
          </a:xfrm>
          <a:prstGeom prst="rect">
            <a:avLst/>
          </a:prstGeom>
          <a:solidFill>
            <a:srgbClr val="F7F7F7"/>
          </a:solidFill>
          <a:ln w="12700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21" name="Connector 120"/>
          <p:cNvCxnSpPr/>
          <p:nvPr/>
        </p:nvCxnSpPr>
        <p:spPr>
          <a:xfrm>
            <a:off x="5824728" y="5661964"/>
            <a:ext cx="5982919" cy="0"/>
          </a:xfrm>
          <a:prstGeom prst="line">
            <a:avLst/>
          </a:prstGeom>
          <a:ln w="12700">
            <a:solidFill>
              <a:srgbClr val="CCCCC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2" name="TextBox 121"/>
          <p:cNvSpPr txBox="1"/>
          <p:nvPr/>
        </p:nvSpPr>
        <p:spPr>
          <a:xfrm>
            <a:off x="5934456" y="5428792"/>
            <a:ext cx="5763463" cy="237744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11111"/>
                </a:solidFill>
                <a:latin typeface="맑은 고딕"/>
                <a:ea typeface="맑은 고딕"/>
              </a:rPr>
              <a:t>화면 룰·기획 근거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5952744" y="5698540"/>
            <a:ext cx="5726887" cy="738835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100"/>
              </a:spcAft>
            </a:pPr>
            <a:r>
              <a:rPr sz="85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850" b="0">
                <a:solidFill>
                  <a:srgbClr val="333333"/>
                </a:solidFill>
                <a:latin typeface="맑은 고딕"/>
                <a:ea typeface="맑은 고딕"/>
              </a:rPr>
              <a:t>수정·직접 등록은 admin 전용</a:t>
            </a:r>
          </a:p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100"/>
              </a:spcAft>
            </a:pPr>
            <a:r>
              <a:rPr sz="85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850" b="0">
                <a:solidFill>
                  <a:srgbClr val="333333"/>
                </a:solidFill>
                <a:latin typeface="맑은 고딕"/>
                <a:ea typeface="맑은 고딕"/>
              </a:rPr>
              <a:t>삭제된 카드 복구 불가 고지</a:t>
            </a:r>
          </a:p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DC2626"/>
                </a:solidFill>
                <a:latin typeface="맑은 고딕"/>
                <a:ea typeface="맑은 고딕"/>
              </a:rPr>
              <a:t>BE·DB  </a:t>
            </a:r>
            <a:r>
              <a:rPr sz="850" b="0">
                <a:solidFill>
                  <a:srgbClr val="666666"/>
                </a:solidFill>
                <a:latin typeface="맑은 고딕"/>
                <a:ea typeface="맑은 고딕"/>
              </a:rPr>
              <a:t>getManagedAssetItems(카탈로그 파생). 수정 PATCH·삭제 DELETE·직접 등록 POST, 권한 서버 검증. 이미지는 스토리지 선정 연동(부록 B).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84048" y="384048"/>
            <a:ext cx="7996519" cy="365760"/>
          </a:xfrm>
          <a:prstGeom prst="rect">
            <a:avLst/>
          </a:prstGeom>
          <a:noFill/>
        </p:spPr>
        <p:txBody>
          <a:bodyPr wrap="square" anchor="ctr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111111"/>
                </a:solidFill>
                <a:latin typeface="맑은 고딕"/>
                <a:ea typeface="맑은 고딕"/>
              </a:rPr>
              <a:t>ADM-04  ·  통계 (Statistics)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238207" y="384048"/>
            <a:ext cx="4569439" cy="365760"/>
          </a:xfrm>
          <a:prstGeom prst="rect">
            <a:avLst/>
          </a:prstGeom>
          <a:noFill/>
        </p:spPr>
        <p:txBody>
          <a:bodyPr wrap="square" anchor="ctr" lIns="54864" rIns="54864" tIns="27432" bIns="18288">
            <a:no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999999"/>
                </a:solidFill>
                <a:latin typeface="맑은 고딕"/>
                <a:ea typeface="맑은 고딕"/>
              </a:rPr>
              <a:t>화면 정의 (Screen Definition)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384048" y="786384"/>
            <a:ext cx="11423599" cy="0"/>
          </a:xfrm>
          <a:prstGeom prst="line">
            <a:avLst/>
          </a:prstGeom>
          <a:ln w="19050">
            <a:solidFill>
              <a:srgbClr val="CCCCC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384048" y="822959"/>
            <a:ext cx="11423599" cy="182880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999999"/>
                </a:solidFill>
                <a:latin typeface="맑은 고딕"/>
                <a:ea typeface="맑은 고딕"/>
              </a:rPr>
              <a:t>화면에 표기된 카테고리·업무 도메인 등 분류 개수는 마스터 데이터에서 파생되는 현재값이며, 고정 상수가 아니다(0.9).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84048" y="1097280"/>
            <a:ext cx="6282979" cy="219456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999999"/>
                </a:solidFill>
                <a:latin typeface="맑은 고딕"/>
                <a:ea typeface="맑은 고딕"/>
              </a:rPr>
              <a:t>화면 구조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29768" y="1371600"/>
            <a:ext cx="3838754" cy="233172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75488" y="1371600"/>
            <a:ext cx="3747314" cy="233172"/>
          </a:xfrm>
          <a:prstGeom prst="rect">
            <a:avLst/>
          </a:prstGeom>
          <a:noFill/>
        </p:spPr>
        <p:txBody>
          <a:bodyPr wrap="square" anchor="ctr" lIns="54864" rIns="54864" tIns="27432" bIns="18288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333333"/>
                </a:solidFill>
                <a:latin typeface="맑은 고딕"/>
                <a:ea typeface="맑은 고딕"/>
              </a:rPr>
              <a:t>통계 (/admin/statistics)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13815" y="1687068"/>
            <a:ext cx="3600644" cy="233172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59536" y="1687068"/>
            <a:ext cx="3509204" cy="233172"/>
          </a:xfrm>
          <a:prstGeom prst="rect">
            <a:avLst/>
          </a:prstGeom>
          <a:noFill/>
        </p:spPr>
        <p:txBody>
          <a:bodyPr wrap="square" anchor="ctr" lIns="54864" rIns="54864" tIns="27432" bIns="18288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333333"/>
                </a:solidFill>
                <a:latin typeface="맑은 고딕"/>
                <a:ea typeface="맑은 고딕"/>
              </a:rPr>
              <a:t>헤더 (조회 범위·기간 프리셋)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539496" y="1488186"/>
            <a:ext cx="0" cy="315468"/>
          </a:xfrm>
          <a:prstGeom prst="line">
            <a:avLst/>
          </a:prstGeom>
          <a:ln w="16510">
            <a:solidFill>
              <a:srgbClr val="99999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539496" y="1803654"/>
            <a:ext cx="274319" cy="0"/>
          </a:xfrm>
          <a:prstGeom prst="line">
            <a:avLst/>
          </a:prstGeom>
          <a:ln w="16510">
            <a:solidFill>
              <a:srgbClr val="99999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813815" y="2002536"/>
            <a:ext cx="3600644" cy="233172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59536" y="2002536"/>
            <a:ext cx="3509204" cy="233172"/>
          </a:xfrm>
          <a:prstGeom prst="rect">
            <a:avLst/>
          </a:prstGeom>
          <a:noFill/>
        </p:spPr>
        <p:txBody>
          <a:bodyPr wrap="square" anchor="ctr" lIns="54864" rIns="54864" tIns="27432" bIns="18288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333333"/>
                </a:solidFill>
                <a:latin typeface="맑은 고딕"/>
                <a:ea typeface="맑은 고딕"/>
              </a:rPr>
              <a:t>요약 4카드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539496" y="1488186"/>
            <a:ext cx="0" cy="630936"/>
          </a:xfrm>
          <a:prstGeom prst="line">
            <a:avLst/>
          </a:prstGeom>
          <a:ln w="16510">
            <a:solidFill>
              <a:srgbClr val="99999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539496" y="2119122"/>
            <a:ext cx="274319" cy="0"/>
          </a:xfrm>
          <a:prstGeom prst="line">
            <a:avLst/>
          </a:prstGeom>
          <a:ln w="16510">
            <a:solidFill>
              <a:srgbClr val="99999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ounded Rectangle 16"/>
          <p:cNvSpPr/>
          <p:nvPr/>
        </p:nvSpPr>
        <p:spPr>
          <a:xfrm>
            <a:off x="813815" y="2318004"/>
            <a:ext cx="3600644" cy="233172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59536" y="2318004"/>
            <a:ext cx="3509204" cy="233172"/>
          </a:xfrm>
          <a:prstGeom prst="rect">
            <a:avLst/>
          </a:prstGeom>
          <a:noFill/>
        </p:spPr>
        <p:txBody>
          <a:bodyPr wrap="square" anchor="ctr" lIns="54864" rIns="54864" tIns="27432" bIns="18288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333333"/>
                </a:solidFill>
                <a:latin typeface="맑은 고딕"/>
                <a:ea typeface="맑은 고딕"/>
              </a:rPr>
              <a:t>등록 추이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539496" y="1488186"/>
            <a:ext cx="0" cy="946404"/>
          </a:xfrm>
          <a:prstGeom prst="line">
            <a:avLst/>
          </a:prstGeom>
          <a:ln w="16510">
            <a:solidFill>
              <a:srgbClr val="99999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539496" y="2434590"/>
            <a:ext cx="274319" cy="0"/>
          </a:xfrm>
          <a:prstGeom prst="line">
            <a:avLst/>
          </a:prstGeom>
          <a:ln w="16510">
            <a:solidFill>
              <a:srgbClr val="99999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ounded Rectangle 20"/>
          <p:cNvSpPr/>
          <p:nvPr/>
        </p:nvSpPr>
        <p:spPr>
          <a:xfrm>
            <a:off x="813815" y="2633472"/>
            <a:ext cx="3600644" cy="233172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59536" y="2633472"/>
            <a:ext cx="3509204" cy="233172"/>
          </a:xfrm>
          <a:prstGeom prst="rect">
            <a:avLst/>
          </a:prstGeom>
          <a:noFill/>
        </p:spPr>
        <p:txBody>
          <a:bodyPr wrap="square" anchor="ctr" lIns="54864" rIns="54864" tIns="27432" bIns="18288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333333"/>
                </a:solidFill>
                <a:latin typeface="맑은 고딕"/>
                <a:ea typeface="맑은 고딕"/>
              </a:rPr>
              <a:t>카테고리 현황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539496" y="1488186"/>
            <a:ext cx="0" cy="1261872"/>
          </a:xfrm>
          <a:prstGeom prst="line">
            <a:avLst/>
          </a:prstGeom>
          <a:ln w="16510">
            <a:solidFill>
              <a:srgbClr val="99999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9496" y="2750058"/>
            <a:ext cx="274319" cy="0"/>
          </a:xfrm>
          <a:prstGeom prst="line">
            <a:avLst/>
          </a:prstGeom>
          <a:ln w="16510">
            <a:solidFill>
              <a:srgbClr val="99999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Rounded Rectangle 24"/>
          <p:cNvSpPr/>
          <p:nvPr/>
        </p:nvSpPr>
        <p:spPr>
          <a:xfrm>
            <a:off x="813815" y="2948939"/>
            <a:ext cx="3600644" cy="233172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59536" y="2948939"/>
            <a:ext cx="3509204" cy="233172"/>
          </a:xfrm>
          <a:prstGeom prst="rect">
            <a:avLst/>
          </a:prstGeom>
          <a:noFill/>
        </p:spPr>
        <p:txBody>
          <a:bodyPr wrap="square" anchor="ctr" lIns="54864" rIns="54864" tIns="27432" bIns="18288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333333"/>
                </a:solidFill>
                <a:latin typeface="맑은 고딕"/>
                <a:ea typeface="맑은 고딕"/>
              </a:rPr>
              <a:t>도메인·부서 (상위 5)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539496" y="1488186"/>
            <a:ext cx="0" cy="1577339"/>
          </a:xfrm>
          <a:prstGeom prst="line">
            <a:avLst/>
          </a:prstGeom>
          <a:ln w="16510">
            <a:solidFill>
              <a:srgbClr val="99999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>
            <a:off x="539496" y="3065525"/>
            <a:ext cx="274319" cy="0"/>
          </a:xfrm>
          <a:prstGeom prst="line">
            <a:avLst/>
          </a:prstGeom>
          <a:ln w="16510">
            <a:solidFill>
              <a:srgbClr val="99999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Rounded Rectangle 28"/>
          <p:cNvSpPr/>
          <p:nvPr/>
        </p:nvSpPr>
        <p:spPr>
          <a:xfrm>
            <a:off x="813815" y="3264407"/>
            <a:ext cx="3600644" cy="233172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59536" y="3264407"/>
            <a:ext cx="3509204" cy="233172"/>
          </a:xfrm>
          <a:prstGeom prst="rect">
            <a:avLst/>
          </a:prstGeom>
          <a:noFill/>
        </p:spPr>
        <p:txBody>
          <a:bodyPr wrap="square" anchor="ctr" lIns="54864" rIns="54864" tIns="27432" bIns="18288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333333"/>
                </a:solidFill>
                <a:latin typeface="맑은 고딕"/>
                <a:ea typeface="맑은 고딕"/>
              </a:rPr>
              <a:t>절감 효과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539496" y="1488186"/>
            <a:ext cx="0" cy="1892807"/>
          </a:xfrm>
          <a:prstGeom prst="line">
            <a:avLst/>
          </a:prstGeom>
          <a:ln w="16510">
            <a:solidFill>
              <a:srgbClr val="99999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39496" y="3380993"/>
            <a:ext cx="274319" cy="0"/>
          </a:xfrm>
          <a:prstGeom prst="line">
            <a:avLst/>
          </a:prstGeom>
          <a:ln w="16510">
            <a:solidFill>
              <a:srgbClr val="99999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Rounded Rectangle 32"/>
          <p:cNvSpPr/>
          <p:nvPr/>
        </p:nvSpPr>
        <p:spPr>
          <a:xfrm>
            <a:off x="813815" y="3579875"/>
            <a:ext cx="3600644" cy="233172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59536" y="3579875"/>
            <a:ext cx="3509204" cy="233172"/>
          </a:xfrm>
          <a:prstGeom prst="rect">
            <a:avLst/>
          </a:prstGeom>
          <a:noFill/>
        </p:spPr>
        <p:txBody>
          <a:bodyPr wrap="square" anchor="ctr" lIns="54864" rIns="54864" tIns="27432" bIns="18288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333333"/>
                </a:solidFill>
                <a:latin typeface="맑은 고딕"/>
                <a:ea typeface="맑은 고딕"/>
              </a:rPr>
              <a:t>3축 분석</a:t>
            </a:r>
          </a:p>
        </p:txBody>
      </p:sp>
      <p:cxnSp>
        <p:nvCxnSpPr>
          <p:cNvPr id="35" name="Connector 34"/>
          <p:cNvCxnSpPr/>
          <p:nvPr/>
        </p:nvCxnSpPr>
        <p:spPr>
          <a:xfrm>
            <a:off x="539496" y="1488186"/>
            <a:ext cx="0" cy="2208275"/>
          </a:xfrm>
          <a:prstGeom prst="line">
            <a:avLst/>
          </a:prstGeom>
          <a:ln w="16510">
            <a:solidFill>
              <a:srgbClr val="99999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>
            <a:off x="539496" y="3696461"/>
            <a:ext cx="274319" cy="0"/>
          </a:xfrm>
          <a:prstGeom prst="line">
            <a:avLst/>
          </a:prstGeom>
          <a:ln w="16510">
            <a:solidFill>
              <a:srgbClr val="99999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Rounded Rectangle 36"/>
          <p:cNvSpPr/>
          <p:nvPr/>
        </p:nvSpPr>
        <p:spPr>
          <a:xfrm>
            <a:off x="813815" y="3895343"/>
            <a:ext cx="3600644" cy="233172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59536" y="3895343"/>
            <a:ext cx="3509204" cy="233172"/>
          </a:xfrm>
          <a:prstGeom prst="rect">
            <a:avLst/>
          </a:prstGeom>
          <a:noFill/>
        </p:spPr>
        <p:txBody>
          <a:bodyPr wrap="square" anchor="ctr" lIns="54864" rIns="54864" tIns="27432" bIns="18288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333333"/>
                </a:solidFill>
                <a:latin typeface="맑은 고딕"/>
                <a:ea typeface="맑은 고딕"/>
              </a:rPr>
              <a:t>후기·태그</a:t>
            </a:r>
          </a:p>
        </p:txBody>
      </p:sp>
      <p:cxnSp>
        <p:nvCxnSpPr>
          <p:cNvPr id="39" name="Connector 38"/>
          <p:cNvCxnSpPr/>
          <p:nvPr/>
        </p:nvCxnSpPr>
        <p:spPr>
          <a:xfrm>
            <a:off x="539496" y="1488186"/>
            <a:ext cx="0" cy="2523743"/>
          </a:xfrm>
          <a:prstGeom prst="line">
            <a:avLst/>
          </a:prstGeom>
          <a:ln w="16510">
            <a:solidFill>
              <a:srgbClr val="99999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>
            <a:off x="539496" y="4011929"/>
            <a:ext cx="274319" cy="0"/>
          </a:xfrm>
          <a:prstGeom prst="line">
            <a:avLst/>
          </a:prstGeom>
          <a:ln w="16510">
            <a:solidFill>
              <a:srgbClr val="99999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" name="TextBox 40"/>
          <p:cNvSpPr txBox="1"/>
          <p:nvPr/>
        </p:nvSpPr>
        <p:spPr>
          <a:xfrm>
            <a:off x="384048" y="4443983"/>
            <a:ext cx="6282979" cy="219456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999999"/>
                </a:solidFill>
                <a:latin typeface="맑은 고딕"/>
                <a:ea typeface="맑은 고딕"/>
              </a:rPr>
              <a:t>사용자 흐름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429768" y="4718303"/>
            <a:ext cx="1905350" cy="4572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475488" y="4718303"/>
            <a:ext cx="1813910" cy="457200"/>
          </a:xfrm>
          <a:prstGeom prst="rect">
            <a:avLst/>
          </a:prstGeom>
          <a:noFill/>
        </p:spPr>
        <p:txBody>
          <a:bodyPr wrap="square" anchor="ctr" lIns="54864" rIns="54864" tIns="27432" bIns="18288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333333"/>
                </a:solidFill>
                <a:latin typeface="맑은 고딕"/>
                <a:ea typeface="맑은 고딕"/>
              </a:rPr>
              <a:t>기간·범위 선택</a:t>
            </a:r>
          </a:p>
        </p:txBody>
      </p:sp>
      <p:sp>
        <p:nvSpPr>
          <p:cNvPr id="44" name="Right Arrow 43"/>
          <p:cNvSpPr/>
          <p:nvPr/>
        </p:nvSpPr>
        <p:spPr>
          <a:xfrm>
            <a:off x="2353406" y="4882895"/>
            <a:ext cx="201168" cy="128016"/>
          </a:xfrm>
          <a:prstGeom prst="rightArrow">
            <a:avLst/>
          </a:prstGeom>
          <a:solidFill>
            <a:srgbClr val="CCC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ounded Rectangle 44"/>
          <p:cNvSpPr/>
          <p:nvPr/>
        </p:nvSpPr>
        <p:spPr>
          <a:xfrm>
            <a:off x="2572862" y="4718303"/>
            <a:ext cx="1905350" cy="4572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2618582" y="4718303"/>
            <a:ext cx="1813910" cy="457200"/>
          </a:xfrm>
          <a:prstGeom prst="rect">
            <a:avLst/>
          </a:prstGeom>
          <a:noFill/>
        </p:spPr>
        <p:txBody>
          <a:bodyPr wrap="square" anchor="ctr" lIns="54864" rIns="54864" tIns="27432" bIns="18288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333333"/>
                </a:solidFill>
                <a:latin typeface="맑은 고딕"/>
                <a:ea typeface="맑은 고딕"/>
              </a:rPr>
              <a:t>전 차트 갱신</a:t>
            </a:r>
          </a:p>
        </p:txBody>
      </p:sp>
      <p:sp>
        <p:nvSpPr>
          <p:cNvPr id="47" name="Right Arrow 46"/>
          <p:cNvSpPr/>
          <p:nvPr/>
        </p:nvSpPr>
        <p:spPr>
          <a:xfrm>
            <a:off x="4496501" y="4882895"/>
            <a:ext cx="201168" cy="128016"/>
          </a:xfrm>
          <a:prstGeom prst="rightArrow">
            <a:avLst/>
          </a:prstGeom>
          <a:solidFill>
            <a:srgbClr val="CCC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ounded Rectangle 47"/>
          <p:cNvSpPr/>
          <p:nvPr/>
        </p:nvSpPr>
        <p:spPr>
          <a:xfrm>
            <a:off x="4715957" y="4718303"/>
            <a:ext cx="1905350" cy="4572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4761677" y="4718303"/>
            <a:ext cx="1813910" cy="457200"/>
          </a:xfrm>
          <a:prstGeom prst="rect">
            <a:avLst/>
          </a:prstGeom>
          <a:noFill/>
        </p:spPr>
        <p:txBody>
          <a:bodyPr wrap="square" anchor="ctr" lIns="54864" rIns="54864" tIns="27432" bIns="18288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333333"/>
                </a:solidFill>
                <a:latin typeface="맑은 고딕"/>
                <a:ea typeface="맑은 고딕"/>
              </a:rPr>
              <a:t>차트 펼치기(상위 5→전체)</a:t>
            </a:r>
          </a:p>
        </p:txBody>
      </p:sp>
      <p:sp>
        <p:nvSpPr>
          <p:cNvPr id="50" name="Down Arrow 49"/>
          <p:cNvSpPr/>
          <p:nvPr/>
        </p:nvSpPr>
        <p:spPr>
          <a:xfrm>
            <a:off x="1318435" y="5193791"/>
            <a:ext cx="128016" cy="256032"/>
          </a:xfrm>
          <a:prstGeom prst="downArrow">
            <a:avLst/>
          </a:prstGeom>
          <a:solidFill>
            <a:srgbClr val="CCC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ounded Rectangle 50"/>
          <p:cNvSpPr/>
          <p:nvPr/>
        </p:nvSpPr>
        <p:spPr>
          <a:xfrm>
            <a:off x="429768" y="5486399"/>
            <a:ext cx="1905350" cy="384048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475488" y="5486399"/>
            <a:ext cx="1813910" cy="384048"/>
          </a:xfrm>
          <a:prstGeom prst="rect">
            <a:avLst/>
          </a:prstGeom>
          <a:noFill/>
        </p:spPr>
        <p:txBody>
          <a:bodyPr wrap="square" anchor="ctr" lIns="54864" rIns="54864" tIns="27432" bIns="18288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333333"/>
                </a:solidFill>
                <a:latin typeface="맑은 고딕"/>
                <a:ea typeface="맑은 고딕"/>
              </a:rPr>
              <a:t>범위 지정 → 시작~종료 월(최대 24개월)</a:t>
            </a:r>
          </a:p>
        </p:txBody>
      </p:sp>
      <p:sp>
        <p:nvSpPr>
          <p:cNvPr id="53" name="Down Arrow 52"/>
          <p:cNvSpPr/>
          <p:nvPr/>
        </p:nvSpPr>
        <p:spPr>
          <a:xfrm>
            <a:off x="3461529" y="5193791"/>
            <a:ext cx="128016" cy="256032"/>
          </a:xfrm>
          <a:prstGeom prst="downArrow">
            <a:avLst/>
          </a:prstGeom>
          <a:solidFill>
            <a:srgbClr val="CCC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ounded Rectangle 53"/>
          <p:cNvSpPr/>
          <p:nvPr/>
        </p:nvSpPr>
        <p:spPr>
          <a:xfrm>
            <a:off x="2572862" y="5486399"/>
            <a:ext cx="1905350" cy="384048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2618582" y="5486399"/>
            <a:ext cx="1813910" cy="384048"/>
          </a:xfrm>
          <a:prstGeom prst="rect">
            <a:avLst/>
          </a:prstGeom>
          <a:noFill/>
        </p:spPr>
        <p:txBody>
          <a:bodyPr wrap="square" anchor="ctr" lIns="54864" rIns="54864" tIns="27432" bIns="18288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333333"/>
                </a:solidFill>
                <a:latin typeface="맑은 고딕"/>
                <a:ea typeface="맑은 고딕"/>
              </a:rPr>
              <a:t>companyAdmin → 담당 범위 집계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429768" y="6016751"/>
            <a:ext cx="6191539" cy="201168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999999"/>
                </a:solidFill>
                <a:latin typeface="맑은 고딕"/>
                <a:ea typeface="맑은 고딕"/>
              </a:rPr>
              <a:t>설계 근거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448056" y="6236207"/>
            <a:ext cx="6154963" cy="237744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85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850" b="0">
                <a:solidFill>
                  <a:srgbClr val="666666"/>
                </a:solidFill>
                <a:latin typeface="맑은 고딕"/>
                <a:ea typeface="맑은 고딕"/>
              </a:rPr>
              <a:t>전 수치를 카탈로그 단일 소스에서 파생한다 — 화면 간 수치 불일치는 보고 신뢰를 해치기 때문(0.9).</a:t>
            </a:r>
          </a:p>
        </p:txBody>
      </p:sp>
      <p:sp>
        <p:nvSpPr>
          <p:cNvPr id="58" name="Rectangle 57"/>
          <p:cNvSpPr/>
          <p:nvPr/>
        </p:nvSpPr>
        <p:spPr>
          <a:xfrm>
            <a:off x="6941347" y="1097280"/>
            <a:ext cx="4866299" cy="848654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7051075" y="1133856"/>
            <a:ext cx="4646843" cy="237744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333333"/>
                </a:solidFill>
                <a:latin typeface="맑은 고딕"/>
                <a:ea typeface="맑은 고딕"/>
              </a:rPr>
              <a:t>정의·역할</a:t>
            </a:r>
          </a:p>
        </p:txBody>
      </p:sp>
      <p:cxnSp>
        <p:nvCxnSpPr>
          <p:cNvPr id="60" name="Connector 59"/>
          <p:cNvCxnSpPr/>
          <p:nvPr/>
        </p:nvCxnSpPr>
        <p:spPr>
          <a:xfrm>
            <a:off x="7051075" y="1371600"/>
            <a:ext cx="4646844" cy="0"/>
          </a:xfrm>
          <a:prstGeom prst="line">
            <a:avLst/>
          </a:prstGeom>
          <a:ln w="12700">
            <a:solidFill>
              <a:srgbClr val="EEEEE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1" name="TextBox 60"/>
          <p:cNvSpPr txBox="1"/>
          <p:nvPr/>
        </p:nvSpPr>
        <p:spPr>
          <a:xfrm>
            <a:off x="7069363" y="1408176"/>
            <a:ext cx="4610267" cy="501182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접근: admin · companyAdmin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등록·활용 현황의 기간 분석 리포트 — 성과 보고 근거</a:t>
            </a:r>
          </a:p>
        </p:txBody>
      </p:sp>
      <p:sp>
        <p:nvSpPr>
          <p:cNvPr id="62" name="Rectangle 61"/>
          <p:cNvSpPr/>
          <p:nvPr/>
        </p:nvSpPr>
        <p:spPr>
          <a:xfrm>
            <a:off x="6941347" y="2073950"/>
            <a:ext cx="4866299" cy="641542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7051075" y="2110526"/>
            <a:ext cx="4646843" cy="237744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333333"/>
                </a:solidFill>
                <a:latin typeface="맑은 고딕"/>
                <a:ea typeface="맑은 고딕"/>
              </a:rPr>
              <a:t>목적</a:t>
            </a:r>
          </a:p>
        </p:txBody>
      </p:sp>
      <p:cxnSp>
        <p:nvCxnSpPr>
          <p:cNvPr id="64" name="Connector 63"/>
          <p:cNvCxnSpPr/>
          <p:nvPr/>
        </p:nvCxnSpPr>
        <p:spPr>
          <a:xfrm>
            <a:off x="7051075" y="2348270"/>
            <a:ext cx="4646844" cy="0"/>
          </a:xfrm>
          <a:prstGeom prst="line">
            <a:avLst/>
          </a:prstGeom>
          <a:ln w="12700">
            <a:solidFill>
              <a:srgbClr val="EEEEE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5" name="TextBox 64"/>
          <p:cNvSpPr txBox="1"/>
          <p:nvPr/>
        </p:nvSpPr>
        <p:spPr>
          <a:xfrm>
            <a:off x="7069363" y="2384846"/>
            <a:ext cx="4610267" cy="294070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확산 추이·절감 효과를 기간·범위로 정량 확인</a:t>
            </a:r>
          </a:p>
        </p:txBody>
      </p:sp>
      <p:sp>
        <p:nvSpPr>
          <p:cNvPr id="66" name="Rectangle 65"/>
          <p:cNvSpPr/>
          <p:nvPr/>
        </p:nvSpPr>
        <p:spPr>
          <a:xfrm>
            <a:off x="6941347" y="2843508"/>
            <a:ext cx="4866299" cy="1262878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7051075" y="2880084"/>
            <a:ext cx="4646843" cy="237744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333333"/>
                </a:solidFill>
                <a:latin typeface="맑은 고딕"/>
                <a:ea typeface="맑은 고딕"/>
              </a:rPr>
              <a:t>기획 의도</a:t>
            </a:r>
          </a:p>
        </p:txBody>
      </p:sp>
      <p:cxnSp>
        <p:nvCxnSpPr>
          <p:cNvPr id="68" name="Connector 67"/>
          <p:cNvCxnSpPr/>
          <p:nvPr/>
        </p:nvCxnSpPr>
        <p:spPr>
          <a:xfrm>
            <a:off x="7051075" y="3117828"/>
            <a:ext cx="4646844" cy="0"/>
          </a:xfrm>
          <a:prstGeom prst="line">
            <a:avLst/>
          </a:prstGeom>
          <a:ln w="12700">
            <a:solidFill>
              <a:srgbClr val="EEEEE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9" name="TextBox 68"/>
          <p:cNvSpPr txBox="1"/>
          <p:nvPr/>
        </p:nvSpPr>
        <p:spPr>
          <a:xfrm>
            <a:off x="7069363" y="3154404"/>
            <a:ext cx="4610267" cy="915406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전 수치를 카탈로그 단일 소스 파생(0.9) — 화면 간 수치 불일치는 보고 신뢰를 해침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절감은 연간 환산+추정 불가 분리(0.8). 분석 축은 실입력 데이터만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부서·도메인은 상위 5+펼치기 — SSO 후 부서 급증 대비</a:t>
            </a:r>
          </a:p>
        </p:txBody>
      </p:sp>
      <p:sp>
        <p:nvSpPr>
          <p:cNvPr id="70" name="Rectangle 69"/>
          <p:cNvSpPr/>
          <p:nvPr/>
        </p:nvSpPr>
        <p:spPr>
          <a:xfrm>
            <a:off x="6941347" y="4234403"/>
            <a:ext cx="4866299" cy="1055766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7051075" y="4270979"/>
            <a:ext cx="4646843" cy="237744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333333"/>
                </a:solidFill>
                <a:latin typeface="맑은 고딕"/>
                <a:ea typeface="맑은 고딕"/>
              </a:rPr>
              <a:t>지켜야 할 룰</a:t>
            </a:r>
          </a:p>
        </p:txBody>
      </p:sp>
      <p:cxnSp>
        <p:nvCxnSpPr>
          <p:cNvPr id="72" name="Connector 71"/>
          <p:cNvCxnSpPr/>
          <p:nvPr/>
        </p:nvCxnSpPr>
        <p:spPr>
          <a:xfrm>
            <a:off x="7051075" y="4508723"/>
            <a:ext cx="4646844" cy="0"/>
          </a:xfrm>
          <a:prstGeom prst="line">
            <a:avLst/>
          </a:prstGeom>
          <a:ln w="12700">
            <a:solidFill>
              <a:srgbClr val="EEEEE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3" name="TextBox 72"/>
          <p:cNvSpPr txBox="1"/>
          <p:nvPr/>
        </p:nvSpPr>
        <p:spPr>
          <a:xfrm>
            <a:off x="7069363" y="4545299"/>
            <a:ext cx="4610267" cy="708294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프리셋 4종 고정(최근3·6개월/올해 전체/범위 지정 최대 24개월, 서버 재검증)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전 기간 프리셋 없음(과거는 범위 지정) · 운영 상태·검색 키워드 축 없음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성과 평가 아님 문구 유지(0.1)</a:t>
            </a:r>
          </a:p>
        </p:txBody>
      </p:sp>
      <p:sp>
        <p:nvSpPr>
          <p:cNvPr id="74" name="Rectangle 73"/>
          <p:cNvSpPr/>
          <p:nvPr/>
        </p:nvSpPr>
        <p:spPr>
          <a:xfrm>
            <a:off x="6941347" y="5418185"/>
            <a:ext cx="4866299" cy="1055766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7051075" y="5454761"/>
            <a:ext cx="4646843" cy="237744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333333"/>
                </a:solidFill>
                <a:latin typeface="맑은 고딕"/>
                <a:ea typeface="맑은 고딕"/>
              </a:rPr>
              <a:t>개발 연동 노트</a:t>
            </a:r>
          </a:p>
        </p:txBody>
      </p:sp>
      <p:cxnSp>
        <p:nvCxnSpPr>
          <p:cNvPr id="76" name="Connector 75"/>
          <p:cNvCxnSpPr/>
          <p:nvPr/>
        </p:nvCxnSpPr>
        <p:spPr>
          <a:xfrm>
            <a:off x="7051075" y="5692505"/>
            <a:ext cx="4646844" cy="0"/>
          </a:xfrm>
          <a:prstGeom prst="line">
            <a:avLst/>
          </a:prstGeom>
          <a:ln w="12700">
            <a:solidFill>
              <a:srgbClr val="EEEEE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7" name="TextBox 76"/>
          <p:cNvSpPr txBox="1"/>
          <p:nvPr/>
        </p:nvSpPr>
        <p:spPr>
          <a:xfrm>
            <a:off x="7069363" y="5729081"/>
            <a:ext cx="4610267" cy="708294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getStatsByScope(scope,range)·statsDerive 함수군 = 통계 API 계약 기준(GET /stats/*, ?company=&amp;from=&amp;to=)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parseTimeSaved 규칙 서버 이관 시 동일. 검증: 데모 총량 50 전 축 일치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aphicFrame>
        <p:nvGraphicFramePr>
          <p:cNvPr id="2" name="Table 1"/>
          <p:cNvGraphicFramePr>
            <a:graphicFrameLocks noGrp="1"/>
          </p:cNvGraphicFramePr>
          <p:nvPr/>
        </p:nvGraphicFramePr>
        <p:xfrm>
          <a:off x="384048" y="384048"/>
          <a:ext cx="11423599" cy="1042416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371600"/>
                <a:gridCol w="4297680"/>
                <a:gridCol w="1280160"/>
                <a:gridCol w="4474159"/>
              </a:tblGrid>
              <a:tr h="384048">
                <a:tc gridSpan="3"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통계  —  헤더·추이</a:t>
                      </a:r>
                    </a:p>
                  </a:txBody>
                  <a:tcPr anchor="ctr" marL="73152" marR="54864" marT="18288" marB="18288">
                    <a:solidFill>
                      <a:srgbClr val="111111"/>
                    </a:solidFill>
                    <a:lnL w="9525" cap="flat">
                      <a:solidFill>
                        <a:srgbClr val="666666"/>
                      </a:solidFill>
                    </a:lnL>
                    <a:lnR w="9525" cap="flat">
                      <a:solidFill>
                        <a:srgbClr val="666666"/>
                      </a:solidFill>
                    </a:lnR>
                    <a:lnT w="9525" cap="flat">
                      <a:solidFill>
                        <a:srgbClr val="666666"/>
                      </a:solidFill>
                    </a:lnT>
                    <a:lnB w="9525" cap="flat">
                      <a:solidFill>
                        <a:srgbClr val="666666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Page 1 / 2</a:t>
                      </a:r>
                    </a:p>
                  </a:txBody>
                  <a:tcPr anchor="ctr" marL="73152" marR="54864" marT="18288" marB="18288">
                    <a:solidFill>
                      <a:srgbClr val="111111"/>
                    </a:solidFill>
                    <a:lnL w="9525" cap="flat">
                      <a:solidFill>
                        <a:srgbClr val="666666"/>
                      </a:solidFill>
                    </a:lnL>
                    <a:lnR w="9525" cap="flat">
                      <a:solidFill>
                        <a:srgbClr val="666666"/>
                      </a:solidFill>
                    </a:lnR>
                    <a:lnT w="9525" cap="flat">
                      <a:solidFill>
                        <a:srgbClr val="666666"/>
                      </a:solidFill>
                    </a:lnT>
                    <a:lnB w="9525" cap="flat">
                      <a:solidFill>
                        <a:srgbClr val="666666"/>
                      </a:solidFill>
                    </a:lnB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</a:rPr>
                        <a:t>Page Title</a:t>
                      </a:r>
                    </a:p>
                  </a:txBody>
                  <a:tcPr anchor="ctr" marL="73152" marR="54864" marT="18288" marB="18288">
                    <a:solidFill>
                      <a:srgbClr val="EEEEEE"/>
                    </a:solidFill>
                    <a:lnL w="9525" cap="flat">
                      <a:solidFill>
                        <a:srgbClr val="666666"/>
                      </a:solidFill>
                    </a:lnL>
                    <a:lnR w="9525" cap="flat">
                      <a:solidFill>
                        <a:srgbClr val="666666"/>
                      </a:solidFill>
                    </a:lnR>
                    <a:lnT w="9525" cap="flat">
                      <a:solidFill>
                        <a:srgbClr val="666666"/>
                      </a:solidFill>
                    </a:lnT>
                    <a:lnB w="9525" cap="flat">
                      <a:solidFill>
                        <a:srgbClr val="666666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111111"/>
                          </a:solidFill>
                          <a:latin typeface="맑은 고딕"/>
                          <a:ea typeface="맑은 고딕"/>
                        </a:rPr>
                        <a:t>통계</a:t>
                      </a:r>
                    </a:p>
                  </a:txBody>
                  <a:tcPr anchor="ctr" marL="73152" marR="54864" marT="18288" marB="18288">
                    <a:solidFill>
                      <a:srgbClr val="FFFFFF"/>
                    </a:solidFill>
                    <a:lnL w="9525" cap="flat">
                      <a:solidFill>
                        <a:srgbClr val="666666"/>
                      </a:solidFill>
                    </a:lnL>
                    <a:lnR w="9525" cap="flat">
                      <a:solidFill>
                        <a:srgbClr val="666666"/>
                      </a:solidFill>
                    </a:lnR>
                    <a:lnT w="9525" cap="flat">
                      <a:solidFill>
                        <a:srgbClr val="666666"/>
                      </a:solidFill>
                    </a:lnT>
                    <a:lnB w="9525" cap="flat">
                      <a:solidFill>
                        <a:srgbClr val="666666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</a:rPr>
                        <a:t>Screen ID</a:t>
                      </a:r>
                    </a:p>
                  </a:txBody>
                  <a:tcPr anchor="ctr" marL="73152" marR="54864" marT="18288" marB="18288">
                    <a:solidFill>
                      <a:srgbClr val="EEEEEE"/>
                    </a:solidFill>
                    <a:lnL w="9525" cap="flat">
                      <a:solidFill>
                        <a:srgbClr val="666666"/>
                      </a:solidFill>
                    </a:lnL>
                    <a:lnR w="9525" cap="flat">
                      <a:solidFill>
                        <a:srgbClr val="666666"/>
                      </a:solidFill>
                    </a:lnR>
                    <a:lnT w="9525" cap="flat">
                      <a:solidFill>
                        <a:srgbClr val="666666"/>
                      </a:solidFill>
                    </a:lnT>
                    <a:lnB w="9525" cap="flat">
                      <a:solidFill>
                        <a:srgbClr val="666666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111111"/>
                          </a:solidFill>
                          <a:latin typeface="맑은 고딕"/>
                          <a:ea typeface="맑은 고딕"/>
                        </a:rPr>
                        <a:t>ADM-04</a:t>
                      </a:r>
                    </a:p>
                  </a:txBody>
                  <a:tcPr anchor="ctr" marL="73152" marR="54864" marT="18288" marB="18288">
                    <a:solidFill>
                      <a:srgbClr val="FFFFFF"/>
                    </a:solidFill>
                    <a:lnL w="9525" cap="flat">
                      <a:solidFill>
                        <a:srgbClr val="666666"/>
                      </a:solidFill>
                    </a:lnL>
                    <a:lnR w="9525" cap="flat">
                      <a:solidFill>
                        <a:srgbClr val="666666"/>
                      </a:solidFill>
                    </a:lnR>
                    <a:lnT w="9525" cap="flat">
                      <a:solidFill>
                        <a:srgbClr val="666666"/>
                      </a:solidFill>
                    </a:lnT>
                    <a:lnB w="9525" cap="flat">
                      <a:solidFill>
                        <a:srgbClr val="666666"/>
                      </a:solidFill>
                    </a:lnB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</a:rPr>
                        <a:t>Screen Path</a:t>
                      </a:r>
                    </a:p>
                  </a:txBody>
                  <a:tcPr anchor="ctr" marL="73152" marR="54864" marT="18288" marB="18288">
                    <a:solidFill>
                      <a:srgbClr val="EEEEEE"/>
                    </a:solidFill>
                    <a:lnL w="9525" cap="flat">
                      <a:solidFill>
                        <a:srgbClr val="666666"/>
                      </a:solidFill>
                    </a:lnL>
                    <a:lnR w="9525" cap="flat">
                      <a:solidFill>
                        <a:srgbClr val="666666"/>
                      </a:solidFill>
                    </a:lnR>
                    <a:lnT w="9525" cap="flat">
                      <a:solidFill>
                        <a:srgbClr val="666666"/>
                      </a:solidFill>
                    </a:lnT>
                    <a:lnB w="9525" cap="flat">
                      <a:solidFill>
                        <a:srgbClr val="666666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</a:rPr>
                        <a:t>/admin/statistics  (admin·companyAdmin)</a:t>
                      </a:r>
                    </a:p>
                  </a:txBody>
                  <a:tcPr anchor="ctr" marL="73152" marR="54864" marT="18288" marB="18288">
                    <a:solidFill>
                      <a:srgbClr val="FFFFFF"/>
                    </a:solidFill>
                    <a:lnL w="9525" cap="flat">
                      <a:solidFill>
                        <a:srgbClr val="666666"/>
                      </a:solidFill>
                    </a:lnL>
                    <a:lnR w="9525" cap="flat">
                      <a:solidFill>
                        <a:srgbClr val="666666"/>
                      </a:solidFill>
                    </a:lnR>
                    <a:lnT w="9525" cap="flat">
                      <a:solidFill>
                        <a:srgbClr val="666666"/>
                      </a:solidFill>
                    </a:lnT>
                    <a:lnB w="9525" cap="flat">
                      <a:solidFill>
                        <a:srgbClr val="666666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</a:rPr>
                        <a:t>작성자</a:t>
                      </a:r>
                    </a:p>
                  </a:txBody>
                  <a:tcPr anchor="ctr" marL="73152" marR="54864" marT="18288" marB="18288">
                    <a:solidFill>
                      <a:srgbClr val="EEEEEE"/>
                    </a:solidFill>
                    <a:lnL w="9525" cap="flat">
                      <a:solidFill>
                        <a:srgbClr val="666666"/>
                      </a:solidFill>
                    </a:lnL>
                    <a:lnR w="9525" cap="flat">
                      <a:solidFill>
                        <a:srgbClr val="666666"/>
                      </a:solidFill>
                    </a:lnR>
                    <a:lnT w="9525" cap="flat">
                      <a:solidFill>
                        <a:srgbClr val="666666"/>
                      </a:solidFill>
                    </a:lnT>
                    <a:lnB w="9525" cap="flat">
                      <a:solidFill>
                        <a:srgbClr val="666666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11111"/>
                          </a:solidFill>
                          <a:latin typeface="맑은 고딕"/>
                          <a:ea typeface="맑은 고딕"/>
                        </a:rPr>
                        <a:t>배상혁</a:t>
                      </a:r>
                    </a:p>
                  </a:txBody>
                  <a:tcPr anchor="ctr" marL="73152" marR="54864" marT="18288" marB="18288">
                    <a:solidFill>
                      <a:srgbClr val="FFFFFF"/>
                    </a:solidFill>
                    <a:lnL w="9525" cap="flat">
                      <a:solidFill>
                        <a:srgbClr val="666666"/>
                      </a:solidFill>
                    </a:lnL>
                    <a:lnR w="9525" cap="flat">
                      <a:solidFill>
                        <a:srgbClr val="666666"/>
                      </a:solidFill>
                    </a:lnR>
                    <a:lnT w="9525" cap="flat">
                      <a:solidFill>
                        <a:srgbClr val="666666"/>
                      </a:solidFill>
                    </a:lnT>
                    <a:lnB w="9525" cap="flat">
                      <a:solidFill>
                        <a:srgbClr val="666666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3" name="Rectangle 2"/>
          <p:cNvSpPr/>
          <p:nvPr/>
        </p:nvSpPr>
        <p:spPr>
          <a:xfrm>
            <a:off x="384048" y="1572767"/>
            <a:ext cx="5166360" cy="4901184"/>
          </a:xfrm>
          <a:prstGeom prst="rect">
            <a:avLst/>
          </a:prstGeom>
          <a:solidFill>
            <a:srgbClr val="FFFFFF"/>
          </a:solidFill>
          <a:ln w="3048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84048" y="1572767"/>
            <a:ext cx="5166360" cy="146304"/>
          </a:xfrm>
          <a:prstGeom prst="rect">
            <a:avLst/>
          </a:prstGeom>
          <a:solidFill>
            <a:srgbClr val="F7F7F7"/>
          </a:solidFill>
          <a:ln w="3048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484632" y="1623059"/>
            <a:ext cx="45720" cy="45720"/>
          </a:xfrm>
          <a:prstGeom prst="ellipse">
            <a:avLst/>
          </a:prstGeom>
          <a:solidFill>
            <a:srgbClr val="CCC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585216" y="1623059"/>
            <a:ext cx="45720" cy="45720"/>
          </a:xfrm>
          <a:prstGeom prst="ellipse">
            <a:avLst/>
          </a:prstGeom>
          <a:solidFill>
            <a:srgbClr val="CCC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685800" y="1623059"/>
            <a:ext cx="45720" cy="45720"/>
          </a:xfrm>
          <a:prstGeom prst="ellipse">
            <a:avLst/>
          </a:prstGeom>
          <a:solidFill>
            <a:srgbClr val="CCC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12064" y="1847087"/>
            <a:ext cx="4910328" cy="256032"/>
          </a:xfrm>
          <a:prstGeom prst="rect">
            <a:avLst/>
          </a:prstGeom>
          <a:solidFill>
            <a:srgbClr val="F7F7F7"/>
          </a:solidFill>
          <a:ln w="1651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585216" y="1911095"/>
            <a:ext cx="658368" cy="12801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5166359" y="1883663"/>
            <a:ext cx="182880" cy="182880"/>
          </a:xfrm>
          <a:prstGeom prst="ellipse">
            <a:avLst/>
          </a:prstGeom>
          <a:solidFill>
            <a:srgbClr val="FFFFFF"/>
          </a:solidFill>
          <a:ln w="1524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12064" y="2157983"/>
            <a:ext cx="914400" cy="4187952"/>
          </a:xfrm>
          <a:prstGeom prst="rect">
            <a:avLst/>
          </a:prstGeom>
          <a:solidFill>
            <a:srgbClr val="F7F7F7"/>
          </a:solidFill>
          <a:ln w="1651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594360" y="2267711"/>
            <a:ext cx="749808" cy="14630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594360" y="2542031"/>
            <a:ext cx="749808" cy="14630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594360" y="2816351"/>
            <a:ext cx="749808" cy="14630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594360" y="3090671"/>
            <a:ext cx="749808" cy="14630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594360" y="3364991"/>
            <a:ext cx="749808" cy="14630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594360" y="3639311"/>
            <a:ext cx="749808" cy="14630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594360" y="3913631"/>
            <a:ext cx="749808" cy="14630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594360" y="4187952"/>
            <a:ext cx="749808" cy="14630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594360" y="4462271"/>
            <a:ext cx="749808" cy="14630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170432" y="2532887"/>
            <a:ext cx="128016" cy="128016"/>
          </a:xfrm>
          <a:prstGeom prst="ellipse">
            <a:avLst/>
          </a:prstGeom>
          <a:solidFill>
            <a:srgbClr val="FFFFFF"/>
          </a:solidFill>
          <a:ln w="1524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2" name="Connector 21"/>
          <p:cNvCxnSpPr/>
          <p:nvPr/>
        </p:nvCxnSpPr>
        <p:spPr>
          <a:xfrm>
            <a:off x="1572768" y="2322575"/>
            <a:ext cx="512064" cy="0"/>
          </a:xfrm>
          <a:prstGeom prst="line">
            <a:avLst/>
          </a:prstGeom>
          <a:ln w="22860">
            <a:solidFill>
              <a:srgbClr val="6666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Rounded Rectangle 22"/>
          <p:cNvSpPr/>
          <p:nvPr/>
        </p:nvSpPr>
        <p:spPr>
          <a:xfrm>
            <a:off x="2176272" y="2212847"/>
            <a:ext cx="603504" cy="237744"/>
          </a:xfrm>
          <a:prstGeom prst="roundRect">
            <a:avLst/>
          </a:prstGeom>
          <a:solidFill>
            <a:srgbClr val="F7F7F7"/>
          </a:solidFill>
          <a:ln w="1524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2880360" y="2231135"/>
            <a:ext cx="402336" cy="2011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3319272" y="2231135"/>
            <a:ext cx="402336" cy="2011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3758183" y="2231135"/>
            <a:ext cx="402336" cy="2011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4197096" y="2231135"/>
            <a:ext cx="402336" cy="2011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4690872" y="2231135"/>
            <a:ext cx="347472" cy="201168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4690872" y="2432303"/>
            <a:ext cx="347472" cy="0"/>
          </a:xfrm>
          <a:prstGeom prst="line">
            <a:avLst/>
          </a:prstGeom>
          <a:ln w="22860">
            <a:solidFill>
              <a:srgbClr val="33333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Rectangle 29"/>
          <p:cNvSpPr/>
          <p:nvPr/>
        </p:nvSpPr>
        <p:spPr>
          <a:xfrm>
            <a:off x="5074920" y="2231135"/>
            <a:ext cx="347472" cy="201168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1" name="Connector 30"/>
          <p:cNvCxnSpPr/>
          <p:nvPr/>
        </p:nvCxnSpPr>
        <p:spPr>
          <a:xfrm>
            <a:off x="5074920" y="2432303"/>
            <a:ext cx="347472" cy="0"/>
          </a:xfrm>
          <a:prstGeom prst="line">
            <a:avLst/>
          </a:prstGeom>
          <a:ln w="22860">
            <a:solidFill>
              <a:srgbClr val="33333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Oval 31"/>
          <p:cNvSpPr/>
          <p:nvPr/>
        </p:nvSpPr>
        <p:spPr>
          <a:xfrm>
            <a:off x="2862072" y="2176271"/>
            <a:ext cx="237744" cy="237744"/>
          </a:xfrm>
          <a:prstGeom prst="ellipse">
            <a:avLst/>
          </a:prstGeom>
          <a:solidFill>
            <a:srgbClr val="DC2626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1</a:t>
            </a:r>
          </a:p>
        </p:txBody>
      </p:sp>
      <p:sp>
        <p:nvSpPr>
          <p:cNvPr id="33" name="Rectangle 32"/>
          <p:cNvSpPr/>
          <p:nvPr/>
        </p:nvSpPr>
        <p:spPr>
          <a:xfrm>
            <a:off x="1572768" y="2578607"/>
            <a:ext cx="886968" cy="512064"/>
          </a:xfrm>
          <a:prstGeom prst="rect">
            <a:avLst/>
          </a:prstGeom>
          <a:solidFill>
            <a:srgbClr val="F7F7F7"/>
          </a:solidFill>
          <a:ln w="1651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4" name="Connector 33"/>
          <p:cNvCxnSpPr/>
          <p:nvPr/>
        </p:nvCxnSpPr>
        <p:spPr>
          <a:xfrm>
            <a:off x="1664208" y="2724911"/>
            <a:ext cx="487832" cy="0"/>
          </a:xfrm>
          <a:prstGeom prst="line">
            <a:avLst/>
          </a:prstGeom>
          <a:ln w="13970">
            <a:solidFill>
              <a:srgbClr val="6666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1664208" y="2907791"/>
            <a:ext cx="638616" cy="0"/>
          </a:xfrm>
          <a:prstGeom prst="line">
            <a:avLst/>
          </a:prstGeom>
          <a:ln w="25400">
            <a:solidFill>
              <a:srgbClr val="6666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ectangle 35"/>
          <p:cNvSpPr/>
          <p:nvPr/>
        </p:nvSpPr>
        <p:spPr>
          <a:xfrm>
            <a:off x="2560320" y="2578607"/>
            <a:ext cx="886968" cy="512064"/>
          </a:xfrm>
          <a:prstGeom prst="rect">
            <a:avLst/>
          </a:prstGeom>
          <a:solidFill>
            <a:srgbClr val="F7F7F7"/>
          </a:solidFill>
          <a:ln w="1651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7" name="Connector 36"/>
          <p:cNvCxnSpPr/>
          <p:nvPr/>
        </p:nvCxnSpPr>
        <p:spPr>
          <a:xfrm>
            <a:off x="2651760" y="2724911"/>
            <a:ext cx="487832" cy="0"/>
          </a:xfrm>
          <a:prstGeom prst="line">
            <a:avLst/>
          </a:prstGeom>
          <a:ln w="13970">
            <a:solidFill>
              <a:srgbClr val="6666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>
            <a:off x="2651760" y="2907791"/>
            <a:ext cx="638616" cy="0"/>
          </a:xfrm>
          <a:prstGeom prst="line">
            <a:avLst/>
          </a:prstGeom>
          <a:ln w="25400">
            <a:solidFill>
              <a:srgbClr val="6666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Rectangle 38"/>
          <p:cNvSpPr/>
          <p:nvPr/>
        </p:nvSpPr>
        <p:spPr>
          <a:xfrm>
            <a:off x="3547872" y="2578607"/>
            <a:ext cx="886968" cy="512064"/>
          </a:xfrm>
          <a:prstGeom prst="rect">
            <a:avLst/>
          </a:prstGeom>
          <a:solidFill>
            <a:srgbClr val="F7F7F7"/>
          </a:solidFill>
          <a:ln w="1651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0" name="Connector 39"/>
          <p:cNvCxnSpPr/>
          <p:nvPr/>
        </p:nvCxnSpPr>
        <p:spPr>
          <a:xfrm>
            <a:off x="3639312" y="2724911"/>
            <a:ext cx="487832" cy="0"/>
          </a:xfrm>
          <a:prstGeom prst="line">
            <a:avLst/>
          </a:prstGeom>
          <a:ln w="13970">
            <a:solidFill>
              <a:srgbClr val="6666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Connector 40"/>
          <p:cNvCxnSpPr/>
          <p:nvPr/>
        </p:nvCxnSpPr>
        <p:spPr>
          <a:xfrm>
            <a:off x="3639312" y="2907791"/>
            <a:ext cx="638616" cy="0"/>
          </a:xfrm>
          <a:prstGeom prst="line">
            <a:avLst/>
          </a:prstGeom>
          <a:ln w="25400">
            <a:solidFill>
              <a:srgbClr val="6666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2" name="Rectangle 41"/>
          <p:cNvSpPr/>
          <p:nvPr/>
        </p:nvSpPr>
        <p:spPr>
          <a:xfrm>
            <a:off x="4535424" y="2578607"/>
            <a:ext cx="886968" cy="512064"/>
          </a:xfrm>
          <a:prstGeom prst="rect">
            <a:avLst/>
          </a:prstGeom>
          <a:solidFill>
            <a:srgbClr val="F7F7F7"/>
          </a:solidFill>
          <a:ln w="1651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3" name="Connector 42"/>
          <p:cNvCxnSpPr/>
          <p:nvPr/>
        </p:nvCxnSpPr>
        <p:spPr>
          <a:xfrm>
            <a:off x="4626864" y="2724911"/>
            <a:ext cx="487832" cy="0"/>
          </a:xfrm>
          <a:prstGeom prst="line">
            <a:avLst/>
          </a:prstGeom>
          <a:ln w="13970">
            <a:solidFill>
              <a:srgbClr val="6666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Connector 43"/>
          <p:cNvCxnSpPr/>
          <p:nvPr/>
        </p:nvCxnSpPr>
        <p:spPr>
          <a:xfrm>
            <a:off x="4626864" y="2907791"/>
            <a:ext cx="638616" cy="0"/>
          </a:xfrm>
          <a:prstGeom prst="line">
            <a:avLst/>
          </a:prstGeom>
          <a:ln w="25400">
            <a:solidFill>
              <a:srgbClr val="6666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5" name="Oval 44"/>
          <p:cNvSpPr/>
          <p:nvPr/>
        </p:nvSpPr>
        <p:spPr>
          <a:xfrm>
            <a:off x="1554480" y="2560319"/>
            <a:ext cx="237744" cy="237744"/>
          </a:xfrm>
          <a:prstGeom prst="ellipse">
            <a:avLst/>
          </a:prstGeom>
          <a:solidFill>
            <a:srgbClr val="DC2626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2</a:t>
            </a:r>
          </a:p>
        </p:txBody>
      </p:sp>
      <p:sp>
        <p:nvSpPr>
          <p:cNvPr id="46" name="Rectangle 45"/>
          <p:cNvSpPr/>
          <p:nvPr/>
        </p:nvSpPr>
        <p:spPr>
          <a:xfrm>
            <a:off x="1572768" y="3200399"/>
            <a:ext cx="3849624" cy="1371600"/>
          </a:xfrm>
          <a:prstGeom prst="rect">
            <a:avLst/>
          </a:prstGeom>
          <a:solidFill>
            <a:srgbClr val="FFFFFF"/>
          </a:solidFill>
          <a:ln w="1651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7" name="Connector 46"/>
          <p:cNvCxnSpPr/>
          <p:nvPr/>
        </p:nvCxnSpPr>
        <p:spPr>
          <a:xfrm>
            <a:off x="1673352" y="3346703"/>
            <a:ext cx="769924" cy="0"/>
          </a:xfrm>
          <a:prstGeom prst="line">
            <a:avLst/>
          </a:prstGeom>
          <a:ln w="20320">
            <a:solidFill>
              <a:srgbClr val="6666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Connector 47"/>
          <p:cNvCxnSpPr/>
          <p:nvPr/>
        </p:nvCxnSpPr>
        <p:spPr>
          <a:xfrm>
            <a:off x="1764792" y="4261103"/>
            <a:ext cx="3557016" cy="0"/>
          </a:xfrm>
          <a:prstGeom prst="line">
            <a:avLst/>
          </a:prstGeom>
          <a:ln w="16510">
            <a:solidFill>
              <a:srgbClr val="33333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9" name="Rectangle 48"/>
          <p:cNvSpPr/>
          <p:nvPr/>
        </p:nvSpPr>
        <p:spPr>
          <a:xfrm>
            <a:off x="1881665" y="4087898"/>
            <a:ext cx="274398" cy="173205"/>
          </a:xfrm>
          <a:prstGeom prst="rect">
            <a:avLst/>
          </a:prstGeom>
          <a:solidFill>
            <a:srgbClr val="CCCCCC"/>
          </a:solidFill>
          <a:ln w="8890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1881665" y="3951808"/>
            <a:ext cx="274398" cy="136090"/>
          </a:xfrm>
          <a:prstGeom prst="rect">
            <a:avLst/>
          </a:prstGeom>
          <a:solidFill>
            <a:srgbClr val="EEEEEE"/>
          </a:solidFill>
          <a:ln w="8890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1881665" y="3848709"/>
            <a:ext cx="274398" cy="103098"/>
          </a:xfrm>
          <a:prstGeom prst="rect">
            <a:avLst/>
          </a:prstGeom>
          <a:solidFill>
            <a:srgbClr val="F7F7F7"/>
          </a:solidFill>
          <a:ln w="8890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2389810" y="4009168"/>
            <a:ext cx="274398" cy="251935"/>
          </a:xfrm>
          <a:prstGeom prst="rect">
            <a:avLst/>
          </a:prstGeom>
          <a:solidFill>
            <a:srgbClr val="CCCCCC"/>
          </a:solidFill>
          <a:ln w="8890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2389810" y="3811219"/>
            <a:ext cx="274398" cy="197949"/>
          </a:xfrm>
          <a:prstGeom prst="rect">
            <a:avLst/>
          </a:prstGeom>
          <a:solidFill>
            <a:srgbClr val="EEEEEE"/>
          </a:solidFill>
          <a:ln w="8890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2389810" y="3661257"/>
            <a:ext cx="274398" cy="149961"/>
          </a:xfrm>
          <a:prstGeom prst="rect">
            <a:avLst/>
          </a:prstGeom>
          <a:solidFill>
            <a:srgbClr val="F7F7F7"/>
          </a:solidFill>
          <a:ln w="8890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2897955" y="4119390"/>
            <a:ext cx="274398" cy="141713"/>
          </a:xfrm>
          <a:prstGeom prst="rect">
            <a:avLst/>
          </a:prstGeom>
          <a:solidFill>
            <a:srgbClr val="CCCCCC"/>
          </a:solidFill>
          <a:ln w="8890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2897955" y="4008043"/>
            <a:ext cx="274398" cy="111346"/>
          </a:xfrm>
          <a:prstGeom prst="rect">
            <a:avLst/>
          </a:prstGeom>
          <a:solidFill>
            <a:srgbClr val="EEEEEE"/>
          </a:solidFill>
          <a:ln w="8890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2897955" y="3923690"/>
            <a:ext cx="274398" cy="84353"/>
          </a:xfrm>
          <a:prstGeom prst="rect">
            <a:avLst/>
          </a:prstGeom>
          <a:solidFill>
            <a:srgbClr val="F7F7F7"/>
          </a:solidFill>
          <a:ln w="8890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3406100" y="3961930"/>
            <a:ext cx="274398" cy="299173"/>
          </a:xfrm>
          <a:prstGeom prst="rect">
            <a:avLst/>
          </a:prstGeom>
          <a:solidFill>
            <a:srgbClr val="CCCCCC"/>
          </a:solidFill>
          <a:ln w="8890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ectangle 58"/>
          <p:cNvSpPr/>
          <p:nvPr/>
        </p:nvSpPr>
        <p:spPr>
          <a:xfrm>
            <a:off x="3406100" y="3726865"/>
            <a:ext cx="274398" cy="235064"/>
          </a:xfrm>
          <a:prstGeom prst="rect">
            <a:avLst/>
          </a:prstGeom>
          <a:solidFill>
            <a:srgbClr val="EEEEEE"/>
          </a:solidFill>
          <a:ln w="8890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3406100" y="3548786"/>
            <a:ext cx="274398" cy="178079"/>
          </a:xfrm>
          <a:prstGeom prst="rect">
            <a:avLst/>
          </a:prstGeom>
          <a:solidFill>
            <a:srgbClr val="F7F7F7"/>
          </a:solidFill>
          <a:ln w="8890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3914245" y="4065853"/>
            <a:ext cx="274398" cy="195250"/>
          </a:xfrm>
          <a:prstGeom prst="rect">
            <a:avLst/>
          </a:prstGeom>
          <a:solidFill>
            <a:srgbClr val="CCCCCC"/>
          </a:solidFill>
          <a:ln w="8890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3914245" y="3912443"/>
            <a:ext cx="274398" cy="153410"/>
          </a:xfrm>
          <a:prstGeom prst="rect">
            <a:avLst/>
          </a:prstGeom>
          <a:solidFill>
            <a:srgbClr val="EEEEEE"/>
          </a:solidFill>
          <a:ln w="8890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ectangle 62"/>
          <p:cNvSpPr/>
          <p:nvPr/>
        </p:nvSpPr>
        <p:spPr>
          <a:xfrm>
            <a:off x="3914245" y="3796223"/>
            <a:ext cx="274398" cy="116220"/>
          </a:xfrm>
          <a:prstGeom prst="rect">
            <a:avLst/>
          </a:prstGeom>
          <a:solidFill>
            <a:srgbClr val="F7F7F7"/>
          </a:solidFill>
          <a:ln w="8890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ectangle 63"/>
          <p:cNvSpPr/>
          <p:nvPr/>
        </p:nvSpPr>
        <p:spPr>
          <a:xfrm>
            <a:off x="4422391" y="4024914"/>
            <a:ext cx="274398" cy="236189"/>
          </a:xfrm>
          <a:prstGeom prst="rect">
            <a:avLst/>
          </a:prstGeom>
          <a:solidFill>
            <a:srgbClr val="CCCCCC"/>
          </a:solidFill>
          <a:ln w="8890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4422391" y="3839336"/>
            <a:ext cx="274398" cy="185577"/>
          </a:xfrm>
          <a:prstGeom prst="rect">
            <a:avLst/>
          </a:prstGeom>
          <a:solidFill>
            <a:srgbClr val="EEEEEE"/>
          </a:solidFill>
          <a:ln w="8890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Rectangle 65"/>
          <p:cNvSpPr/>
          <p:nvPr/>
        </p:nvSpPr>
        <p:spPr>
          <a:xfrm>
            <a:off x="4422391" y="3698747"/>
            <a:ext cx="274398" cy="140589"/>
          </a:xfrm>
          <a:prstGeom prst="rect">
            <a:avLst/>
          </a:prstGeom>
          <a:solidFill>
            <a:srgbClr val="F7F7F7"/>
          </a:solidFill>
          <a:ln w="8890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ectangle 66"/>
          <p:cNvSpPr/>
          <p:nvPr/>
        </p:nvSpPr>
        <p:spPr>
          <a:xfrm>
            <a:off x="4930536" y="4103644"/>
            <a:ext cx="274398" cy="157459"/>
          </a:xfrm>
          <a:prstGeom prst="rect">
            <a:avLst/>
          </a:prstGeom>
          <a:solidFill>
            <a:srgbClr val="CCCCCC"/>
          </a:solidFill>
          <a:ln w="8890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Rectangle 67"/>
          <p:cNvSpPr/>
          <p:nvPr/>
        </p:nvSpPr>
        <p:spPr>
          <a:xfrm>
            <a:off x="4930536" y="3979925"/>
            <a:ext cx="274398" cy="123718"/>
          </a:xfrm>
          <a:prstGeom prst="rect">
            <a:avLst/>
          </a:prstGeom>
          <a:solidFill>
            <a:srgbClr val="EEEEEE"/>
          </a:solidFill>
          <a:ln w="8890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Rectangle 68"/>
          <p:cNvSpPr/>
          <p:nvPr/>
        </p:nvSpPr>
        <p:spPr>
          <a:xfrm>
            <a:off x="4930536" y="3886199"/>
            <a:ext cx="274398" cy="93726"/>
          </a:xfrm>
          <a:prstGeom prst="rect">
            <a:avLst/>
          </a:prstGeom>
          <a:solidFill>
            <a:srgbClr val="F7F7F7"/>
          </a:solidFill>
          <a:ln w="8890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Oval 69"/>
          <p:cNvSpPr/>
          <p:nvPr/>
        </p:nvSpPr>
        <p:spPr>
          <a:xfrm>
            <a:off x="1673352" y="4334255"/>
            <a:ext cx="91440" cy="91440"/>
          </a:xfrm>
          <a:prstGeom prst="ellipse">
            <a:avLst/>
          </a:prstGeom>
          <a:solidFill>
            <a:srgbClr val="FFFFFF"/>
          </a:solidFill>
          <a:ln w="1524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1" name="Connector 70"/>
          <p:cNvCxnSpPr/>
          <p:nvPr/>
        </p:nvCxnSpPr>
        <p:spPr>
          <a:xfrm>
            <a:off x="1801368" y="4389120"/>
            <a:ext cx="219456" cy="0"/>
          </a:xfrm>
          <a:prstGeom prst="line">
            <a:avLst/>
          </a:prstGeom>
          <a:ln w="13970">
            <a:solidFill>
              <a:srgbClr val="6666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2" name="Oval 71"/>
          <p:cNvSpPr/>
          <p:nvPr/>
        </p:nvSpPr>
        <p:spPr>
          <a:xfrm>
            <a:off x="2075688" y="4334255"/>
            <a:ext cx="91440" cy="91440"/>
          </a:xfrm>
          <a:prstGeom prst="ellipse">
            <a:avLst/>
          </a:prstGeom>
          <a:solidFill>
            <a:srgbClr val="FFFFFF"/>
          </a:solidFill>
          <a:ln w="1524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3" name="Connector 72"/>
          <p:cNvCxnSpPr/>
          <p:nvPr/>
        </p:nvCxnSpPr>
        <p:spPr>
          <a:xfrm>
            <a:off x="2203704" y="4389120"/>
            <a:ext cx="219456" cy="0"/>
          </a:xfrm>
          <a:prstGeom prst="line">
            <a:avLst/>
          </a:prstGeom>
          <a:ln w="13970">
            <a:solidFill>
              <a:srgbClr val="6666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4" name="Oval 73"/>
          <p:cNvSpPr/>
          <p:nvPr/>
        </p:nvSpPr>
        <p:spPr>
          <a:xfrm>
            <a:off x="2478024" y="4334255"/>
            <a:ext cx="91440" cy="91440"/>
          </a:xfrm>
          <a:prstGeom prst="ellipse">
            <a:avLst/>
          </a:prstGeom>
          <a:solidFill>
            <a:srgbClr val="FFFFFF"/>
          </a:solidFill>
          <a:ln w="1524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5" name="Connector 74"/>
          <p:cNvCxnSpPr/>
          <p:nvPr/>
        </p:nvCxnSpPr>
        <p:spPr>
          <a:xfrm>
            <a:off x="2606040" y="4389120"/>
            <a:ext cx="219456" cy="0"/>
          </a:xfrm>
          <a:prstGeom prst="line">
            <a:avLst/>
          </a:prstGeom>
          <a:ln w="13970">
            <a:solidFill>
              <a:srgbClr val="6666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6" name="Oval 75"/>
          <p:cNvSpPr/>
          <p:nvPr/>
        </p:nvSpPr>
        <p:spPr>
          <a:xfrm>
            <a:off x="2880360" y="4334255"/>
            <a:ext cx="91440" cy="91440"/>
          </a:xfrm>
          <a:prstGeom prst="ellipse">
            <a:avLst/>
          </a:prstGeom>
          <a:solidFill>
            <a:srgbClr val="FFFFFF"/>
          </a:solidFill>
          <a:ln w="1524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7" name="Connector 76"/>
          <p:cNvCxnSpPr/>
          <p:nvPr/>
        </p:nvCxnSpPr>
        <p:spPr>
          <a:xfrm>
            <a:off x="3008376" y="4389120"/>
            <a:ext cx="219456" cy="0"/>
          </a:xfrm>
          <a:prstGeom prst="line">
            <a:avLst/>
          </a:prstGeom>
          <a:ln w="13970">
            <a:solidFill>
              <a:srgbClr val="6666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8" name="Oval 77"/>
          <p:cNvSpPr/>
          <p:nvPr/>
        </p:nvSpPr>
        <p:spPr>
          <a:xfrm>
            <a:off x="3282696" y="4334255"/>
            <a:ext cx="91440" cy="91440"/>
          </a:xfrm>
          <a:prstGeom prst="ellipse">
            <a:avLst/>
          </a:prstGeom>
          <a:solidFill>
            <a:srgbClr val="FFFFFF"/>
          </a:solidFill>
          <a:ln w="1524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9" name="Connector 78"/>
          <p:cNvCxnSpPr/>
          <p:nvPr/>
        </p:nvCxnSpPr>
        <p:spPr>
          <a:xfrm>
            <a:off x="3410712" y="4389120"/>
            <a:ext cx="219456" cy="0"/>
          </a:xfrm>
          <a:prstGeom prst="line">
            <a:avLst/>
          </a:prstGeom>
          <a:ln w="13970">
            <a:solidFill>
              <a:srgbClr val="6666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0" name="Oval 79"/>
          <p:cNvSpPr/>
          <p:nvPr/>
        </p:nvSpPr>
        <p:spPr>
          <a:xfrm>
            <a:off x="3685032" y="4334255"/>
            <a:ext cx="91440" cy="91440"/>
          </a:xfrm>
          <a:prstGeom prst="ellipse">
            <a:avLst/>
          </a:prstGeom>
          <a:solidFill>
            <a:srgbClr val="FFFFFF"/>
          </a:solidFill>
          <a:ln w="1524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81" name="Connector 80"/>
          <p:cNvCxnSpPr/>
          <p:nvPr/>
        </p:nvCxnSpPr>
        <p:spPr>
          <a:xfrm>
            <a:off x="3813048" y="4389120"/>
            <a:ext cx="219456" cy="0"/>
          </a:xfrm>
          <a:prstGeom prst="line">
            <a:avLst/>
          </a:prstGeom>
          <a:ln w="13970">
            <a:solidFill>
              <a:srgbClr val="6666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2" name="Oval 81"/>
          <p:cNvSpPr/>
          <p:nvPr/>
        </p:nvSpPr>
        <p:spPr>
          <a:xfrm>
            <a:off x="4087368" y="4334255"/>
            <a:ext cx="91440" cy="91440"/>
          </a:xfrm>
          <a:prstGeom prst="ellipse">
            <a:avLst/>
          </a:prstGeom>
          <a:solidFill>
            <a:srgbClr val="FFFFFF"/>
          </a:solidFill>
          <a:ln w="1524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83" name="Connector 82"/>
          <p:cNvCxnSpPr/>
          <p:nvPr/>
        </p:nvCxnSpPr>
        <p:spPr>
          <a:xfrm>
            <a:off x="4215384" y="4389120"/>
            <a:ext cx="219456" cy="0"/>
          </a:xfrm>
          <a:prstGeom prst="line">
            <a:avLst/>
          </a:prstGeom>
          <a:ln w="13970">
            <a:solidFill>
              <a:srgbClr val="6666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4" name="Oval 83"/>
          <p:cNvSpPr/>
          <p:nvPr/>
        </p:nvSpPr>
        <p:spPr>
          <a:xfrm>
            <a:off x="1554480" y="3182111"/>
            <a:ext cx="237744" cy="237744"/>
          </a:xfrm>
          <a:prstGeom prst="ellipse">
            <a:avLst/>
          </a:prstGeom>
          <a:solidFill>
            <a:srgbClr val="DC2626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3</a:t>
            </a:r>
          </a:p>
        </p:txBody>
      </p:sp>
      <p:sp>
        <p:nvSpPr>
          <p:cNvPr id="85" name="Rectangle 84"/>
          <p:cNvSpPr/>
          <p:nvPr/>
        </p:nvSpPr>
        <p:spPr>
          <a:xfrm>
            <a:off x="1572768" y="4681728"/>
            <a:ext cx="3849624" cy="1645920"/>
          </a:xfrm>
          <a:prstGeom prst="rect">
            <a:avLst/>
          </a:prstGeom>
          <a:solidFill>
            <a:srgbClr val="FFFFFF"/>
          </a:solidFill>
          <a:ln w="1651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Rectangle 85"/>
          <p:cNvSpPr/>
          <p:nvPr/>
        </p:nvSpPr>
        <p:spPr>
          <a:xfrm>
            <a:off x="1673352" y="4828032"/>
            <a:ext cx="875629" cy="201168"/>
          </a:xfrm>
          <a:prstGeom prst="rect">
            <a:avLst/>
          </a:prstGeom>
          <a:solidFill>
            <a:srgbClr val="CCCCCC"/>
          </a:solidFill>
          <a:ln w="9525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Rectangle 86"/>
          <p:cNvSpPr/>
          <p:nvPr/>
        </p:nvSpPr>
        <p:spPr>
          <a:xfrm>
            <a:off x="2548981" y="4828032"/>
            <a:ext cx="656722" cy="201168"/>
          </a:xfrm>
          <a:prstGeom prst="rect">
            <a:avLst/>
          </a:prstGeom>
          <a:solidFill>
            <a:srgbClr val="EEEEEE"/>
          </a:solidFill>
          <a:ln w="9525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Rectangle 87"/>
          <p:cNvSpPr/>
          <p:nvPr/>
        </p:nvSpPr>
        <p:spPr>
          <a:xfrm>
            <a:off x="3205703" y="4828032"/>
            <a:ext cx="583752" cy="201168"/>
          </a:xfrm>
          <a:prstGeom prst="rect">
            <a:avLst/>
          </a:prstGeom>
          <a:solidFill>
            <a:srgbClr val="CCCCCC"/>
          </a:solidFill>
          <a:ln w="9525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Rectangle 88"/>
          <p:cNvSpPr/>
          <p:nvPr/>
        </p:nvSpPr>
        <p:spPr>
          <a:xfrm>
            <a:off x="3789456" y="4828032"/>
            <a:ext cx="474299" cy="201168"/>
          </a:xfrm>
          <a:prstGeom prst="rect">
            <a:avLst/>
          </a:prstGeom>
          <a:solidFill>
            <a:srgbClr val="EEEEEE"/>
          </a:solidFill>
          <a:ln w="9525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Rectangle 89"/>
          <p:cNvSpPr/>
          <p:nvPr/>
        </p:nvSpPr>
        <p:spPr>
          <a:xfrm>
            <a:off x="4263755" y="4828032"/>
            <a:ext cx="401330" cy="201168"/>
          </a:xfrm>
          <a:prstGeom prst="rect">
            <a:avLst/>
          </a:prstGeom>
          <a:solidFill>
            <a:srgbClr val="CCCCCC"/>
          </a:solidFill>
          <a:ln w="9525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Rectangle 90"/>
          <p:cNvSpPr/>
          <p:nvPr/>
        </p:nvSpPr>
        <p:spPr>
          <a:xfrm>
            <a:off x="4665085" y="4828032"/>
            <a:ext cx="364845" cy="201168"/>
          </a:xfrm>
          <a:prstGeom prst="rect">
            <a:avLst/>
          </a:prstGeom>
          <a:solidFill>
            <a:srgbClr val="EEEEEE"/>
          </a:solidFill>
          <a:ln w="9525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Rectangle 91"/>
          <p:cNvSpPr/>
          <p:nvPr/>
        </p:nvSpPr>
        <p:spPr>
          <a:xfrm>
            <a:off x="5029931" y="4828032"/>
            <a:ext cx="291876" cy="201168"/>
          </a:xfrm>
          <a:prstGeom prst="rect">
            <a:avLst/>
          </a:prstGeom>
          <a:solidFill>
            <a:srgbClr val="CCCCCC"/>
          </a:solidFill>
          <a:ln w="9525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Rounded Rectangle 92"/>
          <p:cNvSpPr/>
          <p:nvPr/>
        </p:nvSpPr>
        <p:spPr>
          <a:xfrm>
            <a:off x="1673352" y="5138928"/>
            <a:ext cx="1155191" cy="539496"/>
          </a:xfrm>
          <a:prstGeom prst="roundRect">
            <a:avLst/>
          </a:prstGeom>
          <a:solidFill>
            <a:srgbClr val="F7F7F7"/>
          </a:solidFill>
          <a:ln w="1397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94" name="Connector 93"/>
          <p:cNvCxnSpPr/>
          <p:nvPr/>
        </p:nvCxnSpPr>
        <p:spPr>
          <a:xfrm>
            <a:off x="1746504" y="5266944"/>
            <a:ext cx="577596" cy="0"/>
          </a:xfrm>
          <a:prstGeom prst="line">
            <a:avLst/>
          </a:prstGeom>
          <a:ln w="13970">
            <a:solidFill>
              <a:srgbClr val="6666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5" name="Connector 94"/>
          <p:cNvCxnSpPr/>
          <p:nvPr/>
        </p:nvCxnSpPr>
        <p:spPr>
          <a:xfrm>
            <a:off x="1746504" y="5431536"/>
            <a:ext cx="808634" cy="0"/>
          </a:xfrm>
          <a:prstGeom prst="line">
            <a:avLst/>
          </a:prstGeom>
          <a:ln w="13970">
            <a:solidFill>
              <a:srgbClr val="6666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6" name="Rounded Rectangle 95"/>
          <p:cNvSpPr/>
          <p:nvPr/>
        </p:nvSpPr>
        <p:spPr>
          <a:xfrm>
            <a:off x="2919984" y="5138928"/>
            <a:ext cx="1155191" cy="539496"/>
          </a:xfrm>
          <a:prstGeom prst="roundRect">
            <a:avLst/>
          </a:prstGeom>
          <a:solidFill>
            <a:srgbClr val="F7F7F7"/>
          </a:solidFill>
          <a:ln w="1397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97" name="Connector 96"/>
          <p:cNvCxnSpPr/>
          <p:nvPr/>
        </p:nvCxnSpPr>
        <p:spPr>
          <a:xfrm>
            <a:off x="2993136" y="5266944"/>
            <a:ext cx="577596" cy="0"/>
          </a:xfrm>
          <a:prstGeom prst="line">
            <a:avLst/>
          </a:prstGeom>
          <a:ln w="13970">
            <a:solidFill>
              <a:srgbClr val="6666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8" name="Connector 97"/>
          <p:cNvCxnSpPr/>
          <p:nvPr/>
        </p:nvCxnSpPr>
        <p:spPr>
          <a:xfrm>
            <a:off x="2993136" y="5431536"/>
            <a:ext cx="808634" cy="0"/>
          </a:xfrm>
          <a:prstGeom prst="line">
            <a:avLst/>
          </a:prstGeom>
          <a:ln w="13970">
            <a:solidFill>
              <a:srgbClr val="6666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9" name="Rounded Rectangle 98"/>
          <p:cNvSpPr/>
          <p:nvPr/>
        </p:nvSpPr>
        <p:spPr>
          <a:xfrm>
            <a:off x="4166616" y="5138928"/>
            <a:ext cx="1155191" cy="539496"/>
          </a:xfrm>
          <a:prstGeom prst="roundRect">
            <a:avLst/>
          </a:prstGeom>
          <a:solidFill>
            <a:srgbClr val="F7F7F7"/>
          </a:solidFill>
          <a:ln w="1397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00" name="Connector 99"/>
          <p:cNvCxnSpPr/>
          <p:nvPr/>
        </p:nvCxnSpPr>
        <p:spPr>
          <a:xfrm>
            <a:off x="4239768" y="5266944"/>
            <a:ext cx="577596" cy="0"/>
          </a:xfrm>
          <a:prstGeom prst="line">
            <a:avLst/>
          </a:prstGeom>
          <a:ln w="13970">
            <a:solidFill>
              <a:srgbClr val="6666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1" name="Connector 100"/>
          <p:cNvCxnSpPr/>
          <p:nvPr/>
        </p:nvCxnSpPr>
        <p:spPr>
          <a:xfrm>
            <a:off x="4239768" y="5431536"/>
            <a:ext cx="808634" cy="0"/>
          </a:xfrm>
          <a:prstGeom prst="line">
            <a:avLst/>
          </a:prstGeom>
          <a:ln w="13970">
            <a:solidFill>
              <a:srgbClr val="6666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2" name="Rounded Rectangle 101"/>
          <p:cNvSpPr/>
          <p:nvPr/>
        </p:nvSpPr>
        <p:spPr>
          <a:xfrm>
            <a:off x="1673352" y="5769864"/>
            <a:ext cx="1155191" cy="539496"/>
          </a:xfrm>
          <a:prstGeom prst="roundRect">
            <a:avLst/>
          </a:prstGeom>
          <a:solidFill>
            <a:srgbClr val="F7F7F7"/>
          </a:solidFill>
          <a:ln w="1397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03" name="Connector 102"/>
          <p:cNvCxnSpPr/>
          <p:nvPr/>
        </p:nvCxnSpPr>
        <p:spPr>
          <a:xfrm>
            <a:off x="1746504" y="5897880"/>
            <a:ext cx="577596" cy="0"/>
          </a:xfrm>
          <a:prstGeom prst="line">
            <a:avLst/>
          </a:prstGeom>
          <a:ln w="13970">
            <a:solidFill>
              <a:srgbClr val="6666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4" name="Connector 103"/>
          <p:cNvCxnSpPr/>
          <p:nvPr/>
        </p:nvCxnSpPr>
        <p:spPr>
          <a:xfrm>
            <a:off x="1746504" y="6062472"/>
            <a:ext cx="808634" cy="0"/>
          </a:xfrm>
          <a:prstGeom prst="line">
            <a:avLst/>
          </a:prstGeom>
          <a:ln w="13970">
            <a:solidFill>
              <a:srgbClr val="6666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5" name="Rounded Rectangle 104"/>
          <p:cNvSpPr/>
          <p:nvPr/>
        </p:nvSpPr>
        <p:spPr>
          <a:xfrm>
            <a:off x="2919984" y="5769864"/>
            <a:ext cx="1155191" cy="539496"/>
          </a:xfrm>
          <a:prstGeom prst="roundRect">
            <a:avLst/>
          </a:prstGeom>
          <a:solidFill>
            <a:srgbClr val="F7F7F7"/>
          </a:solidFill>
          <a:ln w="1397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06" name="Connector 105"/>
          <p:cNvCxnSpPr/>
          <p:nvPr/>
        </p:nvCxnSpPr>
        <p:spPr>
          <a:xfrm>
            <a:off x="2993136" y="5897880"/>
            <a:ext cx="577596" cy="0"/>
          </a:xfrm>
          <a:prstGeom prst="line">
            <a:avLst/>
          </a:prstGeom>
          <a:ln w="13970">
            <a:solidFill>
              <a:srgbClr val="6666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7" name="Connector 106"/>
          <p:cNvCxnSpPr/>
          <p:nvPr/>
        </p:nvCxnSpPr>
        <p:spPr>
          <a:xfrm>
            <a:off x="2993136" y="6062472"/>
            <a:ext cx="808634" cy="0"/>
          </a:xfrm>
          <a:prstGeom prst="line">
            <a:avLst/>
          </a:prstGeom>
          <a:ln w="13970">
            <a:solidFill>
              <a:srgbClr val="6666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8" name="Rounded Rectangle 107"/>
          <p:cNvSpPr/>
          <p:nvPr/>
        </p:nvSpPr>
        <p:spPr>
          <a:xfrm>
            <a:off x="4166616" y="5769864"/>
            <a:ext cx="1155191" cy="539496"/>
          </a:xfrm>
          <a:prstGeom prst="roundRect">
            <a:avLst/>
          </a:prstGeom>
          <a:solidFill>
            <a:srgbClr val="F7F7F7"/>
          </a:solidFill>
          <a:ln w="1397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09" name="Connector 108"/>
          <p:cNvCxnSpPr/>
          <p:nvPr/>
        </p:nvCxnSpPr>
        <p:spPr>
          <a:xfrm>
            <a:off x="4239768" y="5897880"/>
            <a:ext cx="577596" cy="0"/>
          </a:xfrm>
          <a:prstGeom prst="line">
            <a:avLst/>
          </a:prstGeom>
          <a:ln w="13970">
            <a:solidFill>
              <a:srgbClr val="6666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0" name="Connector 109"/>
          <p:cNvCxnSpPr/>
          <p:nvPr/>
        </p:nvCxnSpPr>
        <p:spPr>
          <a:xfrm>
            <a:off x="4239768" y="6062472"/>
            <a:ext cx="808634" cy="0"/>
          </a:xfrm>
          <a:prstGeom prst="line">
            <a:avLst/>
          </a:prstGeom>
          <a:ln w="13970">
            <a:solidFill>
              <a:srgbClr val="6666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1" name="Oval 110"/>
          <p:cNvSpPr/>
          <p:nvPr/>
        </p:nvSpPr>
        <p:spPr>
          <a:xfrm>
            <a:off x="1554480" y="4663440"/>
            <a:ext cx="237744" cy="237744"/>
          </a:xfrm>
          <a:prstGeom prst="ellipse">
            <a:avLst/>
          </a:prstGeom>
          <a:solidFill>
            <a:srgbClr val="DC2626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4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5824728" y="1572767"/>
            <a:ext cx="5982919" cy="256032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111111"/>
                </a:solidFill>
                <a:latin typeface="맑은 고딕"/>
                <a:ea typeface="맑은 고딕"/>
              </a:rPr>
              <a:t>Description</a:t>
            </a:r>
          </a:p>
        </p:txBody>
      </p:sp>
      <p:sp>
        <p:nvSpPr>
          <p:cNvPr id="113" name="Oval 112"/>
          <p:cNvSpPr/>
          <p:nvPr/>
        </p:nvSpPr>
        <p:spPr>
          <a:xfrm>
            <a:off x="5824728" y="1929383"/>
            <a:ext cx="219456" cy="219456"/>
          </a:xfrm>
          <a:prstGeom prst="ellipse">
            <a:avLst/>
          </a:prstGeom>
          <a:solidFill>
            <a:srgbClr val="DC2626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1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6135624" y="1901951"/>
            <a:ext cx="5672023" cy="834847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100"/>
              </a:spcAft>
            </a:pPr>
            <a:r>
              <a:rPr sz="950" b="1">
                <a:solidFill>
                  <a:srgbClr val="111111"/>
                </a:solidFill>
                <a:latin typeface="맑은 고딕"/>
                <a:ea typeface="맑은 고딕"/>
              </a:rPr>
              <a:t>조회 범위·기간 </a:t>
            </a:r>
            <a:r>
              <a:rPr sz="950" b="0">
                <a:solidFill>
                  <a:srgbClr val="999999"/>
                </a:solidFill>
                <a:latin typeface="맑은 고딕"/>
                <a:ea typeface="맑은 고딕"/>
              </a:rPr>
              <a:t>—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프리셋 4종+범위 지정[시작~종료 월·최대 24개월]</a:t>
            </a:r>
          </a:p>
        </p:txBody>
      </p:sp>
      <p:cxnSp>
        <p:nvCxnSpPr>
          <p:cNvPr id="115" name="Connector 114"/>
          <p:cNvCxnSpPr/>
          <p:nvPr/>
        </p:nvCxnSpPr>
        <p:spPr>
          <a:xfrm>
            <a:off x="5824728" y="2718511"/>
            <a:ext cx="5982919" cy="0"/>
          </a:xfrm>
          <a:prstGeom prst="line">
            <a:avLst/>
          </a:prstGeom>
          <a:ln w="9525">
            <a:solidFill>
              <a:srgbClr val="EEEEE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6" name="Oval 115"/>
          <p:cNvSpPr/>
          <p:nvPr/>
        </p:nvSpPr>
        <p:spPr>
          <a:xfrm>
            <a:off x="5824728" y="2764231"/>
            <a:ext cx="219456" cy="219456"/>
          </a:xfrm>
          <a:prstGeom prst="ellipse">
            <a:avLst/>
          </a:prstGeom>
          <a:solidFill>
            <a:srgbClr val="DC2626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2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6135624" y="2736799"/>
            <a:ext cx="5672023" cy="834847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100"/>
              </a:spcAft>
            </a:pPr>
            <a:r>
              <a:rPr sz="950" b="1">
                <a:solidFill>
                  <a:srgbClr val="111111"/>
                </a:solidFill>
                <a:latin typeface="맑은 고딕"/>
                <a:ea typeface="맑은 고딕"/>
              </a:rPr>
              <a:t>요약 4카드 </a:t>
            </a:r>
            <a:r>
              <a:rPr sz="950" b="0">
                <a:solidFill>
                  <a:srgbClr val="999999"/>
                </a:solidFill>
                <a:latin typeface="맑은 고딕"/>
                <a:ea typeface="맑은 고딕"/>
              </a:rPr>
              <a:t>—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전체 등록물·이번 달 신규·참여 부서·참여 관계사</a:t>
            </a:r>
          </a:p>
        </p:txBody>
      </p:sp>
      <p:cxnSp>
        <p:nvCxnSpPr>
          <p:cNvPr id="118" name="Connector 117"/>
          <p:cNvCxnSpPr/>
          <p:nvPr/>
        </p:nvCxnSpPr>
        <p:spPr>
          <a:xfrm>
            <a:off x="5824728" y="3553358"/>
            <a:ext cx="5982919" cy="0"/>
          </a:xfrm>
          <a:prstGeom prst="line">
            <a:avLst/>
          </a:prstGeom>
          <a:ln w="9525">
            <a:solidFill>
              <a:srgbClr val="EEEEE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9" name="Oval 118"/>
          <p:cNvSpPr/>
          <p:nvPr/>
        </p:nvSpPr>
        <p:spPr>
          <a:xfrm>
            <a:off x="5824728" y="3599078"/>
            <a:ext cx="219456" cy="219456"/>
          </a:xfrm>
          <a:prstGeom prst="ellipse">
            <a:avLst/>
          </a:prstGeom>
          <a:solidFill>
            <a:srgbClr val="DC2626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3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6135624" y="3571646"/>
            <a:ext cx="5672023" cy="834847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100"/>
              </a:spcAft>
            </a:pPr>
            <a:r>
              <a:rPr sz="950" b="1">
                <a:solidFill>
                  <a:srgbClr val="111111"/>
                </a:solidFill>
                <a:latin typeface="맑은 고딕"/>
                <a:ea typeface="맑은 고딕"/>
              </a:rPr>
              <a:t>등록 추이 </a:t>
            </a:r>
            <a:r>
              <a:rPr sz="950" b="0">
                <a:solidFill>
                  <a:srgbClr val="999999"/>
                </a:solidFill>
                <a:latin typeface="맑은 고딕"/>
                <a:ea typeface="맑은 고딕"/>
              </a:rPr>
              <a:t>—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카테고리 스택 막대 — 선택 기간 연속 표시·빈 월 0</a:t>
            </a:r>
          </a:p>
        </p:txBody>
      </p:sp>
      <p:cxnSp>
        <p:nvCxnSpPr>
          <p:cNvPr id="121" name="Connector 120"/>
          <p:cNvCxnSpPr/>
          <p:nvPr/>
        </p:nvCxnSpPr>
        <p:spPr>
          <a:xfrm>
            <a:off x="5824728" y="4388205"/>
            <a:ext cx="5982919" cy="0"/>
          </a:xfrm>
          <a:prstGeom prst="line">
            <a:avLst/>
          </a:prstGeom>
          <a:ln w="9525">
            <a:solidFill>
              <a:srgbClr val="EEEEE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2" name="Oval 121"/>
          <p:cNvSpPr/>
          <p:nvPr/>
        </p:nvSpPr>
        <p:spPr>
          <a:xfrm>
            <a:off x="5824728" y="4433925"/>
            <a:ext cx="219456" cy="219456"/>
          </a:xfrm>
          <a:prstGeom prst="ellipse">
            <a:avLst/>
          </a:prstGeom>
          <a:solidFill>
            <a:srgbClr val="DC2626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4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6135624" y="4406493"/>
            <a:ext cx="5672023" cy="834847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100"/>
              </a:spcAft>
            </a:pPr>
            <a:r>
              <a:rPr sz="950" b="1">
                <a:solidFill>
                  <a:srgbClr val="111111"/>
                </a:solidFill>
                <a:latin typeface="맑은 고딕"/>
                <a:ea typeface="맑은 고딕"/>
              </a:rPr>
              <a:t>카테고리별 현황 </a:t>
            </a:r>
            <a:r>
              <a:rPr sz="950" b="0">
                <a:solidFill>
                  <a:srgbClr val="999999"/>
                </a:solidFill>
                <a:latin typeface="맑은 고딕"/>
                <a:ea typeface="맑은 고딕"/>
              </a:rPr>
              <a:t>—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7종 건수·비율</a:t>
            </a:r>
          </a:p>
        </p:txBody>
      </p:sp>
      <p:sp>
        <p:nvSpPr>
          <p:cNvPr id="124" name="Rectangle 123"/>
          <p:cNvSpPr/>
          <p:nvPr/>
        </p:nvSpPr>
        <p:spPr>
          <a:xfrm>
            <a:off x="5824728" y="5387644"/>
            <a:ext cx="5982919" cy="1086307"/>
          </a:xfrm>
          <a:prstGeom prst="rect">
            <a:avLst/>
          </a:prstGeom>
          <a:solidFill>
            <a:srgbClr val="F7F7F7"/>
          </a:solidFill>
          <a:ln w="12700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25" name="Connector 124"/>
          <p:cNvCxnSpPr/>
          <p:nvPr/>
        </p:nvCxnSpPr>
        <p:spPr>
          <a:xfrm>
            <a:off x="5824728" y="5661964"/>
            <a:ext cx="5982919" cy="0"/>
          </a:xfrm>
          <a:prstGeom prst="line">
            <a:avLst/>
          </a:prstGeom>
          <a:ln w="12700">
            <a:solidFill>
              <a:srgbClr val="CCCCC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6" name="TextBox 125"/>
          <p:cNvSpPr txBox="1"/>
          <p:nvPr/>
        </p:nvSpPr>
        <p:spPr>
          <a:xfrm>
            <a:off x="5934456" y="5428792"/>
            <a:ext cx="5763463" cy="237744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11111"/>
                </a:solidFill>
                <a:latin typeface="맑은 고딕"/>
                <a:ea typeface="맑은 고딕"/>
              </a:rPr>
              <a:t>화면 룰·기획 근거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952744" y="5698540"/>
            <a:ext cx="5726887" cy="738835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100"/>
              </a:spcAft>
            </a:pPr>
            <a:r>
              <a:rPr sz="85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850" b="0">
                <a:solidFill>
                  <a:srgbClr val="333333"/>
                </a:solidFill>
                <a:latin typeface="맑은 고딕"/>
                <a:ea typeface="맑은 고딕"/>
              </a:rPr>
              <a:t>올해 전체 = 당해 1월~현재 월</a:t>
            </a:r>
          </a:p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100"/>
              </a:spcAft>
            </a:pPr>
            <a:r>
              <a:rPr sz="85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850" b="0">
                <a:solidFill>
                  <a:srgbClr val="333333"/>
                </a:solidFill>
                <a:latin typeface="맑은 고딕"/>
                <a:ea typeface="맑은 고딕"/>
              </a:rPr>
              <a:t>24개월 초과 선택 불가</a:t>
            </a:r>
          </a:p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DC2626"/>
                </a:solidFill>
                <a:latin typeface="맑은 고딕"/>
                <a:ea typeface="맑은 고딕"/>
              </a:rPr>
              <a:t>BE·DB  </a:t>
            </a:r>
            <a:r>
              <a:rPr sz="850" b="0">
                <a:solidFill>
                  <a:srgbClr val="666666"/>
                </a:solidFill>
                <a:latin typeface="맑은 고딕"/>
                <a:ea typeface="맑은 고딕"/>
              </a:rPr>
              <a:t>getStatsByScope(scope,range)·statsDerive 함수군 = 통계 API 계약 기준(GET /stats/*, ?company=&amp;from=&amp;to=). parseTimeSaved 규칙 서버 이관 시 동일. 검증: 데모 총량 50 전 축 일치.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aphicFrame>
        <p:nvGraphicFramePr>
          <p:cNvPr id="2" name="Table 1"/>
          <p:cNvGraphicFramePr>
            <a:graphicFrameLocks noGrp="1"/>
          </p:cNvGraphicFramePr>
          <p:nvPr/>
        </p:nvGraphicFramePr>
        <p:xfrm>
          <a:off x="384048" y="384048"/>
          <a:ext cx="11423599" cy="1042416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371600"/>
                <a:gridCol w="4297680"/>
                <a:gridCol w="1280160"/>
                <a:gridCol w="4474159"/>
              </a:tblGrid>
              <a:tr h="384048">
                <a:tc gridSpan="3"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통계  —  분석</a:t>
                      </a:r>
                    </a:p>
                  </a:txBody>
                  <a:tcPr anchor="ctr" marL="73152" marR="54864" marT="18288" marB="18288">
                    <a:solidFill>
                      <a:srgbClr val="111111"/>
                    </a:solidFill>
                    <a:lnL w="9525" cap="flat">
                      <a:solidFill>
                        <a:srgbClr val="666666"/>
                      </a:solidFill>
                    </a:lnL>
                    <a:lnR w="9525" cap="flat">
                      <a:solidFill>
                        <a:srgbClr val="666666"/>
                      </a:solidFill>
                    </a:lnR>
                    <a:lnT w="9525" cap="flat">
                      <a:solidFill>
                        <a:srgbClr val="666666"/>
                      </a:solidFill>
                    </a:lnT>
                    <a:lnB w="9525" cap="flat">
                      <a:solidFill>
                        <a:srgbClr val="666666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Page 2 / 2</a:t>
                      </a:r>
                    </a:p>
                  </a:txBody>
                  <a:tcPr anchor="ctr" marL="73152" marR="54864" marT="18288" marB="18288">
                    <a:solidFill>
                      <a:srgbClr val="111111"/>
                    </a:solidFill>
                    <a:lnL w="9525" cap="flat">
                      <a:solidFill>
                        <a:srgbClr val="666666"/>
                      </a:solidFill>
                    </a:lnL>
                    <a:lnR w="9525" cap="flat">
                      <a:solidFill>
                        <a:srgbClr val="666666"/>
                      </a:solidFill>
                    </a:lnR>
                    <a:lnT w="9525" cap="flat">
                      <a:solidFill>
                        <a:srgbClr val="666666"/>
                      </a:solidFill>
                    </a:lnT>
                    <a:lnB w="9525" cap="flat">
                      <a:solidFill>
                        <a:srgbClr val="666666"/>
                      </a:solidFill>
                    </a:lnB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</a:rPr>
                        <a:t>Page Title</a:t>
                      </a:r>
                    </a:p>
                  </a:txBody>
                  <a:tcPr anchor="ctr" marL="73152" marR="54864" marT="18288" marB="18288">
                    <a:solidFill>
                      <a:srgbClr val="EEEEEE"/>
                    </a:solidFill>
                    <a:lnL w="9525" cap="flat">
                      <a:solidFill>
                        <a:srgbClr val="666666"/>
                      </a:solidFill>
                    </a:lnL>
                    <a:lnR w="9525" cap="flat">
                      <a:solidFill>
                        <a:srgbClr val="666666"/>
                      </a:solidFill>
                    </a:lnR>
                    <a:lnT w="9525" cap="flat">
                      <a:solidFill>
                        <a:srgbClr val="666666"/>
                      </a:solidFill>
                    </a:lnT>
                    <a:lnB w="9525" cap="flat">
                      <a:solidFill>
                        <a:srgbClr val="666666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111111"/>
                          </a:solidFill>
                          <a:latin typeface="맑은 고딕"/>
                          <a:ea typeface="맑은 고딕"/>
                        </a:rPr>
                        <a:t>통계</a:t>
                      </a:r>
                    </a:p>
                  </a:txBody>
                  <a:tcPr anchor="ctr" marL="73152" marR="54864" marT="18288" marB="18288">
                    <a:solidFill>
                      <a:srgbClr val="FFFFFF"/>
                    </a:solidFill>
                    <a:lnL w="9525" cap="flat">
                      <a:solidFill>
                        <a:srgbClr val="666666"/>
                      </a:solidFill>
                    </a:lnL>
                    <a:lnR w="9525" cap="flat">
                      <a:solidFill>
                        <a:srgbClr val="666666"/>
                      </a:solidFill>
                    </a:lnR>
                    <a:lnT w="9525" cap="flat">
                      <a:solidFill>
                        <a:srgbClr val="666666"/>
                      </a:solidFill>
                    </a:lnT>
                    <a:lnB w="9525" cap="flat">
                      <a:solidFill>
                        <a:srgbClr val="666666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</a:rPr>
                        <a:t>Screen ID</a:t>
                      </a:r>
                    </a:p>
                  </a:txBody>
                  <a:tcPr anchor="ctr" marL="73152" marR="54864" marT="18288" marB="18288">
                    <a:solidFill>
                      <a:srgbClr val="EEEEEE"/>
                    </a:solidFill>
                    <a:lnL w="9525" cap="flat">
                      <a:solidFill>
                        <a:srgbClr val="666666"/>
                      </a:solidFill>
                    </a:lnL>
                    <a:lnR w="9525" cap="flat">
                      <a:solidFill>
                        <a:srgbClr val="666666"/>
                      </a:solidFill>
                    </a:lnR>
                    <a:lnT w="9525" cap="flat">
                      <a:solidFill>
                        <a:srgbClr val="666666"/>
                      </a:solidFill>
                    </a:lnT>
                    <a:lnB w="9525" cap="flat">
                      <a:solidFill>
                        <a:srgbClr val="666666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111111"/>
                          </a:solidFill>
                          <a:latin typeface="맑은 고딕"/>
                          <a:ea typeface="맑은 고딕"/>
                        </a:rPr>
                        <a:t>ADM-04</a:t>
                      </a:r>
                    </a:p>
                  </a:txBody>
                  <a:tcPr anchor="ctr" marL="73152" marR="54864" marT="18288" marB="18288">
                    <a:solidFill>
                      <a:srgbClr val="FFFFFF"/>
                    </a:solidFill>
                    <a:lnL w="9525" cap="flat">
                      <a:solidFill>
                        <a:srgbClr val="666666"/>
                      </a:solidFill>
                    </a:lnL>
                    <a:lnR w="9525" cap="flat">
                      <a:solidFill>
                        <a:srgbClr val="666666"/>
                      </a:solidFill>
                    </a:lnR>
                    <a:lnT w="9525" cap="flat">
                      <a:solidFill>
                        <a:srgbClr val="666666"/>
                      </a:solidFill>
                    </a:lnT>
                    <a:lnB w="9525" cap="flat">
                      <a:solidFill>
                        <a:srgbClr val="666666"/>
                      </a:solidFill>
                    </a:lnB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</a:rPr>
                        <a:t>Screen Path</a:t>
                      </a:r>
                    </a:p>
                  </a:txBody>
                  <a:tcPr anchor="ctr" marL="73152" marR="54864" marT="18288" marB="18288">
                    <a:solidFill>
                      <a:srgbClr val="EEEEEE"/>
                    </a:solidFill>
                    <a:lnL w="9525" cap="flat">
                      <a:solidFill>
                        <a:srgbClr val="666666"/>
                      </a:solidFill>
                    </a:lnL>
                    <a:lnR w="9525" cap="flat">
                      <a:solidFill>
                        <a:srgbClr val="666666"/>
                      </a:solidFill>
                    </a:lnR>
                    <a:lnT w="9525" cap="flat">
                      <a:solidFill>
                        <a:srgbClr val="666666"/>
                      </a:solidFill>
                    </a:lnT>
                    <a:lnB w="9525" cap="flat">
                      <a:solidFill>
                        <a:srgbClr val="666666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</a:rPr>
                        <a:t>/admin/statistics  (admin·companyAdmin)</a:t>
                      </a:r>
                    </a:p>
                  </a:txBody>
                  <a:tcPr anchor="ctr" marL="73152" marR="54864" marT="18288" marB="18288">
                    <a:solidFill>
                      <a:srgbClr val="FFFFFF"/>
                    </a:solidFill>
                    <a:lnL w="9525" cap="flat">
                      <a:solidFill>
                        <a:srgbClr val="666666"/>
                      </a:solidFill>
                    </a:lnL>
                    <a:lnR w="9525" cap="flat">
                      <a:solidFill>
                        <a:srgbClr val="666666"/>
                      </a:solidFill>
                    </a:lnR>
                    <a:lnT w="9525" cap="flat">
                      <a:solidFill>
                        <a:srgbClr val="666666"/>
                      </a:solidFill>
                    </a:lnT>
                    <a:lnB w="9525" cap="flat">
                      <a:solidFill>
                        <a:srgbClr val="666666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</a:rPr>
                        <a:t>작성자</a:t>
                      </a:r>
                    </a:p>
                  </a:txBody>
                  <a:tcPr anchor="ctr" marL="73152" marR="54864" marT="18288" marB="18288">
                    <a:solidFill>
                      <a:srgbClr val="EEEEEE"/>
                    </a:solidFill>
                    <a:lnL w="9525" cap="flat">
                      <a:solidFill>
                        <a:srgbClr val="666666"/>
                      </a:solidFill>
                    </a:lnL>
                    <a:lnR w="9525" cap="flat">
                      <a:solidFill>
                        <a:srgbClr val="666666"/>
                      </a:solidFill>
                    </a:lnR>
                    <a:lnT w="9525" cap="flat">
                      <a:solidFill>
                        <a:srgbClr val="666666"/>
                      </a:solidFill>
                    </a:lnT>
                    <a:lnB w="9525" cap="flat">
                      <a:solidFill>
                        <a:srgbClr val="666666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11111"/>
                          </a:solidFill>
                          <a:latin typeface="맑은 고딕"/>
                          <a:ea typeface="맑은 고딕"/>
                        </a:rPr>
                        <a:t>배상혁</a:t>
                      </a:r>
                    </a:p>
                  </a:txBody>
                  <a:tcPr anchor="ctr" marL="73152" marR="54864" marT="18288" marB="18288">
                    <a:solidFill>
                      <a:srgbClr val="FFFFFF"/>
                    </a:solidFill>
                    <a:lnL w="9525" cap="flat">
                      <a:solidFill>
                        <a:srgbClr val="666666"/>
                      </a:solidFill>
                    </a:lnL>
                    <a:lnR w="9525" cap="flat">
                      <a:solidFill>
                        <a:srgbClr val="666666"/>
                      </a:solidFill>
                    </a:lnR>
                    <a:lnT w="9525" cap="flat">
                      <a:solidFill>
                        <a:srgbClr val="666666"/>
                      </a:solidFill>
                    </a:lnT>
                    <a:lnB w="9525" cap="flat">
                      <a:solidFill>
                        <a:srgbClr val="666666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3" name="Rectangle 2"/>
          <p:cNvSpPr/>
          <p:nvPr/>
        </p:nvSpPr>
        <p:spPr>
          <a:xfrm>
            <a:off x="384048" y="1572767"/>
            <a:ext cx="5166360" cy="4901184"/>
          </a:xfrm>
          <a:prstGeom prst="rect">
            <a:avLst/>
          </a:prstGeom>
          <a:solidFill>
            <a:srgbClr val="FFFFFF"/>
          </a:solidFill>
          <a:ln w="3048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84048" y="1572767"/>
            <a:ext cx="5166360" cy="146304"/>
          </a:xfrm>
          <a:prstGeom prst="rect">
            <a:avLst/>
          </a:prstGeom>
          <a:solidFill>
            <a:srgbClr val="F7F7F7"/>
          </a:solidFill>
          <a:ln w="3048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484632" y="1623059"/>
            <a:ext cx="45720" cy="45720"/>
          </a:xfrm>
          <a:prstGeom prst="ellipse">
            <a:avLst/>
          </a:prstGeom>
          <a:solidFill>
            <a:srgbClr val="CCC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585216" y="1623059"/>
            <a:ext cx="45720" cy="45720"/>
          </a:xfrm>
          <a:prstGeom prst="ellipse">
            <a:avLst/>
          </a:prstGeom>
          <a:solidFill>
            <a:srgbClr val="CCC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685800" y="1623059"/>
            <a:ext cx="45720" cy="45720"/>
          </a:xfrm>
          <a:prstGeom prst="ellipse">
            <a:avLst/>
          </a:prstGeom>
          <a:solidFill>
            <a:srgbClr val="CCC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12064" y="1847087"/>
            <a:ext cx="4910328" cy="256032"/>
          </a:xfrm>
          <a:prstGeom prst="rect">
            <a:avLst/>
          </a:prstGeom>
          <a:solidFill>
            <a:srgbClr val="F7F7F7"/>
          </a:solidFill>
          <a:ln w="1651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585216" y="1911095"/>
            <a:ext cx="658368" cy="12801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5166359" y="1883663"/>
            <a:ext cx="182880" cy="182880"/>
          </a:xfrm>
          <a:prstGeom prst="ellipse">
            <a:avLst/>
          </a:prstGeom>
          <a:solidFill>
            <a:srgbClr val="FFFFFF"/>
          </a:solidFill>
          <a:ln w="1524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12064" y="2157983"/>
            <a:ext cx="914400" cy="4187952"/>
          </a:xfrm>
          <a:prstGeom prst="rect">
            <a:avLst/>
          </a:prstGeom>
          <a:solidFill>
            <a:srgbClr val="F7F7F7"/>
          </a:solidFill>
          <a:ln w="1651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594360" y="2267711"/>
            <a:ext cx="749808" cy="14630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594360" y="2542031"/>
            <a:ext cx="749808" cy="14630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594360" y="2816351"/>
            <a:ext cx="749808" cy="14630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594360" y="3090671"/>
            <a:ext cx="749808" cy="14630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594360" y="3364991"/>
            <a:ext cx="749808" cy="14630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594360" y="3639311"/>
            <a:ext cx="749808" cy="14630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594360" y="3913631"/>
            <a:ext cx="749808" cy="14630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594360" y="4187952"/>
            <a:ext cx="749808" cy="14630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594360" y="4462271"/>
            <a:ext cx="749808" cy="14630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170432" y="2532887"/>
            <a:ext cx="128016" cy="128016"/>
          </a:xfrm>
          <a:prstGeom prst="ellipse">
            <a:avLst/>
          </a:prstGeom>
          <a:solidFill>
            <a:srgbClr val="FFFFFF"/>
          </a:solidFill>
          <a:ln w="1524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1572768" y="2194559"/>
            <a:ext cx="1874519" cy="1316736"/>
          </a:xfrm>
          <a:prstGeom prst="rect">
            <a:avLst/>
          </a:prstGeom>
          <a:solidFill>
            <a:srgbClr val="FFFFFF"/>
          </a:solidFill>
          <a:ln w="1651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3" name="Connector 22"/>
          <p:cNvCxnSpPr/>
          <p:nvPr/>
        </p:nvCxnSpPr>
        <p:spPr>
          <a:xfrm>
            <a:off x="1673352" y="2340863"/>
            <a:ext cx="637336" cy="0"/>
          </a:xfrm>
          <a:prstGeom prst="line">
            <a:avLst/>
          </a:prstGeom>
          <a:ln w="20320">
            <a:solidFill>
              <a:srgbClr val="6666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1673352" y="2542031"/>
            <a:ext cx="365760" cy="0"/>
          </a:xfrm>
          <a:prstGeom prst="line">
            <a:avLst/>
          </a:prstGeom>
          <a:ln w="13970">
            <a:solidFill>
              <a:srgbClr val="6666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Rectangle 24"/>
          <p:cNvSpPr/>
          <p:nvPr/>
        </p:nvSpPr>
        <p:spPr>
          <a:xfrm>
            <a:off x="2093976" y="2487167"/>
            <a:ext cx="1190091" cy="100584"/>
          </a:xfrm>
          <a:prstGeom prst="rect">
            <a:avLst/>
          </a:prstGeom>
          <a:solidFill>
            <a:srgbClr val="CCCCCC"/>
          </a:solidFill>
          <a:ln w="9525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6" name="Connector 25"/>
          <p:cNvCxnSpPr/>
          <p:nvPr/>
        </p:nvCxnSpPr>
        <p:spPr>
          <a:xfrm>
            <a:off x="1673352" y="2679191"/>
            <a:ext cx="365760" cy="0"/>
          </a:xfrm>
          <a:prstGeom prst="line">
            <a:avLst/>
          </a:prstGeom>
          <a:ln w="13970">
            <a:solidFill>
              <a:srgbClr val="6666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Rectangle 26"/>
          <p:cNvSpPr/>
          <p:nvPr/>
        </p:nvSpPr>
        <p:spPr>
          <a:xfrm>
            <a:off x="2093976" y="2624327"/>
            <a:ext cx="977127" cy="100584"/>
          </a:xfrm>
          <a:prstGeom prst="rect">
            <a:avLst/>
          </a:prstGeom>
          <a:solidFill>
            <a:srgbClr val="CCCCCC"/>
          </a:solidFill>
          <a:ln w="9525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8" name="Connector 27"/>
          <p:cNvCxnSpPr/>
          <p:nvPr/>
        </p:nvCxnSpPr>
        <p:spPr>
          <a:xfrm>
            <a:off x="1673352" y="2816351"/>
            <a:ext cx="365760" cy="0"/>
          </a:xfrm>
          <a:prstGeom prst="line">
            <a:avLst/>
          </a:prstGeom>
          <a:ln w="13970">
            <a:solidFill>
              <a:srgbClr val="6666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Rectangle 28"/>
          <p:cNvSpPr/>
          <p:nvPr/>
        </p:nvSpPr>
        <p:spPr>
          <a:xfrm>
            <a:off x="2093976" y="2761487"/>
            <a:ext cx="751636" cy="100584"/>
          </a:xfrm>
          <a:prstGeom prst="rect">
            <a:avLst/>
          </a:prstGeom>
          <a:solidFill>
            <a:srgbClr val="CCCCCC"/>
          </a:solidFill>
          <a:ln w="9525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0" name="Connector 29"/>
          <p:cNvCxnSpPr/>
          <p:nvPr/>
        </p:nvCxnSpPr>
        <p:spPr>
          <a:xfrm>
            <a:off x="1673352" y="2953511"/>
            <a:ext cx="365760" cy="0"/>
          </a:xfrm>
          <a:prstGeom prst="line">
            <a:avLst/>
          </a:prstGeom>
          <a:ln w="13970">
            <a:solidFill>
              <a:srgbClr val="6666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Rectangle 30"/>
          <p:cNvSpPr/>
          <p:nvPr/>
        </p:nvSpPr>
        <p:spPr>
          <a:xfrm>
            <a:off x="2093976" y="2898647"/>
            <a:ext cx="551200" cy="100584"/>
          </a:xfrm>
          <a:prstGeom prst="rect">
            <a:avLst/>
          </a:prstGeom>
          <a:solidFill>
            <a:srgbClr val="CCCCCC"/>
          </a:solidFill>
          <a:ln w="9525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2" name="Connector 31"/>
          <p:cNvCxnSpPr/>
          <p:nvPr/>
        </p:nvCxnSpPr>
        <p:spPr>
          <a:xfrm>
            <a:off x="1673352" y="3090671"/>
            <a:ext cx="365760" cy="0"/>
          </a:xfrm>
          <a:prstGeom prst="line">
            <a:avLst/>
          </a:prstGeom>
          <a:ln w="13970">
            <a:solidFill>
              <a:srgbClr val="6666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Rectangle 32"/>
          <p:cNvSpPr/>
          <p:nvPr/>
        </p:nvSpPr>
        <p:spPr>
          <a:xfrm>
            <a:off x="2093976" y="3035807"/>
            <a:ext cx="375818" cy="100584"/>
          </a:xfrm>
          <a:prstGeom prst="rect">
            <a:avLst/>
          </a:prstGeom>
          <a:solidFill>
            <a:srgbClr val="CCCCCC"/>
          </a:solidFill>
          <a:ln w="9525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ounded Rectangle 33"/>
          <p:cNvSpPr/>
          <p:nvPr/>
        </p:nvSpPr>
        <p:spPr>
          <a:xfrm>
            <a:off x="1673352" y="3218687"/>
            <a:ext cx="862279" cy="219456"/>
          </a:xfrm>
          <a:prstGeom prst="roundRect">
            <a:avLst/>
          </a:prstGeom>
          <a:solidFill>
            <a:srgbClr val="F7F7F7"/>
          </a:solidFill>
          <a:ln w="1524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3547872" y="2194559"/>
            <a:ext cx="1874519" cy="1316736"/>
          </a:xfrm>
          <a:prstGeom prst="rect">
            <a:avLst/>
          </a:prstGeom>
          <a:solidFill>
            <a:srgbClr val="FFFFFF"/>
          </a:solidFill>
          <a:ln w="1651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6" name="Connector 35"/>
          <p:cNvCxnSpPr/>
          <p:nvPr/>
        </p:nvCxnSpPr>
        <p:spPr>
          <a:xfrm>
            <a:off x="3648456" y="2340863"/>
            <a:ext cx="637336" cy="0"/>
          </a:xfrm>
          <a:prstGeom prst="line">
            <a:avLst/>
          </a:prstGeom>
          <a:ln w="20320">
            <a:solidFill>
              <a:srgbClr val="6666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>
            <a:off x="3648456" y="2542031"/>
            <a:ext cx="365759" cy="0"/>
          </a:xfrm>
          <a:prstGeom prst="line">
            <a:avLst/>
          </a:prstGeom>
          <a:ln w="13970">
            <a:solidFill>
              <a:srgbClr val="6666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Rectangle 37"/>
          <p:cNvSpPr/>
          <p:nvPr/>
        </p:nvSpPr>
        <p:spPr>
          <a:xfrm>
            <a:off x="4069080" y="2487167"/>
            <a:ext cx="1190091" cy="100584"/>
          </a:xfrm>
          <a:prstGeom prst="rect">
            <a:avLst/>
          </a:prstGeom>
          <a:solidFill>
            <a:srgbClr val="CCCCCC"/>
          </a:solidFill>
          <a:ln w="9525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9" name="Connector 38"/>
          <p:cNvCxnSpPr/>
          <p:nvPr/>
        </p:nvCxnSpPr>
        <p:spPr>
          <a:xfrm>
            <a:off x="3648456" y="2679191"/>
            <a:ext cx="365759" cy="0"/>
          </a:xfrm>
          <a:prstGeom prst="line">
            <a:avLst/>
          </a:prstGeom>
          <a:ln w="13970">
            <a:solidFill>
              <a:srgbClr val="6666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0" name="Rectangle 39"/>
          <p:cNvSpPr/>
          <p:nvPr/>
        </p:nvSpPr>
        <p:spPr>
          <a:xfrm>
            <a:off x="4069080" y="2624327"/>
            <a:ext cx="977127" cy="100584"/>
          </a:xfrm>
          <a:prstGeom prst="rect">
            <a:avLst/>
          </a:prstGeom>
          <a:solidFill>
            <a:srgbClr val="CCCCCC"/>
          </a:solidFill>
          <a:ln w="9525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1" name="Connector 40"/>
          <p:cNvCxnSpPr/>
          <p:nvPr/>
        </p:nvCxnSpPr>
        <p:spPr>
          <a:xfrm>
            <a:off x="3648456" y="2816351"/>
            <a:ext cx="365759" cy="0"/>
          </a:xfrm>
          <a:prstGeom prst="line">
            <a:avLst/>
          </a:prstGeom>
          <a:ln w="13970">
            <a:solidFill>
              <a:srgbClr val="6666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2" name="Rectangle 41"/>
          <p:cNvSpPr/>
          <p:nvPr/>
        </p:nvSpPr>
        <p:spPr>
          <a:xfrm>
            <a:off x="4069080" y="2761487"/>
            <a:ext cx="751636" cy="100584"/>
          </a:xfrm>
          <a:prstGeom prst="rect">
            <a:avLst/>
          </a:prstGeom>
          <a:solidFill>
            <a:srgbClr val="CCCCCC"/>
          </a:solidFill>
          <a:ln w="9525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3" name="Connector 42"/>
          <p:cNvCxnSpPr/>
          <p:nvPr/>
        </p:nvCxnSpPr>
        <p:spPr>
          <a:xfrm>
            <a:off x="3648456" y="2953511"/>
            <a:ext cx="365759" cy="0"/>
          </a:xfrm>
          <a:prstGeom prst="line">
            <a:avLst/>
          </a:prstGeom>
          <a:ln w="13970">
            <a:solidFill>
              <a:srgbClr val="6666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Rectangle 43"/>
          <p:cNvSpPr/>
          <p:nvPr/>
        </p:nvSpPr>
        <p:spPr>
          <a:xfrm>
            <a:off x="4069080" y="2898647"/>
            <a:ext cx="551200" cy="100584"/>
          </a:xfrm>
          <a:prstGeom prst="rect">
            <a:avLst/>
          </a:prstGeom>
          <a:solidFill>
            <a:srgbClr val="CCCCCC"/>
          </a:solidFill>
          <a:ln w="9525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5" name="Connector 44"/>
          <p:cNvCxnSpPr/>
          <p:nvPr/>
        </p:nvCxnSpPr>
        <p:spPr>
          <a:xfrm>
            <a:off x="3648456" y="3090671"/>
            <a:ext cx="365759" cy="0"/>
          </a:xfrm>
          <a:prstGeom prst="line">
            <a:avLst/>
          </a:prstGeom>
          <a:ln w="13970">
            <a:solidFill>
              <a:srgbClr val="6666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6" name="Rectangle 45"/>
          <p:cNvSpPr/>
          <p:nvPr/>
        </p:nvSpPr>
        <p:spPr>
          <a:xfrm>
            <a:off x="4069080" y="3035807"/>
            <a:ext cx="375818" cy="100584"/>
          </a:xfrm>
          <a:prstGeom prst="rect">
            <a:avLst/>
          </a:prstGeom>
          <a:solidFill>
            <a:srgbClr val="CCCCCC"/>
          </a:solidFill>
          <a:ln w="9525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ounded Rectangle 46"/>
          <p:cNvSpPr/>
          <p:nvPr/>
        </p:nvSpPr>
        <p:spPr>
          <a:xfrm>
            <a:off x="3648456" y="3218687"/>
            <a:ext cx="862279" cy="219456"/>
          </a:xfrm>
          <a:prstGeom prst="roundRect">
            <a:avLst/>
          </a:prstGeom>
          <a:solidFill>
            <a:srgbClr val="F7F7F7"/>
          </a:solidFill>
          <a:ln w="1524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Oval 47"/>
          <p:cNvSpPr/>
          <p:nvPr/>
        </p:nvSpPr>
        <p:spPr>
          <a:xfrm>
            <a:off x="1554480" y="2176271"/>
            <a:ext cx="237744" cy="237744"/>
          </a:xfrm>
          <a:prstGeom prst="ellipse">
            <a:avLst/>
          </a:prstGeom>
          <a:solidFill>
            <a:srgbClr val="DC2626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5</a:t>
            </a:r>
          </a:p>
        </p:txBody>
      </p:sp>
      <p:sp>
        <p:nvSpPr>
          <p:cNvPr id="49" name="Rectangle 48"/>
          <p:cNvSpPr/>
          <p:nvPr/>
        </p:nvSpPr>
        <p:spPr>
          <a:xfrm>
            <a:off x="1572768" y="3621023"/>
            <a:ext cx="1216151" cy="566928"/>
          </a:xfrm>
          <a:prstGeom prst="rect">
            <a:avLst/>
          </a:prstGeom>
          <a:solidFill>
            <a:srgbClr val="F7F7F7"/>
          </a:solidFill>
          <a:ln w="1651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0" name="Connector 49"/>
          <p:cNvCxnSpPr/>
          <p:nvPr/>
        </p:nvCxnSpPr>
        <p:spPr>
          <a:xfrm>
            <a:off x="1664208" y="3785615"/>
            <a:ext cx="681045" cy="0"/>
          </a:xfrm>
          <a:prstGeom prst="line">
            <a:avLst/>
          </a:prstGeom>
          <a:ln w="13970">
            <a:solidFill>
              <a:srgbClr val="6666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Connector 50"/>
          <p:cNvCxnSpPr/>
          <p:nvPr/>
        </p:nvCxnSpPr>
        <p:spPr>
          <a:xfrm>
            <a:off x="1664208" y="3986783"/>
            <a:ext cx="875629" cy="0"/>
          </a:xfrm>
          <a:prstGeom prst="line">
            <a:avLst/>
          </a:prstGeom>
          <a:ln w="25400">
            <a:solidFill>
              <a:srgbClr val="6666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2" name="Rectangle 51"/>
          <p:cNvSpPr/>
          <p:nvPr/>
        </p:nvSpPr>
        <p:spPr>
          <a:xfrm>
            <a:off x="2889504" y="3621023"/>
            <a:ext cx="1216151" cy="566928"/>
          </a:xfrm>
          <a:prstGeom prst="rect">
            <a:avLst/>
          </a:prstGeom>
          <a:solidFill>
            <a:srgbClr val="F7F7F7"/>
          </a:solidFill>
          <a:ln w="1651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3" name="Connector 52"/>
          <p:cNvCxnSpPr/>
          <p:nvPr/>
        </p:nvCxnSpPr>
        <p:spPr>
          <a:xfrm>
            <a:off x="2980944" y="3785615"/>
            <a:ext cx="681045" cy="0"/>
          </a:xfrm>
          <a:prstGeom prst="line">
            <a:avLst/>
          </a:prstGeom>
          <a:ln w="13970">
            <a:solidFill>
              <a:srgbClr val="6666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Connector 53"/>
          <p:cNvCxnSpPr/>
          <p:nvPr/>
        </p:nvCxnSpPr>
        <p:spPr>
          <a:xfrm>
            <a:off x="2980944" y="3986783"/>
            <a:ext cx="875629" cy="0"/>
          </a:xfrm>
          <a:prstGeom prst="line">
            <a:avLst/>
          </a:prstGeom>
          <a:ln w="25400">
            <a:solidFill>
              <a:srgbClr val="6666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5" name="Rectangle 54"/>
          <p:cNvSpPr/>
          <p:nvPr/>
        </p:nvSpPr>
        <p:spPr>
          <a:xfrm>
            <a:off x="4206240" y="3621023"/>
            <a:ext cx="1216151" cy="566928"/>
          </a:xfrm>
          <a:prstGeom prst="rect">
            <a:avLst/>
          </a:prstGeom>
          <a:solidFill>
            <a:srgbClr val="F7F7F7"/>
          </a:solidFill>
          <a:ln w="1651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6" name="Connector 55"/>
          <p:cNvCxnSpPr/>
          <p:nvPr/>
        </p:nvCxnSpPr>
        <p:spPr>
          <a:xfrm>
            <a:off x="4297679" y="3785615"/>
            <a:ext cx="681046" cy="0"/>
          </a:xfrm>
          <a:prstGeom prst="line">
            <a:avLst/>
          </a:prstGeom>
          <a:ln w="13970">
            <a:solidFill>
              <a:srgbClr val="6666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Connector 56"/>
          <p:cNvCxnSpPr/>
          <p:nvPr/>
        </p:nvCxnSpPr>
        <p:spPr>
          <a:xfrm>
            <a:off x="4297679" y="3986783"/>
            <a:ext cx="875630" cy="0"/>
          </a:xfrm>
          <a:prstGeom prst="line">
            <a:avLst/>
          </a:prstGeom>
          <a:ln w="25400">
            <a:solidFill>
              <a:srgbClr val="6666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8" name="Oval 57"/>
          <p:cNvSpPr/>
          <p:nvPr/>
        </p:nvSpPr>
        <p:spPr>
          <a:xfrm>
            <a:off x="1554480" y="3602735"/>
            <a:ext cx="237744" cy="237744"/>
          </a:xfrm>
          <a:prstGeom prst="ellipse">
            <a:avLst/>
          </a:prstGeom>
          <a:solidFill>
            <a:srgbClr val="DC2626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6</a:t>
            </a:r>
          </a:p>
        </p:txBody>
      </p:sp>
      <p:sp>
        <p:nvSpPr>
          <p:cNvPr id="59" name="Rectangle 58"/>
          <p:cNvSpPr/>
          <p:nvPr/>
        </p:nvSpPr>
        <p:spPr>
          <a:xfrm>
            <a:off x="1572768" y="4297679"/>
            <a:ext cx="1216151" cy="822960"/>
          </a:xfrm>
          <a:prstGeom prst="rect">
            <a:avLst/>
          </a:prstGeom>
          <a:solidFill>
            <a:srgbClr val="FFFFFF"/>
          </a:solidFill>
          <a:ln w="1651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0" name="Connector 59"/>
          <p:cNvCxnSpPr/>
          <p:nvPr/>
        </p:nvCxnSpPr>
        <p:spPr>
          <a:xfrm>
            <a:off x="1664208" y="4443983"/>
            <a:ext cx="535106" cy="0"/>
          </a:xfrm>
          <a:prstGeom prst="line">
            <a:avLst/>
          </a:prstGeom>
          <a:ln w="20320">
            <a:solidFill>
              <a:srgbClr val="6666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" name="Connector 60"/>
          <p:cNvCxnSpPr/>
          <p:nvPr/>
        </p:nvCxnSpPr>
        <p:spPr>
          <a:xfrm>
            <a:off x="1664208" y="4626863"/>
            <a:ext cx="237744" cy="0"/>
          </a:xfrm>
          <a:prstGeom prst="line">
            <a:avLst/>
          </a:prstGeom>
          <a:ln w="13970">
            <a:solidFill>
              <a:srgbClr val="6666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2" name="Rectangle 61"/>
          <p:cNvSpPr/>
          <p:nvPr/>
        </p:nvSpPr>
        <p:spPr>
          <a:xfrm>
            <a:off x="1956816" y="4571999"/>
            <a:ext cx="666597" cy="100584"/>
          </a:xfrm>
          <a:prstGeom prst="rect">
            <a:avLst/>
          </a:prstGeom>
          <a:solidFill>
            <a:srgbClr val="CCCCCC"/>
          </a:solidFill>
          <a:ln w="9525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3" name="Connector 62"/>
          <p:cNvCxnSpPr/>
          <p:nvPr/>
        </p:nvCxnSpPr>
        <p:spPr>
          <a:xfrm>
            <a:off x="1664208" y="4791455"/>
            <a:ext cx="237744" cy="0"/>
          </a:xfrm>
          <a:prstGeom prst="line">
            <a:avLst/>
          </a:prstGeom>
          <a:ln w="13970">
            <a:solidFill>
              <a:srgbClr val="6666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4" name="Rectangle 63"/>
          <p:cNvSpPr/>
          <p:nvPr/>
        </p:nvSpPr>
        <p:spPr>
          <a:xfrm>
            <a:off x="1956816" y="4736591"/>
            <a:ext cx="459211" cy="100584"/>
          </a:xfrm>
          <a:prstGeom prst="rect">
            <a:avLst/>
          </a:prstGeom>
          <a:solidFill>
            <a:srgbClr val="CCCCCC"/>
          </a:solidFill>
          <a:ln w="9525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5" name="Connector 64"/>
          <p:cNvCxnSpPr/>
          <p:nvPr/>
        </p:nvCxnSpPr>
        <p:spPr>
          <a:xfrm>
            <a:off x="1664208" y="4956047"/>
            <a:ext cx="237744" cy="0"/>
          </a:xfrm>
          <a:prstGeom prst="line">
            <a:avLst/>
          </a:prstGeom>
          <a:ln w="13970">
            <a:solidFill>
              <a:srgbClr val="6666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6" name="Rectangle 65"/>
          <p:cNvSpPr/>
          <p:nvPr/>
        </p:nvSpPr>
        <p:spPr>
          <a:xfrm>
            <a:off x="1956816" y="4901183"/>
            <a:ext cx="281452" cy="100584"/>
          </a:xfrm>
          <a:prstGeom prst="rect">
            <a:avLst/>
          </a:prstGeom>
          <a:solidFill>
            <a:srgbClr val="CCCCCC"/>
          </a:solidFill>
          <a:ln w="9525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ectangle 66"/>
          <p:cNvSpPr/>
          <p:nvPr/>
        </p:nvSpPr>
        <p:spPr>
          <a:xfrm>
            <a:off x="2889504" y="4297679"/>
            <a:ext cx="1216151" cy="822960"/>
          </a:xfrm>
          <a:prstGeom prst="rect">
            <a:avLst/>
          </a:prstGeom>
          <a:solidFill>
            <a:srgbClr val="FFFFFF"/>
          </a:solidFill>
          <a:ln w="1651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8" name="Connector 67"/>
          <p:cNvCxnSpPr/>
          <p:nvPr/>
        </p:nvCxnSpPr>
        <p:spPr>
          <a:xfrm>
            <a:off x="2980944" y="4443983"/>
            <a:ext cx="535106" cy="0"/>
          </a:xfrm>
          <a:prstGeom prst="line">
            <a:avLst/>
          </a:prstGeom>
          <a:ln w="20320">
            <a:solidFill>
              <a:srgbClr val="6666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9" name="Connector 68"/>
          <p:cNvCxnSpPr/>
          <p:nvPr/>
        </p:nvCxnSpPr>
        <p:spPr>
          <a:xfrm>
            <a:off x="2980944" y="4626863"/>
            <a:ext cx="237744" cy="0"/>
          </a:xfrm>
          <a:prstGeom prst="line">
            <a:avLst/>
          </a:prstGeom>
          <a:ln w="13970">
            <a:solidFill>
              <a:srgbClr val="6666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0" name="Rectangle 69"/>
          <p:cNvSpPr/>
          <p:nvPr/>
        </p:nvSpPr>
        <p:spPr>
          <a:xfrm>
            <a:off x="3273552" y="4571999"/>
            <a:ext cx="666597" cy="100584"/>
          </a:xfrm>
          <a:prstGeom prst="rect">
            <a:avLst/>
          </a:prstGeom>
          <a:solidFill>
            <a:srgbClr val="CCCCCC"/>
          </a:solidFill>
          <a:ln w="9525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1" name="Connector 70"/>
          <p:cNvCxnSpPr/>
          <p:nvPr/>
        </p:nvCxnSpPr>
        <p:spPr>
          <a:xfrm>
            <a:off x="2980944" y="4791455"/>
            <a:ext cx="237744" cy="0"/>
          </a:xfrm>
          <a:prstGeom prst="line">
            <a:avLst/>
          </a:prstGeom>
          <a:ln w="13970">
            <a:solidFill>
              <a:srgbClr val="6666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2" name="Rectangle 71"/>
          <p:cNvSpPr/>
          <p:nvPr/>
        </p:nvSpPr>
        <p:spPr>
          <a:xfrm>
            <a:off x="3273552" y="4736591"/>
            <a:ext cx="459211" cy="100584"/>
          </a:xfrm>
          <a:prstGeom prst="rect">
            <a:avLst/>
          </a:prstGeom>
          <a:solidFill>
            <a:srgbClr val="CCCCCC"/>
          </a:solidFill>
          <a:ln w="9525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3" name="Connector 72"/>
          <p:cNvCxnSpPr/>
          <p:nvPr/>
        </p:nvCxnSpPr>
        <p:spPr>
          <a:xfrm>
            <a:off x="2980944" y="4956047"/>
            <a:ext cx="237744" cy="0"/>
          </a:xfrm>
          <a:prstGeom prst="line">
            <a:avLst/>
          </a:prstGeom>
          <a:ln w="13970">
            <a:solidFill>
              <a:srgbClr val="6666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4" name="Rectangle 73"/>
          <p:cNvSpPr/>
          <p:nvPr/>
        </p:nvSpPr>
        <p:spPr>
          <a:xfrm>
            <a:off x="3273552" y="4901183"/>
            <a:ext cx="281452" cy="100584"/>
          </a:xfrm>
          <a:prstGeom prst="rect">
            <a:avLst/>
          </a:prstGeom>
          <a:solidFill>
            <a:srgbClr val="CCCCCC"/>
          </a:solidFill>
          <a:ln w="9525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Rectangle 74"/>
          <p:cNvSpPr/>
          <p:nvPr/>
        </p:nvSpPr>
        <p:spPr>
          <a:xfrm>
            <a:off x="4206240" y="4297679"/>
            <a:ext cx="1216151" cy="822960"/>
          </a:xfrm>
          <a:prstGeom prst="rect">
            <a:avLst/>
          </a:prstGeom>
          <a:solidFill>
            <a:srgbClr val="FFFFFF"/>
          </a:solidFill>
          <a:ln w="1651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6" name="Connector 75"/>
          <p:cNvCxnSpPr/>
          <p:nvPr/>
        </p:nvCxnSpPr>
        <p:spPr>
          <a:xfrm>
            <a:off x="4297679" y="4443983"/>
            <a:ext cx="535107" cy="0"/>
          </a:xfrm>
          <a:prstGeom prst="line">
            <a:avLst/>
          </a:prstGeom>
          <a:ln w="20320">
            <a:solidFill>
              <a:srgbClr val="6666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7" name="Connector 76"/>
          <p:cNvCxnSpPr/>
          <p:nvPr/>
        </p:nvCxnSpPr>
        <p:spPr>
          <a:xfrm>
            <a:off x="4297679" y="4626863"/>
            <a:ext cx="237744" cy="0"/>
          </a:xfrm>
          <a:prstGeom prst="line">
            <a:avLst/>
          </a:prstGeom>
          <a:ln w="13970">
            <a:solidFill>
              <a:srgbClr val="6666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8" name="Rectangle 77"/>
          <p:cNvSpPr/>
          <p:nvPr/>
        </p:nvSpPr>
        <p:spPr>
          <a:xfrm>
            <a:off x="4590288" y="4571999"/>
            <a:ext cx="666597" cy="100584"/>
          </a:xfrm>
          <a:prstGeom prst="rect">
            <a:avLst/>
          </a:prstGeom>
          <a:solidFill>
            <a:srgbClr val="CCCCCC"/>
          </a:solidFill>
          <a:ln w="9525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9" name="Connector 78"/>
          <p:cNvCxnSpPr/>
          <p:nvPr/>
        </p:nvCxnSpPr>
        <p:spPr>
          <a:xfrm>
            <a:off x="4297679" y="4791455"/>
            <a:ext cx="237744" cy="0"/>
          </a:xfrm>
          <a:prstGeom prst="line">
            <a:avLst/>
          </a:prstGeom>
          <a:ln w="13970">
            <a:solidFill>
              <a:srgbClr val="6666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0" name="Rectangle 79"/>
          <p:cNvSpPr/>
          <p:nvPr/>
        </p:nvSpPr>
        <p:spPr>
          <a:xfrm>
            <a:off x="4590288" y="4736591"/>
            <a:ext cx="459211" cy="100584"/>
          </a:xfrm>
          <a:prstGeom prst="rect">
            <a:avLst/>
          </a:prstGeom>
          <a:solidFill>
            <a:srgbClr val="CCCCCC"/>
          </a:solidFill>
          <a:ln w="9525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81" name="Connector 80"/>
          <p:cNvCxnSpPr/>
          <p:nvPr/>
        </p:nvCxnSpPr>
        <p:spPr>
          <a:xfrm>
            <a:off x="4297679" y="4956047"/>
            <a:ext cx="237744" cy="0"/>
          </a:xfrm>
          <a:prstGeom prst="line">
            <a:avLst/>
          </a:prstGeom>
          <a:ln w="13970">
            <a:solidFill>
              <a:srgbClr val="6666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2" name="Rectangle 81"/>
          <p:cNvSpPr/>
          <p:nvPr/>
        </p:nvSpPr>
        <p:spPr>
          <a:xfrm>
            <a:off x="4590288" y="4901183"/>
            <a:ext cx="281452" cy="100584"/>
          </a:xfrm>
          <a:prstGeom prst="rect">
            <a:avLst/>
          </a:prstGeom>
          <a:solidFill>
            <a:srgbClr val="CCCCCC"/>
          </a:solidFill>
          <a:ln w="9525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Oval 82"/>
          <p:cNvSpPr/>
          <p:nvPr/>
        </p:nvSpPr>
        <p:spPr>
          <a:xfrm>
            <a:off x="1554480" y="4279392"/>
            <a:ext cx="237744" cy="237744"/>
          </a:xfrm>
          <a:prstGeom prst="ellipse">
            <a:avLst/>
          </a:prstGeom>
          <a:solidFill>
            <a:srgbClr val="DC2626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7</a:t>
            </a:r>
          </a:p>
        </p:txBody>
      </p:sp>
      <p:sp>
        <p:nvSpPr>
          <p:cNvPr id="84" name="Rectangle 83"/>
          <p:cNvSpPr/>
          <p:nvPr/>
        </p:nvSpPr>
        <p:spPr>
          <a:xfrm>
            <a:off x="1572768" y="5230368"/>
            <a:ext cx="1874519" cy="1097280"/>
          </a:xfrm>
          <a:prstGeom prst="rect">
            <a:avLst/>
          </a:prstGeom>
          <a:solidFill>
            <a:srgbClr val="FFFFFF"/>
          </a:solidFill>
          <a:ln w="1651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85" name="Connector 84"/>
          <p:cNvCxnSpPr/>
          <p:nvPr/>
        </p:nvCxnSpPr>
        <p:spPr>
          <a:xfrm>
            <a:off x="1673352" y="5376672"/>
            <a:ext cx="599846" cy="0"/>
          </a:xfrm>
          <a:prstGeom prst="line">
            <a:avLst/>
          </a:prstGeom>
          <a:ln w="20320">
            <a:solidFill>
              <a:srgbClr val="6666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6" name="Rounded Rectangle 85"/>
          <p:cNvSpPr/>
          <p:nvPr/>
        </p:nvSpPr>
        <p:spPr>
          <a:xfrm>
            <a:off x="1673352" y="5522976"/>
            <a:ext cx="146304" cy="10972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87" name="Connector 86"/>
          <p:cNvCxnSpPr/>
          <p:nvPr/>
        </p:nvCxnSpPr>
        <p:spPr>
          <a:xfrm>
            <a:off x="1874520" y="5586984"/>
            <a:ext cx="1472184" cy="0"/>
          </a:xfrm>
          <a:prstGeom prst="line">
            <a:avLst/>
          </a:prstGeom>
          <a:ln w="13970">
            <a:solidFill>
              <a:srgbClr val="6666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8" name="Rounded Rectangle 87"/>
          <p:cNvSpPr/>
          <p:nvPr/>
        </p:nvSpPr>
        <p:spPr>
          <a:xfrm>
            <a:off x="1673352" y="5669280"/>
            <a:ext cx="146304" cy="10972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89" name="Connector 88"/>
          <p:cNvCxnSpPr/>
          <p:nvPr/>
        </p:nvCxnSpPr>
        <p:spPr>
          <a:xfrm>
            <a:off x="1874520" y="5733288"/>
            <a:ext cx="1472184" cy="0"/>
          </a:xfrm>
          <a:prstGeom prst="line">
            <a:avLst/>
          </a:prstGeom>
          <a:ln w="13970">
            <a:solidFill>
              <a:srgbClr val="6666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0" name="Rounded Rectangle 89"/>
          <p:cNvSpPr/>
          <p:nvPr/>
        </p:nvSpPr>
        <p:spPr>
          <a:xfrm>
            <a:off x="1673352" y="5815584"/>
            <a:ext cx="146304" cy="10972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91" name="Connector 90"/>
          <p:cNvCxnSpPr/>
          <p:nvPr/>
        </p:nvCxnSpPr>
        <p:spPr>
          <a:xfrm>
            <a:off x="1874520" y="5879592"/>
            <a:ext cx="1472184" cy="0"/>
          </a:xfrm>
          <a:prstGeom prst="line">
            <a:avLst/>
          </a:prstGeom>
          <a:ln w="13970">
            <a:solidFill>
              <a:srgbClr val="6666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2" name="Rounded Rectangle 91"/>
          <p:cNvSpPr/>
          <p:nvPr/>
        </p:nvSpPr>
        <p:spPr>
          <a:xfrm>
            <a:off x="1673352" y="5961888"/>
            <a:ext cx="146304" cy="10972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93" name="Connector 92"/>
          <p:cNvCxnSpPr/>
          <p:nvPr/>
        </p:nvCxnSpPr>
        <p:spPr>
          <a:xfrm>
            <a:off x="1874520" y="6025896"/>
            <a:ext cx="1472184" cy="0"/>
          </a:xfrm>
          <a:prstGeom prst="line">
            <a:avLst/>
          </a:prstGeom>
          <a:ln w="13970">
            <a:solidFill>
              <a:srgbClr val="6666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4" name="Rounded Rectangle 93"/>
          <p:cNvSpPr/>
          <p:nvPr/>
        </p:nvSpPr>
        <p:spPr>
          <a:xfrm>
            <a:off x="1673352" y="6108192"/>
            <a:ext cx="146304" cy="10972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95" name="Connector 94"/>
          <p:cNvCxnSpPr/>
          <p:nvPr/>
        </p:nvCxnSpPr>
        <p:spPr>
          <a:xfrm>
            <a:off x="1874520" y="6172200"/>
            <a:ext cx="1472184" cy="0"/>
          </a:xfrm>
          <a:prstGeom prst="line">
            <a:avLst/>
          </a:prstGeom>
          <a:ln w="13970">
            <a:solidFill>
              <a:srgbClr val="6666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6" name="Oval 95"/>
          <p:cNvSpPr/>
          <p:nvPr/>
        </p:nvSpPr>
        <p:spPr>
          <a:xfrm>
            <a:off x="1554480" y="5212080"/>
            <a:ext cx="237744" cy="237744"/>
          </a:xfrm>
          <a:prstGeom prst="ellipse">
            <a:avLst/>
          </a:prstGeom>
          <a:solidFill>
            <a:srgbClr val="DC2626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8</a:t>
            </a:r>
          </a:p>
        </p:txBody>
      </p:sp>
      <p:sp>
        <p:nvSpPr>
          <p:cNvPr id="97" name="Rectangle 96"/>
          <p:cNvSpPr/>
          <p:nvPr/>
        </p:nvSpPr>
        <p:spPr>
          <a:xfrm>
            <a:off x="3547871" y="5230368"/>
            <a:ext cx="1874519" cy="1097280"/>
          </a:xfrm>
          <a:prstGeom prst="rect">
            <a:avLst/>
          </a:prstGeom>
          <a:solidFill>
            <a:srgbClr val="F7F7F7"/>
          </a:solidFill>
          <a:ln w="1651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98" name="Connector 97"/>
          <p:cNvCxnSpPr/>
          <p:nvPr/>
        </p:nvCxnSpPr>
        <p:spPr>
          <a:xfrm>
            <a:off x="3648455" y="5376672"/>
            <a:ext cx="562357" cy="0"/>
          </a:xfrm>
          <a:prstGeom prst="line">
            <a:avLst/>
          </a:prstGeom>
          <a:ln w="20320">
            <a:solidFill>
              <a:srgbClr val="6666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9" name="Connector 98"/>
          <p:cNvCxnSpPr/>
          <p:nvPr/>
        </p:nvCxnSpPr>
        <p:spPr>
          <a:xfrm>
            <a:off x="3648455" y="5568696"/>
            <a:ext cx="310896" cy="0"/>
          </a:xfrm>
          <a:prstGeom prst="line">
            <a:avLst/>
          </a:prstGeom>
          <a:ln w="13970">
            <a:solidFill>
              <a:srgbClr val="6666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0" name="Rectangle 99"/>
          <p:cNvSpPr/>
          <p:nvPr/>
        </p:nvSpPr>
        <p:spPr>
          <a:xfrm>
            <a:off x="4014215" y="5522976"/>
            <a:ext cx="1242212" cy="91440"/>
          </a:xfrm>
          <a:prstGeom prst="rect">
            <a:avLst/>
          </a:prstGeom>
          <a:solidFill>
            <a:srgbClr val="CCCCCC"/>
          </a:solidFill>
          <a:ln w="9525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01" name="Connector 100"/>
          <p:cNvCxnSpPr/>
          <p:nvPr/>
        </p:nvCxnSpPr>
        <p:spPr>
          <a:xfrm>
            <a:off x="3648455" y="5696712"/>
            <a:ext cx="310896" cy="0"/>
          </a:xfrm>
          <a:prstGeom prst="line">
            <a:avLst/>
          </a:prstGeom>
          <a:ln w="13970">
            <a:solidFill>
              <a:srgbClr val="6666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2" name="Rectangle 101"/>
          <p:cNvSpPr/>
          <p:nvPr/>
        </p:nvSpPr>
        <p:spPr>
          <a:xfrm>
            <a:off x="4014215" y="5650992"/>
            <a:ext cx="1072225" cy="91440"/>
          </a:xfrm>
          <a:prstGeom prst="rect">
            <a:avLst/>
          </a:prstGeom>
          <a:solidFill>
            <a:srgbClr val="CCCCCC"/>
          </a:solidFill>
          <a:ln w="9525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03" name="Connector 102"/>
          <p:cNvCxnSpPr/>
          <p:nvPr/>
        </p:nvCxnSpPr>
        <p:spPr>
          <a:xfrm>
            <a:off x="3648455" y="5824728"/>
            <a:ext cx="310896" cy="0"/>
          </a:xfrm>
          <a:prstGeom prst="line">
            <a:avLst/>
          </a:prstGeom>
          <a:ln w="13970">
            <a:solidFill>
              <a:srgbClr val="6666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4" name="Rectangle 103"/>
          <p:cNvSpPr/>
          <p:nvPr/>
        </p:nvSpPr>
        <p:spPr>
          <a:xfrm>
            <a:off x="4014215" y="5779008"/>
            <a:ext cx="889162" cy="91440"/>
          </a:xfrm>
          <a:prstGeom prst="rect">
            <a:avLst/>
          </a:prstGeom>
          <a:solidFill>
            <a:srgbClr val="CCCCCC"/>
          </a:solidFill>
          <a:ln w="9525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05" name="Connector 104"/>
          <p:cNvCxnSpPr/>
          <p:nvPr/>
        </p:nvCxnSpPr>
        <p:spPr>
          <a:xfrm>
            <a:off x="3648455" y="5952744"/>
            <a:ext cx="310896" cy="0"/>
          </a:xfrm>
          <a:prstGeom prst="line">
            <a:avLst/>
          </a:prstGeom>
          <a:ln w="13970">
            <a:solidFill>
              <a:srgbClr val="6666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6" name="Rectangle 105"/>
          <p:cNvSpPr/>
          <p:nvPr/>
        </p:nvSpPr>
        <p:spPr>
          <a:xfrm>
            <a:off x="4014215" y="5907024"/>
            <a:ext cx="679947" cy="91440"/>
          </a:xfrm>
          <a:prstGeom prst="rect">
            <a:avLst/>
          </a:prstGeom>
          <a:solidFill>
            <a:srgbClr val="CCCCCC"/>
          </a:solidFill>
          <a:ln w="9525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07" name="Connector 106"/>
          <p:cNvCxnSpPr/>
          <p:nvPr/>
        </p:nvCxnSpPr>
        <p:spPr>
          <a:xfrm>
            <a:off x="3648455" y="6080759"/>
            <a:ext cx="310896" cy="0"/>
          </a:xfrm>
          <a:prstGeom prst="line">
            <a:avLst/>
          </a:prstGeom>
          <a:ln w="13970">
            <a:solidFill>
              <a:srgbClr val="6666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8" name="Rectangle 107"/>
          <p:cNvSpPr/>
          <p:nvPr/>
        </p:nvSpPr>
        <p:spPr>
          <a:xfrm>
            <a:off x="4014215" y="6035040"/>
            <a:ext cx="523036" cy="91440"/>
          </a:xfrm>
          <a:prstGeom prst="rect">
            <a:avLst/>
          </a:prstGeom>
          <a:solidFill>
            <a:srgbClr val="CCCCCC"/>
          </a:solidFill>
          <a:ln w="9525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09" name="Connector 108"/>
          <p:cNvCxnSpPr/>
          <p:nvPr/>
        </p:nvCxnSpPr>
        <p:spPr>
          <a:xfrm>
            <a:off x="3648455" y="6208776"/>
            <a:ext cx="310896" cy="0"/>
          </a:xfrm>
          <a:prstGeom prst="line">
            <a:avLst/>
          </a:prstGeom>
          <a:ln w="13970">
            <a:solidFill>
              <a:srgbClr val="6666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0" name="Rectangle 109"/>
          <p:cNvSpPr/>
          <p:nvPr/>
        </p:nvSpPr>
        <p:spPr>
          <a:xfrm>
            <a:off x="4014215" y="6163056"/>
            <a:ext cx="366125" cy="91440"/>
          </a:xfrm>
          <a:prstGeom prst="rect">
            <a:avLst/>
          </a:prstGeom>
          <a:solidFill>
            <a:srgbClr val="CCCCCC"/>
          </a:solidFill>
          <a:ln w="9525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Oval 110"/>
          <p:cNvSpPr/>
          <p:nvPr/>
        </p:nvSpPr>
        <p:spPr>
          <a:xfrm>
            <a:off x="3529583" y="5212080"/>
            <a:ext cx="237744" cy="237744"/>
          </a:xfrm>
          <a:prstGeom prst="ellipse">
            <a:avLst/>
          </a:prstGeom>
          <a:solidFill>
            <a:srgbClr val="DC2626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9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5824728" y="1572767"/>
            <a:ext cx="5982919" cy="256032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111111"/>
                </a:solidFill>
                <a:latin typeface="맑은 고딕"/>
                <a:ea typeface="맑은 고딕"/>
              </a:rPr>
              <a:t>Description</a:t>
            </a:r>
          </a:p>
        </p:txBody>
      </p:sp>
      <p:sp>
        <p:nvSpPr>
          <p:cNvPr id="113" name="Oval 112"/>
          <p:cNvSpPr/>
          <p:nvPr/>
        </p:nvSpPr>
        <p:spPr>
          <a:xfrm>
            <a:off x="5824728" y="1929383"/>
            <a:ext cx="219456" cy="219456"/>
          </a:xfrm>
          <a:prstGeom prst="ellipse">
            <a:avLst/>
          </a:prstGeom>
          <a:solidFill>
            <a:srgbClr val="DC2626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5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6135624" y="1901951"/>
            <a:ext cx="5672023" cy="667877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100"/>
              </a:spcAft>
            </a:pPr>
            <a:r>
              <a:rPr sz="950" b="1">
                <a:solidFill>
                  <a:srgbClr val="111111"/>
                </a:solidFill>
                <a:latin typeface="맑은 고딕"/>
                <a:ea typeface="맑은 고딕"/>
              </a:rPr>
              <a:t>도메인·부서 </a:t>
            </a:r>
            <a:r>
              <a:rPr sz="950" b="0">
                <a:solidFill>
                  <a:srgbClr val="999999"/>
                </a:solidFill>
                <a:latin typeface="맑은 고딕"/>
                <a:ea typeface="맑은 고딕"/>
              </a:rPr>
              <a:t>—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상위 5 + "전체 보기 (N)" 펼치기·접기</a:t>
            </a:r>
          </a:p>
        </p:txBody>
      </p:sp>
      <p:cxnSp>
        <p:nvCxnSpPr>
          <p:cNvPr id="115" name="Connector 114"/>
          <p:cNvCxnSpPr/>
          <p:nvPr/>
        </p:nvCxnSpPr>
        <p:spPr>
          <a:xfrm>
            <a:off x="5824728" y="2551541"/>
            <a:ext cx="5982919" cy="0"/>
          </a:xfrm>
          <a:prstGeom prst="line">
            <a:avLst/>
          </a:prstGeom>
          <a:ln w="9525">
            <a:solidFill>
              <a:srgbClr val="EEEEE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6" name="Oval 115"/>
          <p:cNvSpPr/>
          <p:nvPr/>
        </p:nvSpPr>
        <p:spPr>
          <a:xfrm>
            <a:off x="5824728" y="2597261"/>
            <a:ext cx="219456" cy="219456"/>
          </a:xfrm>
          <a:prstGeom prst="ellipse">
            <a:avLst/>
          </a:prstGeom>
          <a:solidFill>
            <a:srgbClr val="DC2626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6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6135624" y="2569829"/>
            <a:ext cx="5672023" cy="667877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100"/>
              </a:spcAft>
            </a:pPr>
            <a:r>
              <a:rPr sz="950" b="1">
                <a:solidFill>
                  <a:srgbClr val="111111"/>
                </a:solidFill>
                <a:latin typeface="맑은 고딕"/>
                <a:ea typeface="맑은 고딕"/>
              </a:rPr>
              <a:t>절감 효과 3종 </a:t>
            </a:r>
            <a:r>
              <a:rPr sz="950" b="0">
                <a:solidFill>
                  <a:srgbClr val="999999"/>
                </a:solidFill>
                <a:latin typeface="맑은 고딕"/>
                <a:ea typeface="맑은 고딕"/>
              </a:rPr>
              <a:t>—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연간 환산·집계 가능·추정 불가 분리</a:t>
            </a:r>
          </a:p>
        </p:txBody>
      </p:sp>
      <p:cxnSp>
        <p:nvCxnSpPr>
          <p:cNvPr id="118" name="Connector 117"/>
          <p:cNvCxnSpPr/>
          <p:nvPr/>
        </p:nvCxnSpPr>
        <p:spPr>
          <a:xfrm>
            <a:off x="5824728" y="3219419"/>
            <a:ext cx="5982919" cy="0"/>
          </a:xfrm>
          <a:prstGeom prst="line">
            <a:avLst/>
          </a:prstGeom>
          <a:ln w="9525">
            <a:solidFill>
              <a:srgbClr val="EEEEE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9" name="Oval 118"/>
          <p:cNvSpPr/>
          <p:nvPr/>
        </p:nvSpPr>
        <p:spPr>
          <a:xfrm>
            <a:off x="5824728" y="3265139"/>
            <a:ext cx="219456" cy="219456"/>
          </a:xfrm>
          <a:prstGeom prst="ellipse">
            <a:avLst/>
          </a:prstGeom>
          <a:solidFill>
            <a:srgbClr val="DC2626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7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6135624" y="3237707"/>
            <a:ext cx="5672023" cy="667877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100"/>
              </a:spcAft>
            </a:pPr>
            <a:r>
              <a:rPr sz="950" b="1">
                <a:solidFill>
                  <a:srgbClr val="111111"/>
                </a:solidFill>
                <a:latin typeface="맑은 고딕"/>
                <a:ea typeface="맑은 고딕"/>
              </a:rPr>
              <a:t>3축 분석 </a:t>
            </a:r>
            <a:r>
              <a:rPr sz="950" b="0">
                <a:solidFill>
                  <a:srgbClr val="999999"/>
                </a:solidFill>
                <a:latin typeface="맑은 고딕"/>
                <a:ea typeface="맑은 고딕"/>
              </a:rPr>
              <a:t>—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난이도[n8n]·비용[AI Model]·모델 유형[ML]</a:t>
            </a:r>
          </a:p>
        </p:txBody>
      </p:sp>
      <p:cxnSp>
        <p:nvCxnSpPr>
          <p:cNvPr id="121" name="Connector 120"/>
          <p:cNvCxnSpPr/>
          <p:nvPr/>
        </p:nvCxnSpPr>
        <p:spPr>
          <a:xfrm>
            <a:off x="5824728" y="3887297"/>
            <a:ext cx="5982919" cy="0"/>
          </a:xfrm>
          <a:prstGeom prst="line">
            <a:avLst/>
          </a:prstGeom>
          <a:ln w="9525">
            <a:solidFill>
              <a:srgbClr val="EEEEE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2" name="Oval 121"/>
          <p:cNvSpPr/>
          <p:nvPr/>
        </p:nvSpPr>
        <p:spPr>
          <a:xfrm>
            <a:off x="5824728" y="3933017"/>
            <a:ext cx="219456" cy="219456"/>
          </a:xfrm>
          <a:prstGeom prst="ellipse">
            <a:avLst/>
          </a:prstGeom>
          <a:solidFill>
            <a:srgbClr val="DC2626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8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6135624" y="3905585"/>
            <a:ext cx="5672023" cy="667877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100"/>
              </a:spcAft>
            </a:pPr>
            <a:r>
              <a:rPr sz="950" b="1">
                <a:solidFill>
                  <a:srgbClr val="111111"/>
                </a:solidFill>
                <a:latin typeface="맑은 고딕"/>
                <a:ea typeface="맑은 고딕"/>
              </a:rPr>
              <a:t>후기 상위 5 </a:t>
            </a:r>
            <a:r>
              <a:rPr sz="950" b="0">
                <a:solidFill>
                  <a:srgbClr val="999999"/>
                </a:solidFill>
                <a:latin typeface="맑은 고딕"/>
                <a:ea typeface="맑은 고딕"/>
              </a:rPr>
              <a:t>—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누적 후기 기준</a:t>
            </a:r>
          </a:p>
        </p:txBody>
      </p:sp>
      <p:cxnSp>
        <p:nvCxnSpPr>
          <p:cNvPr id="124" name="Connector 123"/>
          <p:cNvCxnSpPr/>
          <p:nvPr/>
        </p:nvCxnSpPr>
        <p:spPr>
          <a:xfrm>
            <a:off x="5824728" y="4555175"/>
            <a:ext cx="5982919" cy="0"/>
          </a:xfrm>
          <a:prstGeom prst="line">
            <a:avLst/>
          </a:prstGeom>
          <a:ln w="9525">
            <a:solidFill>
              <a:srgbClr val="EEEEE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5" name="Oval 124"/>
          <p:cNvSpPr/>
          <p:nvPr/>
        </p:nvSpPr>
        <p:spPr>
          <a:xfrm>
            <a:off x="5824728" y="4600895"/>
            <a:ext cx="219456" cy="219456"/>
          </a:xfrm>
          <a:prstGeom prst="ellipse">
            <a:avLst/>
          </a:prstGeom>
          <a:solidFill>
            <a:srgbClr val="DC2626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9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6135624" y="4573463"/>
            <a:ext cx="5672023" cy="667877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100"/>
              </a:spcAft>
            </a:pPr>
            <a:r>
              <a:rPr sz="950" b="1">
                <a:solidFill>
                  <a:srgbClr val="111111"/>
                </a:solidFill>
                <a:latin typeface="맑은 고딕"/>
                <a:ea typeface="맑은 고딕"/>
              </a:rPr>
              <a:t>태그 빈도 </a:t>
            </a:r>
            <a:r>
              <a:rPr sz="950" b="0">
                <a:solidFill>
                  <a:srgbClr val="999999"/>
                </a:solidFill>
                <a:latin typeface="맑은 고딕"/>
                <a:ea typeface="맑은 고딕"/>
              </a:rPr>
              <a:t>—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상위 태그 막대</a:t>
            </a:r>
          </a:p>
        </p:txBody>
      </p:sp>
      <p:sp>
        <p:nvSpPr>
          <p:cNvPr id="127" name="Rectangle 126"/>
          <p:cNvSpPr/>
          <p:nvPr/>
        </p:nvSpPr>
        <p:spPr>
          <a:xfrm>
            <a:off x="5824728" y="5387644"/>
            <a:ext cx="5982919" cy="1086307"/>
          </a:xfrm>
          <a:prstGeom prst="rect">
            <a:avLst/>
          </a:prstGeom>
          <a:solidFill>
            <a:srgbClr val="F7F7F7"/>
          </a:solidFill>
          <a:ln w="12700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28" name="Connector 127"/>
          <p:cNvCxnSpPr/>
          <p:nvPr/>
        </p:nvCxnSpPr>
        <p:spPr>
          <a:xfrm>
            <a:off x="5824728" y="5661964"/>
            <a:ext cx="5982919" cy="0"/>
          </a:xfrm>
          <a:prstGeom prst="line">
            <a:avLst/>
          </a:prstGeom>
          <a:ln w="12700">
            <a:solidFill>
              <a:srgbClr val="CCCCC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9" name="TextBox 128"/>
          <p:cNvSpPr txBox="1"/>
          <p:nvPr/>
        </p:nvSpPr>
        <p:spPr>
          <a:xfrm>
            <a:off x="5934456" y="5428792"/>
            <a:ext cx="5763463" cy="237744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11111"/>
                </a:solidFill>
                <a:latin typeface="맑은 고딕"/>
                <a:ea typeface="맑은 고딕"/>
              </a:rPr>
              <a:t>화면 룰·기획 근거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5952744" y="5698540"/>
            <a:ext cx="5726887" cy="738835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100"/>
              </a:spcAft>
            </a:pPr>
            <a:r>
              <a:rPr sz="85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850" b="0">
                <a:solidFill>
                  <a:srgbClr val="333333"/>
                </a:solidFill>
                <a:latin typeface="맑은 고딕"/>
                <a:ea typeface="맑은 고딕"/>
              </a:rPr>
              <a:t>집계는 성과 평가 용도가 아님을 화면 문구에 유지</a:t>
            </a:r>
          </a:p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100"/>
              </a:spcAft>
            </a:pPr>
            <a:r>
              <a:rPr sz="85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850" b="0">
                <a:solidFill>
                  <a:srgbClr val="333333"/>
                </a:solidFill>
                <a:latin typeface="맑은 고딕"/>
                <a:ea typeface="맑은 고딕"/>
              </a:rPr>
              <a:t>companyAdmin은 담당 범위 집계</a:t>
            </a:r>
          </a:p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DC2626"/>
                </a:solidFill>
                <a:latin typeface="맑은 고딕"/>
                <a:ea typeface="맑은 고딕"/>
              </a:rPr>
              <a:t>BE·DB  </a:t>
            </a:r>
            <a:r>
              <a:rPr sz="850" b="0">
                <a:solidFill>
                  <a:srgbClr val="666666"/>
                </a:solidFill>
                <a:latin typeface="맑은 고딕"/>
                <a:ea typeface="맑은 고딕"/>
              </a:rPr>
              <a:t>getStatsByScope(scope,range)·statsDerive 함수군 = 통계 API 계약 기준(GET /stats/*, ?company=&amp;from=&amp;to=). parseTimeSaved 규칙 서버 이관 시 동일. 검증: 데모 총량 50 전 축 일치.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84048" y="384048"/>
            <a:ext cx="7996519" cy="365760"/>
          </a:xfrm>
          <a:prstGeom prst="rect">
            <a:avLst/>
          </a:prstGeom>
          <a:noFill/>
        </p:spPr>
        <p:txBody>
          <a:bodyPr wrap="square" anchor="ctr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111111"/>
                </a:solidFill>
                <a:latin typeface="맑은 고딕"/>
                <a:ea typeface="맑은 고딕"/>
              </a:rPr>
              <a:t>ADM-05  ·  분류체계 관리 (Taxonomy)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238207" y="384048"/>
            <a:ext cx="4569439" cy="365760"/>
          </a:xfrm>
          <a:prstGeom prst="rect">
            <a:avLst/>
          </a:prstGeom>
          <a:noFill/>
        </p:spPr>
        <p:txBody>
          <a:bodyPr wrap="square" anchor="ctr" lIns="54864" rIns="54864" tIns="27432" bIns="18288">
            <a:no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999999"/>
                </a:solidFill>
                <a:latin typeface="맑은 고딕"/>
                <a:ea typeface="맑은 고딕"/>
              </a:rPr>
              <a:t>화면 정의 (Screen Definition)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384048" y="786384"/>
            <a:ext cx="11423599" cy="0"/>
          </a:xfrm>
          <a:prstGeom prst="line">
            <a:avLst/>
          </a:prstGeom>
          <a:ln w="19050">
            <a:solidFill>
              <a:srgbClr val="CCCCC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384048" y="822959"/>
            <a:ext cx="11423599" cy="182880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999999"/>
                </a:solidFill>
                <a:latin typeface="맑은 고딕"/>
                <a:ea typeface="맑은 고딕"/>
              </a:rPr>
              <a:t>화면에 표기된 카테고리·업무 도메인 등 분류 개수는 마스터 데이터에서 파생되는 현재값이며, 고정 상수가 아니다(0.9).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84048" y="1097280"/>
            <a:ext cx="6282979" cy="219456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999999"/>
                </a:solidFill>
                <a:latin typeface="맑은 고딕"/>
                <a:ea typeface="맑은 고딕"/>
              </a:rPr>
              <a:t>화면 구조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29768" y="1371600"/>
            <a:ext cx="3838754" cy="233172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75488" y="1371600"/>
            <a:ext cx="3747314" cy="233172"/>
          </a:xfrm>
          <a:prstGeom prst="rect">
            <a:avLst/>
          </a:prstGeom>
          <a:noFill/>
        </p:spPr>
        <p:txBody>
          <a:bodyPr wrap="square" anchor="ctr" lIns="54864" rIns="54864" tIns="27432" bIns="18288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333333"/>
                </a:solidFill>
                <a:latin typeface="맑은 고딕"/>
                <a:ea typeface="맑은 고딕"/>
              </a:rPr>
              <a:t>분류체계 (/admin/taxonomy)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13815" y="1714500"/>
            <a:ext cx="3600644" cy="233172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59536" y="1714500"/>
            <a:ext cx="3509204" cy="233172"/>
          </a:xfrm>
          <a:prstGeom prst="rect">
            <a:avLst/>
          </a:prstGeom>
          <a:noFill/>
        </p:spPr>
        <p:txBody>
          <a:bodyPr wrap="square" anchor="ctr" lIns="54864" rIns="54864" tIns="27432" bIns="18288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333333"/>
                </a:solidFill>
                <a:latin typeface="맑은 고딕"/>
                <a:ea typeface="맑은 고딕"/>
              </a:rPr>
              <a:t>고정 분류 4탭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539496" y="1488186"/>
            <a:ext cx="0" cy="342900"/>
          </a:xfrm>
          <a:prstGeom prst="line">
            <a:avLst/>
          </a:prstGeom>
          <a:ln w="16510">
            <a:solidFill>
              <a:srgbClr val="99999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539496" y="1831086"/>
            <a:ext cx="274319" cy="0"/>
          </a:xfrm>
          <a:prstGeom prst="line">
            <a:avLst/>
          </a:prstGeom>
          <a:ln w="16510">
            <a:solidFill>
              <a:srgbClr val="99999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813815" y="2057400"/>
            <a:ext cx="3600644" cy="233172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59536" y="2057400"/>
            <a:ext cx="3509204" cy="233172"/>
          </a:xfrm>
          <a:prstGeom prst="rect">
            <a:avLst/>
          </a:prstGeom>
          <a:noFill/>
        </p:spPr>
        <p:txBody>
          <a:bodyPr wrap="square" anchor="ctr" lIns="54864" rIns="54864" tIns="27432" bIns="18288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333333"/>
                </a:solidFill>
                <a:latin typeface="맑은 고딕"/>
                <a:ea typeface="맑은 고딕"/>
              </a:rPr>
              <a:t>자유 태그 탭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539496" y="1488186"/>
            <a:ext cx="0" cy="685800"/>
          </a:xfrm>
          <a:prstGeom prst="line">
            <a:avLst/>
          </a:prstGeom>
          <a:ln w="16510">
            <a:solidFill>
              <a:srgbClr val="99999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539496" y="2173986"/>
            <a:ext cx="274319" cy="0"/>
          </a:xfrm>
          <a:prstGeom prst="line">
            <a:avLst/>
          </a:prstGeom>
          <a:ln w="16510">
            <a:solidFill>
              <a:srgbClr val="99999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ounded Rectangle 16"/>
          <p:cNvSpPr/>
          <p:nvPr/>
        </p:nvSpPr>
        <p:spPr>
          <a:xfrm>
            <a:off x="813815" y="2400300"/>
            <a:ext cx="3600644" cy="233172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59536" y="2400300"/>
            <a:ext cx="3509204" cy="233172"/>
          </a:xfrm>
          <a:prstGeom prst="rect">
            <a:avLst/>
          </a:prstGeom>
          <a:noFill/>
        </p:spPr>
        <p:txBody>
          <a:bodyPr wrap="square" anchor="ctr" lIns="54864" rIns="54864" tIns="27432" bIns="18288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333333"/>
                </a:solidFill>
                <a:latin typeface="맑은 고딕"/>
                <a:ea typeface="맑은 고딕"/>
              </a:rPr>
              <a:t>좌 값·태그 목록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539496" y="1488186"/>
            <a:ext cx="0" cy="1028700"/>
          </a:xfrm>
          <a:prstGeom prst="line">
            <a:avLst/>
          </a:prstGeom>
          <a:ln w="16510">
            <a:solidFill>
              <a:srgbClr val="99999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539496" y="2516886"/>
            <a:ext cx="274319" cy="0"/>
          </a:xfrm>
          <a:prstGeom prst="line">
            <a:avLst/>
          </a:prstGeom>
          <a:ln w="16510">
            <a:solidFill>
              <a:srgbClr val="99999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ounded Rectangle 20"/>
          <p:cNvSpPr/>
          <p:nvPr/>
        </p:nvSpPr>
        <p:spPr>
          <a:xfrm>
            <a:off x="813815" y="2743200"/>
            <a:ext cx="3600644" cy="233172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59536" y="2743200"/>
            <a:ext cx="3509204" cy="233172"/>
          </a:xfrm>
          <a:prstGeom prst="rect">
            <a:avLst/>
          </a:prstGeom>
          <a:noFill/>
        </p:spPr>
        <p:txBody>
          <a:bodyPr wrap="square" anchor="ctr" lIns="54864" rIns="54864" tIns="27432" bIns="18288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333333"/>
                </a:solidFill>
                <a:latin typeface="맑은 고딕"/>
                <a:ea typeface="맑은 고딕"/>
              </a:rPr>
              <a:t>우 추가·편입 패널 · 운영 유의사항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539496" y="1488186"/>
            <a:ext cx="0" cy="1371600"/>
          </a:xfrm>
          <a:prstGeom prst="line">
            <a:avLst/>
          </a:prstGeom>
          <a:ln w="16510">
            <a:solidFill>
              <a:srgbClr val="99999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9496" y="2859786"/>
            <a:ext cx="274319" cy="0"/>
          </a:xfrm>
          <a:prstGeom prst="line">
            <a:avLst/>
          </a:prstGeom>
          <a:ln w="16510">
            <a:solidFill>
              <a:srgbClr val="99999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/>
          <p:cNvSpPr txBox="1"/>
          <p:nvPr/>
        </p:nvSpPr>
        <p:spPr>
          <a:xfrm>
            <a:off x="384048" y="4288536"/>
            <a:ext cx="6282979" cy="219456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999999"/>
                </a:solidFill>
                <a:latin typeface="맑은 고딕"/>
                <a:ea typeface="맑은 고딕"/>
              </a:rPr>
              <a:t>사용자 흐름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29768" y="4562855"/>
            <a:ext cx="2976897" cy="4572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75488" y="4562855"/>
            <a:ext cx="2885457" cy="457200"/>
          </a:xfrm>
          <a:prstGeom prst="rect">
            <a:avLst/>
          </a:prstGeom>
          <a:noFill/>
        </p:spPr>
        <p:txBody>
          <a:bodyPr wrap="square" anchor="ctr" lIns="54864" rIns="54864" tIns="27432" bIns="18288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333333"/>
                </a:solidFill>
                <a:latin typeface="맑은 고딕"/>
                <a:ea typeface="맑은 고딕"/>
              </a:rPr>
              <a:t>탭 선택</a:t>
            </a:r>
          </a:p>
        </p:txBody>
      </p:sp>
      <p:sp>
        <p:nvSpPr>
          <p:cNvPr id="28" name="Right Arrow 27"/>
          <p:cNvSpPr/>
          <p:nvPr/>
        </p:nvSpPr>
        <p:spPr>
          <a:xfrm>
            <a:off x="3424953" y="4727447"/>
            <a:ext cx="201168" cy="128016"/>
          </a:xfrm>
          <a:prstGeom prst="rightArrow">
            <a:avLst/>
          </a:prstGeom>
          <a:solidFill>
            <a:srgbClr val="CCC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3644409" y="4562855"/>
            <a:ext cx="2976897" cy="4572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3690129" y="4562855"/>
            <a:ext cx="2885457" cy="457200"/>
          </a:xfrm>
          <a:prstGeom prst="rect">
            <a:avLst/>
          </a:prstGeom>
          <a:noFill/>
        </p:spPr>
        <p:txBody>
          <a:bodyPr wrap="square" anchor="ctr" lIns="54864" rIns="54864" tIns="27432" bIns="18288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333333"/>
                </a:solidFill>
                <a:latin typeface="맑은 고딕"/>
                <a:ea typeface="맑은 고딕"/>
              </a:rPr>
              <a:t>값 추가/수정/삭제</a:t>
            </a:r>
          </a:p>
        </p:txBody>
      </p:sp>
      <p:sp>
        <p:nvSpPr>
          <p:cNvPr id="31" name="Down Arrow 30"/>
          <p:cNvSpPr/>
          <p:nvPr/>
        </p:nvSpPr>
        <p:spPr>
          <a:xfrm>
            <a:off x="5068850" y="5038343"/>
            <a:ext cx="128016" cy="256032"/>
          </a:xfrm>
          <a:prstGeom prst="downArrow">
            <a:avLst/>
          </a:prstGeom>
          <a:solidFill>
            <a:srgbClr val="CCC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3644409" y="5330951"/>
            <a:ext cx="2976897" cy="384048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690129" y="5330951"/>
            <a:ext cx="2885457" cy="384048"/>
          </a:xfrm>
          <a:prstGeom prst="rect">
            <a:avLst/>
          </a:prstGeom>
          <a:noFill/>
        </p:spPr>
        <p:txBody>
          <a:bodyPr wrap="square" anchor="ctr" lIns="54864" rIns="54864" tIns="27432" bIns="18288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333333"/>
                </a:solidFill>
                <a:latin typeface="맑은 고딕"/>
                <a:ea typeface="맑은 고딕"/>
              </a:rPr>
              <a:t>자유 태그 → 출처 필터·선택 삭제·고정 분류 편입(AI Model→비용 / ML→모델 유형만)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29768" y="5861303"/>
            <a:ext cx="6191539" cy="201168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999999"/>
                </a:solidFill>
                <a:latin typeface="맑은 고딕"/>
                <a:ea typeface="맑은 고딕"/>
              </a:rPr>
              <a:t>설계 근거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48056" y="6080759"/>
            <a:ext cx="6154963" cy="393192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85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850" b="0">
                <a:solidFill>
                  <a:srgbClr val="666666"/>
                </a:solidFill>
                <a:latin typeface="맑은 고딕"/>
                <a:ea typeface="맑은 고딕"/>
              </a:rPr>
              <a:t>검색·필터·통계·향후 RAG의 품질은 통제 어휘에서 나오므로 고정 분류를 축으로 삼는다.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85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850" b="0">
                <a:solidFill>
                  <a:srgbClr val="666666"/>
                </a:solidFill>
                <a:latin typeface="맑은 고딕"/>
                <a:ea typeface="맑은 고딕"/>
              </a:rPr>
              <a:t>자유 태그는 등록 문턱을 낮추는 보조 수단이며, 반복 태그를 고정 분류로 편입하는 운영 순환을 상정한다.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941347" y="1097280"/>
            <a:ext cx="4866299" cy="886392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7051075" y="1133856"/>
            <a:ext cx="4646843" cy="237744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333333"/>
                </a:solidFill>
                <a:latin typeface="맑은 고딕"/>
                <a:ea typeface="맑은 고딕"/>
              </a:rPr>
              <a:t>정의·역할</a:t>
            </a:r>
          </a:p>
        </p:txBody>
      </p:sp>
      <p:cxnSp>
        <p:nvCxnSpPr>
          <p:cNvPr id="38" name="Connector 37"/>
          <p:cNvCxnSpPr/>
          <p:nvPr/>
        </p:nvCxnSpPr>
        <p:spPr>
          <a:xfrm>
            <a:off x="7051075" y="1371600"/>
            <a:ext cx="4646844" cy="0"/>
          </a:xfrm>
          <a:prstGeom prst="line">
            <a:avLst/>
          </a:prstGeom>
          <a:ln w="12700">
            <a:solidFill>
              <a:srgbClr val="EEEEE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TextBox 38"/>
          <p:cNvSpPr txBox="1"/>
          <p:nvPr/>
        </p:nvSpPr>
        <p:spPr>
          <a:xfrm>
            <a:off x="7069363" y="1408176"/>
            <a:ext cx="4610267" cy="538920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접근: admin 전용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고정 분류(도메인·난이도·비용·ML 유형)와 자유 태그 관리</a:t>
            </a:r>
          </a:p>
        </p:txBody>
      </p:sp>
      <p:sp>
        <p:nvSpPr>
          <p:cNvPr id="40" name="Rectangle 39"/>
          <p:cNvSpPr/>
          <p:nvPr/>
        </p:nvSpPr>
        <p:spPr>
          <a:xfrm>
            <a:off x="6941347" y="2111688"/>
            <a:ext cx="4866299" cy="670070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7051075" y="2148264"/>
            <a:ext cx="4646843" cy="237744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333333"/>
                </a:solidFill>
                <a:latin typeface="맑은 고딕"/>
                <a:ea typeface="맑은 고딕"/>
              </a:rPr>
              <a:t>목적</a:t>
            </a:r>
          </a:p>
        </p:txBody>
      </p:sp>
      <p:cxnSp>
        <p:nvCxnSpPr>
          <p:cNvPr id="42" name="Connector 41"/>
          <p:cNvCxnSpPr/>
          <p:nvPr/>
        </p:nvCxnSpPr>
        <p:spPr>
          <a:xfrm>
            <a:off x="7051075" y="2386008"/>
            <a:ext cx="4646844" cy="0"/>
          </a:xfrm>
          <a:prstGeom prst="line">
            <a:avLst/>
          </a:prstGeom>
          <a:ln w="12700">
            <a:solidFill>
              <a:srgbClr val="EEEEE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" name="TextBox 42"/>
          <p:cNvSpPr txBox="1"/>
          <p:nvPr/>
        </p:nvSpPr>
        <p:spPr>
          <a:xfrm>
            <a:off x="7069363" y="2422584"/>
            <a:ext cx="4610267" cy="322598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검색·필터·통계 축의 분류 표준화 + 자유 태그 누적 관리</a:t>
            </a:r>
          </a:p>
        </p:txBody>
      </p:sp>
      <p:sp>
        <p:nvSpPr>
          <p:cNvPr id="44" name="Rectangle 43"/>
          <p:cNvSpPr/>
          <p:nvPr/>
        </p:nvSpPr>
        <p:spPr>
          <a:xfrm>
            <a:off x="6941347" y="2909775"/>
            <a:ext cx="4866299" cy="1319036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7051075" y="2946351"/>
            <a:ext cx="4646843" cy="237744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333333"/>
                </a:solidFill>
                <a:latin typeface="맑은 고딕"/>
                <a:ea typeface="맑은 고딕"/>
              </a:rPr>
              <a:t>기획 의도</a:t>
            </a:r>
          </a:p>
        </p:txBody>
      </p:sp>
      <p:cxnSp>
        <p:nvCxnSpPr>
          <p:cNvPr id="46" name="Connector 45"/>
          <p:cNvCxnSpPr/>
          <p:nvPr/>
        </p:nvCxnSpPr>
        <p:spPr>
          <a:xfrm>
            <a:off x="7051075" y="3184095"/>
            <a:ext cx="4646844" cy="0"/>
          </a:xfrm>
          <a:prstGeom prst="line">
            <a:avLst/>
          </a:prstGeom>
          <a:ln w="12700">
            <a:solidFill>
              <a:srgbClr val="EEEEE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7" name="TextBox 46"/>
          <p:cNvSpPr txBox="1"/>
          <p:nvPr/>
        </p:nvSpPr>
        <p:spPr>
          <a:xfrm>
            <a:off x="7069363" y="3220671"/>
            <a:ext cx="4610267" cy="971564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고정 분류 위주 — 검색·필터·통계·향후 RAG의 품질은 통제 어휘에서 나옴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자유 태그는 등록 문턱을 낮추는 보조 수단, 반복 태그는 고정 분류로 편입하는 운영 순환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편입은 실입력 축 2종으로 제한 — 대응 축 없는 편입은 정합 훼손</a:t>
            </a:r>
          </a:p>
        </p:txBody>
      </p:sp>
      <p:sp>
        <p:nvSpPr>
          <p:cNvPr id="48" name="Rectangle 47"/>
          <p:cNvSpPr/>
          <p:nvPr/>
        </p:nvSpPr>
        <p:spPr>
          <a:xfrm>
            <a:off x="6941347" y="4356828"/>
            <a:ext cx="4866299" cy="1102714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7051075" y="4393404"/>
            <a:ext cx="4646843" cy="237744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333333"/>
                </a:solidFill>
                <a:latin typeface="맑은 고딕"/>
                <a:ea typeface="맑은 고딕"/>
              </a:rPr>
              <a:t>지켜야 할 룰</a:t>
            </a:r>
          </a:p>
        </p:txBody>
      </p:sp>
      <p:cxnSp>
        <p:nvCxnSpPr>
          <p:cNvPr id="50" name="Connector 49"/>
          <p:cNvCxnSpPr/>
          <p:nvPr/>
        </p:nvCxnSpPr>
        <p:spPr>
          <a:xfrm>
            <a:off x="7051075" y="4631148"/>
            <a:ext cx="4646844" cy="0"/>
          </a:xfrm>
          <a:prstGeom prst="line">
            <a:avLst/>
          </a:prstGeom>
          <a:ln w="12700">
            <a:solidFill>
              <a:srgbClr val="EEEEE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1" name="TextBox 50"/>
          <p:cNvSpPr txBox="1"/>
          <p:nvPr/>
        </p:nvSpPr>
        <p:spPr>
          <a:xfrm>
            <a:off x="7069363" y="4667724"/>
            <a:ext cx="4610267" cy="755242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고정 분류 삭제 시 기존 카드 공란 처리 가능 안내(참조 무결성은 서버 일관)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자유 태그 출처 7카테고리 대응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편입 조합 2종 한정</a:t>
            </a:r>
          </a:p>
        </p:txBody>
      </p:sp>
      <p:sp>
        <p:nvSpPr>
          <p:cNvPr id="52" name="Rectangle 51"/>
          <p:cNvSpPr/>
          <p:nvPr/>
        </p:nvSpPr>
        <p:spPr>
          <a:xfrm>
            <a:off x="6941347" y="5587559"/>
            <a:ext cx="4866299" cy="886392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7051075" y="5624135"/>
            <a:ext cx="4646843" cy="237744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333333"/>
                </a:solidFill>
                <a:latin typeface="맑은 고딕"/>
                <a:ea typeface="맑은 고딕"/>
              </a:rPr>
              <a:t>개발 연동 노트</a:t>
            </a:r>
          </a:p>
        </p:txBody>
      </p:sp>
      <p:cxnSp>
        <p:nvCxnSpPr>
          <p:cNvPr id="54" name="Connector 53"/>
          <p:cNvCxnSpPr/>
          <p:nvPr/>
        </p:nvCxnSpPr>
        <p:spPr>
          <a:xfrm>
            <a:off x="7051075" y="5861879"/>
            <a:ext cx="4646844" cy="0"/>
          </a:xfrm>
          <a:prstGeom prst="line">
            <a:avLst/>
          </a:prstGeom>
          <a:ln w="12700">
            <a:solidFill>
              <a:srgbClr val="EEEEE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5" name="TextBox 54"/>
          <p:cNvSpPr txBox="1"/>
          <p:nvPr/>
        </p:nvSpPr>
        <p:spPr>
          <a:xfrm>
            <a:off x="7069363" y="5898455"/>
            <a:ext cx="4610267" cy="538920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getCategoryTaxonomy·getFreeTags. 분류 마스터+카드-분류 참조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편입은 태그→분류 전환+카드 참조 갱신 동시 처리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aphicFrame>
        <p:nvGraphicFramePr>
          <p:cNvPr id="2" name="Table 1"/>
          <p:cNvGraphicFramePr>
            <a:graphicFrameLocks noGrp="1"/>
          </p:cNvGraphicFramePr>
          <p:nvPr/>
        </p:nvGraphicFramePr>
        <p:xfrm>
          <a:off x="384048" y="384048"/>
          <a:ext cx="11423599" cy="1042416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371600"/>
                <a:gridCol w="4297680"/>
                <a:gridCol w="1280160"/>
                <a:gridCol w="4474159"/>
              </a:tblGrid>
              <a:tr h="384048">
                <a:tc gridSpan="3"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분류체계 관리  —  고정 분류</a:t>
                      </a:r>
                    </a:p>
                  </a:txBody>
                  <a:tcPr anchor="ctr" marL="73152" marR="54864" marT="18288" marB="18288">
                    <a:solidFill>
                      <a:srgbClr val="111111"/>
                    </a:solidFill>
                    <a:lnL w="9525" cap="flat">
                      <a:solidFill>
                        <a:srgbClr val="666666"/>
                      </a:solidFill>
                    </a:lnL>
                    <a:lnR w="9525" cap="flat">
                      <a:solidFill>
                        <a:srgbClr val="666666"/>
                      </a:solidFill>
                    </a:lnR>
                    <a:lnT w="9525" cap="flat">
                      <a:solidFill>
                        <a:srgbClr val="666666"/>
                      </a:solidFill>
                    </a:lnT>
                    <a:lnB w="9525" cap="flat">
                      <a:solidFill>
                        <a:srgbClr val="666666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Page 1 / 2</a:t>
                      </a:r>
                    </a:p>
                  </a:txBody>
                  <a:tcPr anchor="ctr" marL="73152" marR="54864" marT="18288" marB="18288">
                    <a:solidFill>
                      <a:srgbClr val="111111"/>
                    </a:solidFill>
                    <a:lnL w="9525" cap="flat">
                      <a:solidFill>
                        <a:srgbClr val="666666"/>
                      </a:solidFill>
                    </a:lnL>
                    <a:lnR w="9525" cap="flat">
                      <a:solidFill>
                        <a:srgbClr val="666666"/>
                      </a:solidFill>
                    </a:lnR>
                    <a:lnT w="9525" cap="flat">
                      <a:solidFill>
                        <a:srgbClr val="666666"/>
                      </a:solidFill>
                    </a:lnT>
                    <a:lnB w="9525" cap="flat">
                      <a:solidFill>
                        <a:srgbClr val="666666"/>
                      </a:solidFill>
                    </a:lnB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</a:rPr>
                        <a:t>Page Title</a:t>
                      </a:r>
                    </a:p>
                  </a:txBody>
                  <a:tcPr anchor="ctr" marL="73152" marR="54864" marT="18288" marB="18288">
                    <a:solidFill>
                      <a:srgbClr val="EEEEEE"/>
                    </a:solidFill>
                    <a:lnL w="9525" cap="flat">
                      <a:solidFill>
                        <a:srgbClr val="666666"/>
                      </a:solidFill>
                    </a:lnL>
                    <a:lnR w="9525" cap="flat">
                      <a:solidFill>
                        <a:srgbClr val="666666"/>
                      </a:solidFill>
                    </a:lnR>
                    <a:lnT w="9525" cap="flat">
                      <a:solidFill>
                        <a:srgbClr val="666666"/>
                      </a:solidFill>
                    </a:lnT>
                    <a:lnB w="9525" cap="flat">
                      <a:solidFill>
                        <a:srgbClr val="666666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111111"/>
                          </a:solidFill>
                          <a:latin typeface="맑은 고딕"/>
                          <a:ea typeface="맑은 고딕"/>
                        </a:rPr>
                        <a:t>분류체계 관리</a:t>
                      </a:r>
                    </a:p>
                  </a:txBody>
                  <a:tcPr anchor="ctr" marL="73152" marR="54864" marT="18288" marB="18288">
                    <a:solidFill>
                      <a:srgbClr val="FFFFFF"/>
                    </a:solidFill>
                    <a:lnL w="9525" cap="flat">
                      <a:solidFill>
                        <a:srgbClr val="666666"/>
                      </a:solidFill>
                    </a:lnL>
                    <a:lnR w="9525" cap="flat">
                      <a:solidFill>
                        <a:srgbClr val="666666"/>
                      </a:solidFill>
                    </a:lnR>
                    <a:lnT w="9525" cap="flat">
                      <a:solidFill>
                        <a:srgbClr val="666666"/>
                      </a:solidFill>
                    </a:lnT>
                    <a:lnB w="9525" cap="flat">
                      <a:solidFill>
                        <a:srgbClr val="666666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</a:rPr>
                        <a:t>Screen ID</a:t>
                      </a:r>
                    </a:p>
                  </a:txBody>
                  <a:tcPr anchor="ctr" marL="73152" marR="54864" marT="18288" marB="18288">
                    <a:solidFill>
                      <a:srgbClr val="EEEEEE"/>
                    </a:solidFill>
                    <a:lnL w="9525" cap="flat">
                      <a:solidFill>
                        <a:srgbClr val="666666"/>
                      </a:solidFill>
                    </a:lnL>
                    <a:lnR w="9525" cap="flat">
                      <a:solidFill>
                        <a:srgbClr val="666666"/>
                      </a:solidFill>
                    </a:lnR>
                    <a:lnT w="9525" cap="flat">
                      <a:solidFill>
                        <a:srgbClr val="666666"/>
                      </a:solidFill>
                    </a:lnT>
                    <a:lnB w="9525" cap="flat">
                      <a:solidFill>
                        <a:srgbClr val="666666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111111"/>
                          </a:solidFill>
                          <a:latin typeface="맑은 고딕"/>
                          <a:ea typeface="맑은 고딕"/>
                        </a:rPr>
                        <a:t>ADM-05</a:t>
                      </a:r>
                    </a:p>
                  </a:txBody>
                  <a:tcPr anchor="ctr" marL="73152" marR="54864" marT="18288" marB="18288">
                    <a:solidFill>
                      <a:srgbClr val="FFFFFF"/>
                    </a:solidFill>
                    <a:lnL w="9525" cap="flat">
                      <a:solidFill>
                        <a:srgbClr val="666666"/>
                      </a:solidFill>
                    </a:lnL>
                    <a:lnR w="9525" cap="flat">
                      <a:solidFill>
                        <a:srgbClr val="666666"/>
                      </a:solidFill>
                    </a:lnR>
                    <a:lnT w="9525" cap="flat">
                      <a:solidFill>
                        <a:srgbClr val="666666"/>
                      </a:solidFill>
                    </a:lnT>
                    <a:lnB w="9525" cap="flat">
                      <a:solidFill>
                        <a:srgbClr val="666666"/>
                      </a:solidFill>
                    </a:lnB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</a:rPr>
                        <a:t>Screen Path</a:t>
                      </a:r>
                    </a:p>
                  </a:txBody>
                  <a:tcPr anchor="ctr" marL="73152" marR="54864" marT="18288" marB="18288">
                    <a:solidFill>
                      <a:srgbClr val="EEEEEE"/>
                    </a:solidFill>
                    <a:lnL w="9525" cap="flat">
                      <a:solidFill>
                        <a:srgbClr val="666666"/>
                      </a:solidFill>
                    </a:lnL>
                    <a:lnR w="9525" cap="flat">
                      <a:solidFill>
                        <a:srgbClr val="666666"/>
                      </a:solidFill>
                    </a:lnR>
                    <a:lnT w="9525" cap="flat">
                      <a:solidFill>
                        <a:srgbClr val="666666"/>
                      </a:solidFill>
                    </a:lnT>
                    <a:lnB w="9525" cap="flat">
                      <a:solidFill>
                        <a:srgbClr val="666666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</a:rPr>
                        <a:t>/admin/taxonomy  (admin 전용)</a:t>
                      </a:r>
                    </a:p>
                  </a:txBody>
                  <a:tcPr anchor="ctr" marL="73152" marR="54864" marT="18288" marB="18288">
                    <a:solidFill>
                      <a:srgbClr val="FFFFFF"/>
                    </a:solidFill>
                    <a:lnL w="9525" cap="flat">
                      <a:solidFill>
                        <a:srgbClr val="666666"/>
                      </a:solidFill>
                    </a:lnL>
                    <a:lnR w="9525" cap="flat">
                      <a:solidFill>
                        <a:srgbClr val="666666"/>
                      </a:solidFill>
                    </a:lnR>
                    <a:lnT w="9525" cap="flat">
                      <a:solidFill>
                        <a:srgbClr val="666666"/>
                      </a:solidFill>
                    </a:lnT>
                    <a:lnB w="9525" cap="flat">
                      <a:solidFill>
                        <a:srgbClr val="666666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</a:rPr>
                        <a:t>작성자</a:t>
                      </a:r>
                    </a:p>
                  </a:txBody>
                  <a:tcPr anchor="ctr" marL="73152" marR="54864" marT="18288" marB="18288">
                    <a:solidFill>
                      <a:srgbClr val="EEEEEE"/>
                    </a:solidFill>
                    <a:lnL w="9525" cap="flat">
                      <a:solidFill>
                        <a:srgbClr val="666666"/>
                      </a:solidFill>
                    </a:lnL>
                    <a:lnR w="9525" cap="flat">
                      <a:solidFill>
                        <a:srgbClr val="666666"/>
                      </a:solidFill>
                    </a:lnR>
                    <a:lnT w="9525" cap="flat">
                      <a:solidFill>
                        <a:srgbClr val="666666"/>
                      </a:solidFill>
                    </a:lnT>
                    <a:lnB w="9525" cap="flat">
                      <a:solidFill>
                        <a:srgbClr val="666666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11111"/>
                          </a:solidFill>
                          <a:latin typeface="맑은 고딕"/>
                          <a:ea typeface="맑은 고딕"/>
                        </a:rPr>
                        <a:t>배상혁</a:t>
                      </a:r>
                    </a:p>
                  </a:txBody>
                  <a:tcPr anchor="ctr" marL="73152" marR="54864" marT="18288" marB="18288">
                    <a:solidFill>
                      <a:srgbClr val="FFFFFF"/>
                    </a:solidFill>
                    <a:lnL w="9525" cap="flat">
                      <a:solidFill>
                        <a:srgbClr val="666666"/>
                      </a:solidFill>
                    </a:lnL>
                    <a:lnR w="9525" cap="flat">
                      <a:solidFill>
                        <a:srgbClr val="666666"/>
                      </a:solidFill>
                    </a:lnR>
                    <a:lnT w="9525" cap="flat">
                      <a:solidFill>
                        <a:srgbClr val="666666"/>
                      </a:solidFill>
                    </a:lnT>
                    <a:lnB w="9525" cap="flat">
                      <a:solidFill>
                        <a:srgbClr val="666666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3" name="Rectangle 2"/>
          <p:cNvSpPr/>
          <p:nvPr/>
        </p:nvSpPr>
        <p:spPr>
          <a:xfrm>
            <a:off x="384048" y="1572767"/>
            <a:ext cx="5166360" cy="4901184"/>
          </a:xfrm>
          <a:prstGeom prst="rect">
            <a:avLst/>
          </a:prstGeom>
          <a:solidFill>
            <a:srgbClr val="FFFFFF"/>
          </a:solidFill>
          <a:ln w="3048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84048" y="1572767"/>
            <a:ext cx="5166360" cy="146304"/>
          </a:xfrm>
          <a:prstGeom prst="rect">
            <a:avLst/>
          </a:prstGeom>
          <a:solidFill>
            <a:srgbClr val="F7F7F7"/>
          </a:solidFill>
          <a:ln w="3048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484632" y="1623059"/>
            <a:ext cx="45720" cy="45720"/>
          </a:xfrm>
          <a:prstGeom prst="ellipse">
            <a:avLst/>
          </a:prstGeom>
          <a:solidFill>
            <a:srgbClr val="CCC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585216" y="1623059"/>
            <a:ext cx="45720" cy="45720"/>
          </a:xfrm>
          <a:prstGeom prst="ellipse">
            <a:avLst/>
          </a:prstGeom>
          <a:solidFill>
            <a:srgbClr val="CCC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685800" y="1623059"/>
            <a:ext cx="45720" cy="45720"/>
          </a:xfrm>
          <a:prstGeom prst="ellipse">
            <a:avLst/>
          </a:prstGeom>
          <a:solidFill>
            <a:srgbClr val="CCC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12064" y="1847087"/>
            <a:ext cx="4910328" cy="256032"/>
          </a:xfrm>
          <a:prstGeom prst="rect">
            <a:avLst/>
          </a:prstGeom>
          <a:solidFill>
            <a:srgbClr val="F7F7F7"/>
          </a:solidFill>
          <a:ln w="1651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585216" y="1911095"/>
            <a:ext cx="658368" cy="12801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5166359" y="1883663"/>
            <a:ext cx="182880" cy="182880"/>
          </a:xfrm>
          <a:prstGeom prst="ellipse">
            <a:avLst/>
          </a:prstGeom>
          <a:solidFill>
            <a:srgbClr val="FFFFFF"/>
          </a:solidFill>
          <a:ln w="1524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12064" y="2157983"/>
            <a:ext cx="914400" cy="4187952"/>
          </a:xfrm>
          <a:prstGeom prst="rect">
            <a:avLst/>
          </a:prstGeom>
          <a:solidFill>
            <a:srgbClr val="F7F7F7"/>
          </a:solidFill>
          <a:ln w="1651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594360" y="2267711"/>
            <a:ext cx="749808" cy="14630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594360" y="2542031"/>
            <a:ext cx="749808" cy="14630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594360" y="2816351"/>
            <a:ext cx="749808" cy="14630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594360" y="3090671"/>
            <a:ext cx="749808" cy="14630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594360" y="3364991"/>
            <a:ext cx="749808" cy="14630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594360" y="3639311"/>
            <a:ext cx="749808" cy="14630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594360" y="3913631"/>
            <a:ext cx="749808" cy="14630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594360" y="4187952"/>
            <a:ext cx="749808" cy="14630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594360" y="4462271"/>
            <a:ext cx="749808" cy="14630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170432" y="2532887"/>
            <a:ext cx="128016" cy="128016"/>
          </a:xfrm>
          <a:prstGeom prst="ellipse">
            <a:avLst/>
          </a:prstGeom>
          <a:solidFill>
            <a:srgbClr val="FFFFFF"/>
          </a:solidFill>
          <a:ln w="1524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1572768" y="2194559"/>
            <a:ext cx="713232" cy="23774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2340864" y="2194559"/>
            <a:ext cx="713232" cy="23774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3108960" y="2194559"/>
            <a:ext cx="713232" cy="23774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3877056" y="2194559"/>
            <a:ext cx="713232" cy="23774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4645152" y="2194559"/>
            <a:ext cx="713232" cy="23774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1554480" y="2176271"/>
            <a:ext cx="237744" cy="237744"/>
          </a:xfrm>
          <a:prstGeom prst="ellipse">
            <a:avLst/>
          </a:prstGeom>
          <a:solidFill>
            <a:srgbClr val="DC2626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1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572768" y="2542031"/>
            <a:ext cx="2436876" cy="3127248"/>
          </a:xfrm>
          <a:prstGeom prst="rect">
            <a:avLst/>
          </a:prstGeom>
          <a:solidFill>
            <a:srgbClr val="FFFFFF"/>
          </a:solidFill>
          <a:ln w="1651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1673352" y="2706623"/>
            <a:ext cx="779800" cy="0"/>
          </a:xfrm>
          <a:prstGeom prst="line">
            <a:avLst/>
          </a:prstGeom>
          <a:ln w="22860">
            <a:solidFill>
              <a:srgbClr val="6666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1673352" y="2852927"/>
            <a:ext cx="2235707" cy="0"/>
          </a:xfrm>
          <a:prstGeom prst="line">
            <a:avLst/>
          </a:prstGeom>
          <a:ln w="12700">
            <a:solidFill>
              <a:srgbClr val="CCCCC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Oval 30"/>
          <p:cNvSpPr/>
          <p:nvPr/>
        </p:nvSpPr>
        <p:spPr>
          <a:xfrm>
            <a:off x="1554480" y="2523743"/>
            <a:ext cx="237744" cy="237744"/>
          </a:xfrm>
          <a:prstGeom prst="ellipse">
            <a:avLst/>
          </a:prstGeom>
          <a:solidFill>
            <a:srgbClr val="DC2626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2</a:t>
            </a:r>
          </a:p>
        </p:txBody>
      </p:sp>
      <p:cxnSp>
        <p:nvCxnSpPr>
          <p:cNvPr id="32" name="Connector 31"/>
          <p:cNvCxnSpPr/>
          <p:nvPr/>
        </p:nvCxnSpPr>
        <p:spPr>
          <a:xfrm>
            <a:off x="1673352" y="3072383"/>
            <a:ext cx="779800" cy="0"/>
          </a:xfrm>
          <a:prstGeom prst="line">
            <a:avLst/>
          </a:prstGeom>
          <a:ln w="13970">
            <a:solidFill>
              <a:srgbClr val="6666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2599364" y="3072383"/>
            <a:ext cx="389901" cy="0"/>
          </a:xfrm>
          <a:prstGeom prst="line">
            <a:avLst/>
          </a:prstGeom>
          <a:ln w="13970">
            <a:solidFill>
              <a:srgbClr val="6666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Rounded Rectangle 33"/>
          <p:cNvSpPr/>
          <p:nvPr/>
        </p:nvSpPr>
        <p:spPr>
          <a:xfrm>
            <a:off x="3067811" y="2944367"/>
            <a:ext cx="402336" cy="219456"/>
          </a:xfrm>
          <a:prstGeom prst="roundRect">
            <a:avLst/>
          </a:prstGeom>
          <a:solidFill>
            <a:srgbClr val="F7F7F7"/>
          </a:solidFill>
          <a:ln w="1524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3506723" y="2944367"/>
            <a:ext cx="402336" cy="219456"/>
          </a:xfrm>
          <a:prstGeom prst="roundRect">
            <a:avLst/>
          </a:prstGeom>
          <a:solidFill>
            <a:srgbClr val="F7F7F7"/>
          </a:solidFill>
          <a:ln w="1524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6" name="Connector 35"/>
          <p:cNvCxnSpPr/>
          <p:nvPr/>
        </p:nvCxnSpPr>
        <p:spPr>
          <a:xfrm>
            <a:off x="1673352" y="3474719"/>
            <a:ext cx="779800" cy="0"/>
          </a:xfrm>
          <a:prstGeom prst="line">
            <a:avLst/>
          </a:prstGeom>
          <a:ln w="13970">
            <a:solidFill>
              <a:srgbClr val="6666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>
            <a:off x="2599364" y="3474719"/>
            <a:ext cx="389901" cy="0"/>
          </a:xfrm>
          <a:prstGeom prst="line">
            <a:avLst/>
          </a:prstGeom>
          <a:ln w="13970">
            <a:solidFill>
              <a:srgbClr val="6666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Rounded Rectangle 37"/>
          <p:cNvSpPr/>
          <p:nvPr/>
        </p:nvSpPr>
        <p:spPr>
          <a:xfrm>
            <a:off x="3067811" y="3346703"/>
            <a:ext cx="402336" cy="219456"/>
          </a:xfrm>
          <a:prstGeom prst="roundRect">
            <a:avLst/>
          </a:prstGeom>
          <a:solidFill>
            <a:srgbClr val="F7F7F7"/>
          </a:solidFill>
          <a:ln w="1524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ounded Rectangle 38"/>
          <p:cNvSpPr/>
          <p:nvPr/>
        </p:nvSpPr>
        <p:spPr>
          <a:xfrm>
            <a:off x="3506723" y="3346703"/>
            <a:ext cx="402336" cy="219456"/>
          </a:xfrm>
          <a:prstGeom prst="roundRect">
            <a:avLst/>
          </a:prstGeom>
          <a:solidFill>
            <a:srgbClr val="F7F7F7"/>
          </a:solidFill>
          <a:ln w="1524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0" name="Connector 39"/>
          <p:cNvCxnSpPr/>
          <p:nvPr/>
        </p:nvCxnSpPr>
        <p:spPr>
          <a:xfrm>
            <a:off x="1673352" y="3877055"/>
            <a:ext cx="779800" cy="0"/>
          </a:xfrm>
          <a:prstGeom prst="line">
            <a:avLst/>
          </a:prstGeom>
          <a:ln w="13970">
            <a:solidFill>
              <a:srgbClr val="6666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Connector 40"/>
          <p:cNvCxnSpPr/>
          <p:nvPr/>
        </p:nvCxnSpPr>
        <p:spPr>
          <a:xfrm>
            <a:off x="2599364" y="3877055"/>
            <a:ext cx="389901" cy="0"/>
          </a:xfrm>
          <a:prstGeom prst="line">
            <a:avLst/>
          </a:prstGeom>
          <a:ln w="13970">
            <a:solidFill>
              <a:srgbClr val="6666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2" name="Rounded Rectangle 41"/>
          <p:cNvSpPr/>
          <p:nvPr/>
        </p:nvSpPr>
        <p:spPr>
          <a:xfrm>
            <a:off x="3067811" y="3749039"/>
            <a:ext cx="402336" cy="219456"/>
          </a:xfrm>
          <a:prstGeom prst="roundRect">
            <a:avLst/>
          </a:prstGeom>
          <a:solidFill>
            <a:srgbClr val="F7F7F7"/>
          </a:solidFill>
          <a:ln w="1524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ounded Rectangle 42"/>
          <p:cNvSpPr/>
          <p:nvPr/>
        </p:nvSpPr>
        <p:spPr>
          <a:xfrm>
            <a:off x="3506723" y="3749039"/>
            <a:ext cx="402336" cy="219456"/>
          </a:xfrm>
          <a:prstGeom prst="roundRect">
            <a:avLst/>
          </a:prstGeom>
          <a:solidFill>
            <a:srgbClr val="F7F7F7"/>
          </a:solidFill>
          <a:ln w="1524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4" name="Connector 43"/>
          <p:cNvCxnSpPr/>
          <p:nvPr/>
        </p:nvCxnSpPr>
        <p:spPr>
          <a:xfrm>
            <a:off x="1673352" y="4279391"/>
            <a:ext cx="779800" cy="0"/>
          </a:xfrm>
          <a:prstGeom prst="line">
            <a:avLst/>
          </a:prstGeom>
          <a:ln w="13970">
            <a:solidFill>
              <a:srgbClr val="6666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Connector 44"/>
          <p:cNvCxnSpPr/>
          <p:nvPr/>
        </p:nvCxnSpPr>
        <p:spPr>
          <a:xfrm>
            <a:off x="2599364" y="4279391"/>
            <a:ext cx="389901" cy="0"/>
          </a:xfrm>
          <a:prstGeom prst="line">
            <a:avLst/>
          </a:prstGeom>
          <a:ln w="13970">
            <a:solidFill>
              <a:srgbClr val="6666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6" name="Rounded Rectangle 45"/>
          <p:cNvSpPr/>
          <p:nvPr/>
        </p:nvSpPr>
        <p:spPr>
          <a:xfrm>
            <a:off x="3067811" y="4151375"/>
            <a:ext cx="402336" cy="219456"/>
          </a:xfrm>
          <a:prstGeom prst="roundRect">
            <a:avLst/>
          </a:prstGeom>
          <a:solidFill>
            <a:srgbClr val="F7F7F7"/>
          </a:solidFill>
          <a:ln w="1524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ounded Rectangle 46"/>
          <p:cNvSpPr/>
          <p:nvPr/>
        </p:nvSpPr>
        <p:spPr>
          <a:xfrm>
            <a:off x="3506723" y="4151375"/>
            <a:ext cx="402336" cy="219456"/>
          </a:xfrm>
          <a:prstGeom prst="roundRect">
            <a:avLst/>
          </a:prstGeom>
          <a:solidFill>
            <a:srgbClr val="F7F7F7"/>
          </a:solidFill>
          <a:ln w="1524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8" name="Connector 47"/>
          <p:cNvCxnSpPr/>
          <p:nvPr/>
        </p:nvCxnSpPr>
        <p:spPr>
          <a:xfrm>
            <a:off x="1673352" y="4681727"/>
            <a:ext cx="779800" cy="0"/>
          </a:xfrm>
          <a:prstGeom prst="line">
            <a:avLst/>
          </a:prstGeom>
          <a:ln w="13970">
            <a:solidFill>
              <a:srgbClr val="6666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Connector 48"/>
          <p:cNvCxnSpPr/>
          <p:nvPr/>
        </p:nvCxnSpPr>
        <p:spPr>
          <a:xfrm>
            <a:off x="2599364" y="4681727"/>
            <a:ext cx="389901" cy="0"/>
          </a:xfrm>
          <a:prstGeom prst="line">
            <a:avLst/>
          </a:prstGeom>
          <a:ln w="13970">
            <a:solidFill>
              <a:srgbClr val="6666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0" name="Rounded Rectangle 49"/>
          <p:cNvSpPr/>
          <p:nvPr/>
        </p:nvSpPr>
        <p:spPr>
          <a:xfrm>
            <a:off x="3067811" y="4553712"/>
            <a:ext cx="402336" cy="219456"/>
          </a:xfrm>
          <a:prstGeom prst="roundRect">
            <a:avLst/>
          </a:prstGeom>
          <a:solidFill>
            <a:srgbClr val="F7F7F7"/>
          </a:solidFill>
          <a:ln w="1524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ounded Rectangle 50"/>
          <p:cNvSpPr/>
          <p:nvPr/>
        </p:nvSpPr>
        <p:spPr>
          <a:xfrm>
            <a:off x="3506723" y="4553712"/>
            <a:ext cx="402336" cy="219456"/>
          </a:xfrm>
          <a:prstGeom prst="roundRect">
            <a:avLst/>
          </a:prstGeom>
          <a:solidFill>
            <a:srgbClr val="F7F7F7"/>
          </a:solidFill>
          <a:ln w="1524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2" name="Connector 51"/>
          <p:cNvCxnSpPr/>
          <p:nvPr/>
        </p:nvCxnSpPr>
        <p:spPr>
          <a:xfrm>
            <a:off x="1673352" y="5084064"/>
            <a:ext cx="779800" cy="0"/>
          </a:xfrm>
          <a:prstGeom prst="line">
            <a:avLst/>
          </a:prstGeom>
          <a:ln w="13970">
            <a:solidFill>
              <a:srgbClr val="6666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Connector 52"/>
          <p:cNvCxnSpPr/>
          <p:nvPr/>
        </p:nvCxnSpPr>
        <p:spPr>
          <a:xfrm>
            <a:off x="2599364" y="5084064"/>
            <a:ext cx="389901" cy="0"/>
          </a:xfrm>
          <a:prstGeom prst="line">
            <a:avLst/>
          </a:prstGeom>
          <a:ln w="13970">
            <a:solidFill>
              <a:srgbClr val="6666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4" name="Rounded Rectangle 53"/>
          <p:cNvSpPr/>
          <p:nvPr/>
        </p:nvSpPr>
        <p:spPr>
          <a:xfrm>
            <a:off x="3067811" y="4956048"/>
            <a:ext cx="402336" cy="219456"/>
          </a:xfrm>
          <a:prstGeom prst="roundRect">
            <a:avLst/>
          </a:prstGeom>
          <a:solidFill>
            <a:srgbClr val="F7F7F7"/>
          </a:solidFill>
          <a:ln w="1524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ounded Rectangle 54"/>
          <p:cNvSpPr/>
          <p:nvPr/>
        </p:nvSpPr>
        <p:spPr>
          <a:xfrm>
            <a:off x="3506723" y="4956048"/>
            <a:ext cx="402336" cy="219456"/>
          </a:xfrm>
          <a:prstGeom prst="roundRect">
            <a:avLst/>
          </a:prstGeom>
          <a:solidFill>
            <a:srgbClr val="F7F7F7"/>
          </a:solidFill>
          <a:ln w="1524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Oval 55"/>
          <p:cNvSpPr/>
          <p:nvPr/>
        </p:nvSpPr>
        <p:spPr>
          <a:xfrm>
            <a:off x="3049523" y="2926079"/>
            <a:ext cx="237744" cy="237744"/>
          </a:xfrm>
          <a:prstGeom prst="ellipse">
            <a:avLst/>
          </a:prstGeom>
          <a:solidFill>
            <a:srgbClr val="DC2626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3</a:t>
            </a:r>
          </a:p>
        </p:txBody>
      </p:sp>
      <p:sp>
        <p:nvSpPr>
          <p:cNvPr id="57" name="Rectangle 56"/>
          <p:cNvSpPr/>
          <p:nvPr/>
        </p:nvSpPr>
        <p:spPr>
          <a:xfrm>
            <a:off x="4110228" y="2542031"/>
            <a:ext cx="1312163" cy="1005840"/>
          </a:xfrm>
          <a:prstGeom prst="rect">
            <a:avLst/>
          </a:prstGeom>
          <a:solidFill>
            <a:srgbClr val="F7F7F7"/>
          </a:solidFill>
          <a:ln w="1651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8" name="Connector 57"/>
          <p:cNvCxnSpPr/>
          <p:nvPr/>
        </p:nvCxnSpPr>
        <p:spPr>
          <a:xfrm>
            <a:off x="4210812" y="2706623"/>
            <a:ext cx="577352" cy="0"/>
          </a:xfrm>
          <a:prstGeom prst="line">
            <a:avLst/>
          </a:prstGeom>
          <a:ln w="20320">
            <a:solidFill>
              <a:srgbClr val="6666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9" name="Rectangle 58"/>
          <p:cNvSpPr/>
          <p:nvPr/>
        </p:nvSpPr>
        <p:spPr>
          <a:xfrm>
            <a:off x="4210812" y="2944367"/>
            <a:ext cx="1110995" cy="201168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0" name="Connector 59"/>
          <p:cNvCxnSpPr/>
          <p:nvPr/>
        </p:nvCxnSpPr>
        <p:spPr>
          <a:xfrm>
            <a:off x="4210812" y="3145535"/>
            <a:ext cx="1110996" cy="0"/>
          </a:xfrm>
          <a:prstGeom prst="line">
            <a:avLst/>
          </a:prstGeom>
          <a:ln w="22860">
            <a:solidFill>
              <a:srgbClr val="33333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1" name="Rounded Rectangle 60"/>
          <p:cNvSpPr/>
          <p:nvPr/>
        </p:nvSpPr>
        <p:spPr>
          <a:xfrm>
            <a:off x="4210812" y="3236975"/>
            <a:ext cx="1110995" cy="237744"/>
          </a:xfrm>
          <a:prstGeom prst="roundRect">
            <a:avLst/>
          </a:prstGeom>
          <a:solidFill>
            <a:srgbClr val="F7F7F7"/>
          </a:solidFill>
          <a:ln w="1524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1572768" y="5779008"/>
            <a:ext cx="3849624" cy="566928"/>
          </a:xfrm>
          <a:prstGeom prst="rect">
            <a:avLst/>
          </a:prstGeom>
          <a:solidFill>
            <a:srgbClr val="F7F7F7"/>
          </a:solidFill>
          <a:ln w="1524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3" name="Connector 62"/>
          <p:cNvCxnSpPr/>
          <p:nvPr/>
        </p:nvCxnSpPr>
        <p:spPr>
          <a:xfrm>
            <a:off x="1673352" y="5980176"/>
            <a:ext cx="2386766" cy="0"/>
          </a:xfrm>
          <a:prstGeom prst="line">
            <a:avLst/>
          </a:prstGeom>
          <a:ln w="13970">
            <a:solidFill>
              <a:srgbClr val="6666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" name="Connector 63"/>
          <p:cNvCxnSpPr/>
          <p:nvPr/>
        </p:nvCxnSpPr>
        <p:spPr>
          <a:xfrm>
            <a:off x="1673352" y="6144768"/>
            <a:ext cx="1616842" cy="0"/>
          </a:xfrm>
          <a:prstGeom prst="line">
            <a:avLst/>
          </a:prstGeom>
          <a:ln w="13970">
            <a:solidFill>
              <a:srgbClr val="6666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5" name="Oval 64"/>
          <p:cNvSpPr/>
          <p:nvPr/>
        </p:nvSpPr>
        <p:spPr>
          <a:xfrm>
            <a:off x="1554480" y="5760720"/>
            <a:ext cx="237744" cy="237744"/>
          </a:xfrm>
          <a:prstGeom prst="ellipse">
            <a:avLst/>
          </a:prstGeom>
          <a:solidFill>
            <a:srgbClr val="DC2626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4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5824728" y="1572767"/>
            <a:ext cx="5982919" cy="256032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111111"/>
                </a:solidFill>
                <a:latin typeface="맑은 고딕"/>
                <a:ea typeface="맑은 고딕"/>
              </a:rPr>
              <a:t>Description</a:t>
            </a:r>
          </a:p>
        </p:txBody>
      </p:sp>
      <p:sp>
        <p:nvSpPr>
          <p:cNvPr id="67" name="Oval 66"/>
          <p:cNvSpPr/>
          <p:nvPr/>
        </p:nvSpPr>
        <p:spPr>
          <a:xfrm>
            <a:off x="5824728" y="1929383"/>
            <a:ext cx="219456" cy="219456"/>
          </a:xfrm>
          <a:prstGeom prst="ellipse">
            <a:avLst/>
          </a:prstGeom>
          <a:solidFill>
            <a:srgbClr val="DC2626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1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6135624" y="1901951"/>
            <a:ext cx="5672023" cy="834847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100"/>
              </a:spcAft>
            </a:pPr>
            <a:r>
              <a:rPr sz="950" b="1">
                <a:solidFill>
                  <a:srgbClr val="111111"/>
                </a:solidFill>
                <a:latin typeface="맑은 고딕"/>
                <a:ea typeface="맑은 고딕"/>
              </a:rPr>
              <a:t>분류 탭 4종 </a:t>
            </a:r>
            <a:r>
              <a:rPr sz="950" b="0">
                <a:solidFill>
                  <a:srgbClr val="999999"/>
                </a:solidFill>
                <a:latin typeface="맑은 고딕"/>
                <a:ea typeface="맑은 고딕"/>
              </a:rPr>
              <a:t>—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업무 도메인·구성 난이도·비용 등급·ML 모델 유형</a:t>
            </a:r>
          </a:p>
        </p:txBody>
      </p:sp>
      <p:cxnSp>
        <p:nvCxnSpPr>
          <p:cNvPr id="69" name="Connector 68"/>
          <p:cNvCxnSpPr/>
          <p:nvPr/>
        </p:nvCxnSpPr>
        <p:spPr>
          <a:xfrm>
            <a:off x="5824728" y="2718511"/>
            <a:ext cx="5982919" cy="0"/>
          </a:xfrm>
          <a:prstGeom prst="line">
            <a:avLst/>
          </a:prstGeom>
          <a:ln w="9525">
            <a:solidFill>
              <a:srgbClr val="EEEEE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0" name="Oval 69"/>
          <p:cNvSpPr/>
          <p:nvPr/>
        </p:nvSpPr>
        <p:spPr>
          <a:xfrm>
            <a:off x="5824728" y="2764231"/>
            <a:ext cx="219456" cy="219456"/>
          </a:xfrm>
          <a:prstGeom prst="ellipse">
            <a:avLst/>
          </a:prstGeom>
          <a:solidFill>
            <a:srgbClr val="DC2626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2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6135624" y="2736799"/>
            <a:ext cx="5672023" cy="834847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100"/>
              </a:spcAft>
            </a:pPr>
            <a:r>
              <a:rPr sz="950" b="1">
                <a:solidFill>
                  <a:srgbClr val="111111"/>
                </a:solidFill>
                <a:latin typeface="맑은 고딕"/>
                <a:ea typeface="맑은 고딕"/>
              </a:rPr>
              <a:t>값 목록 </a:t>
            </a:r>
            <a:r>
              <a:rPr sz="950" b="0">
                <a:solidFill>
                  <a:srgbClr val="999999"/>
                </a:solidFill>
                <a:latin typeface="맑은 고딕"/>
                <a:ea typeface="맑은 고딕"/>
              </a:rPr>
              <a:t>—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값·사용 건수</a:t>
            </a:r>
          </a:p>
        </p:txBody>
      </p:sp>
      <p:cxnSp>
        <p:nvCxnSpPr>
          <p:cNvPr id="72" name="Connector 71"/>
          <p:cNvCxnSpPr/>
          <p:nvPr/>
        </p:nvCxnSpPr>
        <p:spPr>
          <a:xfrm>
            <a:off x="5824728" y="3553358"/>
            <a:ext cx="5982919" cy="0"/>
          </a:xfrm>
          <a:prstGeom prst="line">
            <a:avLst/>
          </a:prstGeom>
          <a:ln w="9525">
            <a:solidFill>
              <a:srgbClr val="EEEEE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3" name="Oval 72"/>
          <p:cNvSpPr/>
          <p:nvPr/>
        </p:nvSpPr>
        <p:spPr>
          <a:xfrm>
            <a:off x="5824728" y="3599078"/>
            <a:ext cx="219456" cy="219456"/>
          </a:xfrm>
          <a:prstGeom prst="ellipse">
            <a:avLst/>
          </a:prstGeom>
          <a:solidFill>
            <a:srgbClr val="DC2626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3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6135624" y="3571646"/>
            <a:ext cx="5672023" cy="834847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100"/>
              </a:spcAft>
            </a:pPr>
            <a:r>
              <a:rPr sz="950" b="1">
                <a:solidFill>
                  <a:srgbClr val="111111"/>
                </a:solidFill>
                <a:latin typeface="맑은 고딕"/>
                <a:ea typeface="맑은 고딕"/>
              </a:rPr>
              <a:t>값 액션 </a:t>
            </a:r>
            <a:r>
              <a:rPr sz="950" b="0">
                <a:solidFill>
                  <a:srgbClr val="999999"/>
                </a:solidFill>
                <a:latin typeface="맑은 고딕"/>
                <a:ea typeface="맑은 고딕"/>
              </a:rPr>
              <a:t>—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추가·수정·삭제[확인 절차]</a:t>
            </a:r>
          </a:p>
        </p:txBody>
      </p:sp>
      <p:cxnSp>
        <p:nvCxnSpPr>
          <p:cNvPr id="75" name="Connector 74"/>
          <p:cNvCxnSpPr/>
          <p:nvPr/>
        </p:nvCxnSpPr>
        <p:spPr>
          <a:xfrm>
            <a:off x="5824728" y="4388205"/>
            <a:ext cx="5982919" cy="0"/>
          </a:xfrm>
          <a:prstGeom prst="line">
            <a:avLst/>
          </a:prstGeom>
          <a:ln w="9525">
            <a:solidFill>
              <a:srgbClr val="EEEEE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6" name="Oval 75"/>
          <p:cNvSpPr/>
          <p:nvPr/>
        </p:nvSpPr>
        <p:spPr>
          <a:xfrm>
            <a:off x="5824728" y="4433925"/>
            <a:ext cx="219456" cy="219456"/>
          </a:xfrm>
          <a:prstGeom prst="ellipse">
            <a:avLst/>
          </a:prstGeom>
          <a:solidFill>
            <a:srgbClr val="DC2626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4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6135624" y="4406493"/>
            <a:ext cx="5672023" cy="834847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100"/>
              </a:spcAft>
            </a:pPr>
            <a:r>
              <a:rPr sz="950" b="1">
                <a:solidFill>
                  <a:srgbClr val="111111"/>
                </a:solidFill>
                <a:latin typeface="맑은 고딕"/>
                <a:ea typeface="맑은 고딕"/>
              </a:rPr>
              <a:t>운영 유의사항 </a:t>
            </a:r>
            <a:r>
              <a:rPr sz="950" b="0">
                <a:solidFill>
                  <a:srgbClr val="999999"/>
                </a:solidFill>
                <a:latin typeface="맑은 고딕"/>
                <a:ea typeface="맑은 고딕"/>
              </a:rPr>
              <a:t>—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삭제 시 공란 처리 안내</a:t>
            </a:r>
          </a:p>
        </p:txBody>
      </p:sp>
      <p:sp>
        <p:nvSpPr>
          <p:cNvPr id="78" name="Rectangle 77"/>
          <p:cNvSpPr/>
          <p:nvPr/>
        </p:nvSpPr>
        <p:spPr>
          <a:xfrm>
            <a:off x="5824728" y="5387644"/>
            <a:ext cx="5982919" cy="1086307"/>
          </a:xfrm>
          <a:prstGeom prst="rect">
            <a:avLst/>
          </a:prstGeom>
          <a:solidFill>
            <a:srgbClr val="F7F7F7"/>
          </a:solidFill>
          <a:ln w="12700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9" name="Connector 78"/>
          <p:cNvCxnSpPr/>
          <p:nvPr/>
        </p:nvCxnSpPr>
        <p:spPr>
          <a:xfrm>
            <a:off x="5824728" y="5661964"/>
            <a:ext cx="5982919" cy="0"/>
          </a:xfrm>
          <a:prstGeom prst="line">
            <a:avLst/>
          </a:prstGeom>
          <a:ln w="12700">
            <a:solidFill>
              <a:srgbClr val="CCCCC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0" name="TextBox 79"/>
          <p:cNvSpPr txBox="1"/>
          <p:nvPr/>
        </p:nvSpPr>
        <p:spPr>
          <a:xfrm>
            <a:off x="5934456" y="5428792"/>
            <a:ext cx="5763463" cy="237744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11111"/>
                </a:solidFill>
                <a:latin typeface="맑은 고딕"/>
                <a:ea typeface="맑은 고딕"/>
              </a:rPr>
              <a:t>화면 룰·기획 근거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5952744" y="5698540"/>
            <a:ext cx="5726887" cy="738835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100"/>
              </a:spcAft>
            </a:pPr>
            <a:r>
              <a:rPr sz="85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850" b="0">
                <a:solidFill>
                  <a:srgbClr val="333333"/>
                </a:solidFill>
                <a:latin typeface="맑은 고딕"/>
                <a:ea typeface="맑은 고딕"/>
              </a:rPr>
              <a:t>난이도=n8n 전용, 비용=AI Model 전용, ML 유형=ML 전용 — 실입력 축만 관리</a:t>
            </a:r>
          </a:p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100"/>
              </a:spcAft>
            </a:pPr>
            <a:r>
              <a:rPr sz="85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850" b="0">
                <a:solidFill>
                  <a:srgbClr val="333333"/>
                </a:solidFill>
                <a:latin typeface="맑은 고딕"/>
                <a:ea typeface="맑은 고딕"/>
              </a:rPr>
              <a:t>고정 분류 4탭은 동일 구조 — 대표 1탭 표기</a:t>
            </a:r>
          </a:p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DC2626"/>
                </a:solidFill>
                <a:latin typeface="맑은 고딕"/>
                <a:ea typeface="맑은 고딕"/>
              </a:rPr>
              <a:t>BE·DB  </a:t>
            </a:r>
            <a:r>
              <a:rPr sz="850" b="0">
                <a:solidFill>
                  <a:srgbClr val="666666"/>
                </a:solidFill>
                <a:latin typeface="맑은 고딕"/>
                <a:ea typeface="맑은 고딕"/>
              </a:rPr>
              <a:t>getCategoryTaxonomy·getFreeTags. 분류 마스터+카드-분류 참조, 편입은 태그→분류 전환+카드 참조 갱신 동시 처리.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aphicFrame>
        <p:nvGraphicFramePr>
          <p:cNvPr id="2" name="Table 1"/>
          <p:cNvGraphicFramePr>
            <a:graphicFrameLocks noGrp="1"/>
          </p:cNvGraphicFramePr>
          <p:nvPr/>
        </p:nvGraphicFramePr>
        <p:xfrm>
          <a:off x="384048" y="384048"/>
          <a:ext cx="11423599" cy="1042416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371600"/>
                <a:gridCol w="4297680"/>
                <a:gridCol w="1280160"/>
                <a:gridCol w="4474159"/>
              </a:tblGrid>
              <a:tr h="384048">
                <a:tc gridSpan="3"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분류체계 관리  —  자유 태그</a:t>
                      </a:r>
                    </a:p>
                  </a:txBody>
                  <a:tcPr anchor="ctr" marL="73152" marR="54864" marT="18288" marB="18288">
                    <a:solidFill>
                      <a:srgbClr val="111111"/>
                    </a:solidFill>
                    <a:lnL w="9525" cap="flat">
                      <a:solidFill>
                        <a:srgbClr val="666666"/>
                      </a:solidFill>
                    </a:lnL>
                    <a:lnR w="9525" cap="flat">
                      <a:solidFill>
                        <a:srgbClr val="666666"/>
                      </a:solidFill>
                    </a:lnR>
                    <a:lnT w="9525" cap="flat">
                      <a:solidFill>
                        <a:srgbClr val="666666"/>
                      </a:solidFill>
                    </a:lnT>
                    <a:lnB w="9525" cap="flat">
                      <a:solidFill>
                        <a:srgbClr val="666666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Page 2 / 2</a:t>
                      </a:r>
                    </a:p>
                  </a:txBody>
                  <a:tcPr anchor="ctr" marL="73152" marR="54864" marT="18288" marB="18288">
                    <a:solidFill>
                      <a:srgbClr val="111111"/>
                    </a:solidFill>
                    <a:lnL w="9525" cap="flat">
                      <a:solidFill>
                        <a:srgbClr val="666666"/>
                      </a:solidFill>
                    </a:lnL>
                    <a:lnR w="9525" cap="flat">
                      <a:solidFill>
                        <a:srgbClr val="666666"/>
                      </a:solidFill>
                    </a:lnR>
                    <a:lnT w="9525" cap="flat">
                      <a:solidFill>
                        <a:srgbClr val="666666"/>
                      </a:solidFill>
                    </a:lnT>
                    <a:lnB w="9525" cap="flat">
                      <a:solidFill>
                        <a:srgbClr val="666666"/>
                      </a:solidFill>
                    </a:lnB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</a:rPr>
                        <a:t>Page Title</a:t>
                      </a:r>
                    </a:p>
                  </a:txBody>
                  <a:tcPr anchor="ctr" marL="73152" marR="54864" marT="18288" marB="18288">
                    <a:solidFill>
                      <a:srgbClr val="EEEEEE"/>
                    </a:solidFill>
                    <a:lnL w="9525" cap="flat">
                      <a:solidFill>
                        <a:srgbClr val="666666"/>
                      </a:solidFill>
                    </a:lnL>
                    <a:lnR w="9525" cap="flat">
                      <a:solidFill>
                        <a:srgbClr val="666666"/>
                      </a:solidFill>
                    </a:lnR>
                    <a:lnT w="9525" cap="flat">
                      <a:solidFill>
                        <a:srgbClr val="666666"/>
                      </a:solidFill>
                    </a:lnT>
                    <a:lnB w="9525" cap="flat">
                      <a:solidFill>
                        <a:srgbClr val="666666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111111"/>
                          </a:solidFill>
                          <a:latin typeface="맑은 고딕"/>
                          <a:ea typeface="맑은 고딕"/>
                        </a:rPr>
                        <a:t>분류체계 관리</a:t>
                      </a:r>
                    </a:p>
                  </a:txBody>
                  <a:tcPr anchor="ctr" marL="73152" marR="54864" marT="18288" marB="18288">
                    <a:solidFill>
                      <a:srgbClr val="FFFFFF"/>
                    </a:solidFill>
                    <a:lnL w="9525" cap="flat">
                      <a:solidFill>
                        <a:srgbClr val="666666"/>
                      </a:solidFill>
                    </a:lnL>
                    <a:lnR w="9525" cap="flat">
                      <a:solidFill>
                        <a:srgbClr val="666666"/>
                      </a:solidFill>
                    </a:lnR>
                    <a:lnT w="9525" cap="flat">
                      <a:solidFill>
                        <a:srgbClr val="666666"/>
                      </a:solidFill>
                    </a:lnT>
                    <a:lnB w="9525" cap="flat">
                      <a:solidFill>
                        <a:srgbClr val="666666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</a:rPr>
                        <a:t>Screen ID</a:t>
                      </a:r>
                    </a:p>
                  </a:txBody>
                  <a:tcPr anchor="ctr" marL="73152" marR="54864" marT="18288" marB="18288">
                    <a:solidFill>
                      <a:srgbClr val="EEEEEE"/>
                    </a:solidFill>
                    <a:lnL w="9525" cap="flat">
                      <a:solidFill>
                        <a:srgbClr val="666666"/>
                      </a:solidFill>
                    </a:lnL>
                    <a:lnR w="9525" cap="flat">
                      <a:solidFill>
                        <a:srgbClr val="666666"/>
                      </a:solidFill>
                    </a:lnR>
                    <a:lnT w="9525" cap="flat">
                      <a:solidFill>
                        <a:srgbClr val="666666"/>
                      </a:solidFill>
                    </a:lnT>
                    <a:lnB w="9525" cap="flat">
                      <a:solidFill>
                        <a:srgbClr val="666666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111111"/>
                          </a:solidFill>
                          <a:latin typeface="맑은 고딕"/>
                          <a:ea typeface="맑은 고딕"/>
                        </a:rPr>
                        <a:t>ADM-05</a:t>
                      </a:r>
                    </a:p>
                  </a:txBody>
                  <a:tcPr anchor="ctr" marL="73152" marR="54864" marT="18288" marB="18288">
                    <a:solidFill>
                      <a:srgbClr val="FFFFFF"/>
                    </a:solidFill>
                    <a:lnL w="9525" cap="flat">
                      <a:solidFill>
                        <a:srgbClr val="666666"/>
                      </a:solidFill>
                    </a:lnL>
                    <a:lnR w="9525" cap="flat">
                      <a:solidFill>
                        <a:srgbClr val="666666"/>
                      </a:solidFill>
                    </a:lnR>
                    <a:lnT w="9525" cap="flat">
                      <a:solidFill>
                        <a:srgbClr val="666666"/>
                      </a:solidFill>
                    </a:lnT>
                    <a:lnB w="9525" cap="flat">
                      <a:solidFill>
                        <a:srgbClr val="666666"/>
                      </a:solidFill>
                    </a:lnB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</a:rPr>
                        <a:t>Screen Path</a:t>
                      </a:r>
                    </a:p>
                  </a:txBody>
                  <a:tcPr anchor="ctr" marL="73152" marR="54864" marT="18288" marB="18288">
                    <a:solidFill>
                      <a:srgbClr val="EEEEEE"/>
                    </a:solidFill>
                    <a:lnL w="9525" cap="flat">
                      <a:solidFill>
                        <a:srgbClr val="666666"/>
                      </a:solidFill>
                    </a:lnL>
                    <a:lnR w="9525" cap="flat">
                      <a:solidFill>
                        <a:srgbClr val="666666"/>
                      </a:solidFill>
                    </a:lnR>
                    <a:lnT w="9525" cap="flat">
                      <a:solidFill>
                        <a:srgbClr val="666666"/>
                      </a:solidFill>
                    </a:lnT>
                    <a:lnB w="9525" cap="flat">
                      <a:solidFill>
                        <a:srgbClr val="666666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</a:rPr>
                        <a:t>/admin/taxonomy  (admin 전용)</a:t>
                      </a:r>
                    </a:p>
                  </a:txBody>
                  <a:tcPr anchor="ctr" marL="73152" marR="54864" marT="18288" marB="18288">
                    <a:solidFill>
                      <a:srgbClr val="FFFFFF"/>
                    </a:solidFill>
                    <a:lnL w="9525" cap="flat">
                      <a:solidFill>
                        <a:srgbClr val="666666"/>
                      </a:solidFill>
                    </a:lnL>
                    <a:lnR w="9525" cap="flat">
                      <a:solidFill>
                        <a:srgbClr val="666666"/>
                      </a:solidFill>
                    </a:lnR>
                    <a:lnT w="9525" cap="flat">
                      <a:solidFill>
                        <a:srgbClr val="666666"/>
                      </a:solidFill>
                    </a:lnT>
                    <a:lnB w="9525" cap="flat">
                      <a:solidFill>
                        <a:srgbClr val="666666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</a:rPr>
                        <a:t>작성자</a:t>
                      </a:r>
                    </a:p>
                  </a:txBody>
                  <a:tcPr anchor="ctr" marL="73152" marR="54864" marT="18288" marB="18288">
                    <a:solidFill>
                      <a:srgbClr val="EEEEEE"/>
                    </a:solidFill>
                    <a:lnL w="9525" cap="flat">
                      <a:solidFill>
                        <a:srgbClr val="666666"/>
                      </a:solidFill>
                    </a:lnL>
                    <a:lnR w="9525" cap="flat">
                      <a:solidFill>
                        <a:srgbClr val="666666"/>
                      </a:solidFill>
                    </a:lnR>
                    <a:lnT w="9525" cap="flat">
                      <a:solidFill>
                        <a:srgbClr val="666666"/>
                      </a:solidFill>
                    </a:lnT>
                    <a:lnB w="9525" cap="flat">
                      <a:solidFill>
                        <a:srgbClr val="666666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11111"/>
                          </a:solidFill>
                          <a:latin typeface="맑은 고딕"/>
                          <a:ea typeface="맑은 고딕"/>
                        </a:rPr>
                        <a:t>배상혁</a:t>
                      </a:r>
                    </a:p>
                  </a:txBody>
                  <a:tcPr anchor="ctr" marL="73152" marR="54864" marT="18288" marB="18288">
                    <a:solidFill>
                      <a:srgbClr val="FFFFFF"/>
                    </a:solidFill>
                    <a:lnL w="9525" cap="flat">
                      <a:solidFill>
                        <a:srgbClr val="666666"/>
                      </a:solidFill>
                    </a:lnL>
                    <a:lnR w="9525" cap="flat">
                      <a:solidFill>
                        <a:srgbClr val="666666"/>
                      </a:solidFill>
                    </a:lnR>
                    <a:lnT w="9525" cap="flat">
                      <a:solidFill>
                        <a:srgbClr val="666666"/>
                      </a:solidFill>
                    </a:lnT>
                    <a:lnB w="9525" cap="flat">
                      <a:solidFill>
                        <a:srgbClr val="666666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3" name="Rectangle 2"/>
          <p:cNvSpPr/>
          <p:nvPr/>
        </p:nvSpPr>
        <p:spPr>
          <a:xfrm>
            <a:off x="384048" y="1572767"/>
            <a:ext cx="5166360" cy="4901184"/>
          </a:xfrm>
          <a:prstGeom prst="rect">
            <a:avLst/>
          </a:prstGeom>
          <a:solidFill>
            <a:srgbClr val="FFFFFF"/>
          </a:solidFill>
          <a:ln w="3048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84048" y="1572767"/>
            <a:ext cx="5166360" cy="146304"/>
          </a:xfrm>
          <a:prstGeom prst="rect">
            <a:avLst/>
          </a:prstGeom>
          <a:solidFill>
            <a:srgbClr val="F7F7F7"/>
          </a:solidFill>
          <a:ln w="3048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484632" y="1623059"/>
            <a:ext cx="45720" cy="45720"/>
          </a:xfrm>
          <a:prstGeom prst="ellipse">
            <a:avLst/>
          </a:prstGeom>
          <a:solidFill>
            <a:srgbClr val="CCC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585216" y="1623059"/>
            <a:ext cx="45720" cy="45720"/>
          </a:xfrm>
          <a:prstGeom prst="ellipse">
            <a:avLst/>
          </a:prstGeom>
          <a:solidFill>
            <a:srgbClr val="CCC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685800" y="1623059"/>
            <a:ext cx="45720" cy="45720"/>
          </a:xfrm>
          <a:prstGeom prst="ellipse">
            <a:avLst/>
          </a:prstGeom>
          <a:solidFill>
            <a:srgbClr val="CCC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12064" y="1847087"/>
            <a:ext cx="4910328" cy="256032"/>
          </a:xfrm>
          <a:prstGeom prst="rect">
            <a:avLst/>
          </a:prstGeom>
          <a:solidFill>
            <a:srgbClr val="F7F7F7"/>
          </a:solidFill>
          <a:ln w="1651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585216" y="1911095"/>
            <a:ext cx="658368" cy="12801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5166359" y="1883663"/>
            <a:ext cx="182880" cy="182880"/>
          </a:xfrm>
          <a:prstGeom prst="ellipse">
            <a:avLst/>
          </a:prstGeom>
          <a:solidFill>
            <a:srgbClr val="FFFFFF"/>
          </a:solidFill>
          <a:ln w="1524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12064" y="2157983"/>
            <a:ext cx="914400" cy="4187952"/>
          </a:xfrm>
          <a:prstGeom prst="rect">
            <a:avLst/>
          </a:prstGeom>
          <a:solidFill>
            <a:srgbClr val="F7F7F7"/>
          </a:solidFill>
          <a:ln w="1651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594360" y="2267711"/>
            <a:ext cx="749808" cy="14630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594360" y="2542031"/>
            <a:ext cx="749808" cy="14630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594360" y="2816351"/>
            <a:ext cx="749808" cy="14630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594360" y="3090671"/>
            <a:ext cx="749808" cy="14630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594360" y="3364991"/>
            <a:ext cx="749808" cy="14630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594360" y="3639311"/>
            <a:ext cx="749808" cy="14630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594360" y="3913631"/>
            <a:ext cx="749808" cy="14630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594360" y="4187952"/>
            <a:ext cx="749808" cy="14630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594360" y="4462271"/>
            <a:ext cx="749808" cy="14630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170432" y="2532887"/>
            <a:ext cx="128016" cy="128016"/>
          </a:xfrm>
          <a:prstGeom prst="ellipse">
            <a:avLst/>
          </a:prstGeom>
          <a:solidFill>
            <a:srgbClr val="FFFFFF"/>
          </a:solidFill>
          <a:ln w="1524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1572768" y="2194559"/>
            <a:ext cx="713232" cy="23774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2340864" y="2194559"/>
            <a:ext cx="713232" cy="23774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3108960" y="2194559"/>
            <a:ext cx="713232" cy="23774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3877056" y="2194559"/>
            <a:ext cx="713232" cy="23774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4645152" y="2194559"/>
            <a:ext cx="713232" cy="23774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5138928" y="2240279"/>
            <a:ext cx="146304" cy="146304"/>
          </a:xfrm>
          <a:prstGeom prst="ellipse">
            <a:avLst/>
          </a:prstGeom>
          <a:solidFill>
            <a:srgbClr val="FFFFFF"/>
          </a:solidFill>
          <a:ln w="1524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4626864" y="2176271"/>
            <a:ext cx="237744" cy="237744"/>
          </a:xfrm>
          <a:prstGeom prst="ellipse">
            <a:avLst/>
          </a:prstGeom>
          <a:solidFill>
            <a:srgbClr val="DC2626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5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1572768" y="2542031"/>
            <a:ext cx="441198" cy="2011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2059686" y="2542031"/>
            <a:ext cx="441198" cy="2011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2546604" y="2542031"/>
            <a:ext cx="441198" cy="2011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3033522" y="2542031"/>
            <a:ext cx="441198" cy="2011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3520439" y="2542031"/>
            <a:ext cx="441198" cy="2011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ounded Rectangle 33"/>
          <p:cNvSpPr/>
          <p:nvPr/>
        </p:nvSpPr>
        <p:spPr>
          <a:xfrm>
            <a:off x="4007357" y="2542031"/>
            <a:ext cx="441198" cy="2011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4494276" y="2542031"/>
            <a:ext cx="441198" cy="2011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4981194" y="2542031"/>
            <a:ext cx="441198" cy="2011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1554480" y="2523743"/>
            <a:ext cx="237744" cy="237744"/>
          </a:xfrm>
          <a:prstGeom prst="ellipse">
            <a:avLst/>
          </a:prstGeom>
          <a:solidFill>
            <a:srgbClr val="DC2626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6</a:t>
            </a:r>
          </a:p>
        </p:txBody>
      </p:sp>
      <p:sp>
        <p:nvSpPr>
          <p:cNvPr id="38" name="Rectangle 37"/>
          <p:cNvSpPr/>
          <p:nvPr/>
        </p:nvSpPr>
        <p:spPr>
          <a:xfrm>
            <a:off x="1572768" y="2889503"/>
            <a:ext cx="3849624" cy="493776"/>
          </a:xfrm>
          <a:prstGeom prst="rect">
            <a:avLst/>
          </a:prstGeom>
          <a:solidFill>
            <a:srgbClr val="FFFFFF"/>
          </a:solidFill>
          <a:ln w="1524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1673352" y="3063239"/>
            <a:ext cx="146304" cy="146304"/>
          </a:xfrm>
          <a:prstGeom prst="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ounded Rectangle 39"/>
          <p:cNvSpPr/>
          <p:nvPr/>
        </p:nvSpPr>
        <p:spPr>
          <a:xfrm>
            <a:off x="1892808" y="3054095"/>
            <a:ext cx="402336" cy="16459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1" name="Connector 40"/>
          <p:cNvCxnSpPr/>
          <p:nvPr/>
        </p:nvCxnSpPr>
        <p:spPr>
          <a:xfrm>
            <a:off x="2350008" y="3145535"/>
            <a:ext cx="1000902" cy="0"/>
          </a:xfrm>
          <a:prstGeom prst="line">
            <a:avLst/>
          </a:prstGeom>
          <a:ln w="13970">
            <a:solidFill>
              <a:srgbClr val="6666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Connector 41"/>
          <p:cNvCxnSpPr/>
          <p:nvPr/>
        </p:nvCxnSpPr>
        <p:spPr>
          <a:xfrm>
            <a:off x="3728557" y="3145535"/>
            <a:ext cx="538947" cy="0"/>
          </a:xfrm>
          <a:prstGeom prst="line">
            <a:avLst/>
          </a:prstGeom>
          <a:ln w="13970">
            <a:solidFill>
              <a:srgbClr val="6666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Connector 42"/>
          <p:cNvCxnSpPr/>
          <p:nvPr/>
        </p:nvCxnSpPr>
        <p:spPr>
          <a:xfrm>
            <a:off x="4421489" y="3145535"/>
            <a:ext cx="769925" cy="0"/>
          </a:xfrm>
          <a:prstGeom prst="line">
            <a:avLst/>
          </a:prstGeom>
          <a:ln w="13970">
            <a:solidFill>
              <a:srgbClr val="6666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Rectangle 43"/>
          <p:cNvSpPr/>
          <p:nvPr/>
        </p:nvSpPr>
        <p:spPr>
          <a:xfrm>
            <a:off x="1572768" y="3438143"/>
            <a:ext cx="3849624" cy="493776"/>
          </a:xfrm>
          <a:prstGeom prst="rect">
            <a:avLst/>
          </a:prstGeom>
          <a:solidFill>
            <a:srgbClr val="FFFFFF"/>
          </a:solidFill>
          <a:ln w="1524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1673352" y="3611879"/>
            <a:ext cx="146304" cy="146304"/>
          </a:xfrm>
          <a:prstGeom prst="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ounded Rectangle 45"/>
          <p:cNvSpPr/>
          <p:nvPr/>
        </p:nvSpPr>
        <p:spPr>
          <a:xfrm>
            <a:off x="1892808" y="3602735"/>
            <a:ext cx="402336" cy="16459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7" name="Connector 46"/>
          <p:cNvCxnSpPr/>
          <p:nvPr/>
        </p:nvCxnSpPr>
        <p:spPr>
          <a:xfrm>
            <a:off x="2350008" y="3694175"/>
            <a:ext cx="1000902" cy="0"/>
          </a:xfrm>
          <a:prstGeom prst="line">
            <a:avLst/>
          </a:prstGeom>
          <a:ln w="13970">
            <a:solidFill>
              <a:srgbClr val="6666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Connector 47"/>
          <p:cNvCxnSpPr/>
          <p:nvPr/>
        </p:nvCxnSpPr>
        <p:spPr>
          <a:xfrm>
            <a:off x="3728557" y="3694175"/>
            <a:ext cx="538947" cy="0"/>
          </a:xfrm>
          <a:prstGeom prst="line">
            <a:avLst/>
          </a:prstGeom>
          <a:ln w="13970">
            <a:solidFill>
              <a:srgbClr val="6666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Connector 48"/>
          <p:cNvCxnSpPr/>
          <p:nvPr/>
        </p:nvCxnSpPr>
        <p:spPr>
          <a:xfrm>
            <a:off x="4421489" y="3694175"/>
            <a:ext cx="769925" cy="0"/>
          </a:xfrm>
          <a:prstGeom prst="line">
            <a:avLst/>
          </a:prstGeom>
          <a:ln w="13970">
            <a:solidFill>
              <a:srgbClr val="6666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0" name="Rectangle 49"/>
          <p:cNvSpPr/>
          <p:nvPr/>
        </p:nvSpPr>
        <p:spPr>
          <a:xfrm>
            <a:off x="1572768" y="3986783"/>
            <a:ext cx="3849624" cy="493776"/>
          </a:xfrm>
          <a:prstGeom prst="rect">
            <a:avLst/>
          </a:prstGeom>
          <a:solidFill>
            <a:srgbClr val="FFFFFF"/>
          </a:solidFill>
          <a:ln w="1524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1673352" y="4160520"/>
            <a:ext cx="146304" cy="146304"/>
          </a:xfrm>
          <a:prstGeom prst="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ounded Rectangle 51"/>
          <p:cNvSpPr/>
          <p:nvPr/>
        </p:nvSpPr>
        <p:spPr>
          <a:xfrm>
            <a:off x="1892808" y="4151375"/>
            <a:ext cx="402336" cy="16459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3" name="Connector 52"/>
          <p:cNvCxnSpPr/>
          <p:nvPr/>
        </p:nvCxnSpPr>
        <p:spPr>
          <a:xfrm>
            <a:off x="2350008" y="4242816"/>
            <a:ext cx="1000902" cy="0"/>
          </a:xfrm>
          <a:prstGeom prst="line">
            <a:avLst/>
          </a:prstGeom>
          <a:ln w="13970">
            <a:solidFill>
              <a:srgbClr val="6666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Connector 53"/>
          <p:cNvCxnSpPr/>
          <p:nvPr/>
        </p:nvCxnSpPr>
        <p:spPr>
          <a:xfrm>
            <a:off x="3728557" y="4242816"/>
            <a:ext cx="538947" cy="0"/>
          </a:xfrm>
          <a:prstGeom prst="line">
            <a:avLst/>
          </a:prstGeom>
          <a:ln w="13970">
            <a:solidFill>
              <a:srgbClr val="6666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Connector 54"/>
          <p:cNvCxnSpPr/>
          <p:nvPr/>
        </p:nvCxnSpPr>
        <p:spPr>
          <a:xfrm>
            <a:off x="4421489" y="4242816"/>
            <a:ext cx="769925" cy="0"/>
          </a:xfrm>
          <a:prstGeom prst="line">
            <a:avLst/>
          </a:prstGeom>
          <a:ln w="13970">
            <a:solidFill>
              <a:srgbClr val="6666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6" name="Rectangle 55"/>
          <p:cNvSpPr/>
          <p:nvPr/>
        </p:nvSpPr>
        <p:spPr>
          <a:xfrm>
            <a:off x="1572768" y="4535423"/>
            <a:ext cx="3849624" cy="493776"/>
          </a:xfrm>
          <a:prstGeom prst="rect">
            <a:avLst/>
          </a:prstGeom>
          <a:solidFill>
            <a:srgbClr val="FFFFFF"/>
          </a:solidFill>
          <a:ln w="1524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1673352" y="4709159"/>
            <a:ext cx="146304" cy="146304"/>
          </a:xfrm>
          <a:prstGeom prst="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ounded Rectangle 57"/>
          <p:cNvSpPr/>
          <p:nvPr/>
        </p:nvSpPr>
        <p:spPr>
          <a:xfrm>
            <a:off x="1892808" y="4700015"/>
            <a:ext cx="402336" cy="16459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9" name="Connector 58"/>
          <p:cNvCxnSpPr/>
          <p:nvPr/>
        </p:nvCxnSpPr>
        <p:spPr>
          <a:xfrm>
            <a:off x="2350008" y="4791455"/>
            <a:ext cx="1000902" cy="0"/>
          </a:xfrm>
          <a:prstGeom prst="line">
            <a:avLst/>
          </a:prstGeom>
          <a:ln w="13970">
            <a:solidFill>
              <a:srgbClr val="6666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" name="Connector 59"/>
          <p:cNvCxnSpPr/>
          <p:nvPr/>
        </p:nvCxnSpPr>
        <p:spPr>
          <a:xfrm>
            <a:off x="3728557" y="4791455"/>
            <a:ext cx="538947" cy="0"/>
          </a:xfrm>
          <a:prstGeom prst="line">
            <a:avLst/>
          </a:prstGeom>
          <a:ln w="13970">
            <a:solidFill>
              <a:srgbClr val="6666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" name="Connector 60"/>
          <p:cNvCxnSpPr/>
          <p:nvPr/>
        </p:nvCxnSpPr>
        <p:spPr>
          <a:xfrm>
            <a:off x="4421489" y="4791455"/>
            <a:ext cx="769925" cy="0"/>
          </a:xfrm>
          <a:prstGeom prst="line">
            <a:avLst/>
          </a:prstGeom>
          <a:ln w="13970">
            <a:solidFill>
              <a:srgbClr val="6666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2" name="Oval 61"/>
          <p:cNvSpPr/>
          <p:nvPr/>
        </p:nvSpPr>
        <p:spPr>
          <a:xfrm>
            <a:off x="1554480" y="2871215"/>
            <a:ext cx="237744" cy="237744"/>
          </a:xfrm>
          <a:prstGeom prst="ellipse">
            <a:avLst/>
          </a:prstGeom>
          <a:solidFill>
            <a:srgbClr val="DC2626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7</a:t>
            </a:r>
          </a:p>
        </p:txBody>
      </p:sp>
      <p:sp>
        <p:nvSpPr>
          <p:cNvPr id="63" name="Rounded Rectangle 62"/>
          <p:cNvSpPr/>
          <p:nvPr/>
        </p:nvSpPr>
        <p:spPr>
          <a:xfrm>
            <a:off x="1572768" y="5138927"/>
            <a:ext cx="1312163" cy="274320"/>
          </a:xfrm>
          <a:prstGeom prst="roundRect">
            <a:avLst/>
          </a:prstGeom>
          <a:solidFill>
            <a:srgbClr val="F7F7F7"/>
          </a:solidFill>
          <a:ln w="1524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Oval 63"/>
          <p:cNvSpPr/>
          <p:nvPr/>
        </p:nvSpPr>
        <p:spPr>
          <a:xfrm>
            <a:off x="1554480" y="5120640"/>
            <a:ext cx="237744" cy="237744"/>
          </a:xfrm>
          <a:prstGeom prst="ellipse">
            <a:avLst/>
          </a:prstGeom>
          <a:solidFill>
            <a:srgbClr val="DC2626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8</a:t>
            </a:r>
          </a:p>
        </p:txBody>
      </p:sp>
      <p:sp>
        <p:nvSpPr>
          <p:cNvPr id="65" name="Rectangle 64"/>
          <p:cNvSpPr/>
          <p:nvPr/>
        </p:nvSpPr>
        <p:spPr>
          <a:xfrm>
            <a:off x="3547871" y="5138927"/>
            <a:ext cx="1874520" cy="1188720"/>
          </a:xfrm>
          <a:prstGeom prst="rect">
            <a:avLst/>
          </a:prstGeom>
          <a:solidFill>
            <a:srgbClr val="F7F7F7"/>
          </a:solidFill>
          <a:ln w="1651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6" name="Connector 65"/>
          <p:cNvCxnSpPr/>
          <p:nvPr/>
        </p:nvCxnSpPr>
        <p:spPr>
          <a:xfrm>
            <a:off x="3648455" y="5303519"/>
            <a:ext cx="824789" cy="0"/>
          </a:xfrm>
          <a:prstGeom prst="line">
            <a:avLst/>
          </a:prstGeom>
          <a:ln w="20320">
            <a:solidFill>
              <a:srgbClr val="6666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7" name="Rectangle 66"/>
          <p:cNvSpPr/>
          <p:nvPr/>
        </p:nvSpPr>
        <p:spPr>
          <a:xfrm>
            <a:off x="3648455" y="5541264"/>
            <a:ext cx="1673352" cy="201168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8" name="Connector 67"/>
          <p:cNvCxnSpPr/>
          <p:nvPr/>
        </p:nvCxnSpPr>
        <p:spPr>
          <a:xfrm>
            <a:off x="3648455" y="5742431"/>
            <a:ext cx="1673352" cy="0"/>
          </a:xfrm>
          <a:prstGeom prst="line">
            <a:avLst/>
          </a:prstGeom>
          <a:ln w="22860">
            <a:solidFill>
              <a:srgbClr val="33333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9" name="Rounded Rectangle 68"/>
          <p:cNvSpPr/>
          <p:nvPr/>
        </p:nvSpPr>
        <p:spPr>
          <a:xfrm>
            <a:off x="3648455" y="5852159"/>
            <a:ext cx="1673352" cy="256032"/>
          </a:xfrm>
          <a:prstGeom prst="roundRect">
            <a:avLst/>
          </a:prstGeom>
          <a:solidFill>
            <a:srgbClr val="F7F7F7"/>
          </a:solidFill>
          <a:ln w="1524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Oval 69"/>
          <p:cNvSpPr/>
          <p:nvPr/>
        </p:nvSpPr>
        <p:spPr>
          <a:xfrm>
            <a:off x="3529583" y="5120640"/>
            <a:ext cx="237744" cy="237744"/>
          </a:xfrm>
          <a:prstGeom prst="ellipse">
            <a:avLst/>
          </a:prstGeom>
          <a:solidFill>
            <a:srgbClr val="DC2626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9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5824728" y="1572767"/>
            <a:ext cx="5982919" cy="256032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111111"/>
                </a:solidFill>
                <a:latin typeface="맑은 고딕"/>
                <a:ea typeface="맑은 고딕"/>
              </a:rPr>
              <a:t>Description</a:t>
            </a:r>
          </a:p>
        </p:txBody>
      </p:sp>
      <p:sp>
        <p:nvSpPr>
          <p:cNvPr id="72" name="Oval 71"/>
          <p:cNvSpPr/>
          <p:nvPr/>
        </p:nvSpPr>
        <p:spPr>
          <a:xfrm>
            <a:off x="5824728" y="1929383"/>
            <a:ext cx="219456" cy="219456"/>
          </a:xfrm>
          <a:prstGeom prst="ellipse">
            <a:avLst/>
          </a:prstGeom>
          <a:solidFill>
            <a:srgbClr val="DC2626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5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6135624" y="1901951"/>
            <a:ext cx="5672023" cy="667877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100"/>
              </a:spcAft>
            </a:pPr>
            <a:r>
              <a:rPr sz="950" b="1">
                <a:solidFill>
                  <a:srgbClr val="111111"/>
                </a:solidFill>
                <a:latin typeface="맑은 고딕"/>
                <a:ea typeface="맑은 고딕"/>
              </a:rPr>
              <a:t>자유 태그 탭 </a:t>
            </a:r>
            <a:r>
              <a:rPr sz="950" b="0">
                <a:solidFill>
                  <a:srgbClr val="999999"/>
                </a:solidFill>
                <a:latin typeface="맑은 고딕"/>
                <a:ea typeface="맑은 고딕"/>
              </a:rPr>
              <a:t>—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누적 건수 표시</a:t>
            </a:r>
          </a:p>
        </p:txBody>
      </p:sp>
      <p:cxnSp>
        <p:nvCxnSpPr>
          <p:cNvPr id="74" name="Connector 73"/>
          <p:cNvCxnSpPr/>
          <p:nvPr/>
        </p:nvCxnSpPr>
        <p:spPr>
          <a:xfrm>
            <a:off x="5824728" y="2551541"/>
            <a:ext cx="5982919" cy="0"/>
          </a:xfrm>
          <a:prstGeom prst="line">
            <a:avLst/>
          </a:prstGeom>
          <a:ln w="9525">
            <a:solidFill>
              <a:srgbClr val="EEEEE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5" name="Oval 74"/>
          <p:cNvSpPr/>
          <p:nvPr/>
        </p:nvSpPr>
        <p:spPr>
          <a:xfrm>
            <a:off x="5824728" y="2597261"/>
            <a:ext cx="219456" cy="219456"/>
          </a:xfrm>
          <a:prstGeom prst="ellipse">
            <a:avLst/>
          </a:prstGeom>
          <a:solidFill>
            <a:srgbClr val="DC2626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6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6135624" y="2569829"/>
            <a:ext cx="5672023" cy="667877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100"/>
              </a:spcAft>
            </a:pPr>
            <a:r>
              <a:rPr sz="950" b="1">
                <a:solidFill>
                  <a:srgbClr val="111111"/>
                </a:solidFill>
                <a:latin typeface="맑은 고딕"/>
                <a:ea typeface="맑은 고딕"/>
              </a:rPr>
              <a:t>출처 필터 </a:t>
            </a:r>
            <a:r>
              <a:rPr sz="950" b="0">
                <a:solidFill>
                  <a:srgbClr val="999999"/>
                </a:solidFill>
                <a:latin typeface="맑은 고딕"/>
                <a:ea typeface="맑은 고딕"/>
              </a:rPr>
              <a:t>—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전체+카테고리 7종 칩</a:t>
            </a:r>
          </a:p>
        </p:txBody>
      </p:sp>
      <p:cxnSp>
        <p:nvCxnSpPr>
          <p:cNvPr id="77" name="Connector 76"/>
          <p:cNvCxnSpPr/>
          <p:nvPr/>
        </p:nvCxnSpPr>
        <p:spPr>
          <a:xfrm>
            <a:off x="5824728" y="3219419"/>
            <a:ext cx="5982919" cy="0"/>
          </a:xfrm>
          <a:prstGeom prst="line">
            <a:avLst/>
          </a:prstGeom>
          <a:ln w="9525">
            <a:solidFill>
              <a:srgbClr val="EEEEE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8" name="Oval 77"/>
          <p:cNvSpPr/>
          <p:nvPr/>
        </p:nvSpPr>
        <p:spPr>
          <a:xfrm>
            <a:off x="5824728" y="3265139"/>
            <a:ext cx="219456" cy="219456"/>
          </a:xfrm>
          <a:prstGeom prst="ellipse">
            <a:avLst/>
          </a:prstGeom>
          <a:solidFill>
            <a:srgbClr val="DC2626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7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6135624" y="3237707"/>
            <a:ext cx="5672023" cy="667877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100"/>
              </a:spcAft>
            </a:pPr>
            <a:r>
              <a:rPr sz="950" b="1">
                <a:solidFill>
                  <a:srgbClr val="111111"/>
                </a:solidFill>
                <a:latin typeface="맑은 고딕"/>
                <a:ea typeface="맑은 고딕"/>
              </a:rPr>
              <a:t>태그 행 </a:t>
            </a:r>
            <a:r>
              <a:rPr sz="950" b="0">
                <a:solidFill>
                  <a:srgbClr val="999999"/>
                </a:solidFill>
                <a:latin typeface="맑은 고딕"/>
                <a:ea typeface="맑은 고딕"/>
              </a:rPr>
              <a:t>—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#태그·사용 N건·제안자·사용 카드</a:t>
            </a:r>
          </a:p>
        </p:txBody>
      </p:sp>
      <p:cxnSp>
        <p:nvCxnSpPr>
          <p:cNvPr id="80" name="Connector 79"/>
          <p:cNvCxnSpPr/>
          <p:nvPr/>
        </p:nvCxnSpPr>
        <p:spPr>
          <a:xfrm>
            <a:off x="5824728" y="3887297"/>
            <a:ext cx="5982919" cy="0"/>
          </a:xfrm>
          <a:prstGeom prst="line">
            <a:avLst/>
          </a:prstGeom>
          <a:ln w="9525">
            <a:solidFill>
              <a:srgbClr val="EEEEE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1" name="Oval 80"/>
          <p:cNvSpPr/>
          <p:nvPr/>
        </p:nvSpPr>
        <p:spPr>
          <a:xfrm>
            <a:off x="5824728" y="3933017"/>
            <a:ext cx="219456" cy="219456"/>
          </a:xfrm>
          <a:prstGeom prst="ellipse">
            <a:avLst/>
          </a:prstGeom>
          <a:solidFill>
            <a:srgbClr val="DC2626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8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6135624" y="3905585"/>
            <a:ext cx="5672023" cy="667877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100"/>
              </a:spcAft>
            </a:pPr>
            <a:r>
              <a:rPr sz="950" b="1">
                <a:solidFill>
                  <a:srgbClr val="111111"/>
                </a:solidFill>
                <a:latin typeface="맑은 고딕"/>
                <a:ea typeface="맑은 고딕"/>
              </a:rPr>
              <a:t>선택 삭제 </a:t>
            </a:r>
            <a:r>
              <a:rPr sz="950" b="0">
                <a:solidFill>
                  <a:srgbClr val="999999"/>
                </a:solidFill>
                <a:latin typeface="맑은 고딕"/>
                <a:ea typeface="맑은 고딕"/>
              </a:rPr>
              <a:t>—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다중 선택 일괄</a:t>
            </a:r>
          </a:p>
        </p:txBody>
      </p:sp>
      <p:cxnSp>
        <p:nvCxnSpPr>
          <p:cNvPr id="83" name="Connector 82"/>
          <p:cNvCxnSpPr/>
          <p:nvPr/>
        </p:nvCxnSpPr>
        <p:spPr>
          <a:xfrm>
            <a:off x="5824728" y="4555175"/>
            <a:ext cx="5982919" cy="0"/>
          </a:xfrm>
          <a:prstGeom prst="line">
            <a:avLst/>
          </a:prstGeom>
          <a:ln w="9525">
            <a:solidFill>
              <a:srgbClr val="EEEEE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4" name="Oval 83"/>
          <p:cNvSpPr/>
          <p:nvPr/>
        </p:nvSpPr>
        <p:spPr>
          <a:xfrm>
            <a:off x="5824728" y="4600895"/>
            <a:ext cx="219456" cy="219456"/>
          </a:xfrm>
          <a:prstGeom prst="ellipse">
            <a:avLst/>
          </a:prstGeom>
          <a:solidFill>
            <a:srgbClr val="DC2626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9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6135624" y="4573463"/>
            <a:ext cx="5672023" cy="667877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100"/>
              </a:spcAft>
            </a:pPr>
            <a:r>
              <a:rPr sz="950" b="1">
                <a:solidFill>
                  <a:srgbClr val="111111"/>
                </a:solidFill>
                <a:latin typeface="맑은 고딕"/>
                <a:ea typeface="맑은 고딕"/>
              </a:rPr>
              <a:t>고정 분류 편입 </a:t>
            </a:r>
            <a:r>
              <a:rPr sz="950" b="0">
                <a:solidFill>
                  <a:srgbClr val="999999"/>
                </a:solidFill>
                <a:latin typeface="맑은 고딕"/>
                <a:ea typeface="맑은 고딕"/>
              </a:rPr>
              <a:t>—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대상 분류 선택 → 확정 — AI Model→비용/ML→모델 유형만</a:t>
            </a:r>
          </a:p>
        </p:txBody>
      </p:sp>
      <p:sp>
        <p:nvSpPr>
          <p:cNvPr id="86" name="Rectangle 85"/>
          <p:cNvSpPr/>
          <p:nvPr/>
        </p:nvSpPr>
        <p:spPr>
          <a:xfrm>
            <a:off x="5824728" y="5387644"/>
            <a:ext cx="5982919" cy="1086307"/>
          </a:xfrm>
          <a:prstGeom prst="rect">
            <a:avLst/>
          </a:prstGeom>
          <a:solidFill>
            <a:srgbClr val="F7F7F7"/>
          </a:solidFill>
          <a:ln w="12700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87" name="Connector 86"/>
          <p:cNvCxnSpPr/>
          <p:nvPr/>
        </p:nvCxnSpPr>
        <p:spPr>
          <a:xfrm>
            <a:off x="5824728" y="5661964"/>
            <a:ext cx="5982919" cy="0"/>
          </a:xfrm>
          <a:prstGeom prst="line">
            <a:avLst/>
          </a:prstGeom>
          <a:ln w="12700">
            <a:solidFill>
              <a:srgbClr val="CCCCC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8" name="TextBox 87"/>
          <p:cNvSpPr txBox="1"/>
          <p:nvPr/>
        </p:nvSpPr>
        <p:spPr>
          <a:xfrm>
            <a:off x="5934456" y="5428792"/>
            <a:ext cx="5763463" cy="237744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11111"/>
                </a:solidFill>
                <a:latin typeface="맑은 고딕"/>
                <a:ea typeface="맑은 고딕"/>
              </a:rPr>
              <a:t>화면 룰·기획 근거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5952744" y="5698540"/>
            <a:ext cx="5726887" cy="738835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100"/>
              </a:spcAft>
            </a:pPr>
            <a:r>
              <a:rPr sz="85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850" b="0">
                <a:solidFill>
                  <a:srgbClr val="333333"/>
                </a:solidFill>
                <a:latin typeface="맑은 고딕"/>
                <a:ea typeface="맑은 고딕"/>
              </a:rPr>
              <a:t>편입 가능 조합 2종 한정</a:t>
            </a:r>
          </a:p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100"/>
              </a:spcAft>
            </a:pPr>
            <a:r>
              <a:rPr sz="85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850" b="0">
                <a:solidFill>
                  <a:srgbClr val="333333"/>
                </a:solidFill>
                <a:latin typeface="맑은 고딕"/>
                <a:ea typeface="맑은 고딕"/>
              </a:rPr>
              <a:t>더보기 증분</a:t>
            </a:r>
          </a:p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DC2626"/>
                </a:solidFill>
                <a:latin typeface="맑은 고딕"/>
                <a:ea typeface="맑은 고딕"/>
              </a:rPr>
              <a:t>BE·DB  </a:t>
            </a:r>
            <a:r>
              <a:rPr sz="850" b="0">
                <a:solidFill>
                  <a:srgbClr val="666666"/>
                </a:solidFill>
                <a:latin typeface="맑은 고딕"/>
                <a:ea typeface="맑은 고딕"/>
              </a:rPr>
              <a:t>getCategoryTaxonomy·getFreeTags. 분류 마스터+카드-분류 참조, 편입은 태그→분류 전환+카드 참조 갱신 동시 처리.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84048" y="384048"/>
            <a:ext cx="7996519" cy="365760"/>
          </a:xfrm>
          <a:prstGeom prst="rect">
            <a:avLst/>
          </a:prstGeom>
          <a:noFill/>
        </p:spPr>
        <p:txBody>
          <a:bodyPr wrap="square" anchor="ctr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111111"/>
                </a:solidFill>
                <a:latin typeface="맑은 고딕"/>
                <a:ea typeface="맑은 고딕"/>
              </a:rPr>
              <a:t>ADM-06  ·  자동화·AI 도구 관리 (Platforms)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238207" y="384048"/>
            <a:ext cx="4569439" cy="365760"/>
          </a:xfrm>
          <a:prstGeom prst="rect">
            <a:avLst/>
          </a:prstGeom>
          <a:noFill/>
        </p:spPr>
        <p:txBody>
          <a:bodyPr wrap="square" anchor="ctr" lIns="54864" rIns="54864" tIns="27432" bIns="18288">
            <a:no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999999"/>
                </a:solidFill>
                <a:latin typeface="맑은 고딕"/>
                <a:ea typeface="맑은 고딕"/>
              </a:rPr>
              <a:t>화면 정의 (Screen Definition)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384048" y="786384"/>
            <a:ext cx="11423599" cy="0"/>
          </a:xfrm>
          <a:prstGeom prst="line">
            <a:avLst/>
          </a:prstGeom>
          <a:ln w="19050">
            <a:solidFill>
              <a:srgbClr val="CCCCC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384048" y="822959"/>
            <a:ext cx="11423599" cy="182880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999999"/>
                </a:solidFill>
                <a:latin typeface="맑은 고딕"/>
                <a:ea typeface="맑은 고딕"/>
              </a:rPr>
              <a:t>화면에 표기된 카테고리·업무 도메인 등 분류 개수는 마스터 데이터에서 파생되는 현재값이며, 고정 상수가 아니다(0.9).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84048" y="1097280"/>
            <a:ext cx="6282979" cy="219456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999999"/>
                </a:solidFill>
                <a:latin typeface="맑은 고딕"/>
                <a:ea typeface="맑은 고딕"/>
              </a:rPr>
              <a:t>화면 구조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29768" y="1371600"/>
            <a:ext cx="3838754" cy="233172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75488" y="1371600"/>
            <a:ext cx="3747314" cy="233172"/>
          </a:xfrm>
          <a:prstGeom prst="rect">
            <a:avLst/>
          </a:prstGeom>
          <a:noFill/>
        </p:spPr>
        <p:txBody>
          <a:bodyPr wrap="square" anchor="ctr" lIns="54864" rIns="54864" tIns="27432" bIns="18288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333333"/>
                </a:solidFill>
                <a:latin typeface="맑은 고딕"/>
                <a:ea typeface="맑은 고딕"/>
              </a:rPr>
              <a:t>도구 관리 (/admin/platforms)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13815" y="1714500"/>
            <a:ext cx="3600644" cy="233172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59536" y="1714500"/>
            <a:ext cx="3509204" cy="233172"/>
          </a:xfrm>
          <a:prstGeom prst="rect">
            <a:avLst/>
          </a:prstGeom>
          <a:noFill/>
        </p:spPr>
        <p:txBody>
          <a:bodyPr wrap="square" anchor="ctr" lIns="54864" rIns="54864" tIns="27432" bIns="18288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333333"/>
                </a:solidFill>
                <a:latin typeface="맑은 고딕"/>
                <a:ea typeface="맑은 고딕"/>
              </a:rPr>
              <a:t>좌 카테고리 목록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539496" y="1488186"/>
            <a:ext cx="0" cy="342900"/>
          </a:xfrm>
          <a:prstGeom prst="line">
            <a:avLst/>
          </a:prstGeom>
          <a:ln w="16510">
            <a:solidFill>
              <a:srgbClr val="99999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539496" y="1831086"/>
            <a:ext cx="274319" cy="0"/>
          </a:xfrm>
          <a:prstGeom prst="line">
            <a:avLst/>
          </a:prstGeom>
          <a:ln w="16510">
            <a:solidFill>
              <a:srgbClr val="99999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813815" y="2057400"/>
            <a:ext cx="3600644" cy="233172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59536" y="2057400"/>
            <a:ext cx="3509204" cy="233172"/>
          </a:xfrm>
          <a:prstGeom prst="rect">
            <a:avLst/>
          </a:prstGeom>
          <a:noFill/>
        </p:spPr>
        <p:txBody>
          <a:bodyPr wrap="square" anchor="ctr" lIns="54864" rIns="54864" tIns="27432" bIns="18288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333333"/>
                </a:solidFill>
                <a:latin typeface="맑은 고딕"/>
                <a:ea typeface="맑은 고딕"/>
              </a:rPr>
              <a:t>우 기본 정보·경로·연결·표시 스타일·노출 상태·액션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539496" y="1488186"/>
            <a:ext cx="0" cy="685800"/>
          </a:xfrm>
          <a:prstGeom prst="line">
            <a:avLst/>
          </a:prstGeom>
          <a:ln w="16510">
            <a:solidFill>
              <a:srgbClr val="99999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539496" y="2173986"/>
            <a:ext cx="274319" cy="0"/>
          </a:xfrm>
          <a:prstGeom prst="line">
            <a:avLst/>
          </a:prstGeom>
          <a:ln w="16510">
            <a:solidFill>
              <a:srgbClr val="99999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384048" y="4288536"/>
            <a:ext cx="6282979" cy="219456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999999"/>
                </a:solidFill>
                <a:latin typeface="맑은 고딕"/>
                <a:ea typeface="맑은 고딕"/>
              </a:rPr>
              <a:t>사용자 흐름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29768" y="4562855"/>
            <a:ext cx="1369576" cy="4572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75488" y="4562855"/>
            <a:ext cx="1278136" cy="457200"/>
          </a:xfrm>
          <a:prstGeom prst="rect">
            <a:avLst/>
          </a:prstGeom>
          <a:noFill/>
        </p:spPr>
        <p:txBody>
          <a:bodyPr wrap="square" anchor="ctr" lIns="54864" rIns="54864" tIns="27432" bIns="18288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333333"/>
                </a:solidFill>
                <a:latin typeface="맑은 고딕"/>
                <a:ea typeface="맑은 고딕"/>
              </a:rPr>
              <a:t>카테고리 선택</a:t>
            </a:r>
          </a:p>
        </p:txBody>
      </p:sp>
      <p:sp>
        <p:nvSpPr>
          <p:cNvPr id="20" name="Right Arrow 19"/>
          <p:cNvSpPr/>
          <p:nvPr/>
        </p:nvSpPr>
        <p:spPr>
          <a:xfrm>
            <a:off x="1817632" y="4727447"/>
            <a:ext cx="201168" cy="128016"/>
          </a:xfrm>
          <a:prstGeom prst="rightArrow">
            <a:avLst/>
          </a:prstGeom>
          <a:solidFill>
            <a:srgbClr val="CCC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2037088" y="4562855"/>
            <a:ext cx="1369576" cy="4572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2082808" y="4562855"/>
            <a:ext cx="1278136" cy="457200"/>
          </a:xfrm>
          <a:prstGeom prst="rect">
            <a:avLst/>
          </a:prstGeom>
          <a:noFill/>
        </p:spPr>
        <p:txBody>
          <a:bodyPr wrap="square" anchor="ctr" lIns="54864" rIns="54864" tIns="27432" bIns="18288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333333"/>
                </a:solidFill>
                <a:latin typeface="맑은 고딕"/>
                <a:ea typeface="맑은 고딕"/>
              </a:rPr>
              <a:t>메타 수정</a:t>
            </a:r>
          </a:p>
        </p:txBody>
      </p:sp>
      <p:sp>
        <p:nvSpPr>
          <p:cNvPr id="23" name="Right Arrow 22"/>
          <p:cNvSpPr/>
          <p:nvPr/>
        </p:nvSpPr>
        <p:spPr>
          <a:xfrm>
            <a:off x="3424953" y="4727447"/>
            <a:ext cx="201168" cy="128016"/>
          </a:xfrm>
          <a:prstGeom prst="rightArrow">
            <a:avLst/>
          </a:prstGeom>
          <a:solidFill>
            <a:srgbClr val="CCC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3644409" y="4562855"/>
            <a:ext cx="1369576" cy="4572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690129" y="4562855"/>
            <a:ext cx="1278136" cy="457200"/>
          </a:xfrm>
          <a:prstGeom prst="rect">
            <a:avLst/>
          </a:prstGeom>
          <a:noFill/>
        </p:spPr>
        <p:txBody>
          <a:bodyPr wrap="square" anchor="ctr" lIns="54864" rIns="54864" tIns="27432" bIns="18288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333333"/>
                </a:solidFill>
                <a:latin typeface="맑은 고딕"/>
                <a:ea typeface="맑은 고딕"/>
              </a:rPr>
              <a:t>저장</a:t>
            </a:r>
          </a:p>
        </p:txBody>
      </p:sp>
      <p:sp>
        <p:nvSpPr>
          <p:cNvPr id="26" name="Right Arrow 25"/>
          <p:cNvSpPr/>
          <p:nvPr/>
        </p:nvSpPr>
        <p:spPr>
          <a:xfrm>
            <a:off x="5032274" y="4727447"/>
            <a:ext cx="201168" cy="128016"/>
          </a:xfrm>
          <a:prstGeom prst="rightArrow">
            <a:avLst/>
          </a:prstGeom>
          <a:solidFill>
            <a:srgbClr val="CCC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5251730" y="4562855"/>
            <a:ext cx="1369576" cy="4572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297450" y="4562855"/>
            <a:ext cx="1278136" cy="457200"/>
          </a:xfrm>
          <a:prstGeom prst="rect">
            <a:avLst/>
          </a:prstGeom>
          <a:noFill/>
        </p:spPr>
        <p:txBody>
          <a:bodyPr wrap="square" anchor="ctr" lIns="54864" rIns="54864" tIns="27432" bIns="18288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333333"/>
                </a:solidFill>
                <a:latin typeface="맑은 고딕"/>
                <a:ea typeface="맑은 고딕"/>
              </a:rPr>
              <a:t>전 화면 파생 반영</a:t>
            </a:r>
          </a:p>
        </p:txBody>
      </p:sp>
      <p:sp>
        <p:nvSpPr>
          <p:cNvPr id="29" name="Down Arrow 28"/>
          <p:cNvSpPr/>
          <p:nvPr/>
        </p:nvSpPr>
        <p:spPr>
          <a:xfrm>
            <a:off x="1050548" y="5038343"/>
            <a:ext cx="128016" cy="256032"/>
          </a:xfrm>
          <a:prstGeom prst="downArrow">
            <a:avLst/>
          </a:prstGeom>
          <a:solidFill>
            <a:srgbClr val="CCC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429768" y="5330951"/>
            <a:ext cx="1369576" cy="384048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75488" y="5330951"/>
            <a:ext cx="1278136" cy="384048"/>
          </a:xfrm>
          <a:prstGeom prst="rect">
            <a:avLst/>
          </a:prstGeom>
          <a:noFill/>
        </p:spPr>
        <p:txBody>
          <a:bodyPr wrap="square" anchor="ctr" lIns="54864" rIns="54864" tIns="27432" bIns="18288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333333"/>
                </a:solidFill>
                <a:latin typeface="맑은 고딕"/>
                <a:ea typeface="맑은 고딕"/>
              </a:rPr>
              <a:t>신규 추가 → id·경로 중복 검사</a:t>
            </a:r>
          </a:p>
        </p:txBody>
      </p:sp>
      <p:sp>
        <p:nvSpPr>
          <p:cNvPr id="32" name="Down Arrow 31"/>
          <p:cNvSpPr/>
          <p:nvPr/>
        </p:nvSpPr>
        <p:spPr>
          <a:xfrm>
            <a:off x="4265190" y="5038343"/>
            <a:ext cx="128016" cy="256032"/>
          </a:xfrm>
          <a:prstGeom prst="downArrow">
            <a:avLst/>
          </a:prstGeom>
          <a:solidFill>
            <a:srgbClr val="CCC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3644409" y="5330951"/>
            <a:ext cx="1369576" cy="384048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90129" y="5330951"/>
            <a:ext cx="1278136" cy="384048"/>
          </a:xfrm>
          <a:prstGeom prst="rect">
            <a:avLst/>
          </a:prstGeom>
          <a:noFill/>
        </p:spPr>
        <p:txBody>
          <a:bodyPr wrap="square" anchor="ctr" lIns="54864" rIns="54864" tIns="27432" bIns="18288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333333"/>
                </a:solidFill>
                <a:latin typeface="맑은 고딕"/>
                <a:ea typeface="맑은 고딕"/>
              </a:rPr>
              <a:t>삭제 대신 비활성화 권장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29768" y="5861303"/>
            <a:ext cx="6191539" cy="201168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999999"/>
                </a:solidFill>
                <a:latin typeface="맑은 고딕"/>
                <a:ea typeface="맑은 고딕"/>
              </a:rPr>
              <a:t>설계 근거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48056" y="6080759"/>
            <a:ext cx="6154963" cy="393192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85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850" b="0">
                <a:solidFill>
                  <a:srgbClr val="666666"/>
                </a:solidFill>
                <a:latin typeface="맑은 고딕"/>
                <a:ea typeface="맑은 고딕"/>
              </a:rPr>
              <a:t>카테고리 메타는 단일 소스라 편집이 목록 필터·뱃지·통계 범례로 파급된다 — 그래서 전사 관리자 전용이다.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85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850" b="0">
                <a:solidFill>
                  <a:srgbClr val="666666"/>
                </a:solidFill>
                <a:latin typeface="맑은 고딕"/>
                <a:ea typeface="맑은 고딕"/>
              </a:rPr>
              <a:t>아이콘 21종·파스텔 프리셋 8종 안에서만 고르게 해 톤 일관을 유지하고 유사색 배정을 피한다.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941347" y="1097280"/>
            <a:ext cx="4866299" cy="1012652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7051075" y="1133856"/>
            <a:ext cx="4646843" cy="237744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333333"/>
                </a:solidFill>
                <a:latin typeface="맑은 고딕"/>
                <a:ea typeface="맑은 고딕"/>
              </a:rPr>
              <a:t>정의·역할</a:t>
            </a:r>
          </a:p>
        </p:txBody>
      </p:sp>
      <p:cxnSp>
        <p:nvCxnSpPr>
          <p:cNvPr id="39" name="Connector 38"/>
          <p:cNvCxnSpPr/>
          <p:nvPr/>
        </p:nvCxnSpPr>
        <p:spPr>
          <a:xfrm>
            <a:off x="7051075" y="1371600"/>
            <a:ext cx="4646844" cy="0"/>
          </a:xfrm>
          <a:prstGeom prst="line">
            <a:avLst/>
          </a:prstGeom>
          <a:ln w="12700">
            <a:solidFill>
              <a:srgbClr val="EEEEE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0" name="TextBox 39"/>
          <p:cNvSpPr txBox="1"/>
          <p:nvPr/>
        </p:nvSpPr>
        <p:spPr>
          <a:xfrm>
            <a:off x="7069363" y="1408176"/>
            <a:ext cx="4610267" cy="665180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접근: admin 전용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카테고리 7종 메타(식별자·표시명·설명·경로·외부 주소·아이콘·색·노출) 관리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941347" y="2237948"/>
            <a:ext cx="4866299" cy="615343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7051075" y="2274524"/>
            <a:ext cx="4646843" cy="237744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333333"/>
                </a:solidFill>
                <a:latin typeface="맑은 고딕"/>
                <a:ea typeface="맑은 고딕"/>
              </a:rPr>
              <a:t>목적</a:t>
            </a:r>
          </a:p>
        </p:txBody>
      </p:sp>
      <p:cxnSp>
        <p:nvCxnSpPr>
          <p:cNvPr id="43" name="Connector 42"/>
          <p:cNvCxnSpPr/>
          <p:nvPr/>
        </p:nvCxnSpPr>
        <p:spPr>
          <a:xfrm>
            <a:off x="7051075" y="2512268"/>
            <a:ext cx="4646844" cy="0"/>
          </a:xfrm>
          <a:prstGeom prst="line">
            <a:avLst/>
          </a:prstGeom>
          <a:ln w="12700">
            <a:solidFill>
              <a:srgbClr val="EEEEE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TextBox 43"/>
          <p:cNvSpPr txBox="1"/>
          <p:nvPr/>
        </p:nvSpPr>
        <p:spPr>
          <a:xfrm>
            <a:off x="7069363" y="2548844"/>
            <a:ext cx="4610267" cy="267871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명칭·브랜딩 변경과 신규 추가를 운영 단계에서 처리</a:t>
            </a:r>
          </a:p>
        </p:txBody>
      </p:sp>
      <p:sp>
        <p:nvSpPr>
          <p:cNvPr id="45" name="Rectangle 44"/>
          <p:cNvSpPr/>
          <p:nvPr/>
        </p:nvSpPr>
        <p:spPr>
          <a:xfrm>
            <a:off x="6941347" y="2981308"/>
            <a:ext cx="4866299" cy="1409961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7051075" y="3017884"/>
            <a:ext cx="4646843" cy="237744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333333"/>
                </a:solidFill>
                <a:latin typeface="맑은 고딕"/>
                <a:ea typeface="맑은 고딕"/>
              </a:rPr>
              <a:t>기획 의도</a:t>
            </a:r>
          </a:p>
        </p:txBody>
      </p:sp>
      <p:cxnSp>
        <p:nvCxnSpPr>
          <p:cNvPr id="47" name="Connector 46"/>
          <p:cNvCxnSpPr/>
          <p:nvPr/>
        </p:nvCxnSpPr>
        <p:spPr>
          <a:xfrm>
            <a:off x="7051075" y="3255628"/>
            <a:ext cx="4646844" cy="0"/>
          </a:xfrm>
          <a:prstGeom prst="line">
            <a:avLst/>
          </a:prstGeom>
          <a:ln w="12700">
            <a:solidFill>
              <a:srgbClr val="EEEEE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8" name="TextBox 47"/>
          <p:cNvSpPr txBox="1"/>
          <p:nvPr/>
        </p:nvSpPr>
        <p:spPr>
          <a:xfrm>
            <a:off x="7069363" y="3292204"/>
            <a:ext cx="4610267" cy="1062489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카테고리 메타는 단일 소스 — 목록 필터·뱃지·통계 범례가 전부 파생되므로 편집이 전 화면에 파급 → 전사 관리자 전용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아이콘 21종·파스텔 프리셋 8종 안에서만 선택해 톤 일관 유지, 유사색 배정 회피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삭제보다 비활성화 권장 — 기존 카드 참조 보존</a:t>
            </a:r>
          </a:p>
        </p:txBody>
      </p:sp>
      <p:sp>
        <p:nvSpPr>
          <p:cNvPr id="49" name="Rectangle 48"/>
          <p:cNvSpPr/>
          <p:nvPr/>
        </p:nvSpPr>
        <p:spPr>
          <a:xfrm>
            <a:off x="6941347" y="4519285"/>
            <a:ext cx="4866299" cy="1012652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7051075" y="4555861"/>
            <a:ext cx="4646843" cy="237744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333333"/>
                </a:solidFill>
                <a:latin typeface="맑은 고딕"/>
                <a:ea typeface="맑은 고딕"/>
              </a:rPr>
              <a:t>지켜야 할 룰</a:t>
            </a:r>
          </a:p>
        </p:txBody>
      </p:sp>
      <p:cxnSp>
        <p:nvCxnSpPr>
          <p:cNvPr id="51" name="Connector 50"/>
          <p:cNvCxnSpPr/>
          <p:nvPr/>
        </p:nvCxnSpPr>
        <p:spPr>
          <a:xfrm>
            <a:off x="7051075" y="4793605"/>
            <a:ext cx="4646844" cy="0"/>
          </a:xfrm>
          <a:prstGeom prst="line">
            <a:avLst/>
          </a:prstGeom>
          <a:ln w="12700">
            <a:solidFill>
              <a:srgbClr val="EEEEE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2" name="TextBox 51"/>
          <p:cNvSpPr txBox="1"/>
          <p:nvPr/>
        </p:nvSpPr>
        <p:spPr>
          <a:xfrm>
            <a:off x="7069363" y="4830181"/>
            <a:ext cx="4610267" cy="665180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내부 식별자는 생성 후 변경 불가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신규는 중복 검사 통과 필수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외부 도구 주소 미설정 허용(소비 지점 미구현 — 백로그)</a:t>
            </a:r>
          </a:p>
        </p:txBody>
      </p:sp>
      <p:sp>
        <p:nvSpPr>
          <p:cNvPr id="53" name="Rectangle 52"/>
          <p:cNvSpPr/>
          <p:nvPr/>
        </p:nvSpPr>
        <p:spPr>
          <a:xfrm>
            <a:off x="6941347" y="5659953"/>
            <a:ext cx="4866299" cy="813998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7051075" y="5696529"/>
            <a:ext cx="4646843" cy="237744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333333"/>
                </a:solidFill>
                <a:latin typeface="맑은 고딕"/>
                <a:ea typeface="맑은 고딕"/>
              </a:rPr>
              <a:t>개발 연동 노트</a:t>
            </a:r>
          </a:p>
        </p:txBody>
      </p:sp>
      <p:cxnSp>
        <p:nvCxnSpPr>
          <p:cNvPr id="55" name="Connector 54"/>
          <p:cNvCxnSpPr/>
          <p:nvPr/>
        </p:nvCxnSpPr>
        <p:spPr>
          <a:xfrm>
            <a:off x="7051075" y="5934273"/>
            <a:ext cx="4646844" cy="0"/>
          </a:xfrm>
          <a:prstGeom prst="line">
            <a:avLst/>
          </a:prstGeom>
          <a:ln w="12700">
            <a:solidFill>
              <a:srgbClr val="EEEEE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6" name="TextBox 55"/>
          <p:cNvSpPr txBox="1"/>
          <p:nvPr/>
        </p:nvSpPr>
        <p:spPr>
          <a:xfrm>
            <a:off x="7069363" y="5970849"/>
            <a:ext cx="4610267" cy="466526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카테고리 마스터 CRUD API. 편집 파급 고려 캐시 무효화 전략 필요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비활성 카테고리의 기존 카드 정책은 명세서 확정(부록 B)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aphicFrame>
        <p:nvGraphicFramePr>
          <p:cNvPr id="2" name="Table 1"/>
          <p:cNvGraphicFramePr>
            <a:graphicFrameLocks noGrp="1"/>
          </p:cNvGraphicFramePr>
          <p:nvPr/>
        </p:nvGraphicFramePr>
        <p:xfrm>
          <a:off x="384048" y="384048"/>
          <a:ext cx="11423599" cy="1042416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371600"/>
                <a:gridCol w="4297680"/>
                <a:gridCol w="1280160"/>
                <a:gridCol w="4474159"/>
              </a:tblGrid>
              <a:tr h="384048">
                <a:tc gridSpan="3"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자동화·AI 도구 관리</a:t>
                      </a:r>
                    </a:p>
                  </a:txBody>
                  <a:tcPr anchor="ctr" marL="73152" marR="54864" marT="18288" marB="18288">
                    <a:solidFill>
                      <a:srgbClr val="111111"/>
                    </a:solidFill>
                    <a:lnL w="9525" cap="flat">
                      <a:solidFill>
                        <a:srgbClr val="666666"/>
                      </a:solidFill>
                    </a:lnL>
                    <a:lnR w="9525" cap="flat">
                      <a:solidFill>
                        <a:srgbClr val="666666"/>
                      </a:solidFill>
                    </a:lnR>
                    <a:lnT w="9525" cap="flat">
                      <a:solidFill>
                        <a:srgbClr val="666666"/>
                      </a:solidFill>
                    </a:lnT>
                    <a:lnB w="9525" cap="flat">
                      <a:solidFill>
                        <a:srgbClr val="666666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Page 1 / 1</a:t>
                      </a:r>
                    </a:p>
                  </a:txBody>
                  <a:tcPr anchor="ctr" marL="73152" marR="54864" marT="18288" marB="18288">
                    <a:solidFill>
                      <a:srgbClr val="111111"/>
                    </a:solidFill>
                    <a:lnL w="9525" cap="flat">
                      <a:solidFill>
                        <a:srgbClr val="666666"/>
                      </a:solidFill>
                    </a:lnL>
                    <a:lnR w="9525" cap="flat">
                      <a:solidFill>
                        <a:srgbClr val="666666"/>
                      </a:solidFill>
                    </a:lnR>
                    <a:lnT w="9525" cap="flat">
                      <a:solidFill>
                        <a:srgbClr val="666666"/>
                      </a:solidFill>
                    </a:lnT>
                    <a:lnB w="9525" cap="flat">
                      <a:solidFill>
                        <a:srgbClr val="666666"/>
                      </a:solidFill>
                    </a:lnB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</a:rPr>
                        <a:t>Page Title</a:t>
                      </a:r>
                    </a:p>
                  </a:txBody>
                  <a:tcPr anchor="ctr" marL="73152" marR="54864" marT="18288" marB="18288">
                    <a:solidFill>
                      <a:srgbClr val="EEEEEE"/>
                    </a:solidFill>
                    <a:lnL w="9525" cap="flat">
                      <a:solidFill>
                        <a:srgbClr val="666666"/>
                      </a:solidFill>
                    </a:lnL>
                    <a:lnR w="9525" cap="flat">
                      <a:solidFill>
                        <a:srgbClr val="666666"/>
                      </a:solidFill>
                    </a:lnR>
                    <a:lnT w="9525" cap="flat">
                      <a:solidFill>
                        <a:srgbClr val="666666"/>
                      </a:solidFill>
                    </a:lnT>
                    <a:lnB w="9525" cap="flat">
                      <a:solidFill>
                        <a:srgbClr val="666666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111111"/>
                          </a:solidFill>
                          <a:latin typeface="맑은 고딕"/>
                          <a:ea typeface="맑은 고딕"/>
                        </a:rPr>
                        <a:t>자동화·AI 도구 관리</a:t>
                      </a:r>
                    </a:p>
                  </a:txBody>
                  <a:tcPr anchor="ctr" marL="73152" marR="54864" marT="18288" marB="18288">
                    <a:solidFill>
                      <a:srgbClr val="FFFFFF"/>
                    </a:solidFill>
                    <a:lnL w="9525" cap="flat">
                      <a:solidFill>
                        <a:srgbClr val="666666"/>
                      </a:solidFill>
                    </a:lnL>
                    <a:lnR w="9525" cap="flat">
                      <a:solidFill>
                        <a:srgbClr val="666666"/>
                      </a:solidFill>
                    </a:lnR>
                    <a:lnT w="9525" cap="flat">
                      <a:solidFill>
                        <a:srgbClr val="666666"/>
                      </a:solidFill>
                    </a:lnT>
                    <a:lnB w="9525" cap="flat">
                      <a:solidFill>
                        <a:srgbClr val="666666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</a:rPr>
                        <a:t>Screen ID</a:t>
                      </a:r>
                    </a:p>
                  </a:txBody>
                  <a:tcPr anchor="ctr" marL="73152" marR="54864" marT="18288" marB="18288">
                    <a:solidFill>
                      <a:srgbClr val="EEEEEE"/>
                    </a:solidFill>
                    <a:lnL w="9525" cap="flat">
                      <a:solidFill>
                        <a:srgbClr val="666666"/>
                      </a:solidFill>
                    </a:lnL>
                    <a:lnR w="9525" cap="flat">
                      <a:solidFill>
                        <a:srgbClr val="666666"/>
                      </a:solidFill>
                    </a:lnR>
                    <a:lnT w="9525" cap="flat">
                      <a:solidFill>
                        <a:srgbClr val="666666"/>
                      </a:solidFill>
                    </a:lnT>
                    <a:lnB w="9525" cap="flat">
                      <a:solidFill>
                        <a:srgbClr val="666666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111111"/>
                          </a:solidFill>
                          <a:latin typeface="맑은 고딕"/>
                          <a:ea typeface="맑은 고딕"/>
                        </a:rPr>
                        <a:t>ADM-06</a:t>
                      </a:r>
                    </a:p>
                  </a:txBody>
                  <a:tcPr anchor="ctr" marL="73152" marR="54864" marT="18288" marB="18288">
                    <a:solidFill>
                      <a:srgbClr val="FFFFFF"/>
                    </a:solidFill>
                    <a:lnL w="9525" cap="flat">
                      <a:solidFill>
                        <a:srgbClr val="666666"/>
                      </a:solidFill>
                    </a:lnL>
                    <a:lnR w="9525" cap="flat">
                      <a:solidFill>
                        <a:srgbClr val="666666"/>
                      </a:solidFill>
                    </a:lnR>
                    <a:lnT w="9525" cap="flat">
                      <a:solidFill>
                        <a:srgbClr val="666666"/>
                      </a:solidFill>
                    </a:lnT>
                    <a:lnB w="9525" cap="flat">
                      <a:solidFill>
                        <a:srgbClr val="666666"/>
                      </a:solidFill>
                    </a:lnB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</a:rPr>
                        <a:t>Screen Path</a:t>
                      </a:r>
                    </a:p>
                  </a:txBody>
                  <a:tcPr anchor="ctr" marL="73152" marR="54864" marT="18288" marB="18288">
                    <a:solidFill>
                      <a:srgbClr val="EEEEEE"/>
                    </a:solidFill>
                    <a:lnL w="9525" cap="flat">
                      <a:solidFill>
                        <a:srgbClr val="666666"/>
                      </a:solidFill>
                    </a:lnL>
                    <a:lnR w="9525" cap="flat">
                      <a:solidFill>
                        <a:srgbClr val="666666"/>
                      </a:solidFill>
                    </a:lnR>
                    <a:lnT w="9525" cap="flat">
                      <a:solidFill>
                        <a:srgbClr val="666666"/>
                      </a:solidFill>
                    </a:lnT>
                    <a:lnB w="9525" cap="flat">
                      <a:solidFill>
                        <a:srgbClr val="666666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</a:rPr>
                        <a:t>/admin/platforms  (admin 전용)</a:t>
                      </a:r>
                    </a:p>
                  </a:txBody>
                  <a:tcPr anchor="ctr" marL="73152" marR="54864" marT="18288" marB="18288">
                    <a:solidFill>
                      <a:srgbClr val="FFFFFF"/>
                    </a:solidFill>
                    <a:lnL w="9525" cap="flat">
                      <a:solidFill>
                        <a:srgbClr val="666666"/>
                      </a:solidFill>
                    </a:lnL>
                    <a:lnR w="9525" cap="flat">
                      <a:solidFill>
                        <a:srgbClr val="666666"/>
                      </a:solidFill>
                    </a:lnR>
                    <a:lnT w="9525" cap="flat">
                      <a:solidFill>
                        <a:srgbClr val="666666"/>
                      </a:solidFill>
                    </a:lnT>
                    <a:lnB w="9525" cap="flat">
                      <a:solidFill>
                        <a:srgbClr val="666666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</a:rPr>
                        <a:t>작성자</a:t>
                      </a:r>
                    </a:p>
                  </a:txBody>
                  <a:tcPr anchor="ctr" marL="73152" marR="54864" marT="18288" marB="18288">
                    <a:solidFill>
                      <a:srgbClr val="EEEEEE"/>
                    </a:solidFill>
                    <a:lnL w="9525" cap="flat">
                      <a:solidFill>
                        <a:srgbClr val="666666"/>
                      </a:solidFill>
                    </a:lnL>
                    <a:lnR w="9525" cap="flat">
                      <a:solidFill>
                        <a:srgbClr val="666666"/>
                      </a:solidFill>
                    </a:lnR>
                    <a:lnT w="9525" cap="flat">
                      <a:solidFill>
                        <a:srgbClr val="666666"/>
                      </a:solidFill>
                    </a:lnT>
                    <a:lnB w="9525" cap="flat">
                      <a:solidFill>
                        <a:srgbClr val="666666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11111"/>
                          </a:solidFill>
                          <a:latin typeface="맑은 고딕"/>
                          <a:ea typeface="맑은 고딕"/>
                        </a:rPr>
                        <a:t>배상혁</a:t>
                      </a:r>
                    </a:p>
                  </a:txBody>
                  <a:tcPr anchor="ctr" marL="73152" marR="54864" marT="18288" marB="18288">
                    <a:solidFill>
                      <a:srgbClr val="FFFFFF"/>
                    </a:solidFill>
                    <a:lnL w="9525" cap="flat">
                      <a:solidFill>
                        <a:srgbClr val="666666"/>
                      </a:solidFill>
                    </a:lnL>
                    <a:lnR w="9525" cap="flat">
                      <a:solidFill>
                        <a:srgbClr val="666666"/>
                      </a:solidFill>
                    </a:lnR>
                    <a:lnT w="9525" cap="flat">
                      <a:solidFill>
                        <a:srgbClr val="666666"/>
                      </a:solidFill>
                    </a:lnT>
                    <a:lnB w="9525" cap="flat">
                      <a:solidFill>
                        <a:srgbClr val="666666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3" name="Rectangle 2"/>
          <p:cNvSpPr/>
          <p:nvPr/>
        </p:nvSpPr>
        <p:spPr>
          <a:xfrm>
            <a:off x="384048" y="1572767"/>
            <a:ext cx="5166360" cy="4901184"/>
          </a:xfrm>
          <a:prstGeom prst="rect">
            <a:avLst/>
          </a:prstGeom>
          <a:solidFill>
            <a:srgbClr val="FFFFFF"/>
          </a:solidFill>
          <a:ln w="3048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84048" y="1572767"/>
            <a:ext cx="5166360" cy="146304"/>
          </a:xfrm>
          <a:prstGeom prst="rect">
            <a:avLst/>
          </a:prstGeom>
          <a:solidFill>
            <a:srgbClr val="F7F7F7"/>
          </a:solidFill>
          <a:ln w="3048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484632" y="1623059"/>
            <a:ext cx="45720" cy="45720"/>
          </a:xfrm>
          <a:prstGeom prst="ellipse">
            <a:avLst/>
          </a:prstGeom>
          <a:solidFill>
            <a:srgbClr val="CCC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585216" y="1623059"/>
            <a:ext cx="45720" cy="45720"/>
          </a:xfrm>
          <a:prstGeom prst="ellipse">
            <a:avLst/>
          </a:prstGeom>
          <a:solidFill>
            <a:srgbClr val="CCC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685800" y="1623059"/>
            <a:ext cx="45720" cy="45720"/>
          </a:xfrm>
          <a:prstGeom prst="ellipse">
            <a:avLst/>
          </a:prstGeom>
          <a:solidFill>
            <a:srgbClr val="CCC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12064" y="1847087"/>
            <a:ext cx="4910328" cy="256032"/>
          </a:xfrm>
          <a:prstGeom prst="rect">
            <a:avLst/>
          </a:prstGeom>
          <a:solidFill>
            <a:srgbClr val="F7F7F7"/>
          </a:solidFill>
          <a:ln w="1651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585216" y="1911095"/>
            <a:ext cx="658368" cy="12801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5166359" y="1883663"/>
            <a:ext cx="182880" cy="182880"/>
          </a:xfrm>
          <a:prstGeom prst="ellipse">
            <a:avLst/>
          </a:prstGeom>
          <a:solidFill>
            <a:srgbClr val="FFFFFF"/>
          </a:solidFill>
          <a:ln w="1524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12064" y="2157983"/>
            <a:ext cx="914400" cy="4187952"/>
          </a:xfrm>
          <a:prstGeom prst="rect">
            <a:avLst/>
          </a:prstGeom>
          <a:solidFill>
            <a:srgbClr val="F7F7F7"/>
          </a:solidFill>
          <a:ln w="1651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594360" y="2267711"/>
            <a:ext cx="749808" cy="14630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594360" y="2542031"/>
            <a:ext cx="749808" cy="14630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594360" y="2816351"/>
            <a:ext cx="749808" cy="14630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594360" y="3090671"/>
            <a:ext cx="749808" cy="14630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594360" y="3364991"/>
            <a:ext cx="749808" cy="14630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594360" y="3639311"/>
            <a:ext cx="749808" cy="14630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594360" y="3913631"/>
            <a:ext cx="749808" cy="14630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594360" y="4187952"/>
            <a:ext cx="749808" cy="14630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594360" y="4462271"/>
            <a:ext cx="749808" cy="14630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170432" y="2532887"/>
            <a:ext cx="128016" cy="128016"/>
          </a:xfrm>
          <a:prstGeom prst="ellipse">
            <a:avLst/>
          </a:prstGeom>
          <a:solidFill>
            <a:srgbClr val="FFFFFF"/>
          </a:solidFill>
          <a:ln w="1524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1572768" y="2194559"/>
            <a:ext cx="874914" cy="402336"/>
          </a:xfrm>
          <a:prstGeom prst="rect">
            <a:avLst/>
          </a:prstGeom>
          <a:solidFill>
            <a:srgbClr val="FFFFFF"/>
          </a:solidFill>
          <a:ln w="1524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1627632" y="2276855"/>
            <a:ext cx="201168" cy="201168"/>
          </a:xfrm>
          <a:prstGeom prst="ellipse">
            <a:avLst/>
          </a:prstGeom>
          <a:solidFill>
            <a:srgbClr val="FFFFFF"/>
          </a:solidFill>
          <a:ln w="1524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4" name="Connector 23"/>
          <p:cNvCxnSpPr/>
          <p:nvPr/>
        </p:nvCxnSpPr>
        <p:spPr>
          <a:xfrm>
            <a:off x="1883664" y="2340863"/>
            <a:ext cx="472578" cy="0"/>
          </a:xfrm>
          <a:prstGeom prst="line">
            <a:avLst/>
          </a:prstGeom>
          <a:ln w="13970">
            <a:solidFill>
              <a:srgbClr val="6666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1883664" y="2468879"/>
            <a:ext cx="367464" cy="0"/>
          </a:xfrm>
          <a:prstGeom prst="line">
            <a:avLst/>
          </a:prstGeom>
          <a:ln w="13970">
            <a:solidFill>
              <a:srgbClr val="6666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Rectangle 25"/>
          <p:cNvSpPr/>
          <p:nvPr/>
        </p:nvSpPr>
        <p:spPr>
          <a:xfrm>
            <a:off x="1572768" y="2651759"/>
            <a:ext cx="874914" cy="402336"/>
          </a:xfrm>
          <a:prstGeom prst="rect">
            <a:avLst/>
          </a:prstGeom>
          <a:solidFill>
            <a:srgbClr val="FFFFFF"/>
          </a:solidFill>
          <a:ln w="1524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1627632" y="2734055"/>
            <a:ext cx="201168" cy="201168"/>
          </a:xfrm>
          <a:prstGeom prst="ellipse">
            <a:avLst/>
          </a:prstGeom>
          <a:solidFill>
            <a:srgbClr val="FFFFFF"/>
          </a:solidFill>
          <a:ln w="1524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8" name="Connector 27"/>
          <p:cNvCxnSpPr/>
          <p:nvPr/>
        </p:nvCxnSpPr>
        <p:spPr>
          <a:xfrm>
            <a:off x="1883664" y="2798063"/>
            <a:ext cx="472578" cy="0"/>
          </a:xfrm>
          <a:prstGeom prst="line">
            <a:avLst/>
          </a:prstGeom>
          <a:ln w="13970">
            <a:solidFill>
              <a:srgbClr val="6666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>
            <a:off x="1883664" y="2926079"/>
            <a:ext cx="367464" cy="0"/>
          </a:xfrm>
          <a:prstGeom prst="line">
            <a:avLst/>
          </a:prstGeom>
          <a:ln w="13970">
            <a:solidFill>
              <a:srgbClr val="6666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Rectangle 29"/>
          <p:cNvSpPr/>
          <p:nvPr/>
        </p:nvSpPr>
        <p:spPr>
          <a:xfrm>
            <a:off x="1572768" y="3108959"/>
            <a:ext cx="874914" cy="402336"/>
          </a:xfrm>
          <a:prstGeom prst="rect">
            <a:avLst/>
          </a:prstGeom>
          <a:solidFill>
            <a:srgbClr val="FFFFFF"/>
          </a:solidFill>
          <a:ln w="1524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1627632" y="3191255"/>
            <a:ext cx="201168" cy="201168"/>
          </a:xfrm>
          <a:prstGeom prst="ellipse">
            <a:avLst/>
          </a:prstGeom>
          <a:solidFill>
            <a:srgbClr val="FFFFFF"/>
          </a:solidFill>
          <a:ln w="1524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2" name="Connector 31"/>
          <p:cNvCxnSpPr/>
          <p:nvPr/>
        </p:nvCxnSpPr>
        <p:spPr>
          <a:xfrm>
            <a:off x="1883664" y="3255263"/>
            <a:ext cx="472578" cy="0"/>
          </a:xfrm>
          <a:prstGeom prst="line">
            <a:avLst/>
          </a:prstGeom>
          <a:ln w="13970">
            <a:solidFill>
              <a:srgbClr val="6666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1883664" y="3383279"/>
            <a:ext cx="367464" cy="0"/>
          </a:xfrm>
          <a:prstGeom prst="line">
            <a:avLst/>
          </a:prstGeom>
          <a:ln w="13970">
            <a:solidFill>
              <a:srgbClr val="6666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Rectangle 33"/>
          <p:cNvSpPr/>
          <p:nvPr/>
        </p:nvSpPr>
        <p:spPr>
          <a:xfrm>
            <a:off x="1572768" y="3566159"/>
            <a:ext cx="874914" cy="402336"/>
          </a:xfrm>
          <a:prstGeom prst="rect">
            <a:avLst/>
          </a:prstGeom>
          <a:solidFill>
            <a:srgbClr val="FFFFFF"/>
          </a:solidFill>
          <a:ln w="1524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1627632" y="3648455"/>
            <a:ext cx="201168" cy="201168"/>
          </a:xfrm>
          <a:prstGeom prst="ellipse">
            <a:avLst/>
          </a:prstGeom>
          <a:solidFill>
            <a:srgbClr val="FFFFFF"/>
          </a:solidFill>
          <a:ln w="1524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6" name="Connector 35"/>
          <p:cNvCxnSpPr/>
          <p:nvPr/>
        </p:nvCxnSpPr>
        <p:spPr>
          <a:xfrm>
            <a:off x="1883664" y="3712463"/>
            <a:ext cx="472578" cy="0"/>
          </a:xfrm>
          <a:prstGeom prst="line">
            <a:avLst/>
          </a:prstGeom>
          <a:ln w="13970">
            <a:solidFill>
              <a:srgbClr val="6666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>
            <a:off x="1883664" y="3840479"/>
            <a:ext cx="367464" cy="0"/>
          </a:xfrm>
          <a:prstGeom prst="line">
            <a:avLst/>
          </a:prstGeom>
          <a:ln w="13970">
            <a:solidFill>
              <a:srgbClr val="6666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Rectangle 37"/>
          <p:cNvSpPr/>
          <p:nvPr/>
        </p:nvSpPr>
        <p:spPr>
          <a:xfrm>
            <a:off x="1572768" y="4023359"/>
            <a:ext cx="874914" cy="402336"/>
          </a:xfrm>
          <a:prstGeom prst="rect">
            <a:avLst/>
          </a:prstGeom>
          <a:solidFill>
            <a:srgbClr val="FFFFFF"/>
          </a:solidFill>
          <a:ln w="1524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Oval 38"/>
          <p:cNvSpPr/>
          <p:nvPr/>
        </p:nvSpPr>
        <p:spPr>
          <a:xfrm>
            <a:off x="1627632" y="4105655"/>
            <a:ext cx="201168" cy="201168"/>
          </a:xfrm>
          <a:prstGeom prst="ellipse">
            <a:avLst/>
          </a:prstGeom>
          <a:solidFill>
            <a:srgbClr val="FFFFFF"/>
          </a:solidFill>
          <a:ln w="1524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0" name="Connector 39"/>
          <p:cNvCxnSpPr/>
          <p:nvPr/>
        </p:nvCxnSpPr>
        <p:spPr>
          <a:xfrm>
            <a:off x="1883664" y="4169663"/>
            <a:ext cx="472578" cy="0"/>
          </a:xfrm>
          <a:prstGeom prst="line">
            <a:avLst/>
          </a:prstGeom>
          <a:ln w="13970">
            <a:solidFill>
              <a:srgbClr val="6666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Connector 40"/>
          <p:cNvCxnSpPr/>
          <p:nvPr/>
        </p:nvCxnSpPr>
        <p:spPr>
          <a:xfrm>
            <a:off x="1883664" y="4297679"/>
            <a:ext cx="367464" cy="0"/>
          </a:xfrm>
          <a:prstGeom prst="line">
            <a:avLst/>
          </a:prstGeom>
          <a:ln w="13970">
            <a:solidFill>
              <a:srgbClr val="6666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2" name="Rectangle 41"/>
          <p:cNvSpPr/>
          <p:nvPr/>
        </p:nvSpPr>
        <p:spPr>
          <a:xfrm>
            <a:off x="1572768" y="4480559"/>
            <a:ext cx="874914" cy="402336"/>
          </a:xfrm>
          <a:prstGeom prst="rect">
            <a:avLst/>
          </a:prstGeom>
          <a:solidFill>
            <a:srgbClr val="FFFFFF"/>
          </a:solidFill>
          <a:ln w="1524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Oval 42"/>
          <p:cNvSpPr/>
          <p:nvPr/>
        </p:nvSpPr>
        <p:spPr>
          <a:xfrm>
            <a:off x="1627632" y="4562855"/>
            <a:ext cx="201168" cy="201168"/>
          </a:xfrm>
          <a:prstGeom prst="ellipse">
            <a:avLst/>
          </a:prstGeom>
          <a:solidFill>
            <a:srgbClr val="FFFFFF"/>
          </a:solidFill>
          <a:ln w="1524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4" name="Connector 43"/>
          <p:cNvCxnSpPr/>
          <p:nvPr/>
        </p:nvCxnSpPr>
        <p:spPr>
          <a:xfrm>
            <a:off x="1883664" y="4626864"/>
            <a:ext cx="472578" cy="0"/>
          </a:xfrm>
          <a:prstGeom prst="line">
            <a:avLst/>
          </a:prstGeom>
          <a:ln w="13970">
            <a:solidFill>
              <a:srgbClr val="6666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Connector 44"/>
          <p:cNvCxnSpPr/>
          <p:nvPr/>
        </p:nvCxnSpPr>
        <p:spPr>
          <a:xfrm>
            <a:off x="1883664" y="4754879"/>
            <a:ext cx="367464" cy="0"/>
          </a:xfrm>
          <a:prstGeom prst="line">
            <a:avLst/>
          </a:prstGeom>
          <a:ln w="13970">
            <a:solidFill>
              <a:srgbClr val="6666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6" name="Rectangle 45"/>
          <p:cNvSpPr/>
          <p:nvPr/>
        </p:nvSpPr>
        <p:spPr>
          <a:xfrm>
            <a:off x="1572768" y="4937759"/>
            <a:ext cx="874914" cy="402336"/>
          </a:xfrm>
          <a:prstGeom prst="rect">
            <a:avLst/>
          </a:prstGeom>
          <a:solidFill>
            <a:srgbClr val="FFFFFF"/>
          </a:solidFill>
          <a:ln w="1524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Oval 46"/>
          <p:cNvSpPr/>
          <p:nvPr/>
        </p:nvSpPr>
        <p:spPr>
          <a:xfrm>
            <a:off x="1627632" y="5020055"/>
            <a:ext cx="201168" cy="201168"/>
          </a:xfrm>
          <a:prstGeom prst="ellipse">
            <a:avLst/>
          </a:prstGeom>
          <a:solidFill>
            <a:srgbClr val="FFFFFF"/>
          </a:solidFill>
          <a:ln w="1524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8" name="Connector 47"/>
          <p:cNvCxnSpPr/>
          <p:nvPr/>
        </p:nvCxnSpPr>
        <p:spPr>
          <a:xfrm>
            <a:off x="1883664" y="5084064"/>
            <a:ext cx="472578" cy="0"/>
          </a:xfrm>
          <a:prstGeom prst="line">
            <a:avLst/>
          </a:prstGeom>
          <a:ln w="13970">
            <a:solidFill>
              <a:srgbClr val="6666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Connector 48"/>
          <p:cNvCxnSpPr/>
          <p:nvPr/>
        </p:nvCxnSpPr>
        <p:spPr>
          <a:xfrm>
            <a:off x="1883664" y="5212079"/>
            <a:ext cx="367464" cy="0"/>
          </a:xfrm>
          <a:prstGeom prst="line">
            <a:avLst/>
          </a:prstGeom>
          <a:ln w="13970">
            <a:solidFill>
              <a:srgbClr val="6666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0" name="Oval 49"/>
          <p:cNvSpPr/>
          <p:nvPr/>
        </p:nvSpPr>
        <p:spPr>
          <a:xfrm>
            <a:off x="1554480" y="2176271"/>
            <a:ext cx="237744" cy="237744"/>
          </a:xfrm>
          <a:prstGeom prst="ellipse">
            <a:avLst/>
          </a:prstGeom>
          <a:solidFill>
            <a:srgbClr val="DC2626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1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3611880" y="2194559"/>
            <a:ext cx="566928" cy="237744"/>
          </a:xfrm>
          <a:prstGeom prst="roundRect">
            <a:avLst/>
          </a:prstGeom>
          <a:solidFill>
            <a:srgbClr val="F7F7F7"/>
          </a:solidFill>
          <a:ln w="1524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ounded Rectangle 51"/>
          <p:cNvSpPr/>
          <p:nvPr/>
        </p:nvSpPr>
        <p:spPr>
          <a:xfrm>
            <a:off x="4233672" y="2194559"/>
            <a:ext cx="566928" cy="237744"/>
          </a:xfrm>
          <a:prstGeom prst="roundRect">
            <a:avLst/>
          </a:prstGeom>
          <a:solidFill>
            <a:srgbClr val="F7F7F7"/>
          </a:solidFill>
          <a:ln w="1524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ounded Rectangle 52"/>
          <p:cNvSpPr/>
          <p:nvPr/>
        </p:nvSpPr>
        <p:spPr>
          <a:xfrm>
            <a:off x="4855464" y="2194559"/>
            <a:ext cx="566928" cy="237744"/>
          </a:xfrm>
          <a:prstGeom prst="roundRect">
            <a:avLst/>
          </a:prstGeom>
          <a:solidFill>
            <a:srgbClr val="F7F7F7"/>
          </a:solidFill>
          <a:ln w="1524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Oval 53"/>
          <p:cNvSpPr/>
          <p:nvPr/>
        </p:nvSpPr>
        <p:spPr>
          <a:xfrm>
            <a:off x="3593592" y="2176271"/>
            <a:ext cx="237744" cy="237744"/>
          </a:xfrm>
          <a:prstGeom prst="ellipse">
            <a:avLst/>
          </a:prstGeom>
          <a:solidFill>
            <a:srgbClr val="DC2626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6</a:t>
            </a:r>
          </a:p>
        </p:txBody>
      </p:sp>
      <p:cxnSp>
        <p:nvCxnSpPr>
          <p:cNvPr id="55" name="Connector 54"/>
          <p:cNvCxnSpPr/>
          <p:nvPr/>
        </p:nvCxnSpPr>
        <p:spPr>
          <a:xfrm>
            <a:off x="2593986" y="2322575"/>
            <a:ext cx="678817" cy="0"/>
          </a:xfrm>
          <a:prstGeom prst="line">
            <a:avLst/>
          </a:prstGeom>
          <a:ln w="22860">
            <a:solidFill>
              <a:srgbClr val="6666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6" name="Rectangle 55"/>
          <p:cNvSpPr/>
          <p:nvPr/>
        </p:nvSpPr>
        <p:spPr>
          <a:xfrm>
            <a:off x="2593986" y="2542031"/>
            <a:ext cx="2828405" cy="1005840"/>
          </a:xfrm>
          <a:prstGeom prst="rect">
            <a:avLst/>
          </a:prstGeom>
          <a:solidFill>
            <a:srgbClr val="FFFFFF"/>
          </a:solidFill>
          <a:ln w="1651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7" name="Connector 56"/>
          <p:cNvCxnSpPr/>
          <p:nvPr/>
        </p:nvCxnSpPr>
        <p:spPr>
          <a:xfrm>
            <a:off x="2694570" y="2688335"/>
            <a:ext cx="678817" cy="0"/>
          </a:xfrm>
          <a:prstGeom prst="line">
            <a:avLst/>
          </a:prstGeom>
          <a:ln w="20320">
            <a:solidFill>
              <a:srgbClr val="6666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8" name="Rectangle 57"/>
          <p:cNvSpPr/>
          <p:nvPr/>
        </p:nvSpPr>
        <p:spPr>
          <a:xfrm>
            <a:off x="2694570" y="2852927"/>
            <a:ext cx="2627237" cy="164592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9" name="Connector 58"/>
          <p:cNvCxnSpPr/>
          <p:nvPr/>
        </p:nvCxnSpPr>
        <p:spPr>
          <a:xfrm>
            <a:off x="2694570" y="3017519"/>
            <a:ext cx="2627237" cy="0"/>
          </a:xfrm>
          <a:prstGeom prst="line">
            <a:avLst/>
          </a:prstGeom>
          <a:ln w="22860">
            <a:solidFill>
              <a:srgbClr val="33333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0" name="Rectangle 59"/>
          <p:cNvSpPr/>
          <p:nvPr/>
        </p:nvSpPr>
        <p:spPr>
          <a:xfrm>
            <a:off x="2694570" y="3072383"/>
            <a:ext cx="2627237" cy="164592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1" name="Connector 60"/>
          <p:cNvCxnSpPr/>
          <p:nvPr/>
        </p:nvCxnSpPr>
        <p:spPr>
          <a:xfrm>
            <a:off x="2694570" y="3236975"/>
            <a:ext cx="2627237" cy="0"/>
          </a:xfrm>
          <a:prstGeom prst="line">
            <a:avLst/>
          </a:prstGeom>
          <a:ln w="22860">
            <a:solidFill>
              <a:srgbClr val="33333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2" name="Rectangle 61"/>
          <p:cNvSpPr/>
          <p:nvPr/>
        </p:nvSpPr>
        <p:spPr>
          <a:xfrm>
            <a:off x="2694570" y="3291839"/>
            <a:ext cx="2627237" cy="164592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3" name="Connector 62"/>
          <p:cNvCxnSpPr/>
          <p:nvPr/>
        </p:nvCxnSpPr>
        <p:spPr>
          <a:xfrm>
            <a:off x="2694570" y="3456431"/>
            <a:ext cx="2627237" cy="0"/>
          </a:xfrm>
          <a:prstGeom prst="line">
            <a:avLst/>
          </a:prstGeom>
          <a:ln w="22860">
            <a:solidFill>
              <a:srgbClr val="33333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4" name="Oval 63"/>
          <p:cNvSpPr/>
          <p:nvPr/>
        </p:nvSpPr>
        <p:spPr>
          <a:xfrm>
            <a:off x="2575698" y="2523743"/>
            <a:ext cx="237744" cy="237744"/>
          </a:xfrm>
          <a:prstGeom prst="ellipse">
            <a:avLst/>
          </a:prstGeom>
          <a:solidFill>
            <a:srgbClr val="DC2626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2</a:t>
            </a:r>
          </a:p>
        </p:txBody>
      </p:sp>
      <p:sp>
        <p:nvSpPr>
          <p:cNvPr id="65" name="Rectangle 64"/>
          <p:cNvSpPr/>
          <p:nvPr/>
        </p:nvSpPr>
        <p:spPr>
          <a:xfrm>
            <a:off x="2593986" y="3657599"/>
            <a:ext cx="2828405" cy="676656"/>
          </a:xfrm>
          <a:prstGeom prst="rect">
            <a:avLst/>
          </a:prstGeom>
          <a:solidFill>
            <a:srgbClr val="FFFFFF"/>
          </a:solidFill>
          <a:ln w="1651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6" name="Connector 65"/>
          <p:cNvCxnSpPr/>
          <p:nvPr/>
        </p:nvCxnSpPr>
        <p:spPr>
          <a:xfrm>
            <a:off x="2694570" y="3803903"/>
            <a:ext cx="678817" cy="0"/>
          </a:xfrm>
          <a:prstGeom prst="line">
            <a:avLst/>
          </a:prstGeom>
          <a:ln w="20320">
            <a:solidFill>
              <a:srgbClr val="6666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7" name="Rectangle 66"/>
          <p:cNvSpPr/>
          <p:nvPr/>
        </p:nvSpPr>
        <p:spPr>
          <a:xfrm>
            <a:off x="2694570" y="3931920"/>
            <a:ext cx="2627237" cy="164592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8" name="Connector 67"/>
          <p:cNvCxnSpPr/>
          <p:nvPr/>
        </p:nvCxnSpPr>
        <p:spPr>
          <a:xfrm>
            <a:off x="2694570" y="4096511"/>
            <a:ext cx="2627237" cy="0"/>
          </a:xfrm>
          <a:prstGeom prst="line">
            <a:avLst/>
          </a:prstGeom>
          <a:ln w="22860">
            <a:solidFill>
              <a:srgbClr val="33333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9" name="Rectangle 68"/>
          <p:cNvSpPr/>
          <p:nvPr/>
        </p:nvSpPr>
        <p:spPr>
          <a:xfrm>
            <a:off x="2694570" y="4133087"/>
            <a:ext cx="2627237" cy="164592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0" name="Connector 69"/>
          <p:cNvCxnSpPr/>
          <p:nvPr/>
        </p:nvCxnSpPr>
        <p:spPr>
          <a:xfrm>
            <a:off x="2694570" y="4297679"/>
            <a:ext cx="2627237" cy="0"/>
          </a:xfrm>
          <a:prstGeom prst="line">
            <a:avLst/>
          </a:prstGeom>
          <a:ln w="22860">
            <a:solidFill>
              <a:srgbClr val="33333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1" name="Oval 70"/>
          <p:cNvSpPr/>
          <p:nvPr/>
        </p:nvSpPr>
        <p:spPr>
          <a:xfrm>
            <a:off x="2575698" y="3639311"/>
            <a:ext cx="237744" cy="237744"/>
          </a:xfrm>
          <a:prstGeom prst="ellipse">
            <a:avLst/>
          </a:prstGeom>
          <a:solidFill>
            <a:srgbClr val="DC2626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3</a:t>
            </a:r>
          </a:p>
        </p:txBody>
      </p:sp>
      <p:sp>
        <p:nvSpPr>
          <p:cNvPr id="72" name="Rectangle 71"/>
          <p:cNvSpPr/>
          <p:nvPr/>
        </p:nvSpPr>
        <p:spPr>
          <a:xfrm>
            <a:off x="2593986" y="4443983"/>
            <a:ext cx="2828405" cy="1188720"/>
          </a:xfrm>
          <a:prstGeom prst="rect">
            <a:avLst/>
          </a:prstGeom>
          <a:solidFill>
            <a:srgbClr val="F7F7F7"/>
          </a:solidFill>
          <a:ln w="1651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3" name="Connector 72"/>
          <p:cNvCxnSpPr/>
          <p:nvPr/>
        </p:nvCxnSpPr>
        <p:spPr>
          <a:xfrm>
            <a:off x="2694570" y="4590288"/>
            <a:ext cx="735385" cy="0"/>
          </a:xfrm>
          <a:prstGeom prst="line">
            <a:avLst/>
          </a:prstGeom>
          <a:ln w="20320">
            <a:solidFill>
              <a:srgbClr val="6666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4" name="Rounded Rectangle 73"/>
          <p:cNvSpPr/>
          <p:nvPr/>
        </p:nvSpPr>
        <p:spPr>
          <a:xfrm>
            <a:off x="2694570" y="4736592"/>
            <a:ext cx="163083" cy="146304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Rounded Rectangle 74"/>
          <p:cNvSpPr/>
          <p:nvPr/>
        </p:nvSpPr>
        <p:spPr>
          <a:xfrm>
            <a:off x="2912518" y="4736592"/>
            <a:ext cx="163083" cy="146304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Rounded Rectangle 75"/>
          <p:cNvSpPr/>
          <p:nvPr/>
        </p:nvSpPr>
        <p:spPr>
          <a:xfrm>
            <a:off x="3130466" y="4736592"/>
            <a:ext cx="163083" cy="146304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Rounded Rectangle 76"/>
          <p:cNvSpPr/>
          <p:nvPr/>
        </p:nvSpPr>
        <p:spPr>
          <a:xfrm>
            <a:off x="3348414" y="4736592"/>
            <a:ext cx="163083" cy="146304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Rounded Rectangle 77"/>
          <p:cNvSpPr/>
          <p:nvPr/>
        </p:nvSpPr>
        <p:spPr>
          <a:xfrm>
            <a:off x="3566361" y="4736592"/>
            <a:ext cx="163083" cy="146304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Rounded Rectangle 78"/>
          <p:cNvSpPr/>
          <p:nvPr/>
        </p:nvSpPr>
        <p:spPr>
          <a:xfrm>
            <a:off x="3784309" y="4736592"/>
            <a:ext cx="163083" cy="146304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Rounded Rectangle 79"/>
          <p:cNvSpPr/>
          <p:nvPr/>
        </p:nvSpPr>
        <p:spPr>
          <a:xfrm>
            <a:off x="4002257" y="4736592"/>
            <a:ext cx="163083" cy="146304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Rounded Rectangle 80"/>
          <p:cNvSpPr/>
          <p:nvPr/>
        </p:nvSpPr>
        <p:spPr>
          <a:xfrm>
            <a:off x="2694570" y="4937759"/>
            <a:ext cx="163083" cy="146304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Rounded Rectangle 81"/>
          <p:cNvSpPr/>
          <p:nvPr/>
        </p:nvSpPr>
        <p:spPr>
          <a:xfrm>
            <a:off x="2912518" y="4937759"/>
            <a:ext cx="163083" cy="146304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Rounded Rectangle 82"/>
          <p:cNvSpPr/>
          <p:nvPr/>
        </p:nvSpPr>
        <p:spPr>
          <a:xfrm>
            <a:off x="3130466" y="4937759"/>
            <a:ext cx="163083" cy="146304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Rounded Rectangle 83"/>
          <p:cNvSpPr/>
          <p:nvPr/>
        </p:nvSpPr>
        <p:spPr>
          <a:xfrm>
            <a:off x="3348414" y="4937759"/>
            <a:ext cx="163083" cy="146304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Rounded Rectangle 84"/>
          <p:cNvSpPr/>
          <p:nvPr/>
        </p:nvSpPr>
        <p:spPr>
          <a:xfrm>
            <a:off x="3566361" y="4937759"/>
            <a:ext cx="163083" cy="146304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Rounded Rectangle 85"/>
          <p:cNvSpPr/>
          <p:nvPr/>
        </p:nvSpPr>
        <p:spPr>
          <a:xfrm>
            <a:off x="3784309" y="4937759"/>
            <a:ext cx="163083" cy="146304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Rounded Rectangle 86"/>
          <p:cNvSpPr/>
          <p:nvPr/>
        </p:nvSpPr>
        <p:spPr>
          <a:xfrm>
            <a:off x="4002257" y="4937759"/>
            <a:ext cx="163083" cy="146304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Rounded Rectangle 87"/>
          <p:cNvSpPr/>
          <p:nvPr/>
        </p:nvSpPr>
        <p:spPr>
          <a:xfrm>
            <a:off x="2694570" y="5138928"/>
            <a:ext cx="163083" cy="146304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Rounded Rectangle 88"/>
          <p:cNvSpPr/>
          <p:nvPr/>
        </p:nvSpPr>
        <p:spPr>
          <a:xfrm>
            <a:off x="2912518" y="5138928"/>
            <a:ext cx="163083" cy="146304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Rounded Rectangle 89"/>
          <p:cNvSpPr/>
          <p:nvPr/>
        </p:nvSpPr>
        <p:spPr>
          <a:xfrm>
            <a:off x="3130466" y="5138928"/>
            <a:ext cx="163083" cy="146304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Rounded Rectangle 90"/>
          <p:cNvSpPr/>
          <p:nvPr/>
        </p:nvSpPr>
        <p:spPr>
          <a:xfrm>
            <a:off x="3348414" y="5138928"/>
            <a:ext cx="163083" cy="146304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Rounded Rectangle 91"/>
          <p:cNvSpPr/>
          <p:nvPr/>
        </p:nvSpPr>
        <p:spPr>
          <a:xfrm>
            <a:off x="3566361" y="5138928"/>
            <a:ext cx="163083" cy="146304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Rounded Rectangle 92"/>
          <p:cNvSpPr/>
          <p:nvPr/>
        </p:nvSpPr>
        <p:spPr>
          <a:xfrm>
            <a:off x="3784309" y="5138928"/>
            <a:ext cx="163083" cy="146304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Rounded Rectangle 93"/>
          <p:cNvSpPr/>
          <p:nvPr/>
        </p:nvSpPr>
        <p:spPr>
          <a:xfrm>
            <a:off x="4002257" y="5138928"/>
            <a:ext cx="163083" cy="146304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Oval 94"/>
          <p:cNvSpPr/>
          <p:nvPr/>
        </p:nvSpPr>
        <p:spPr>
          <a:xfrm>
            <a:off x="4291029" y="4754879"/>
            <a:ext cx="146304" cy="146304"/>
          </a:xfrm>
          <a:prstGeom prst="ellipse">
            <a:avLst/>
          </a:prstGeom>
          <a:solidFill>
            <a:srgbClr val="FFFFFF"/>
          </a:solidFill>
          <a:ln w="1524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Oval 95"/>
          <p:cNvSpPr/>
          <p:nvPr/>
        </p:nvSpPr>
        <p:spPr>
          <a:xfrm>
            <a:off x="4473909" y="4754879"/>
            <a:ext cx="146304" cy="146304"/>
          </a:xfrm>
          <a:prstGeom prst="ellipse">
            <a:avLst/>
          </a:prstGeom>
          <a:solidFill>
            <a:srgbClr val="FFFFFF"/>
          </a:solidFill>
          <a:ln w="1524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Oval 96"/>
          <p:cNvSpPr/>
          <p:nvPr/>
        </p:nvSpPr>
        <p:spPr>
          <a:xfrm>
            <a:off x="4656789" y="4754879"/>
            <a:ext cx="146304" cy="146304"/>
          </a:xfrm>
          <a:prstGeom prst="ellipse">
            <a:avLst/>
          </a:prstGeom>
          <a:solidFill>
            <a:srgbClr val="FFFFFF"/>
          </a:solidFill>
          <a:ln w="1524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Oval 97"/>
          <p:cNvSpPr/>
          <p:nvPr/>
        </p:nvSpPr>
        <p:spPr>
          <a:xfrm>
            <a:off x="4839669" y="4754879"/>
            <a:ext cx="146304" cy="146304"/>
          </a:xfrm>
          <a:prstGeom prst="ellipse">
            <a:avLst/>
          </a:prstGeom>
          <a:solidFill>
            <a:srgbClr val="FFFFFF"/>
          </a:solidFill>
          <a:ln w="1524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Oval 98"/>
          <p:cNvSpPr/>
          <p:nvPr/>
        </p:nvSpPr>
        <p:spPr>
          <a:xfrm>
            <a:off x="4291029" y="4956047"/>
            <a:ext cx="146304" cy="146304"/>
          </a:xfrm>
          <a:prstGeom prst="ellipse">
            <a:avLst/>
          </a:prstGeom>
          <a:solidFill>
            <a:srgbClr val="FFFFFF"/>
          </a:solidFill>
          <a:ln w="1524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Oval 99"/>
          <p:cNvSpPr/>
          <p:nvPr/>
        </p:nvSpPr>
        <p:spPr>
          <a:xfrm>
            <a:off x="4473909" y="4956047"/>
            <a:ext cx="146304" cy="146304"/>
          </a:xfrm>
          <a:prstGeom prst="ellipse">
            <a:avLst/>
          </a:prstGeom>
          <a:solidFill>
            <a:srgbClr val="FFFFFF"/>
          </a:solidFill>
          <a:ln w="1524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Oval 100"/>
          <p:cNvSpPr/>
          <p:nvPr/>
        </p:nvSpPr>
        <p:spPr>
          <a:xfrm>
            <a:off x="4656789" y="4956047"/>
            <a:ext cx="146304" cy="146304"/>
          </a:xfrm>
          <a:prstGeom prst="ellipse">
            <a:avLst/>
          </a:prstGeom>
          <a:solidFill>
            <a:srgbClr val="FFFFFF"/>
          </a:solidFill>
          <a:ln w="1524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Oval 101"/>
          <p:cNvSpPr/>
          <p:nvPr/>
        </p:nvSpPr>
        <p:spPr>
          <a:xfrm>
            <a:off x="4839669" y="4956047"/>
            <a:ext cx="146304" cy="146304"/>
          </a:xfrm>
          <a:prstGeom prst="ellipse">
            <a:avLst/>
          </a:prstGeom>
          <a:solidFill>
            <a:srgbClr val="FFFFFF"/>
          </a:solidFill>
          <a:ln w="1524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Rounded Rectangle 102"/>
          <p:cNvSpPr/>
          <p:nvPr/>
        </p:nvSpPr>
        <p:spPr>
          <a:xfrm>
            <a:off x="4291029" y="5248655"/>
            <a:ext cx="731520" cy="2011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Oval 103"/>
          <p:cNvSpPr/>
          <p:nvPr/>
        </p:nvSpPr>
        <p:spPr>
          <a:xfrm>
            <a:off x="2575698" y="4425696"/>
            <a:ext cx="237744" cy="237744"/>
          </a:xfrm>
          <a:prstGeom prst="ellipse">
            <a:avLst/>
          </a:prstGeom>
          <a:solidFill>
            <a:srgbClr val="DC2626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4</a:t>
            </a:r>
          </a:p>
        </p:txBody>
      </p:sp>
      <p:sp>
        <p:nvSpPr>
          <p:cNvPr id="105" name="Rectangle 104"/>
          <p:cNvSpPr/>
          <p:nvPr/>
        </p:nvSpPr>
        <p:spPr>
          <a:xfrm>
            <a:off x="2593986" y="5742431"/>
            <a:ext cx="2828405" cy="347472"/>
          </a:xfrm>
          <a:prstGeom prst="rect">
            <a:avLst/>
          </a:prstGeom>
          <a:solidFill>
            <a:srgbClr val="FFFFFF"/>
          </a:solidFill>
          <a:ln w="1524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06" name="Connector 105"/>
          <p:cNvCxnSpPr/>
          <p:nvPr/>
        </p:nvCxnSpPr>
        <p:spPr>
          <a:xfrm>
            <a:off x="2694570" y="5916168"/>
            <a:ext cx="848522" cy="0"/>
          </a:xfrm>
          <a:prstGeom prst="line">
            <a:avLst/>
          </a:prstGeom>
          <a:ln w="13970">
            <a:solidFill>
              <a:srgbClr val="6666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7" name="Rounded Rectangle 106"/>
          <p:cNvSpPr/>
          <p:nvPr/>
        </p:nvSpPr>
        <p:spPr>
          <a:xfrm>
            <a:off x="4956047" y="5824727"/>
            <a:ext cx="365760" cy="1828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Oval 107"/>
          <p:cNvSpPr/>
          <p:nvPr/>
        </p:nvSpPr>
        <p:spPr>
          <a:xfrm>
            <a:off x="5157215" y="5843015"/>
            <a:ext cx="146304" cy="146304"/>
          </a:xfrm>
          <a:prstGeom prst="ellipse">
            <a:avLst/>
          </a:prstGeom>
          <a:solidFill>
            <a:srgbClr val="FFFFFF"/>
          </a:solidFill>
          <a:ln w="1524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Oval 108"/>
          <p:cNvSpPr/>
          <p:nvPr/>
        </p:nvSpPr>
        <p:spPr>
          <a:xfrm>
            <a:off x="2575698" y="5724144"/>
            <a:ext cx="237744" cy="237744"/>
          </a:xfrm>
          <a:prstGeom prst="ellipse">
            <a:avLst/>
          </a:prstGeom>
          <a:solidFill>
            <a:srgbClr val="DC2626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5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5824728" y="1572767"/>
            <a:ext cx="5982919" cy="256032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111111"/>
                </a:solidFill>
                <a:latin typeface="맑은 고딕"/>
                <a:ea typeface="맑은 고딕"/>
              </a:rPr>
              <a:t>Description</a:t>
            </a:r>
          </a:p>
        </p:txBody>
      </p:sp>
      <p:sp>
        <p:nvSpPr>
          <p:cNvPr id="111" name="Oval 110"/>
          <p:cNvSpPr/>
          <p:nvPr/>
        </p:nvSpPr>
        <p:spPr>
          <a:xfrm>
            <a:off x="5824728" y="1929383"/>
            <a:ext cx="219456" cy="219456"/>
          </a:xfrm>
          <a:prstGeom prst="ellipse">
            <a:avLst/>
          </a:prstGeom>
          <a:solidFill>
            <a:srgbClr val="DC2626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1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6135624" y="1901951"/>
            <a:ext cx="5672023" cy="556564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100"/>
              </a:spcAft>
            </a:pPr>
            <a:r>
              <a:rPr sz="950" b="1">
                <a:solidFill>
                  <a:srgbClr val="111111"/>
                </a:solidFill>
                <a:latin typeface="맑은 고딕"/>
                <a:ea typeface="맑은 고딕"/>
              </a:rPr>
              <a:t>카테고리 목록 </a:t>
            </a:r>
            <a:r>
              <a:rPr sz="950" b="0">
                <a:solidFill>
                  <a:srgbClr val="999999"/>
                </a:solidFill>
                <a:latin typeface="맑은 고딕"/>
                <a:ea typeface="맑은 고딕"/>
              </a:rPr>
              <a:t>—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아이콘·표시명·비활성 뱃지·내부 id</a:t>
            </a:r>
          </a:p>
        </p:txBody>
      </p:sp>
      <p:cxnSp>
        <p:nvCxnSpPr>
          <p:cNvPr id="113" name="Connector 112"/>
          <p:cNvCxnSpPr/>
          <p:nvPr/>
        </p:nvCxnSpPr>
        <p:spPr>
          <a:xfrm>
            <a:off x="5824728" y="2440228"/>
            <a:ext cx="5982919" cy="0"/>
          </a:xfrm>
          <a:prstGeom prst="line">
            <a:avLst/>
          </a:prstGeom>
          <a:ln w="9525">
            <a:solidFill>
              <a:srgbClr val="EEEEE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4" name="Oval 113"/>
          <p:cNvSpPr/>
          <p:nvPr/>
        </p:nvSpPr>
        <p:spPr>
          <a:xfrm>
            <a:off x="5824728" y="2485948"/>
            <a:ext cx="219456" cy="219456"/>
          </a:xfrm>
          <a:prstGeom prst="ellipse">
            <a:avLst/>
          </a:prstGeom>
          <a:solidFill>
            <a:srgbClr val="DC2626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2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6135624" y="2458516"/>
            <a:ext cx="5672023" cy="556564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100"/>
              </a:spcAft>
            </a:pPr>
            <a:r>
              <a:rPr sz="950" b="1">
                <a:solidFill>
                  <a:srgbClr val="111111"/>
                </a:solidFill>
                <a:latin typeface="맑은 고딕"/>
                <a:ea typeface="맑은 고딕"/>
              </a:rPr>
              <a:t>기본 정보 </a:t>
            </a:r>
            <a:r>
              <a:rPr sz="950" b="0">
                <a:solidFill>
                  <a:srgbClr val="999999"/>
                </a:solidFill>
                <a:latin typeface="맑은 고딕"/>
                <a:ea typeface="맑은 고딕"/>
              </a:rPr>
              <a:t>—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식별자[신규만]·표시명·한 줄 설명</a:t>
            </a:r>
          </a:p>
        </p:txBody>
      </p:sp>
      <p:cxnSp>
        <p:nvCxnSpPr>
          <p:cNvPr id="116" name="Connector 115"/>
          <p:cNvCxnSpPr/>
          <p:nvPr/>
        </p:nvCxnSpPr>
        <p:spPr>
          <a:xfrm>
            <a:off x="5824728" y="2996793"/>
            <a:ext cx="5982919" cy="0"/>
          </a:xfrm>
          <a:prstGeom prst="line">
            <a:avLst/>
          </a:prstGeom>
          <a:ln w="9525">
            <a:solidFill>
              <a:srgbClr val="EEEEE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7" name="Oval 116"/>
          <p:cNvSpPr/>
          <p:nvPr/>
        </p:nvSpPr>
        <p:spPr>
          <a:xfrm>
            <a:off x="5824728" y="3042513"/>
            <a:ext cx="219456" cy="219456"/>
          </a:xfrm>
          <a:prstGeom prst="ellipse">
            <a:avLst/>
          </a:prstGeom>
          <a:solidFill>
            <a:srgbClr val="DC2626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3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6135624" y="3015081"/>
            <a:ext cx="5672023" cy="556564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100"/>
              </a:spcAft>
            </a:pPr>
            <a:r>
              <a:rPr sz="950" b="1">
                <a:solidFill>
                  <a:srgbClr val="111111"/>
                </a:solidFill>
                <a:latin typeface="맑은 고딕"/>
                <a:ea typeface="맑은 고딕"/>
              </a:rPr>
              <a:t>경로·연결 </a:t>
            </a:r>
            <a:r>
              <a:rPr sz="950" b="0">
                <a:solidFill>
                  <a:srgbClr val="999999"/>
                </a:solidFill>
                <a:latin typeface="맑은 고딕"/>
                <a:ea typeface="맑은 고딕"/>
              </a:rPr>
              <a:t>—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라우트 경로·외부 도구 주소[미설정 표기]</a:t>
            </a:r>
          </a:p>
        </p:txBody>
      </p:sp>
      <p:cxnSp>
        <p:nvCxnSpPr>
          <p:cNvPr id="119" name="Connector 118"/>
          <p:cNvCxnSpPr/>
          <p:nvPr/>
        </p:nvCxnSpPr>
        <p:spPr>
          <a:xfrm>
            <a:off x="5824728" y="3553358"/>
            <a:ext cx="5982919" cy="0"/>
          </a:xfrm>
          <a:prstGeom prst="line">
            <a:avLst/>
          </a:prstGeom>
          <a:ln w="9525">
            <a:solidFill>
              <a:srgbClr val="EEEEE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0" name="Oval 119"/>
          <p:cNvSpPr/>
          <p:nvPr/>
        </p:nvSpPr>
        <p:spPr>
          <a:xfrm>
            <a:off x="5824728" y="3599078"/>
            <a:ext cx="219456" cy="219456"/>
          </a:xfrm>
          <a:prstGeom prst="ellipse">
            <a:avLst/>
          </a:prstGeom>
          <a:solidFill>
            <a:srgbClr val="DC2626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4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6135624" y="3571646"/>
            <a:ext cx="5672023" cy="556564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100"/>
              </a:spcAft>
            </a:pPr>
            <a:r>
              <a:rPr sz="950" b="1">
                <a:solidFill>
                  <a:srgbClr val="111111"/>
                </a:solidFill>
                <a:latin typeface="맑은 고딕"/>
                <a:ea typeface="맑은 고딕"/>
              </a:rPr>
              <a:t>표시 스타일 </a:t>
            </a:r>
            <a:r>
              <a:rPr sz="950" b="0">
                <a:solidFill>
                  <a:srgbClr val="999999"/>
                </a:solidFill>
                <a:latin typeface="맑은 고딕"/>
                <a:ea typeface="맑은 고딕"/>
              </a:rPr>
              <a:t>—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아이콘 선택기 21종·색 프리셋 8종·뱃지 미리보기</a:t>
            </a:r>
          </a:p>
        </p:txBody>
      </p:sp>
      <p:cxnSp>
        <p:nvCxnSpPr>
          <p:cNvPr id="122" name="Connector 121"/>
          <p:cNvCxnSpPr/>
          <p:nvPr/>
        </p:nvCxnSpPr>
        <p:spPr>
          <a:xfrm>
            <a:off x="5824728" y="4109923"/>
            <a:ext cx="5982919" cy="0"/>
          </a:xfrm>
          <a:prstGeom prst="line">
            <a:avLst/>
          </a:prstGeom>
          <a:ln w="9525">
            <a:solidFill>
              <a:srgbClr val="EEEEE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3" name="Oval 122"/>
          <p:cNvSpPr/>
          <p:nvPr/>
        </p:nvSpPr>
        <p:spPr>
          <a:xfrm>
            <a:off x="5824728" y="4155643"/>
            <a:ext cx="219456" cy="219456"/>
          </a:xfrm>
          <a:prstGeom prst="ellipse">
            <a:avLst/>
          </a:prstGeom>
          <a:solidFill>
            <a:srgbClr val="DC2626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6135624" y="4128211"/>
            <a:ext cx="5672023" cy="556564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100"/>
              </a:spcAft>
            </a:pPr>
            <a:r>
              <a:rPr sz="950" b="1">
                <a:solidFill>
                  <a:srgbClr val="111111"/>
                </a:solidFill>
                <a:latin typeface="맑은 고딕"/>
                <a:ea typeface="맑은 고딕"/>
              </a:rPr>
              <a:t>노출 상태 </a:t>
            </a:r>
            <a:r>
              <a:rPr sz="950" b="0">
                <a:solidFill>
                  <a:srgbClr val="999999"/>
                </a:solidFill>
                <a:latin typeface="맑은 고딕"/>
                <a:ea typeface="맑은 고딕"/>
              </a:rPr>
              <a:t>—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ON/OFF 토글</a:t>
            </a:r>
          </a:p>
        </p:txBody>
      </p:sp>
      <p:cxnSp>
        <p:nvCxnSpPr>
          <p:cNvPr id="125" name="Connector 124"/>
          <p:cNvCxnSpPr/>
          <p:nvPr/>
        </p:nvCxnSpPr>
        <p:spPr>
          <a:xfrm>
            <a:off x="5824728" y="4666488"/>
            <a:ext cx="5982919" cy="0"/>
          </a:xfrm>
          <a:prstGeom prst="line">
            <a:avLst/>
          </a:prstGeom>
          <a:ln w="9525">
            <a:solidFill>
              <a:srgbClr val="EEEEE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6" name="Oval 125"/>
          <p:cNvSpPr/>
          <p:nvPr/>
        </p:nvSpPr>
        <p:spPr>
          <a:xfrm>
            <a:off x="5824728" y="4712208"/>
            <a:ext cx="219456" cy="219456"/>
          </a:xfrm>
          <a:prstGeom prst="ellipse">
            <a:avLst/>
          </a:prstGeom>
          <a:solidFill>
            <a:srgbClr val="DC2626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6135624" y="4684776"/>
            <a:ext cx="5672023" cy="556564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100"/>
              </a:spcAft>
            </a:pPr>
            <a:r>
              <a:rPr sz="950" b="1">
                <a:solidFill>
                  <a:srgbClr val="111111"/>
                </a:solidFill>
                <a:latin typeface="맑은 고딕"/>
                <a:ea typeface="맑은 고딕"/>
              </a:rPr>
              <a:t>액션 </a:t>
            </a:r>
            <a:r>
              <a:rPr sz="950" b="0">
                <a:solidFill>
                  <a:srgbClr val="999999"/>
                </a:solidFill>
                <a:latin typeface="맑은 고딕"/>
                <a:ea typeface="맑은 고딕"/>
              </a:rPr>
              <a:t>—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추가·수정·비활성화·삭제[확인·비활성화 권장 안내]</a:t>
            </a:r>
          </a:p>
        </p:txBody>
      </p:sp>
      <p:sp>
        <p:nvSpPr>
          <p:cNvPr id="128" name="Rectangle 127"/>
          <p:cNvSpPr/>
          <p:nvPr/>
        </p:nvSpPr>
        <p:spPr>
          <a:xfrm>
            <a:off x="5824728" y="5387644"/>
            <a:ext cx="5982919" cy="1086307"/>
          </a:xfrm>
          <a:prstGeom prst="rect">
            <a:avLst/>
          </a:prstGeom>
          <a:solidFill>
            <a:srgbClr val="F7F7F7"/>
          </a:solidFill>
          <a:ln w="12700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29" name="Connector 128"/>
          <p:cNvCxnSpPr/>
          <p:nvPr/>
        </p:nvCxnSpPr>
        <p:spPr>
          <a:xfrm>
            <a:off x="5824728" y="5661964"/>
            <a:ext cx="5982919" cy="0"/>
          </a:xfrm>
          <a:prstGeom prst="line">
            <a:avLst/>
          </a:prstGeom>
          <a:ln w="12700">
            <a:solidFill>
              <a:srgbClr val="CCCCC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0" name="TextBox 129"/>
          <p:cNvSpPr txBox="1"/>
          <p:nvPr/>
        </p:nvSpPr>
        <p:spPr>
          <a:xfrm>
            <a:off x="5934456" y="5428792"/>
            <a:ext cx="5763463" cy="237744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11111"/>
                </a:solidFill>
                <a:latin typeface="맑은 고딕"/>
                <a:ea typeface="맑은 고딕"/>
              </a:rPr>
              <a:t>화면 룰·기획 근거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5952744" y="5698540"/>
            <a:ext cx="5726887" cy="738835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100"/>
              </a:spcAft>
            </a:pPr>
            <a:r>
              <a:rPr sz="85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850" b="0">
                <a:solidFill>
                  <a:srgbClr val="333333"/>
                </a:solidFill>
                <a:latin typeface="맑은 고딕"/>
                <a:ea typeface="맑은 고딕"/>
              </a:rPr>
              <a:t>식별자 형식: 소문자·숫자·하이픈</a:t>
            </a:r>
          </a:p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100"/>
              </a:spcAft>
            </a:pPr>
            <a:r>
              <a:rPr sz="85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850" b="0">
                <a:solidFill>
                  <a:srgbClr val="333333"/>
                </a:solidFill>
                <a:latin typeface="맑은 고딕"/>
                <a:ea typeface="맑은 고딕"/>
              </a:rPr>
              <a:t>id·경로 중복 검사</a:t>
            </a:r>
          </a:p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DC2626"/>
                </a:solidFill>
                <a:latin typeface="맑은 고딕"/>
                <a:ea typeface="맑은 고딕"/>
              </a:rPr>
              <a:t>BE·DB  </a:t>
            </a:r>
            <a:r>
              <a:rPr sz="850" b="0">
                <a:solidFill>
                  <a:srgbClr val="666666"/>
                </a:solidFill>
                <a:latin typeface="맑은 고딕"/>
                <a:ea typeface="맑은 고딕"/>
              </a:rPr>
              <a:t>카테고리 마스터 CRUD API. 편집 파급 고려 캐시 무효화 전략 필요. 비활성 카테고리의 기존 카드 정책은 명세서 확정(부록 B).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84048" y="384048"/>
            <a:ext cx="7996519" cy="365760"/>
          </a:xfrm>
          <a:prstGeom prst="rect">
            <a:avLst/>
          </a:prstGeom>
          <a:noFill/>
        </p:spPr>
        <p:txBody>
          <a:bodyPr wrap="square" anchor="ctr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111111"/>
                </a:solidFill>
                <a:latin typeface="맑은 고딕"/>
                <a:ea typeface="맑은 고딕"/>
              </a:rPr>
              <a:t>ADM-07  ·  부서·조직 관리 (Org)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238207" y="384048"/>
            <a:ext cx="4569439" cy="365760"/>
          </a:xfrm>
          <a:prstGeom prst="rect">
            <a:avLst/>
          </a:prstGeom>
          <a:noFill/>
        </p:spPr>
        <p:txBody>
          <a:bodyPr wrap="square" anchor="ctr" lIns="54864" rIns="54864" tIns="27432" bIns="18288">
            <a:no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999999"/>
                </a:solidFill>
                <a:latin typeface="맑은 고딕"/>
                <a:ea typeface="맑은 고딕"/>
              </a:rPr>
              <a:t>화면 정의 (Screen Definition)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384048" y="786384"/>
            <a:ext cx="11423599" cy="0"/>
          </a:xfrm>
          <a:prstGeom prst="line">
            <a:avLst/>
          </a:prstGeom>
          <a:ln w="19050">
            <a:solidFill>
              <a:srgbClr val="CCCCC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384048" y="822959"/>
            <a:ext cx="11423599" cy="182880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999999"/>
                </a:solidFill>
                <a:latin typeface="맑은 고딕"/>
                <a:ea typeface="맑은 고딕"/>
              </a:rPr>
              <a:t>화면에 표기된 카테고리·업무 도메인 등 분류 개수는 마스터 데이터에서 파생되는 현재값이며, 고정 상수가 아니다(0.9).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84048" y="1097280"/>
            <a:ext cx="6282979" cy="219456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999999"/>
                </a:solidFill>
                <a:latin typeface="맑은 고딕"/>
                <a:ea typeface="맑은 고딕"/>
              </a:rPr>
              <a:t>화면 구조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29768" y="1371600"/>
            <a:ext cx="3838754" cy="233172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75488" y="1371600"/>
            <a:ext cx="3747314" cy="233172"/>
          </a:xfrm>
          <a:prstGeom prst="rect">
            <a:avLst/>
          </a:prstGeom>
          <a:noFill/>
        </p:spPr>
        <p:txBody>
          <a:bodyPr wrap="square" anchor="ctr" lIns="54864" rIns="54864" tIns="27432" bIns="18288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333333"/>
                </a:solidFill>
                <a:latin typeface="맑은 고딕"/>
                <a:ea typeface="맑은 고딕"/>
              </a:rPr>
              <a:t>조직 관리 (/admin/org)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13815" y="1714500"/>
            <a:ext cx="3600644" cy="233172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59536" y="1714500"/>
            <a:ext cx="3509204" cy="233172"/>
          </a:xfrm>
          <a:prstGeom prst="rect">
            <a:avLst/>
          </a:prstGeom>
          <a:noFill/>
        </p:spPr>
        <p:txBody>
          <a:bodyPr wrap="square" anchor="ctr" lIns="54864" rIns="54864" tIns="27432" bIns="18288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333333"/>
                </a:solidFill>
                <a:latin typeface="맑은 고딕"/>
                <a:ea typeface="맑은 고딕"/>
              </a:rPr>
              <a:t>섹션1 관계사 노출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539496" y="1488186"/>
            <a:ext cx="0" cy="342900"/>
          </a:xfrm>
          <a:prstGeom prst="line">
            <a:avLst/>
          </a:prstGeom>
          <a:ln w="16510">
            <a:solidFill>
              <a:srgbClr val="99999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539496" y="1831086"/>
            <a:ext cx="274319" cy="0"/>
          </a:xfrm>
          <a:prstGeom prst="line">
            <a:avLst/>
          </a:prstGeom>
          <a:ln w="16510">
            <a:solidFill>
              <a:srgbClr val="99999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813815" y="2057400"/>
            <a:ext cx="3600644" cy="233172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59536" y="2057400"/>
            <a:ext cx="3509204" cy="233172"/>
          </a:xfrm>
          <a:prstGeom prst="rect">
            <a:avLst/>
          </a:prstGeom>
          <a:noFill/>
        </p:spPr>
        <p:txBody>
          <a:bodyPr wrap="square" anchor="ctr" lIns="54864" rIns="54864" tIns="27432" bIns="18288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333333"/>
                </a:solidFill>
                <a:latin typeface="맑은 고딕"/>
                <a:ea typeface="맑은 고딕"/>
              </a:rPr>
              <a:t>섹션2 부서 관리 (+Teams 연동)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539496" y="1488186"/>
            <a:ext cx="0" cy="685800"/>
          </a:xfrm>
          <a:prstGeom prst="line">
            <a:avLst/>
          </a:prstGeom>
          <a:ln w="16510">
            <a:solidFill>
              <a:srgbClr val="99999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539496" y="2173986"/>
            <a:ext cx="274319" cy="0"/>
          </a:xfrm>
          <a:prstGeom prst="line">
            <a:avLst/>
          </a:prstGeom>
          <a:ln w="16510">
            <a:solidFill>
              <a:srgbClr val="99999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ounded Rectangle 16"/>
          <p:cNvSpPr/>
          <p:nvPr/>
        </p:nvSpPr>
        <p:spPr>
          <a:xfrm>
            <a:off x="813815" y="2400300"/>
            <a:ext cx="3600644" cy="233172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59536" y="2400300"/>
            <a:ext cx="3509204" cy="233172"/>
          </a:xfrm>
          <a:prstGeom prst="rect">
            <a:avLst/>
          </a:prstGeom>
          <a:noFill/>
        </p:spPr>
        <p:txBody>
          <a:bodyPr wrap="square" anchor="ctr" lIns="54864" rIns="54864" tIns="27432" bIns="18288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333333"/>
                </a:solidFill>
                <a:latin typeface="맑은 고딕"/>
                <a:ea typeface="맑은 고딕"/>
              </a:rPr>
              <a:t>섹션3 관계사 관리자 현황 (읽기)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539496" y="1488186"/>
            <a:ext cx="0" cy="1028700"/>
          </a:xfrm>
          <a:prstGeom prst="line">
            <a:avLst/>
          </a:prstGeom>
          <a:ln w="16510">
            <a:solidFill>
              <a:srgbClr val="99999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539496" y="2516886"/>
            <a:ext cx="274319" cy="0"/>
          </a:xfrm>
          <a:prstGeom prst="line">
            <a:avLst/>
          </a:prstGeom>
          <a:ln w="16510">
            <a:solidFill>
              <a:srgbClr val="99999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ounded Rectangle 20"/>
          <p:cNvSpPr/>
          <p:nvPr/>
        </p:nvSpPr>
        <p:spPr>
          <a:xfrm>
            <a:off x="813815" y="2743200"/>
            <a:ext cx="3600644" cy="233172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59536" y="2743200"/>
            <a:ext cx="3509204" cy="233172"/>
          </a:xfrm>
          <a:prstGeom prst="rect">
            <a:avLst/>
          </a:prstGeom>
          <a:noFill/>
        </p:spPr>
        <p:txBody>
          <a:bodyPr wrap="square" anchor="ctr" lIns="54864" rIns="54864" tIns="27432" bIns="18288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333333"/>
                </a:solidFill>
                <a:latin typeface="맑은 고딕"/>
                <a:ea typeface="맑은 고딕"/>
              </a:rPr>
              <a:t>섹션4 문의 채널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539496" y="1488186"/>
            <a:ext cx="0" cy="1371600"/>
          </a:xfrm>
          <a:prstGeom prst="line">
            <a:avLst/>
          </a:prstGeom>
          <a:ln w="16510">
            <a:solidFill>
              <a:srgbClr val="99999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9496" y="2859786"/>
            <a:ext cx="274319" cy="0"/>
          </a:xfrm>
          <a:prstGeom prst="line">
            <a:avLst/>
          </a:prstGeom>
          <a:ln w="16510">
            <a:solidFill>
              <a:srgbClr val="99999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Rounded Rectangle 24"/>
          <p:cNvSpPr/>
          <p:nvPr/>
        </p:nvSpPr>
        <p:spPr>
          <a:xfrm>
            <a:off x="813815" y="3086100"/>
            <a:ext cx="3600644" cy="233172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59536" y="3086100"/>
            <a:ext cx="3509204" cy="233172"/>
          </a:xfrm>
          <a:prstGeom prst="rect">
            <a:avLst/>
          </a:prstGeom>
          <a:noFill/>
        </p:spPr>
        <p:txBody>
          <a:bodyPr wrap="square" anchor="ctr" lIns="54864" rIns="54864" tIns="27432" bIns="18288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333333"/>
                </a:solidFill>
                <a:latin typeface="맑은 고딕"/>
                <a:ea typeface="맑은 고딕"/>
              </a:rPr>
              <a:t>운영 유의사항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539496" y="1488186"/>
            <a:ext cx="0" cy="1714500"/>
          </a:xfrm>
          <a:prstGeom prst="line">
            <a:avLst/>
          </a:prstGeom>
          <a:ln w="16510">
            <a:solidFill>
              <a:srgbClr val="99999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>
            <a:off x="539496" y="3202686"/>
            <a:ext cx="274319" cy="0"/>
          </a:xfrm>
          <a:prstGeom prst="line">
            <a:avLst/>
          </a:prstGeom>
          <a:ln w="16510">
            <a:solidFill>
              <a:srgbClr val="99999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TextBox 28"/>
          <p:cNvSpPr txBox="1"/>
          <p:nvPr/>
        </p:nvSpPr>
        <p:spPr>
          <a:xfrm>
            <a:off x="384048" y="4288536"/>
            <a:ext cx="6282979" cy="219456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999999"/>
                </a:solidFill>
                <a:latin typeface="맑은 고딕"/>
                <a:ea typeface="맑은 고딕"/>
              </a:rPr>
              <a:t>사용자 흐름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29768" y="4562855"/>
            <a:ext cx="1905350" cy="4572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75488" y="4562855"/>
            <a:ext cx="1813910" cy="457200"/>
          </a:xfrm>
          <a:prstGeom prst="rect">
            <a:avLst/>
          </a:prstGeom>
          <a:noFill/>
        </p:spPr>
        <p:txBody>
          <a:bodyPr wrap="square" anchor="ctr" lIns="54864" rIns="54864" tIns="27432" bIns="18288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333333"/>
                </a:solidFill>
                <a:latin typeface="맑은 고딕"/>
                <a:ea typeface="맑은 고딕"/>
              </a:rPr>
              <a:t>관계사 노출 토글</a:t>
            </a:r>
          </a:p>
        </p:txBody>
      </p:sp>
      <p:sp>
        <p:nvSpPr>
          <p:cNvPr id="32" name="Right Arrow 31"/>
          <p:cNvSpPr/>
          <p:nvPr/>
        </p:nvSpPr>
        <p:spPr>
          <a:xfrm>
            <a:off x="2353406" y="4727447"/>
            <a:ext cx="201168" cy="128016"/>
          </a:xfrm>
          <a:prstGeom prst="rightArrow">
            <a:avLst/>
          </a:prstGeom>
          <a:solidFill>
            <a:srgbClr val="CCC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2572862" y="4562855"/>
            <a:ext cx="1905350" cy="4572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2618582" y="4562855"/>
            <a:ext cx="1813910" cy="457200"/>
          </a:xfrm>
          <a:prstGeom prst="rect">
            <a:avLst/>
          </a:prstGeom>
          <a:noFill/>
        </p:spPr>
        <p:txBody>
          <a:bodyPr wrap="square" anchor="ctr" lIns="54864" rIns="54864" tIns="27432" bIns="18288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333333"/>
                </a:solidFill>
                <a:latin typeface="맑은 고딕"/>
                <a:ea typeface="맑은 고딕"/>
              </a:rPr>
              <a:t>목록 게이팅 즉시 반영</a:t>
            </a:r>
          </a:p>
        </p:txBody>
      </p:sp>
      <p:sp>
        <p:nvSpPr>
          <p:cNvPr id="35" name="Right Arrow 34"/>
          <p:cNvSpPr/>
          <p:nvPr/>
        </p:nvSpPr>
        <p:spPr>
          <a:xfrm>
            <a:off x="4496501" y="4727447"/>
            <a:ext cx="201168" cy="128016"/>
          </a:xfrm>
          <a:prstGeom prst="rightArrow">
            <a:avLst/>
          </a:prstGeom>
          <a:solidFill>
            <a:srgbClr val="CCC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4715957" y="4562855"/>
            <a:ext cx="1905350" cy="4572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761677" y="4562855"/>
            <a:ext cx="1813910" cy="457200"/>
          </a:xfrm>
          <a:prstGeom prst="rect">
            <a:avLst/>
          </a:prstGeom>
          <a:noFill/>
        </p:spPr>
        <p:txBody>
          <a:bodyPr wrap="square" anchor="ctr" lIns="54864" rIns="54864" tIns="27432" bIns="18288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333333"/>
                </a:solidFill>
                <a:latin typeface="맑은 고딕"/>
                <a:ea typeface="맑은 고딕"/>
              </a:rPr>
              <a:t>부서 동기화·수동 관리</a:t>
            </a:r>
          </a:p>
        </p:txBody>
      </p:sp>
      <p:sp>
        <p:nvSpPr>
          <p:cNvPr id="38" name="Down Arrow 37"/>
          <p:cNvSpPr/>
          <p:nvPr/>
        </p:nvSpPr>
        <p:spPr>
          <a:xfrm>
            <a:off x="3461529" y="5038343"/>
            <a:ext cx="128016" cy="256032"/>
          </a:xfrm>
          <a:prstGeom prst="downArrow">
            <a:avLst/>
          </a:prstGeom>
          <a:solidFill>
            <a:srgbClr val="CCC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ounded Rectangle 38"/>
          <p:cNvSpPr/>
          <p:nvPr/>
        </p:nvSpPr>
        <p:spPr>
          <a:xfrm>
            <a:off x="2572862" y="5330951"/>
            <a:ext cx="1905350" cy="384048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2618582" y="5330951"/>
            <a:ext cx="1813910" cy="384048"/>
          </a:xfrm>
          <a:prstGeom prst="rect">
            <a:avLst/>
          </a:prstGeom>
          <a:noFill/>
        </p:spPr>
        <p:txBody>
          <a:bodyPr wrap="square" anchor="ctr" lIns="54864" rIns="54864" tIns="27432" bIns="18288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333333"/>
                </a:solidFill>
                <a:latin typeface="맑은 고딕"/>
                <a:ea typeface="맑은 고딕"/>
              </a:rPr>
              <a:t>관리자 지정·해제 → ADM-08로 이동</a:t>
            </a:r>
          </a:p>
        </p:txBody>
      </p:sp>
      <p:sp>
        <p:nvSpPr>
          <p:cNvPr id="41" name="Down Arrow 40"/>
          <p:cNvSpPr/>
          <p:nvPr/>
        </p:nvSpPr>
        <p:spPr>
          <a:xfrm>
            <a:off x="5604624" y="5038343"/>
            <a:ext cx="128016" cy="256032"/>
          </a:xfrm>
          <a:prstGeom prst="downArrow">
            <a:avLst/>
          </a:prstGeom>
          <a:solidFill>
            <a:srgbClr val="CCC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ounded Rectangle 41"/>
          <p:cNvSpPr/>
          <p:nvPr/>
        </p:nvSpPr>
        <p:spPr>
          <a:xfrm>
            <a:off x="4715957" y="5330951"/>
            <a:ext cx="1905350" cy="384048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4761677" y="5330951"/>
            <a:ext cx="1813910" cy="384048"/>
          </a:xfrm>
          <a:prstGeom prst="rect">
            <a:avLst/>
          </a:prstGeom>
          <a:noFill/>
        </p:spPr>
        <p:txBody>
          <a:bodyPr wrap="square" anchor="ctr" lIns="54864" rIns="54864" tIns="27432" bIns="18288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333333"/>
                </a:solidFill>
                <a:latin typeface="맑은 고딕"/>
                <a:ea typeface="맑은 고딕"/>
              </a:rPr>
              <a:t>부서 삭제 → 태깅 카드 경고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29768" y="5861303"/>
            <a:ext cx="6191539" cy="201168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999999"/>
                </a:solidFill>
                <a:latin typeface="맑은 고딕"/>
                <a:ea typeface="맑은 고딕"/>
              </a:rPr>
              <a:t>설계 근거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48056" y="6080759"/>
            <a:ext cx="6154963" cy="393192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85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850" b="0">
                <a:solidFill>
                  <a:srgbClr val="666666"/>
                </a:solidFill>
                <a:latin typeface="맑은 고딕"/>
                <a:ea typeface="맑은 고딕"/>
              </a:rPr>
              <a:t>관계사 노출은 준비된 관계사부터 단계적으로 개방하기 위한 게이트다.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85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850" b="0">
                <a:solidFill>
                  <a:srgbClr val="666666"/>
                </a:solidFill>
                <a:latin typeface="맑은 고딕"/>
                <a:ea typeface="맑은 고딕"/>
              </a:rPr>
              <a:t>관리자 현황을 읽기 전용으로 두고 편집은 ADM-08로 일원화한다 — 부여 지점이 분산되면 감사 추적이 어렵다.</a:t>
            </a:r>
          </a:p>
        </p:txBody>
      </p:sp>
      <p:sp>
        <p:nvSpPr>
          <p:cNvPr id="46" name="Rectangle 45"/>
          <p:cNvSpPr/>
          <p:nvPr/>
        </p:nvSpPr>
        <p:spPr>
          <a:xfrm>
            <a:off x="6941347" y="1097280"/>
            <a:ext cx="4866299" cy="782061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7051075" y="1133856"/>
            <a:ext cx="4646843" cy="237744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333333"/>
                </a:solidFill>
                <a:latin typeface="맑은 고딕"/>
                <a:ea typeface="맑은 고딕"/>
              </a:rPr>
              <a:t>정의·역할</a:t>
            </a:r>
          </a:p>
        </p:txBody>
      </p:sp>
      <p:cxnSp>
        <p:nvCxnSpPr>
          <p:cNvPr id="48" name="Connector 47"/>
          <p:cNvCxnSpPr/>
          <p:nvPr/>
        </p:nvCxnSpPr>
        <p:spPr>
          <a:xfrm>
            <a:off x="7051075" y="1371600"/>
            <a:ext cx="4646844" cy="0"/>
          </a:xfrm>
          <a:prstGeom prst="line">
            <a:avLst/>
          </a:prstGeom>
          <a:ln w="12700">
            <a:solidFill>
              <a:srgbClr val="EEEEE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9" name="TextBox 48"/>
          <p:cNvSpPr txBox="1"/>
          <p:nvPr/>
        </p:nvSpPr>
        <p:spPr>
          <a:xfrm>
            <a:off x="7069363" y="1408176"/>
            <a:ext cx="4610267" cy="434589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접근: admin 전용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관계사 노출·부서 체계·관계사 관리자 현황·문의 채널의 조직 운영 화면</a:t>
            </a:r>
          </a:p>
        </p:txBody>
      </p:sp>
      <p:sp>
        <p:nvSpPr>
          <p:cNvPr id="50" name="Rectangle 49"/>
          <p:cNvSpPr/>
          <p:nvPr/>
        </p:nvSpPr>
        <p:spPr>
          <a:xfrm>
            <a:off x="6941347" y="2007357"/>
            <a:ext cx="4866299" cy="591201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7051075" y="2043933"/>
            <a:ext cx="4646843" cy="237744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333333"/>
                </a:solidFill>
                <a:latin typeface="맑은 고딕"/>
                <a:ea typeface="맑은 고딕"/>
              </a:rPr>
              <a:t>목적</a:t>
            </a:r>
          </a:p>
        </p:txBody>
      </p:sp>
      <p:cxnSp>
        <p:nvCxnSpPr>
          <p:cNvPr id="52" name="Connector 51"/>
          <p:cNvCxnSpPr/>
          <p:nvPr/>
        </p:nvCxnSpPr>
        <p:spPr>
          <a:xfrm>
            <a:off x="7051075" y="2281677"/>
            <a:ext cx="4646844" cy="0"/>
          </a:xfrm>
          <a:prstGeom prst="line">
            <a:avLst/>
          </a:prstGeom>
          <a:ln w="12700">
            <a:solidFill>
              <a:srgbClr val="EEEEE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3" name="TextBox 52"/>
          <p:cNvSpPr txBox="1"/>
          <p:nvPr/>
        </p:nvSpPr>
        <p:spPr>
          <a:xfrm>
            <a:off x="7069363" y="2318253"/>
            <a:ext cx="4610267" cy="243729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카탈로그의 조직 축과 운영 설정을 한 화면에서 관리</a:t>
            </a:r>
          </a:p>
        </p:txBody>
      </p:sp>
      <p:sp>
        <p:nvSpPr>
          <p:cNvPr id="54" name="Rectangle 53"/>
          <p:cNvSpPr/>
          <p:nvPr/>
        </p:nvSpPr>
        <p:spPr>
          <a:xfrm>
            <a:off x="6941347" y="2726574"/>
            <a:ext cx="4866299" cy="1354642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7051075" y="2763150"/>
            <a:ext cx="4646843" cy="237744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333333"/>
                </a:solidFill>
                <a:latin typeface="맑은 고딕"/>
                <a:ea typeface="맑은 고딕"/>
              </a:rPr>
              <a:t>기획 의도</a:t>
            </a:r>
          </a:p>
        </p:txBody>
      </p:sp>
      <p:cxnSp>
        <p:nvCxnSpPr>
          <p:cNvPr id="56" name="Connector 55"/>
          <p:cNvCxnSpPr/>
          <p:nvPr/>
        </p:nvCxnSpPr>
        <p:spPr>
          <a:xfrm>
            <a:off x="7051075" y="3000894"/>
            <a:ext cx="4646844" cy="0"/>
          </a:xfrm>
          <a:prstGeom prst="line">
            <a:avLst/>
          </a:prstGeom>
          <a:ln w="12700">
            <a:solidFill>
              <a:srgbClr val="EEEEE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7" name="TextBox 56"/>
          <p:cNvSpPr txBox="1"/>
          <p:nvPr/>
        </p:nvSpPr>
        <p:spPr>
          <a:xfrm>
            <a:off x="7069363" y="3037470"/>
            <a:ext cx="4610267" cy="1007170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관계사 노출은 준비된 관계사부터 단계적 개방 지원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부서는 SSO(Entra/Teams) 동기화 기본+수동 보조 — 조직 개편 잦은 환경의 정합 유지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관리자 현황은 읽기 전용, 편집은 ADM-08 일원화 — 부여 지점 분산 시 감사 추적 곤란</a:t>
            </a:r>
          </a:p>
        </p:txBody>
      </p:sp>
      <p:sp>
        <p:nvSpPr>
          <p:cNvPr id="58" name="Rectangle 57"/>
          <p:cNvSpPr/>
          <p:nvPr/>
        </p:nvSpPr>
        <p:spPr>
          <a:xfrm>
            <a:off x="6941347" y="4209232"/>
            <a:ext cx="4866299" cy="972921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7051075" y="4245808"/>
            <a:ext cx="4646843" cy="237744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333333"/>
                </a:solidFill>
                <a:latin typeface="맑은 고딕"/>
                <a:ea typeface="맑은 고딕"/>
              </a:rPr>
              <a:t>지켜야 할 룰</a:t>
            </a:r>
          </a:p>
        </p:txBody>
      </p:sp>
      <p:cxnSp>
        <p:nvCxnSpPr>
          <p:cNvPr id="60" name="Connector 59"/>
          <p:cNvCxnSpPr/>
          <p:nvPr/>
        </p:nvCxnSpPr>
        <p:spPr>
          <a:xfrm>
            <a:off x="7051075" y="4483552"/>
            <a:ext cx="4646844" cy="0"/>
          </a:xfrm>
          <a:prstGeom prst="line">
            <a:avLst/>
          </a:prstGeom>
          <a:ln w="12700">
            <a:solidFill>
              <a:srgbClr val="EEEEE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1" name="TextBox 60"/>
          <p:cNvSpPr txBox="1"/>
          <p:nvPr/>
        </p:nvSpPr>
        <p:spPr>
          <a:xfrm>
            <a:off x="7069363" y="4520128"/>
            <a:ext cx="4610267" cy="625449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비노출 전환에도 기존 데이터 유지 안내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부서 삭제 시 태깅 카드 수 경고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관리자 지정·해제는 이 화면에서 안 함</a:t>
            </a:r>
          </a:p>
        </p:txBody>
      </p:sp>
      <p:sp>
        <p:nvSpPr>
          <p:cNvPr id="62" name="Rectangle 61"/>
          <p:cNvSpPr/>
          <p:nvPr/>
        </p:nvSpPr>
        <p:spPr>
          <a:xfrm>
            <a:off x="6941347" y="5310170"/>
            <a:ext cx="4866299" cy="1163781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7051075" y="5346746"/>
            <a:ext cx="4646843" cy="237744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333333"/>
                </a:solidFill>
                <a:latin typeface="맑은 고딕"/>
                <a:ea typeface="맑은 고딕"/>
              </a:rPr>
              <a:t>개발 연동 노트</a:t>
            </a:r>
          </a:p>
        </p:txBody>
      </p:sp>
      <p:cxnSp>
        <p:nvCxnSpPr>
          <p:cNvPr id="64" name="Connector 63"/>
          <p:cNvCxnSpPr/>
          <p:nvPr/>
        </p:nvCxnSpPr>
        <p:spPr>
          <a:xfrm>
            <a:off x="7051075" y="5584490"/>
            <a:ext cx="4646844" cy="0"/>
          </a:xfrm>
          <a:prstGeom prst="line">
            <a:avLst/>
          </a:prstGeom>
          <a:ln w="12700">
            <a:solidFill>
              <a:srgbClr val="EEEEE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5" name="TextBox 64"/>
          <p:cNvSpPr txBox="1"/>
          <p:nvPr/>
        </p:nvSpPr>
        <p:spPr>
          <a:xfrm>
            <a:off x="7069363" y="5621066"/>
            <a:ext cx="4610267" cy="816309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getOrgCompanies·getOrgDepts·getCompanyAdmins·getTeamsSyncSource·getAssetItemRefs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부서 동기화=Entra/Teams 디렉터리 API(주기·수동 실행), 문의 채널=운영 설정 저장, 노출 토글은 목록 게이팅과 즉시 정합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aphicFrame>
        <p:nvGraphicFramePr>
          <p:cNvPr id="2" name="Table 1"/>
          <p:cNvGraphicFramePr>
            <a:graphicFrameLocks noGrp="1"/>
          </p:cNvGraphicFramePr>
          <p:nvPr/>
        </p:nvGraphicFramePr>
        <p:xfrm>
          <a:off x="384048" y="384048"/>
          <a:ext cx="11423599" cy="1042416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371600"/>
                <a:gridCol w="4297680"/>
                <a:gridCol w="1280160"/>
                <a:gridCol w="4474159"/>
              </a:tblGrid>
              <a:tr h="384048">
                <a:tc gridSpan="3"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부서·조직 관리  —  노출·부서</a:t>
                      </a:r>
                    </a:p>
                  </a:txBody>
                  <a:tcPr anchor="ctr" marL="73152" marR="54864" marT="18288" marB="18288">
                    <a:solidFill>
                      <a:srgbClr val="111111"/>
                    </a:solidFill>
                    <a:lnL w="9525" cap="flat">
                      <a:solidFill>
                        <a:srgbClr val="666666"/>
                      </a:solidFill>
                    </a:lnL>
                    <a:lnR w="9525" cap="flat">
                      <a:solidFill>
                        <a:srgbClr val="666666"/>
                      </a:solidFill>
                    </a:lnR>
                    <a:lnT w="9525" cap="flat">
                      <a:solidFill>
                        <a:srgbClr val="666666"/>
                      </a:solidFill>
                    </a:lnT>
                    <a:lnB w="9525" cap="flat">
                      <a:solidFill>
                        <a:srgbClr val="666666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Page 1 / 2</a:t>
                      </a:r>
                    </a:p>
                  </a:txBody>
                  <a:tcPr anchor="ctr" marL="73152" marR="54864" marT="18288" marB="18288">
                    <a:solidFill>
                      <a:srgbClr val="111111"/>
                    </a:solidFill>
                    <a:lnL w="9525" cap="flat">
                      <a:solidFill>
                        <a:srgbClr val="666666"/>
                      </a:solidFill>
                    </a:lnL>
                    <a:lnR w="9525" cap="flat">
                      <a:solidFill>
                        <a:srgbClr val="666666"/>
                      </a:solidFill>
                    </a:lnR>
                    <a:lnT w="9525" cap="flat">
                      <a:solidFill>
                        <a:srgbClr val="666666"/>
                      </a:solidFill>
                    </a:lnT>
                    <a:lnB w="9525" cap="flat">
                      <a:solidFill>
                        <a:srgbClr val="666666"/>
                      </a:solidFill>
                    </a:lnB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</a:rPr>
                        <a:t>Page Title</a:t>
                      </a:r>
                    </a:p>
                  </a:txBody>
                  <a:tcPr anchor="ctr" marL="73152" marR="54864" marT="18288" marB="18288">
                    <a:solidFill>
                      <a:srgbClr val="EEEEEE"/>
                    </a:solidFill>
                    <a:lnL w="9525" cap="flat">
                      <a:solidFill>
                        <a:srgbClr val="666666"/>
                      </a:solidFill>
                    </a:lnL>
                    <a:lnR w="9525" cap="flat">
                      <a:solidFill>
                        <a:srgbClr val="666666"/>
                      </a:solidFill>
                    </a:lnR>
                    <a:lnT w="9525" cap="flat">
                      <a:solidFill>
                        <a:srgbClr val="666666"/>
                      </a:solidFill>
                    </a:lnT>
                    <a:lnB w="9525" cap="flat">
                      <a:solidFill>
                        <a:srgbClr val="666666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111111"/>
                          </a:solidFill>
                          <a:latin typeface="맑은 고딕"/>
                          <a:ea typeface="맑은 고딕"/>
                        </a:rPr>
                        <a:t>부서·조직 관리</a:t>
                      </a:r>
                    </a:p>
                  </a:txBody>
                  <a:tcPr anchor="ctr" marL="73152" marR="54864" marT="18288" marB="18288">
                    <a:solidFill>
                      <a:srgbClr val="FFFFFF"/>
                    </a:solidFill>
                    <a:lnL w="9525" cap="flat">
                      <a:solidFill>
                        <a:srgbClr val="666666"/>
                      </a:solidFill>
                    </a:lnL>
                    <a:lnR w="9525" cap="flat">
                      <a:solidFill>
                        <a:srgbClr val="666666"/>
                      </a:solidFill>
                    </a:lnR>
                    <a:lnT w="9525" cap="flat">
                      <a:solidFill>
                        <a:srgbClr val="666666"/>
                      </a:solidFill>
                    </a:lnT>
                    <a:lnB w="9525" cap="flat">
                      <a:solidFill>
                        <a:srgbClr val="666666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</a:rPr>
                        <a:t>Screen ID</a:t>
                      </a:r>
                    </a:p>
                  </a:txBody>
                  <a:tcPr anchor="ctr" marL="73152" marR="54864" marT="18288" marB="18288">
                    <a:solidFill>
                      <a:srgbClr val="EEEEEE"/>
                    </a:solidFill>
                    <a:lnL w="9525" cap="flat">
                      <a:solidFill>
                        <a:srgbClr val="666666"/>
                      </a:solidFill>
                    </a:lnL>
                    <a:lnR w="9525" cap="flat">
                      <a:solidFill>
                        <a:srgbClr val="666666"/>
                      </a:solidFill>
                    </a:lnR>
                    <a:lnT w="9525" cap="flat">
                      <a:solidFill>
                        <a:srgbClr val="666666"/>
                      </a:solidFill>
                    </a:lnT>
                    <a:lnB w="9525" cap="flat">
                      <a:solidFill>
                        <a:srgbClr val="666666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111111"/>
                          </a:solidFill>
                          <a:latin typeface="맑은 고딕"/>
                          <a:ea typeface="맑은 고딕"/>
                        </a:rPr>
                        <a:t>ADM-07</a:t>
                      </a:r>
                    </a:p>
                  </a:txBody>
                  <a:tcPr anchor="ctr" marL="73152" marR="54864" marT="18288" marB="18288">
                    <a:solidFill>
                      <a:srgbClr val="FFFFFF"/>
                    </a:solidFill>
                    <a:lnL w="9525" cap="flat">
                      <a:solidFill>
                        <a:srgbClr val="666666"/>
                      </a:solidFill>
                    </a:lnL>
                    <a:lnR w="9525" cap="flat">
                      <a:solidFill>
                        <a:srgbClr val="666666"/>
                      </a:solidFill>
                    </a:lnR>
                    <a:lnT w="9525" cap="flat">
                      <a:solidFill>
                        <a:srgbClr val="666666"/>
                      </a:solidFill>
                    </a:lnT>
                    <a:lnB w="9525" cap="flat">
                      <a:solidFill>
                        <a:srgbClr val="666666"/>
                      </a:solidFill>
                    </a:lnB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</a:rPr>
                        <a:t>Screen Path</a:t>
                      </a:r>
                    </a:p>
                  </a:txBody>
                  <a:tcPr anchor="ctr" marL="73152" marR="54864" marT="18288" marB="18288">
                    <a:solidFill>
                      <a:srgbClr val="EEEEEE"/>
                    </a:solidFill>
                    <a:lnL w="9525" cap="flat">
                      <a:solidFill>
                        <a:srgbClr val="666666"/>
                      </a:solidFill>
                    </a:lnL>
                    <a:lnR w="9525" cap="flat">
                      <a:solidFill>
                        <a:srgbClr val="666666"/>
                      </a:solidFill>
                    </a:lnR>
                    <a:lnT w="9525" cap="flat">
                      <a:solidFill>
                        <a:srgbClr val="666666"/>
                      </a:solidFill>
                    </a:lnT>
                    <a:lnB w="9525" cap="flat">
                      <a:solidFill>
                        <a:srgbClr val="666666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</a:rPr>
                        <a:t>/admin/org  (admin 전용)</a:t>
                      </a:r>
                    </a:p>
                  </a:txBody>
                  <a:tcPr anchor="ctr" marL="73152" marR="54864" marT="18288" marB="18288">
                    <a:solidFill>
                      <a:srgbClr val="FFFFFF"/>
                    </a:solidFill>
                    <a:lnL w="9525" cap="flat">
                      <a:solidFill>
                        <a:srgbClr val="666666"/>
                      </a:solidFill>
                    </a:lnL>
                    <a:lnR w="9525" cap="flat">
                      <a:solidFill>
                        <a:srgbClr val="666666"/>
                      </a:solidFill>
                    </a:lnR>
                    <a:lnT w="9525" cap="flat">
                      <a:solidFill>
                        <a:srgbClr val="666666"/>
                      </a:solidFill>
                    </a:lnT>
                    <a:lnB w="9525" cap="flat">
                      <a:solidFill>
                        <a:srgbClr val="666666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</a:rPr>
                        <a:t>작성자</a:t>
                      </a:r>
                    </a:p>
                  </a:txBody>
                  <a:tcPr anchor="ctr" marL="73152" marR="54864" marT="18288" marB="18288">
                    <a:solidFill>
                      <a:srgbClr val="EEEEEE"/>
                    </a:solidFill>
                    <a:lnL w="9525" cap="flat">
                      <a:solidFill>
                        <a:srgbClr val="666666"/>
                      </a:solidFill>
                    </a:lnL>
                    <a:lnR w="9525" cap="flat">
                      <a:solidFill>
                        <a:srgbClr val="666666"/>
                      </a:solidFill>
                    </a:lnR>
                    <a:lnT w="9525" cap="flat">
                      <a:solidFill>
                        <a:srgbClr val="666666"/>
                      </a:solidFill>
                    </a:lnT>
                    <a:lnB w="9525" cap="flat">
                      <a:solidFill>
                        <a:srgbClr val="666666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11111"/>
                          </a:solidFill>
                          <a:latin typeface="맑은 고딕"/>
                          <a:ea typeface="맑은 고딕"/>
                        </a:rPr>
                        <a:t>배상혁</a:t>
                      </a:r>
                    </a:p>
                  </a:txBody>
                  <a:tcPr anchor="ctr" marL="73152" marR="54864" marT="18288" marB="18288">
                    <a:solidFill>
                      <a:srgbClr val="FFFFFF"/>
                    </a:solidFill>
                    <a:lnL w="9525" cap="flat">
                      <a:solidFill>
                        <a:srgbClr val="666666"/>
                      </a:solidFill>
                    </a:lnL>
                    <a:lnR w="9525" cap="flat">
                      <a:solidFill>
                        <a:srgbClr val="666666"/>
                      </a:solidFill>
                    </a:lnR>
                    <a:lnT w="9525" cap="flat">
                      <a:solidFill>
                        <a:srgbClr val="666666"/>
                      </a:solidFill>
                    </a:lnT>
                    <a:lnB w="9525" cap="flat">
                      <a:solidFill>
                        <a:srgbClr val="666666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3" name="Rectangle 2"/>
          <p:cNvSpPr/>
          <p:nvPr/>
        </p:nvSpPr>
        <p:spPr>
          <a:xfrm>
            <a:off x="384048" y="1572767"/>
            <a:ext cx="5166360" cy="4901184"/>
          </a:xfrm>
          <a:prstGeom prst="rect">
            <a:avLst/>
          </a:prstGeom>
          <a:solidFill>
            <a:srgbClr val="FFFFFF"/>
          </a:solidFill>
          <a:ln w="3048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84048" y="1572767"/>
            <a:ext cx="5166360" cy="146304"/>
          </a:xfrm>
          <a:prstGeom prst="rect">
            <a:avLst/>
          </a:prstGeom>
          <a:solidFill>
            <a:srgbClr val="F7F7F7"/>
          </a:solidFill>
          <a:ln w="3048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484632" y="1623059"/>
            <a:ext cx="45720" cy="45720"/>
          </a:xfrm>
          <a:prstGeom prst="ellipse">
            <a:avLst/>
          </a:prstGeom>
          <a:solidFill>
            <a:srgbClr val="CCC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585216" y="1623059"/>
            <a:ext cx="45720" cy="45720"/>
          </a:xfrm>
          <a:prstGeom prst="ellipse">
            <a:avLst/>
          </a:prstGeom>
          <a:solidFill>
            <a:srgbClr val="CCC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685800" y="1623059"/>
            <a:ext cx="45720" cy="45720"/>
          </a:xfrm>
          <a:prstGeom prst="ellipse">
            <a:avLst/>
          </a:prstGeom>
          <a:solidFill>
            <a:srgbClr val="CCC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12064" y="1847087"/>
            <a:ext cx="4910328" cy="256032"/>
          </a:xfrm>
          <a:prstGeom prst="rect">
            <a:avLst/>
          </a:prstGeom>
          <a:solidFill>
            <a:srgbClr val="F7F7F7"/>
          </a:solidFill>
          <a:ln w="1651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585216" y="1911095"/>
            <a:ext cx="658368" cy="12801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5166359" y="1883663"/>
            <a:ext cx="182880" cy="182880"/>
          </a:xfrm>
          <a:prstGeom prst="ellipse">
            <a:avLst/>
          </a:prstGeom>
          <a:solidFill>
            <a:srgbClr val="FFFFFF"/>
          </a:solidFill>
          <a:ln w="1524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12064" y="2157983"/>
            <a:ext cx="914400" cy="4187952"/>
          </a:xfrm>
          <a:prstGeom prst="rect">
            <a:avLst/>
          </a:prstGeom>
          <a:solidFill>
            <a:srgbClr val="F7F7F7"/>
          </a:solidFill>
          <a:ln w="1651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594360" y="2267711"/>
            <a:ext cx="749808" cy="14630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594360" y="2542031"/>
            <a:ext cx="749808" cy="14630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594360" y="2816351"/>
            <a:ext cx="749808" cy="14630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594360" y="3090671"/>
            <a:ext cx="749808" cy="14630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594360" y="3364991"/>
            <a:ext cx="749808" cy="14630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594360" y="3639311"/>
            <a:ext cx="749808" cy="14630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594360" y="3913631"/>
            <a:ext cx="749808" cy="14630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594360" y="4187952"/>
            <a:ext cx="749808" cy="14630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594360" y="4462271"/>
            <a:ext cx="749808" cy="14630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170432" y="2532887"/>
            <a:ext cx="128016" cy="128016"/>
          </a:xfrm>
          <a:prstGeom prst="ellipse">
            <a:avLst/>
          </a:prstGeom>
          <a:solidFill>
            <a:srgbClr val="FFFFFF"/>
          </a:solidFill>
          <a:ln w="1524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1572768" y="2194559"/>
            <a:ext cx="3849624" cy="1463040"/>
          </a:xfrm>
          <a:prstGeom prst="rect">
            <a:avLst/>
          </a:prstGeom>
          <a:solidFill>
            <a:srgbClr val="FFFFFF"/>
          </a:solidFill>
          <a:ln w="1651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3" name="Connector 22"/>
          <p:cNvCxnSpPr/>
          <p:nvPr/>
        </p:nvCxnSpPr>
        <p:spPr>
          <a:xfrm>
            <a:off x="1673352" y="2359151"/>
            <a:ext cx="846917" cy="0"/>
          </a:xfrm>
          <a:prstGeom prst="line">
            <a:avLst/>
          </a:prstGeom>
          <a:ln w="22860">
            <a:solidFill>
              <a:srgbClr val="6666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ectangle 23"/>
          <p:cNvSpPr/>
          <p:nvPr/>
        </p:nvSpPr>
        <p:spPr>
          <a:xfrm>
            <a:off x="4041648" y="2285999"/>
            <a:ext cx="1280160" cy="201168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5" name="Connector 24"/>
          <p:cNvCxnSpPr/>
          <p:nvPr/>
        </p:nvCxnSpPr>
        <p:spPr>
          <a:xfrm>
            <a:off x="4041648" y="2487168"/>
            <a:ext cx="1280160" cy="0"/>
          </a:xfrm>
          <a:prstGeom prst="line">
            <a:avLst/>
          </a:prstGeom>
          <a:ln w="22860">
            <a:solidFill>
              <a:srgbClr val="33333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1673352" y="2706623"/>
            <a:ext cx="1231879" cy="0"/>
          </a:xfrm>
          <a:prstGeom prst="line">
            <a:avLst/>
          </a:prstGeom>
          <a:ln w="13970">
            <a:solidFill>
              <a:srgbClr val="6666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>
            <a:off x="3420587" y="2706623"/>
            <a:ext cx="538947" cy="0"/>
          </a:xfrm>
          <a:prstGeom prst="line">
            <a:avLst/>
          </a:prstGeom>
          <a:ln w="13970">
            <a:solidFill>
              <a:srgbClr val="6666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Rounded Rectangle 27"/>
          <p:cNvSpPr/>
          <p:nvPr/>
        </p:nvSpPr>
        <p:spPr>
          <a:xfrm>
            <a:off x="4956047" y="2615183"/>
            <a:ext cx="365760" cy="1828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5157215" y="2633471"/>
            <a:ext cx="146304" cy="146304"/>
          </a:xfrm>
          <a:prstGeom prst="ellipse">
            <a:avLst/>
          </a:prstGeom>
          <a:solidFill>
            <a:srgbClr val="FFFFFF"/>
          </a:solidFill>
          <a:ln w="1524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0" name="Connector 29"/>
          <p:cNvCxnSpPr/>
          <p:nvPr/>
        </p:nvCxnSpPr>
        <p:spPr>
          <a:xfrm>
            <a:off x="1673352" y="2962655"/>
            <a:ext cx="1231879" cy="0"/>
          </a:xfrm>
          <a:prstGeom prst="line">
            <a:avLst/>
          </a:prstGeom>
          <a:ln w="13970">
            <a:solidFill>
              <a:srgbClr val="6666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3420587" y="2962655"/>
            <a:ext cx="538947" cy="0"/>
          </a:xfrm>
          <a:prstGeom prst="line">
            <a:avLst/>
          </a:prstGeom>
          <a:ln w="13970">
            <a:solidFill>
              <a:srgbClr val="6666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Rounded Rectangle 31"/>
          <p:cNvSpPr/>
          <p:nvPr/>
        </p:nvSpPr>
        <p:spPr>
          <a:xfrm>
            <a:off x="4956047" y="2871215"/>
            <a:ext cx="365760" cy="1828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5157215" y="2889503"/>
            <a:ext cx="146304" cy="146304"/>
          </a:xfrm>
          <a:prstGeom prst="ellipse">
            <a:avLst/>
          </a:prstGeom>
          <a:solidFill>
            <a:srgbClr val="FFFFFF"/>
          </a:solidFill>
          <a:ln w="1524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4" name="Connector 33"/>
          <p:cNvCxnSpPr/>
          <p:nvPr/>
        </p:nvCxnSpPr>
        <p:spPr>
          <a:xfrm>
            <a:off x="1673352" y="3218687"/>
            <a:ext cx="1231879" cy="0"/>
          </a:xfrm>
          <a:prstGeom prst="line">
            <a:avLst/>
          </a:prstGeom>
          <a:ln w="13970">
            <a:solidFill>
              <a:srgbClr val="6666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3420587" y="3218687"/>
            <a:ext cx="538947" cy="0"/>
          </a:xfrm>
          <a:prstGeom prst="line">
            <a:avLst/>
          </a:prstGeom>
          <a:ln w="13970">
            <a:solidFill>
              <a:srgbClr val="6666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ounded Rectangle 35"/>
          <p:cNvSpPr/>
          <p:nvPr/>
        </p:nvSpPr>
        <p:spPr>
          <a:xfrm>
            <a:off x="4956047" y="3127247"/>
            <a:ext cx="365760" cy="1828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5157215" y="3145535"/>
            <a:ext cx="146304" cy="146304"/>
          </a:xfrm>
          <a:prstGeom prst="ellipse">
            <a:avLst/>
          </a:prstGeom>
          <a:solidFill>
            <a:srgbClr val="FFFFFF"/>
          </a:solidFill>
          <a:ln w="1524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8" name="Connector 37"/>
          <p:cNvCxnSpPr/>
          <p:nvPr/>
        </p:nvCxnSpPr>
        <p:spPr>
          <a:xfrm>
            <a:off x="1673352" y="3474720"/>
            <a:ext cx="1231879" cy="0"/>
          </a:xfrm>
          <a:prstGeom prst="line">
            <a:avLst/>
          </a:prstGeom>
          <a:ln w="13970">
            <a:solidFill>
              <a:srgbClr val="6666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>
            <a:off x="3420587" y="3474720"/>
            <a:ext cx="538947" cy="0"/>
          </a:xfrm>
          <a:prstGeom prst="line">
            <a:avLst/>
          </a:prstGeom>
          <a:ln w="13970">
            <a:solidFill>
              <a:srgbClr val="6666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0" name="Rounded Rectangle 39"/>
          <p:cNvSpPr/>
          <p:nvPr/>
        </p:nvSpPr>
        <p:spPr>
          <a:xfrm>
            <a:off x="4956047" y="3383279"/>
            <a:ext cx="365760" cy="1828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Oval 40"/>
          <p:cNvSpPr/>
          <p:nvPr/>
        </p:nvSpPr>
        <p:spPr>
          <a:xfrm>
            <a:off x="5157215" y="3401568"/>
            <a:ext cx="146304" cy="146304"/>
          </a:xfrm>
          <a:prstGeom prst="ellipse">
            <a:avLst/>
          </a:prstGeom>
          <a:solidFill>
            <a:srgbClr val="FFFFFF"/>
          </a:solidFill>
          <a:ln w="1524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Oval 41"/>
          <p:cNvSpPr/>
          <p:nvPr/>
        </p:nvSpPr>
        <p:spPr>
          <a:xfrm>
            <a:off x="1554480" y="2176271"/>
            <a:ext cx="237744" cy="237744"/>
          </a:xfrm>
          <a:prstGeom prst="ellipse">
            <a:avLst/>
          </a:prstGeom>
          <a:solidFill>
            <a:srgbClr val="DC2626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1</a:t>
            </a:r>
          </a:p>
        </p:txBody>
      </p:sp>
      <p:sp>
        <p:nvSpPr>
          <p:cNvPr id="43" name="Rectangle 42"/>
          <p:cNvSpPr/>
          <p:nvPr/>
        </p:nvSpPr>
        <p:spPr>
          <a:xfrm>
            <a:off x="1572768" y="3785615"/>
            <a:ext cx="3849624" cy="2542032"/>
          </a:xfrm>
          <a:prstGeom prst="rect">
            <a:avLst/>
          </a:prstGeom>
          <a:solidFill>
            <a:srgbClr val="FFFFFF"/>
          </a:solidFill>
          <a:ln w="1651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4" name="Connector 43"/>
          <p:cNvCxnSpPr/>
          <p:nvPr/>
        </p:nvCxnSpPr>
        <p:spPr>
          <a:xfrm>
            <a:off x="1673352" y="3950207"/>
            <a:ext cx="769924" cy="0"/>
          </a:xfrm>
          <a:prstGeom prst="line">
            <a:avLst/>
          </a:prstGeom>
          <a:ln w="22860">
            <a:solidFill>
              <a:srgbClr val="6666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5" name="Rectangle 44"/>
          <p:cNvSpPr/>
          <p:nvPr/>
        </p:nvSpPr>
        <p:spPr>
          <a:xfrm>
            <a:off x="4224527" y="3877055"/>
            <a:ext cx="1097280" cy="201168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6" name="Connector 45"/>
          <p:cNvCxnSpPr/>
          <p:nvPr/>
        </p:nvCxnSpPr>
        <p:spPr>
          <a:xfrm>
            <a:off x="4224527" y="4078223"/>
            <a:ext cx="1097280" cy="0"/>
          </a:xfrm>
          <a:prstGeom prst="line">
            <a:avLst/>
          </a:prstGeom>
          <a:ln w="22860">
            <a:solidFill>
              <a:srgbClr val="33333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7" name="Rectangle 46"/>
          <p:cNvSpPr/>
          <p:nvPr/>
        </p:nvSpPr>
        <p:spPr>
          <a:xfrm>
            <a:off x="1673352" y="4169663"/>
            <a:ext cx="3648456" cy="512064"/>
          </a:xfrm>
          <a:prstGeom prst="rect">
            <a:avLst/>
          </a:prstGeom>
          <a:solidFill>
            <a:srgbClr val="F7F7F7"/>
          </a:solidFill>
          <a:ln w="1397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8" name="Connector 47"/>
          <p:cNvCxnSpPr/>
          <p:nvPr/>
        </p:nvCxnSpPr>
        <p:spPr>
          <a:xfrm>
            <a:off x="1746504" y="4279392"/>
            <a:ext cx="923909" cy="0"/>
          </a:xfrm>
          <a:prstGeom prst="line">
            <a:avLst/>
          </a:prstGeom>
          <a:ln w="13970">
            <a:solidFill>
              <a:srgbClr val="6666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Connector 48"/>
          <p:cNvCxnSpPr/>
          <p:nvPr/>
        </p:nvCxnSpPr>
        <p:spPr>
          <a:xfrm>
            <a:off x="1911095" y="4462272"/>
            <a:ext cx="1385865" cy="0"/>
          </a:xfrm>
          <a:prstGeom prst="line">
            <a:avLst/>
          </a:prstGeom>
          <a:ln w="13970">
            <a:solidFill>
              <a:srgbClr val="6666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0" name="Rounded Rectangle 49"/>
          <p:cNvSpPr/>
          <p:nvPr/>
        </p:nvSpPr>
        <p:spPr>
          <a:xfrm>
            <a:off x="4443983" y="4407407"/>
            <a:ext cx="384048" cy="109728"/>
          </a:xfrm>
          <a:prstGeom prst="roundRect">
            <a:avLst/>
          </a:prstGeom>
          <a:solidFill>
            <a:srgbClr val="F7F7F7"/>
          </a:solidFill>
          <a:ln w="1524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ounded Rectangle 50"/>
          <p:cNvSpPr/>
          <p:nvPr/>
        </p:nvSpPr>
        <p:spPr>
          <a:xfrm>
            <a:off x="4864607" y="4407407"/>
            <a:ext cx="384048" cy="109728"/>
          </a:xfrm>
          <a:prstGeom prst="roundRect">
            <a:avLst/>
          </a:prstGeom>
          <a:solidFill>
            <a:srgbClr val="F7F7F7"/>
          </a:solidFill>
          <a:ln w="1524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2" name="Connector 51"/>
          <p:cNvCxnSpPr/>
          <p:nvPr/>
        </p:nvCxnSpPr>
        <p:spPr>
          <a:xfrm>
            <a:off x="1911095" y="4590288"/>
            <a:ext cx="1385865" cy="0"/>
          </a:xfrm>
          <a:prstGeom prst="line">
            <a:avLst/>
          </a:prstGeom>
          <a:ln w="13970">
            <a:solidFill>
              <a:srgbClr val="6666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3" name="Rounded Rectangle 52"/>
          <p:cNvSpPr/>
          <p:nvPr/>
        </p:nvSpPr>
        <p:spPr>
          <a:xfrm>
            <a:off x="4443983" y="4535423"/>
            <a:ext cx="384048" cy="109728"/>
          </a:xfrm>
          <a:prstGeom prst="roundRect">
            <a:avLst/>
          </a:prstGeom>
          <a:solidFill>
            <a:srgbClr val="F7F7F7"/>
          </a:solidFill>
          <a:ln w="1524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ounded Rectangle 53"/>
          <p:cNvSpPr/>
          <p:nvPr/>
        </p:nvSpPr>
        <p:spPr>
          <a:xfrm>
            <a:off x="4864607" y="4535423"/>
            <a:ext cx="384048" cy="109728"/>
          </a:xfrm>
          <a:prstGeom prst="roundRect">
            <a:avLst/>
          </a:prstGeom>
          <a:solidFill>
            <a:srgbClr val="F7F7F7"/>
          </a:solidFill>
          <a:ln w="1524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1673352" y="4736592"/>
            <a:ext cx="3648456" cy="512064"/>
          </a:xfrm>
          <a:prstGeom prst="rect">
            <a:avLst/>
          </a:prstGeom>
          <a:solidFill>
            <a:srgbClr val="F7F7F7"/>
          </a:solidFill>
          <a:ln w="1397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6" name="Connector 55"/>
          <p:cNvCxnSpPr/>
          <p:nvPr/>
        </p:nvCxnSpPr>
        <p:spPr>
          <a:xfrm>
            <a:off x="1746504" y="4846320"/>
            <a:ext cx="923909" cy="0"/>
          </a:xfrm>
          <a:prstGeom prst="line">
            <a:avLst/>
          </a:prstGeom>
          <a:ln w="13970">
            <a:solidFill>
              <a:srgbClr val="6666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Connector 56"/>
          <p:cNvCxnSpPr/>
          <p:nvPr/>
        </p:nvCxnSpPr>
        <p:spPr>
          <a:xfrm>
            <a:off x="1911095" y="5029200"/>
            <a:ext cx="1385865" cy="0"/>
          </a:xfrm>
          <a:prstGeom prst="line">
            <a:avLst/>
          </a:prstGeom>
          <a:ln w="13970">
            <a:solidFill>
              <a:srgbClr val="6666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8" name="Rounded Rectangle 57"/>
          <p:cNvSpPr/>
          <p:nvPr/>
        </p:nvSpPr>
        <p:spPr>
          <a:xfrm>
            <a:off x="4443983" y="4974336"/>
            <a:ext cx="384048" cy="109728"/>
          </a:xfrm>
          <a:prstGeom prst="roundRect">
            <a:avLst/>
          </a:prstGeom>
          <a:solidFill>
            <a:srgbClr val="F7F7F7"/>
          </a:solidFill>
          <a:ln w="1524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ounded Rectangle 58"/>
          <p:cNvSpPr/>
          <p:nvPr/>
        </p:nvSpPr>
        <p:spPr>
          <a:xfrm>
            <a:off x="4864607" y="4974336"/>
            <a:ext cx="384048" cy="109728"/>
          </a:xfrm>
          <a:prstGeom prst="roundRect">
            <a:avLst/>
          </a:prstGeom>
          <a:solidFill>
            <a:srgbClr val="F7F7F7"/>
          </a:solidFill>
          <a:ln w="1524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0" name="Connector 59"/>
          <p:cNvCxnSpPr/>
          <p:nvPr/>
        </p:nvCxnSpPr>
        <p:spPr>
          <a:xfrm>
            <a:off x="1911095" y="5157216"/>
            <a:ext cx="1385865" cy="0"/>
          </a:xfrm>
          <a:prstGeom prst="line">
            <a:avLst/>
          </a:prstGeom>
          <a:ln w="13970">
            <a:solidFill>
              <a:srgbClr val="6666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1" name="Rounded Rectangle 60"/>
          <p:cNvSpPr/>
          <p:nvPr/>
        </p:nvSpPr>
        <p:spPr>
          <a:xfrm>
            <a:off x="4443983" y="5102351"/>
            <a:ext cx="384048" cy="109728"/>
          </a:xfrm>
          <a:prstGeom prst="roundRect">
            <a:avLst/>
          </a:prstGeom>
          <a:solidFill>
            <a:srgbClr val="F7F7F7"/>
          </a:solidFill>
          <a:ln w="1524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ounded Rectangle 61"/>
          <p:cNvSpPr/>
          <p:nvPr/>
        </p:nvSpPr>
        <p:spPr>
          <a:xfrm>
            <a:off x="4864607" y="5102351"/>
            <a:ext cx="384048" cy="109728"/>
          </a:xfrm>
          <a:prstGeom prst="roundRect">
            <a:avLst/>
          </a:prstGeom>
          <a:solidFill>
            <a:srgbClr val="F7F7F7"/>
          </a:solidFill>
          <a:ln w="1524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Oval 62"/>
          <p:cNvSpPr/>
          <p:nvPr/>
        </p:nvSpPr>
        <p:spPr>
          <a:xfrm>
            <a:off x="1554480" y="3767328"/>
            <a:ext cx="237744" cy="237744"/>
          </a:xfrm>
          <a:prstGeom prst="ellipse">
            <a:avLst/>
          </a:prstGeom>
          <a:solidFill>
            <a:srgbClr val="DC2626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2</a:t>
            </a:r>
          </a:p>
        </p:txBody>
      </p:sp>
      <p:sp>
        <p:nvSpPr>
          <p:cNvPr id="64" name="Rectangle 63"/>
          <p:cNvSpPr/>
          <p:nvPr/>
        </p:nvSpPr>
        <p:spPr>
          <a:xfrm>
            <a:off x="1673352" y="5358383"/>
            <a:ext cx="3648456" cy="868680"/>
          </a:xfrm>
          <a:prstGeom prst="rect">
            <a:avLst/>
          </a:prstGeom>
          <a:solidFill>
            <a:srgbClr val="FFFFFF"/>
          </a:solidFill>
          <a:ln w="1524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5" name="Connector 64"/>
          <p:cNvCxnSpPr/>
          <p:nvPr/>
        </p:nvCxnSpPr>
        <p:spPr>
          <a:xfrm>
            <a:off x="1764792" y="5504688"/>
            <a:ext cx="846917" cy="0"/>
          </a:xfrm>
          <a:prstGeom prst="line">
            <a:avLst/>
          </a:prstGeom>
          <a:ln w="20320">
            <a:solidFill>
              <a:srgbClr val="6666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6" name="Connector 65"/>
          <p:cNvCxnSpPr/>
          <p:nvPr/>
        </p:nvCxnSpPr>
        <p:spPr>
          <a:xfrm>
            <a:off x="1764792" y="5650992"/>
            <a:ext cx="1462857" cy="0"/>
          </a:xfrm>
          <a:prstGeom prst="line">
            <a:avLst/>
          </a:prstGeom>
          <a:ln w="13970">
            <a:solidFill>
              <a:srgbClr val="6666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7" name="Rectangle 66"/>
          <p:cNvSpPr/>
          <p:nvPr/>
        </p:nvSpPr>
        <p:spPr>
          <a:xfrm>
            <a:off x="1764792" y="5760720"/>
            <a:ext cx="1616842" cy="164592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8" name="Connector 67"/>
          <p:cNvCxnSpPr/>
          <p:nvPr/>
        </p:nvCxnSpPr>
        <p:spPr>
          <a:xfrm>
            <a:off x="1764792" y="5925312"/>
            <a:ext cx="1616842" cy="0"/>
          </a:xfrm>
          <a:prstGeom prst="line">
            <a:avLst/>
          </a:prstGeom>
          <a:ln w="22860">
            <a:solidFill>
              <a:srgbClr val="33333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9" name="Rectangle 68"/>
          <p:cNvSpPr/>
          <p:nvPr/>
        </p:nvSpPr>
        <p:spPr>
          <a:xfrm>
            <a:off x="1764792" y="5980175"/>
            <a:ext cx="1616842" cy="164592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0" name="Connector 69"/>
          <p:cNvCxnSpPr/>
          <p:nvPr/>
        </p:nvCxnSpPr>
        <p:spPr>
          <a:xfrm>
            <a:off x="1764792" y="6144767"/>
            <a:ext cx="1616842" cy="0"/>
          </a:xfrm>
          <a:prstGeom prst="line">
            <a:avLst/>
          </a:prstGeom>
          <a:ln w="22860">
            <a:solidFill>
              <a:srgbClr val="33333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1" name="Rounded Rectangle 70"/>
          <p:cNvSpPr/>
          <p:nvPr/>
        </p:nvSpPr>
        <p:spPr>
          <a:xfrm>
            <a:off x="4480559" y="5888736"/>
            <a:ext cx="731520" cy="237744"/>
          </a:xfrm>
          <a:prstGeom prst="roundRect">
            <a:avLst/>
          </a:prstGeom>
          <a:solidFill>
            <a:srgbClr val="F7F7F7"/>
          </a:solidFill>
          <a:ln w="1524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Oval 71"/>
          <p:cNvSpPr/>
          <p:nvPr/>
        </p:nvSpPr>
        <p:spPr>
          <a:xfrm>
            <a:off x="1655064" y="5340096"/>
            <a:ext cx="237744" cy="237744"/>
          </a:xfrm>
          <a:prstGeom prst="ellipse">
            <a:avLst/>
          </a:prstGeom>
          <a:solidFill>
            <a:srgbClr val="DC2626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3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5824728" y="1572767"/>
            <a:ext cx="5982919" cy="256032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111111"/>
                </a:solidFill>
                <a:latin typeface="맑은 고딕"/>
                <a:ea typeface="맑은 고딕"/>
              </a:rPr>
              <a:t>Description</a:t>
            </a:r>
          </a:p>
        </p:txBody>
      </p:sp>
      <p:sp>
        <p:nvSpPr>
          <p:cNvPr id="74" name="Oval 73"/>
          <p:cNvSpPr/>
          <p:nvPr/>
        </p:nvSpPr>
        <p:spPr>
          <a:xfrm>
            <a:off x="5824728" y="1929383"/>
            <a:ext cx="219456" cy="219456"/>
          </a:xfrm>
          <a:prstGeom prst="ellipse">
            <a:avLst/>
          </a:prstGeom>
          <a:solidFill>
            <a:srgbClr val="DC2626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1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6135624" y="1901951"/>
            <a:ext cx="5672023" cy="1113129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100"/>
              </a:spcAft>
            </a:pPr>
            <a:r>
              <a:rPr sz="950" b="1">
                <a:solidFill>
                  <a:srgbClr val="111111"/>
                </a:solidFill>
                <a:latin typeface="맑은 고딕"/>
                <a:ea typeface="맑은 고딕"/>
              </a:rPr>
              <a:t>관계사 노출 관리 </a:t>
            </a:r>
            <a:r>
              <a:rPr sz="950" b="0">
                <a:solidFill>
                  <a:srgbClr val="999999"/>
                </a:solidFill>
                <a:latin typeface="맑은 고딕"/>
                <a:ea typeface="맑은 고딕"/>
              </a:rPr>
              <a:t>—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관계사별 토글·검색·보유 카드 수</a:t>
            </a:r>
          </a:p>
        </p:txBody>
      </p:sp>
      <p:cxnSp>
        <p:nvCxnSpPr>
          <p:cNvPr id="76" name="Connector 75"/>
          <p:cNvCxnSpPr/>
          <p:nvPr/>
        </p:nvCxnSpPr>
        <p:spPr>
          <a:xfrm>
            <a:off x="5824728" y="2996793"/>
            <a:ext cx="5982919" cy="0"/>
          </a:xfrm>
          <a:prstGeom prst="line">
            <a:avLst/>
          </a:prstGeom>
          <a:ln w="9525">
            <a:solidFill>
              <a:srgbClr val="EEEEE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7" name="Oval 76"/>
          <p:cNvSpPr/>
          <p:nvPr/>
        </p:nvSpPr>
        <p:spPr>
          <a:xfrm>
            <a:off x="5824728" y="3042513"/>
            <a:ext cx="219456" cy="219456"/>
          </a:xfrm>
          <a:prstGeom prst="ellipse">
            <a:avLst/>
          </a:prstGeom>
          <a:solidFill>
            <a:srgbClr val="DC2626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2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6135624" y="3015081"/>
            <a:ext cx="5672023" cy="1113129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100"/>
              </a:spcAft>
            </a:pPr>
            <a:r>
              <a:rPr sz="950" b="1">
                <a:solidFill>
                  <a:srgbClr val="111111"/>
                </a:solidFill>
                <a:latin typeface="맑은 고딕"/>
                <a:ea typeface="맑은 고딕"/>
              </a:rPr>
              <a:t>부서 관리 </a:t>
            </a:r>
            <a:r>
              <a:rPr sz="950" b="0">
                <a:solidFill>
                  <a:srgbClr val="999999"/>
                </a:solidFill>
                <a:latin typeface="맑은 고딕"/>
                <a:ea typeface="맑은 고딕"/>
              </a:rPr>
              <a:t>—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관계사 아코디언·부서 행 수정/삭제[태깅 경고]·수동 추가[중복 검사]</a:t>
            </a:r>
          </a:p>
        </p:txBody>
      </p:sp>
      <p:cxnSp>
        <p:nvCxnSpPr>
          <p:cNvPr id="79" name="Connector 78"/>
          <p:cNvCxnSpPr/>
          <p:nvPr/>
        </p:nvCxnSpPr>
        <p:spPr>
          <a:xfrm>
            <a:off x="5824728" y="4109923"/>
            <a:ext cx="5982919" cy="0"/>
          </a:xfrm>
          <a:prstGeom prst="line">
            <a:avLst/>
          </a:prstGeom>
          <a:ln w="9525">
            <a:solidFill>
              <a:srgbClr val="EEEEE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0" name="Oval 79"/>
          <p:cNvSpPr/>
          <p:nvPr/>
        </p:nvSpPr>
        <p:spPr>
          <a:xfrm>
            <a:off x="5824728" y="4155643"/>
            <a:ext cx="219456" cy="219456"/>
          </a:xfrm>
          <a:prstGeom prst="ellipse">
            <a:avLst/>
          </a:prstGeom>
          <a:solidFill>
            <a:srgbClr val="DC2626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3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6135624" y="4128211"/>
            <a:ext cx="5672023" cy="1113129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100"/>
              </a:spcAft>
            </a:pPr>
            <a:r>
              <a:rPr sz="950" b="1">
                <a:solidFill>
                  <a:srgbClr val="111111"/>
                </a:solidFill>
                <a:latin typeface="맑은 고딕"/>
                <a:ea typeface="맑은 고딕"/>
              </a:rPr>
              <a:t>Teams 연동 카드 </a:t>
            </a:r>
            <a:r>
              <a:rPr sz="950" b="0">
                <a:solidFill>
                  <a:srgbClr val="999999"/>
                </a:solidFill>
                <a:latin typeface="맑은 고딕"/>
                <a:ea typeface="맑은 고딕"/>
              </a:rPr>
              <a:t>—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연동 현황/설정[테넌트·자동 동기화·주기]/미리보기·지금 동기화</a:t>
            </a:r>
          </a:p>
        </p:txBody>
      </p:sp>
      <p:sp>
        <p:nvSpPr>
          <p:cNvPr id="82" name="Rectangle 81"/>
          <p:cNvSpPr/>
          <p:nvPr/>
        </p:nvSpPr>
        <p:spPr>
          <a:xfrm>
            <a:off x="5824728" y="5387644"/>
            <a:ext cx="5982919" cy="1086307"/>
          </a:xfrm>
          <a:prstGeom prst="rect">
            <a:avLst/>
          </a:prstGeom>
          <a:solidFill>
            <a:srgbClr val="F7F7F7"/>
          </a:solidFill>
          <a:ln w="12700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83" name="Connector 82"/>
          <p:cNvCxnSpPr/>
          <p:nvPr/>
        </p:nvCxnSpPr>
        <p:spPr>
          <a:xfrm>
            <a:off x="5824728" y="5661964"/>
            <a:ext cx="5982919" cy="0"/>
          </a:xfrm>
          <a:prstGeom prst="line">
            <a:avLst/>
          </a:prstGeom>
          <a:ln w="12700">
            <a:solidFill>
              <a:srgbClr val="CCCCC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4" name="TextBox 83"/>
          <p:cNvSpPr txBox="1"/>
          <p:nvPr/>
        </p:nvSpPr>
        <p:spPr>
          <a:xfrm>
            <a:off x="5934456" y="5428792"/>
            <a:ext cx="5763463" cy="237744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11111"/>
                </a:solidFill>
                <a:latin typeface="맑은 고딕"/>
                <a:ea typeface="맑은 고딕"/>
              </a:rPr>
              <a:t>화면 룰·기획 근거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5952744" y="5698540"/>
            <a:ext cx="5726887" cy="738835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100"/>
              </a:spcAft>
            </a:pPr>
            <a:r>
              <a:rPr sz="85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850" b="0">
                <a:solidFill>
                  <a:srgbClr val="333333"/>
                </a:solidFill>
                <a:latin typeface="맑은 고딕"/>
                <a:ea typeface="맑은 고딕"/>
              </a:rPr>
              <a:t>비노출 전환해도 기존 데이터 삭제되지 않음 안내</a:t>
            </a:r>
          </a:p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DC2626"/>
                </a:solidFill>
                <a:latin typeface="맑은 고딕"/>
                <a:ea typeface="맑은 고딕"/>
              </a:rPr>
              <a:t>BE·DB  </a:t>
            </a:r>
            <a:r>
              <a:rPr sz="850" b="0">
                <a:solidFill>
                  <a:srgbClr val="666666"/>
                </a:solidFill>
                <a:latin typeface="맑은 고딕"/>
                <a:ea typeface="맑은 고딕"/>
              </a:rPr>
              <a:t>getOrgCompanies·getOrgDepts·getCompanyAdmins·getTeamsSyncSource·getAssetItemRefs. 부서 동기화=Entra/Teams 디렉터리 API(주기·수동 실행), 문의 채널=운영 설정 저장, 노출 토글은 목록 게이팅과 즉시 정합.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aphicFrame>
        <p:nvGraphicFramePr>
          <p:cNvPr id="2" name="Table 1"/>
          <p:cNvGraphicFramePr>
            <a:graphicFrameLocks noGrp="1"/>
          </p:cNvGraphicFramePr>
          <p:nvPr/>
        </p:nvGraphicFramePr>
        <p:xfrm>
          <a:off x="384048" y="384048"/>
          <a:ext cx="11423599" cy="1042416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371600"/>
                <a:gridCol w="4297680"/>
                <a:gridCol w="1280160"/>
                <a:gridCol w="4474159"/>
              </a:tblGrid>
              <a:tr h="384048">
                <a:tc gridSpan="3"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부서·조직 관리  —  현황·설정</a:t>
                      </a:r>
                    </a:p>
                  </a:txBody>
                  <a:tcPr anchor="ctr" marL="73152" marR="54864" marT="18288" marB="18288">
                    <a:solidFill>
                      <a:srgbClr val="111111"/>
                    </a:solidFill>
                    <a:lnL w="9525" cap="flat">
                      <a:solidFill>
                        <a:srgbClr val="666666"/>
                      </a:solidFill>
                    </a:lnL>
                    <a:lnR w="9525" cap="flat">
                      <a:solidFill>
                        <a:srgbClr val="666666"/>
                      </a:solidFill>
                    </a:lnR>
                    <a:lnT w="9525" cap="flat">
                      <a:solidFill>
                        <a:srgbClr val="666666"/>
                      </a:solidFill>
                    </a:lnT>
                    <a:lnB w="9525" cap="flat">
                      <a:solidFill>
                        <a:srgbClr val="666666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Page 2 / 2</a:t>
                      </a:r>
                    </a:p>
                  </a:txBody>
                  <a:tcPr anchor="ctr" marL="73152" marR="54864" marT="18288" marB="18288">
                    <a:solidFill>
                      <a:srgbClr val="111111"/>
                    </a:solidFill>
                    <a:lnL w="9525" cap="flat">
                      <a:solidFill>
                        <a:srgbClr val="666666"/>
                      </a:solidFill>
                    </a:lnL>
                    <a:lnR w="9525" cap="flat">
                      <a:solidFill>
                        <a:srgbClr val="666666"/>
                      </a:solidFill>
                    </a:lnR>
                    <a:lnT w="9525" cap="flat">
                      <a:solidFill>
                        <a:srgbClr val="666666"/>
                      </a:solidFill>
                    </a:lnT>
                    <a:lnB w="9525" cap="flat">
                      <a:solidFill>
                        <a:srgbClr val="666666"/>
                      </a:solidFill>
                    </a:lnB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</a:rPr>
                        <a:t>Page Title</a:t>
                      </a:r>
                    </a:p>
                  </a:txBody>
                  <a:tcPr anchor="ctr" marL="73152" marR="54864" marT="18288" marB="18288">
                    <a:solidFill>
                      <a:srgbClr val="EEEEEE"/>
                    </a:solidFill>
                    <a:lnL w="9525" cap="flat">
                      <a:solidFill>
                        <a:srgbClr val="666666"/>
                      </a:solidFill>
                    </a:lnL>
                    <a:lnR w="9525" cap="flat">
                      <a:solidFill>
                        <a:srgbClr val="666666"/>
                      </a:solidFill>
                    </a:lnR>
                    <a:lnT w="9525" cap="flat">
                      <a:solidFill>
                        <a:srgbClr val="666666"/>
                      </a:solidFill>
                    </a:lnT>
                    <a:lnB w="9525" cap="flat">
                      <a:solidFill>
                        <a:srgbClr val="666666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111111"/>
                          </a:solidFill>
                          <a:latin typeface="맑은 고딕"/>
                          <a:ea typeface="맑은 고딕"/>
                        </a:rPr>
                        <a:t>부서·조직 관리</a:t>
                      </a:r>
                    </a:p>
                  </a:txBody>
                  <a:tcPr anchor="ctr" marL="73152" marR="54864" marT="18288" marB="18288">
                    <a:solidFill>
                      <a:srgbClr val="FFFFFF"/>
                    </a:solidFill>
                    <a:lnL w="9525" cap="flat">
                      <a:solidFill>
                        <a:srgbClr val="666666"/>
                      </a:solidFill>
                    </a:lnL>
                    <a:lnR w="9525" cap="flat">
                      <a:solidFill>
                        <a:srgbClr val="666666"/>
                      </a:solidFill>
                    </a:lnR>
                    <a:lnT w="9525" cap="flat">
                      <a:solidFill>
                        <a:srgbClr val="666666"/>
                      </a:solidFill>
                    </a:lnT>
                    <a:lnB w="9525" cap="flat">
                      <a:solidFill>
                        <a:srgbClr val="666666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</a:rPr>
                        <a:t>Screen ID</a:t>
                      </a:r>
                    </a:p>
                  </a:txBody>
                  <a:tcPr anchor="ctr" marL="73152" marR="54864" marT="18288" marB="18288">
                    <a:solidFill>
                      <a:srgbClr val="EEEEEE"/>
                    </a:solidFill>
                    <a:lnL w="9525" cap="flat">
                      <a:solidFill>
                        <a:srgbClr val="666666"/>
                      </a:solidFill>
                    </a:lnL>
                    <a:lnR w="9525" cap="flat">
                      <a:solidFill>
                        <a:srgbClr val="666666"/>
                      </a:solidFill>
                    </a:lnR>
                    <a:lnT w="9525" cap="flat">
                      <a:solidFill>
                        <a:srgbClr val="666666"/>
                      </a:solidFill>
                    </a:lnT>
                    <a:lnB w="9525" cap="flat">
                      <a:solidFill>
                        <a:srgbClr val="666666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111111"/>
                          </a:solidFill>
                          <a:latin typeface="맑은 고딕"/>
                          <a:ea typeface="맑은 고딕"/>
                        </a:rPr>
                        <a:t>ADM-07</a:t>
                      </a:r>
                    </a:p>
                  </a:txBody>
                  <a:tcPr anchor="ctr" marL="73152" marR="54864" marT="18288" marB="18288">
                    <a:solidFill>
                      <a:srgbClr val="FFFFFF"/>
                    </a:solidFill>
                    <a:lnL w="9525" cap="flat">
                      <a:solidFill>
                        <a:srgbClr val="666666"/>
                      </a:solidFill>
                    </a:lnL>
                    <a:lnR w="9525" cap="flat">
                      <a:solidFill>
                        <a:srgbClr val="666666"/>
                      </a:solidFill>
                    </a:lnR>
                    <a:lnT w="9525" cap="flat">
                      <a:solidFill>
                        <a:srgbClr val="666666"/>
                      </a:solidFill>
                    </a:lnT>
                    <a:lnB w="9525" cap="flat">
                      <a:solidFill>
                        <a:srgbClr val="666666"/>
                      </a:solidFill>
                    </a:lnB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</a:rPr>
                        <a:t>Screen Path</a:t>
                      </a:r>
                    </a:p>
                  </a:txBody>
                  <a:tcPr anchor="ctr" marL="73152" marR="54864" marT="18288" marB="18288">
                    <a:solidFill>
                      <a:srgbClr val="EEEEEE"/>
                    </a:solidFill>
                    <a:lnL w="9525" cap="flat">
                      <a:solidFill>
                        <a:srgbClr val="666666"/>
                      </a:solidFill>
                    </a:lnL>
                    <a:lnR w="9525" cap="flat">
                      <a:solidFill>
                        <a:srgbClr val="666666"/>
                      </a:solidFill>
                    </a:lnR>
                    <a:lnT w="9525" cap="flat">
                      <a:solidFill>
                        <a:srgbClr val="666666"/>
                      </a:solidFill>
                    </a:lnT>
                    <a:lnB w="9525" cap="flat">
                      <a:solidFill>
                        <a:srgbClr val="666666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</a:rPr>
                        <a:t>/admin/org  (admin 전용)</a:t>
                      </a:r>
                    </a:p>
                  </a:txBody>
                  <a:tcPr anchor="ctr" marL="73152" marR="54864" marT="18288" marB="18288">
                    <a:solidFill>
                      <a:srgbClr val="FFFFFF"/>
                    </a:solidFill>
                    <a:lnL w="9525" cap="flat">
                      <a:solidFill>
                        <a:srgbClr val="666666"/>
                      </a:solidFill>
                    </a:lnL>
                    <a:lnR w="9525" cap="flat">
                      <a:solidFill>
                        <a:srgbClr val="666666"/>
                      </a:solidFill>
                    </a:lnR>
                    <a:lnT w="9525" cap="flat">
                      <a:solidFill>
                        <a:srgbClr val="666666"/>
                      </a:solidFill>
                    </a:lnT>
                    <a:lnB w="9525" cap="flat">
                      <a:solidFill>
                        <a:srgbClr val="666666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</a:rPr>
                        <a:t>작성자</a:t>
                      </a:r>
                    </a:p>
                  </a:txBody>
                  <a:tcPr anchor="ctr" marL="73152" marR="54864" marT="18288" marB="18288">
                    <a:solidFill>
                      <a:srgbClr val="EEEEEE"/>
                    </a:solidFill>
                    <a:lnL w="9525" cap="flat">
                      <a:solidFill>
                        <a:srgbClr val="666666"/>
                      </a:solidFill>
                    </a:lnL>
                    <a:lnR w="9525" cap="flat">
                      <a:solidFill>
                        <a:srgbClr val="666666"/>
                      </a:solidFill>
                    </a:lnR>
                    <a:lnT w="9525" cap="flat">
                      <a:solidFill>
                        <a:srgbClr val="666666"/>
                      </a:solidFill>
                    </a:lnT>
                    <a:lnB w="9525" cap="flat">
                      <a:solidFill>
                        <a:srgbClr val="666666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11111"/>
                          </a:solidFill>
                          <a:latin typeface="맑은 고딕"/>
                          <a:ea typeface="맑은 고딕"/>
                        </a:rPr>
                        <a:t>배상혁</a:t>
                      </a:r>
                    </a:p>
                  </a:txBody>
                  <a:tcPr anchor="ctr" marL="73152" marR="54864" marT="18288" marB="18288">
                    <a:solidFill>
                      <a:srgbClr val="FFFFFF"/>
                    </a:solidFill>
                    <a:lnL w="9525" cap="flat">
                      <a:solidFill>
                        <a:srgbClr val="666666"/>
                      </a:solidFill>
                    </a:lnL>
                    <a:lnR w="9525" cap="flat">
                      <a:solidFill>
                        <a:srgbClr val="666666"/>
                      </a:solidFill>
                    </a:lnR>
                    <a:lnT w="9525" cap="flat">
                      <a:solidFill>
                        <a:srgbClr val="666666"/>
                      </a:solidFill>
                    </a:lnT>
                    <a:lnB w="9525" cap="flat">
                      <a:solidFill>
                        <a:srgbClr val="666666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3" name="Rectangle 2"/>
          <p:cNvSpPr/>
          <p:nvPr/>
        </p:nvSpPr>
        <p:spPr>
          <a:xfrm>
            <a:off x="384048" y="1572767"/>
            <a:ext cx="5166360" cy="4901184"/>
          </a:xfrm>
          <a:prstGeom prst="rect">
            <a:avLst/>
          </a:prstGeom>
          <a:solidFill>
            <a:srgbClr val="FFFFFF"/>
          </a:solidFill>
          <a:ln w="3048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84048" y="1572767"/>
            <a:ext cx="5166360" cy="146304"/>
          </a:xfrm>
          <a:prstGeom prst="rect">
            <a:avLst/>
          </a:prstGeom>
          <a:solidFill>
            <a:srgbClr val="F7F7F7"/>
          </a:solidFill>
          <a:ln w="3048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484632" y="1623059"/>
            <a:ext cx="45720" cy="45720"/>
          </a:xfrm>
          <a:prstGeom prst="ellipse">
            <a:avLst/>
          </a:prstGeom>
          <a:solidFill>
            <a:srgbClr val="CCC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585216" y="1623059"/>
            <a:ext cx="45720" cy="45720"/>
          </a:xfrm>
          <a:prstGeom prst="ellipse">
            <a:avLst/>
          </a:prstGeom>
          <a:solidFill>
            <a:srgbClr val="CCC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685800" y="1623059"/>
            <a:ext cx="45720" cy="45720"/>
          </a:xfrm>
          <a:prstGeom prst="ellipse">
            <a:avLst/>
          </a:prstGeom>
          <a:solidFill>
            <a:srgbClr val="CCC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12064" y="1847087"/>
            <a:ext cx="4910328" cy="256032"/>
          </a:xfrm>
          <a:prstGeom prst="rect">
            <a:avLst/>
          </a:prstGeom>
          <a:solidFill>
            <a:srgbClr val="F7F7F7"/>
          </a:solidFill>
          <a:ln w="1651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585216" y="1911095"/>
            <a:ext cx="658368" cy="12801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5166359" y="1883663"/>
            <a:ext cx="182880" cy="182880"/>
          </a:xfrm>
          <a:prstGeom prst="ellipse">
            <a:avLst/>
          </a:prstGeom>
          <a:solidFill>
            <a:srgbClr val="FFFFFF"/>
          </a:solidFill>
          <a:ln w="1524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12064" y="2157983"/>
            <a:ext cx="914400" cy="4187952"/>
          </a:xfrm>
          <a:prstGeom prst="rect">
            <a:avLst/>
          </a:prstGeom>
          <a:solidFill>
            <a:srgbClr val="F7F7F7"/>
          </a:solidFill>
          <a:ln w="1651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594360" y="2267711"/>
            <a:ext cx="749808" cy="14630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594360" y="2542031"/>
            <a:ext cx="749808" cy="14630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594360" y="2816351"/>
            <a:ext cx="749808" cy="14630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594360" y="3090671"/>
            <a:ext cx="749808" cy="14630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594360" y="3364991"/>
            <a:ext cx="749808" cy="14630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594360" y="3639311"/>
            <a:ext cx="749808" cy="14630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594360" y="3913631"/>
            <a:ext cx="749808" cy="14630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594360" y="4187952"/>
            <a:ext cx="749808" cy="14630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594360" y="4462271"/>
            <a:ext cx="749808" cy="14630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170432" y="2532887"/>
            <a:ext cx="128016" cy="128016"/>
          </a:xfrm>
          <a:prstGeom prst="ellipse">
            <a:avLst/>
          </a:prstGeom>
          <a:solidFill>
            <a:srgbClr val="FFFFFF"/>
          </a:solidFill>
          <a:ln w="1524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1572768" y="2194559"/>
            <a:ext cx="3849624" cy="1737360"/>
          </a:xfrm>
          <a:prstGeom prst="rect">
            <a:avLst/>
          </a:prstGeom>
          <a:solidFill>
            <a:srgbClr val="FFFFFF"/>
          </a:solidFill>
          <a:ln w="1651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3" name="Connector 22"/>
          <p:cNvCxnSpPr/>
          <p:nvPr/>
        </p:nvCxnSpPr>
        <p:spPr>
          <a:xfrm>
            <a:off x="1673352" y="2377439"/>
            <a:ext cx="1000902" cy="0"/>
          </a:xfrm>
          <a:prstGeom prst="line">
            <a:avLst/>
          </a:prstGeom>
          <a:ln w="22860">
            <a:solidFill>
              <a:srgbClr val="6666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4407407" y="2377439"/>
            <a:ext cx="914400" cy="0"/>
          </a:xfrm>
          <a:prstGeom prst="line">
            <a:avLst/>
          </a:prstGeom>
          <a:ln w="13970">
            <a:solidFill>
              <a:srgbClr val="6666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Rectangle 24"/>
          <p:cNvSpPr/>
          <p:nvPr/>
        </p:nvSpPr>
        <p:spPr>
          <a:xfrm>
            <a:off x="1673352" y="2633471"/>
            <a:ext cx="3648456" cy="347472"/>
          </a:xfrm>
          <a:prstGeom prst="rect">
            <a:avLst/>
          </a:prstGeom>
          <a:solidFill>
            <a:srgbClr val="F7F7F7"/>
          </a:solidFill>
          <a:ln w="1397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6" name="Connector 25"/>
          <p:cNvCxnSpPr/>
          <p:nvPr/>
        </p:nvCxnSpPr>
        <p:spPr>
          <a:xfrm>
            <a:off x="1764792" y="2761487"/>
            <a:ext cx="846917" cy="0"/>
          </a:xfrm>
          <a:prstGeom prst="line">
            <a:avLst/>
          </a:prstGeom>
          <a:ln w="13970">
            <a:solidFill>
              <a:srgbClr val="6666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Rounded Rectangle 26"/>
          <p:cNvSpPr/>
          <p:nvPr/>
        </p:nvSpPr>
        <p:spPr>
          <a:xfrm>
            <a:off x="3112617" y="2734055"/>
            <a:ext cx="420624" cy="14630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3588105" y="2734055"/>
            <a:ext cx="420624" cy="14630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4063593" y="2734055"/>
            <a:ext cx="420624" cy="14630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1673352" y="3035807"/>
            <a:ext cx="3648456" cy="347472"/>
          </a:xfrm>
          <a:prstGeom prst="rect">
            <a:avLst/>
          </a:prstGeom>
          <a:solidFill>
            <a:srgbClr val="F7F7F7"/>
          </a:solidFill>
          <a:ln w="1397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1" name="Connector 30"/>
          <p:cNvCxnSpPr/>
          <p:nvPr/>
        </p:nvCxnSpPr>
        <p:spPr>
          <a:xfrm>
            <a:off x="1764792" y="3163823"/>
            <a:ext cx="846917" cy="0"/>
          </a:xfrm>
          <a:prstGeom prst="line">
            <a:avLst/>
          </a:prstGeom>
          <a:ln w="13970">
            <a:solidFill>
              <a:srgbClr val="6666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Rounded Rectangle 31"/>
          <p:cNvSpPr/>
          <p:nvPr/>
        </p:nvSpPr>
        <p:spPr>
          <a:xfrm>
            <a:off x="3112617" y="3136391"/>
            <a:ext cx="420624" cy="14630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3588105" y="3136391"/>
            <a:ext cx="420624" cy="14630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ounded Rectangle 33"/>
          <p:cNvSpPr/>
          <p:nvPr/>
        </p:nvSpPr>
        <p:spPr>
          <a:xfrm>
            <a:off x="4063593" y="3136391"/>
            <a:ext cx="420624" cy="14630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1673352" y="3438143"/>
            <a:ext cx="3648456" cy="347472"/>
          </a:xfrm>
          <a:prstGeom prst="rect">
            <a:avLst/>
          </a:prstGeom>
          <a:solidFill>
            <a:srgbClr val="F7F7F7"/>
          </a:solidFill>
          <a:ln w="1397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6" name="Connector 35"/>
          <p:cNvCxnSpPr/>
          <p:nvPr/>
        </p:nvCxnSpPr>
        <p:spPr>
          <a:xfrm>
            <a:off x="1764792" y="3566159"/>
            <a:ext cx="846917" cy="0"/>
          </a:xfrm>
          <a:prstGeom prst="line">
            <a:avLst/>
          </a:prstGeom>
          <a:ln w="13970">
            <a:solidFill>
              <a:srgbClr val="6666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Rounded Rectangle 36"/>
          <p:cNvSpPr/>
          <p:nvPr/>
        </p:nvSpPr>
        <p:spPr>
          <a:xfrm>
            <a:off x="3112617" y="3538727"/>
            <a:ext cx="420624" cy="14630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ounded Rectangle 37"/>
          <p:cNvSpPr/>
          <p:nvPr/>
        </p:nvSpPr>
        <p:spPr>
          <a:xfrm>
            <a:off x="3588105" y="3538727"/>
            <a:ext cx="420624" cy="14630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ounded Rectangle 38"/>
          <p:cNvSpPr/>
          <p:nvPr/>
        </p:nvSpPr>
        <p:spPr>
          <a:xfrm>
            <a:off x="4063593" y="3538727"/>
            <a:ext cx="420624" cy="14630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1554480" y="2176271"/>
            <a:ext cx="237744" cy="237744"/>
          </a:xfrm>
          <a:prstGeom prst="ellipse">
            <a:avLst/>
          </a:prstGeom>
          <a:solidFill>
            <a:srgbClr val="DC2626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4</a:t>
            </a:r>
          </a:p>
        </p:txBody>
      </p:sp>
      <p:sp>
        <p:nvSpPr>
          <p:cNvPr id="41" name="Rectangle 40"/>
          <p:cNvSpPr/>
          <p:nvPr/>
        </p:nvSpPr>
        <p:spPr>
          <a:xfrm>
            <a:off x="1572768" y="4059935"/>
            <a:ext cx="3849624" cy="1005840"/>
          </a:xfrm>
          <a:prstGeom prst="rect">
            <a:avLst/>
          </a:prstGeom>
          <a:solidFill>
            <a:srgbClr val="FFFFFF"/>
          </a:solidFill>
          <a:ln w="1651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2" name="Connector 41"/>
          <p:cNvCxnSpPr/>
          <p:nvPr/>
        </p:nvCxnSpPr>
        <p:spPr>
          <a:xfrm>
            <a:off x="1673352" y="4242815"/>
            <a:ext cx="846917" cy="0"/>
          </a:xfrm>
          <a:prstGeom prst="line">
            <a:avLst/>
          </a:prstGeom>
          <a:ln w="22860">
            <a:solidFill>
              <a:srgbClr val="6666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Connector 42"/>
          <p:cNvCxnSpPr/>
          <p:nvPr/>
        </p:nvCxnSpPr>
        <p:spPr>
          <a:xfrm>
            <a:off x="1673352" y="4443983"/>
            <a:ext cx="1924812" cy="0"/>
          </a:xfrm>
          <a:prstGeom prst="line">
            <a:avLst/>
          </a:prstGeom>
          <a:ln w="13970">
            <a:solidFill>
              <a:srgbClr val="6666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Rectangle 43"/>
          <p:cNvSpPr/>
          <p:nvPr/>
        </p:nvSpPr>
        <p:spPr>
          <a:xfrm>
            <a:off x="1673352" y="4626863"/>
            <a:ext cx="2770632" cy="219456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5" name="Connector 44"/>
          <p:cNvCxnSpPr/>
          <p:nvPr/>
        </p:nvCxnSpPr>
        <p:spPr>
          <a:xfrm>
            <a:off x="1673352" y="4846319"/>
            <a:ext cx="2770631" cy="0"/>
          </a:xfrm>
          <a:prstGeom prst="line">
            <a:avLst/>
          </a:prstGeom>
          <a:ln w="22860">
            <a:solidFill>
              <a:srgbClr val="33333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6" name="Rounded Rectangle 45"/>
          <p:cNvSpPr/>
          <p:nvPr/>
        </p:nvSpPr>
        <p:spPr>
          <a:xfrm>
            <a:off x="4553712" y="4608575"/>
            <a:ext cx="768096" cy="256032"/>
          </a:xfrm>
          <a:prstGeom prst="roundRect">
            <a:avLst/>
          </a:prstGeom>
          <a:solidFill>
            <a:srgbClr val="F7F7F7"/>
          </a:solidFill>
          <a:ln w="1524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Oval 46"/>
          <p:cNvSpPr/>
          <p:nvPr/>
        </p:nvSpPr>
        <p:spPr>
          <a:xfrm>
            <a:off x="1554480" y="4041647"/>
            <a:ext cx="237744" cy="237744"/>
          </a:xfrm>
          <a:prstGeom prst="ellipse">
            <a:avLst/>
          </a:prstGeom>
          <a:solidFill>
            <a:srgbClr val="DC2626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5</a:t>
            </a:r>
          </a:p>
        </p:txBody>
      </p:sp>
      <p:sp>
        <p:nvSpPr>
          <p:cNvPr id="48" name="Rectangle 47"/>
          <p:cNvSpPr/>
          <p:nvPr/>
        </p:nvSpPr>
        <p:spPr>
          <a:xfrm>
            <a:off x="1572768" y="5193791"/>
            <a:ext cx="3849624" cy="822960"/>
          </a:xfrm>
          <a:prstGeom prst="rect">
            <a:avLst/>
          </a:prstGeom>
          <a:solidFill>
            <a:srgbClr val="F7F7F7"/>
          </a:solidFill>
          <a:ln w="1524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9" name="Connector 48"/>
          <p:cNvCxnSpPr/>
          <p:nvPr/>
        </p:nvCxnSpPr>
        <p:spPr>
          <a:xfrm>
            <a:off x="1673352" y="5394959"/>
            <a:ext cx="1154887" cy="0"/>
          </a:xfrm>
          <a:prstGeom prst="line">
            <a:avLst/>
          </a:prstGeom>
          <a:ln w="20320">
            <a:solidFill>
              <a:srgbClr val="6666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Connector 49"/>
          <p:cNvCxnSpPr/>
          <p:nvPr/>
        </p:nvCxnSpPr>
        <p:spPr>
          <a:xfrm>
            <a:off x="1673352" y="5596127"/>
            <a:ext cx="3233684" cy="0"/>
          </a:xfrm>
          <a:prstGeom prst="line">
            <a:avLst/>
          </a:prstGeom>
          <a:ln w="13970">
            <a:solidFill>
              <a:srgbClr val="6666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Connector 50"/>
          <p:cNvCxnSpPr/>
          <p:nvPr/>
        </p:nvCxnSpPr>
        <p:spPr>
          <a:xfrm>
            <a:off x="1673352" y="5742431"/>
            <a:ext cx="2694736" cy="0"/>
          </a:xfrm>
          <a:prstGeom prst="line">
            <a:avLst/>
          </a:prstGeom>
          <a:ln w="13970">
            <a:solidFill>
              <a:srgbClr val="6666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Connector 51"/>
          <p:cNvCxnSpPr/>
          <p:nvPr/>
        </p:nvCxnSpPr>
        <p:spPr>
          <a:xfrm>
            <a:off x="1673352" y="5888736"/>
            <a:ext cx="2155789" cy="0"/>
          </a:xfrm>
          <a:prstGeom prst="line">
            <a:avLst/>
          </a:prstGeom>
          <a:ln w="13970">
            <a:solidFill>
              <a:srgbClr val="6666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3" name="Oval 52"/>
          <p:cNvSpPr/>
          <p:nvPr/>
        </p:nvSpPr>
        <p:spPr>
          <a:xfrm>
            <a:off x="1554480" y="5175503"/>
            <a:ext cx="237744" cy="237744"/>
          </a:xfrm>
          <a:prstGeom prst="ellipse">
            <a:avLst/>
          </a:prstGeom>
          <a:solidFill>
            <a:srgbClr val="DC2626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6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5824728" y="1572767"/>
            <a:ext cx="5982919" cy="256032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111111"/>
                </a:solidFill>
                <a:latin typeface="맑은 고딕"/>
                <a:ea typeface="맑은 고딕"/>
              </a:rPr>
              <a:t>Description</a:t>
            </a:r>
          </a:p>
        </p:txBody>
      </p:sp>
      <p:sp>
        <p:nvSpPr>
          <p:cNvPr id="55" name="Oval 54"/>
          <p:cNvSpPr/>
          <p:nvPr/>
        </p:nvSpPr>
        <p:spPr>
          <a:xfrm>
            <a:off x="5824728" y="1929383"/>
            <a:ext cx="219456" cy="219456"/>
          </a:xfrm>
          <a:prstGeom prst="ellipse">
            <a:avLst/>
          </a:prstGeom>
          <a:solidFill>
            <a:srgbClr val="DC2626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4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6135624" y="1901951"/>
            <a:ext cx="5672023" cy="1113129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100"/>
              </a:spcAft>
            </a:pPr>
            <a:r>
              <a:rPr sz="950" b="1">
                <a:solidFill>
                  <a:srgbClr val="111111"/>
                </a:solidFill>
                <a:latin typeface="맑은 고딕"/>
                <a:ea typeface="맑은 고딕"/>
              </a:rPr>
              <a:t>관계사 관리자 현황 </a:t>
            </a:r>
            <a:r>
              <a:rPr sz="950" b="0">
                <a:solidFill>
                  <a:srgbClr val="999999"/>
                </a:solidFill>
                <a:latin typeface="맑은 고딕"/>
                <a:ea typeface="맑은 고딕"/>
              </a:rPr>
              <a:t>—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읽기 전용 — "사용자 관리로 이동" 링크</a:t>
            </a:r>
          </a:p>
        </p:txBody>
      </p:sp>
      <p:cxnSp>
        <p:nvCxnSpPr>
          <p:cNvPr id="57" name="Connector 56"/>
          <p:cNvCxnSpPr/>
          <p:nvPr/>
        </p:nvCxnSpPr>
        <p:spPr>
          <a:xfrm>
            <a:off x="5824728" y="2996793"/>
            <a:ext cx="5982919" cy="0"/>
          </a:xfrm>
          <a:prstGeom prst="line">
            <a:avLst/>
          </a:prstGeom>
          <a:ln w="9525">
            <a:solidFill>
              <a:srgbClr val="EEEEE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8" name="Oval 57"/>
          <p:cNvSpPr/>
          <p:nvPr/>
        </p:nvSpPr>
        <p:spPr>
          <a:xfrm>
            <a:off x="5824728" y="3042513"/>
            <a:ext cx="219456" cy="219456"/>
          </a:xfrm>
          <a:prstGeom prst="ellipse">
            <a:avLst/>
          </a:prstGeom>
          <a:solidFill>
            <a:srgbClr val="DC2626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5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6135624" y="3015081"/>
            <a:ext cx="5672023" cy="1113129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100"/>
              </a:spcAft>
            </a:pPr>
            <a:r>
              <a:rPr sz="950" b="1">
                <a:solidFill>
                  <a:srgbClr val="111111"/>
                </a:solidFill>
                <a:latin typeface="맑은 고딕"/>
                <a:ea typeface="맑은 고딕"/>
              </a:rPr>
              <a:t>문의 채널 설정 </a:t>
            </a:r>
            <a:r>
              <a:rPr sz="950" b="0">
                <a:solidFill>
                  <a:srgbClr val="999999"/>
                </a:solidFill>
                <a:latin typeface="맑은 고딕"/>
                <a:ea typeface="맑은 고딕"/>
              </a:rPr>
              <a:t>—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Teams 채널 URL 편집·형식 검증</a:t>
            </a:r>
          </a:p>
        </p:txBody>
      </p:sp>
      <p:cxnSp>
        <p:nvCxnSpPr>
          <p:cNvPr id="60" name="Connector 59"/>
          <p:cNvCxnSpPr/>
          <p:nvPr/>
        </p:nvCxnSpPr>
        <p:spPr>
          <a:xfrm>
            <a:off x="5824728" y="4109923"/>
            <a:ext cx="5982919" cy="0"/>
          </a:xfrm>
          <a:prstGeom prst="line">
            <a:avLst/>
          </a:prstGeom>
          <a:ln w="9525">
            <a:solidFill>
              <a:srgbClr val="EEEEE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1" name="Oval 60"/>
          <p:cNvSpPr/>
          <p:nvPr/>
        </p:nvSpPr>
        <p:spPr>
          <a:xfrm>
            <a:off x="5824728" y="4155643"/>
            <a:ext cx="219456" cy="219456"/>
          </a:xfrm>
          <a:prstGeom prst="ellipse">
            <a:avLst/>
          </a:prstGeom>
          <a:solidFill>
            <a:srgbClr val="DC2626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6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6135624" y="4128211"/>
            <a:ext cx="5672023" cy="1113129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100"/>
              </a:spcAft>
            </a:pPr>
            <a:r>
              <a:rPr sz="950" b="1">
                <a:solidFill>
                  <a:srgbClr val="111111"/>
                </a:solidFill>
                <a:latin typeface="맑은 고딕"/>
                <a:ea typeface="맑은 고딕"/>
              </a:rPr>
              <a:t>운영 유의사항 </a:t>
            </a:r>
            <a:r>
              <a:rPr sz="950" b="0">
                <a:solidFill>
                  <a:srgbClr val="999999"/>
                </a:solidFill>
                <a:latin typeface="맑은 고딕"/>
                <a:ea typeface="맑은 고딕"/>
              </a:rPr>
              <a:t>—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조직 관리 주의점 안내</a:t>
            </a:r>
          </a:p>
        </p:txBody>
      </p:sp>
      <p:sp>
        <p:nvSpPr>
          <p:cNvPr id="63" name="Rectangle 62"/>
          <p:cNvSpPr/>
          <p:nvPr/>
        </p:nvSpPr>
        <p:spPr>
          <a:xfrm>
            <a:off x="5824728" y="5387644"/>
            <a:ext cx="5982919" cy="1086307"/>
          </a:xfrm>
          <a:prstGeom prst="rect">
            <a:avLst/>
          </a:prstGeom>
          <a:solidFill>
            <a:srgbClr val="F7F7F7"/>
          </a:solidFill>
          <a:ln w="12700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4" name="Connector 63"/>
          <p:cNvCxnSpPr/>
          <p:nvPr/>
        </p:nvCxnSpPr>
        <p:spPr>
          <a:xfrm>
            <a:off x="5824728" y="5661964"/>
            <a:ext cx="5982919" cy="0"/>
          </a:xfrm>
          <a:prstGeom prst="line">
            <a:avLst/>
          </a:prstGeom>
          <a:ln w="12700">
            <a:solidFill>
              <a:srgbClr val="CCCCC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5" name="TextBox 64"/>
          <p:cNvSpPr txBox="1"/>
          <p:nvPr/>
        </p:nvSpPr>
        <p:spPr>
          <a:xfrm>
            <a:off x="5934456" y="5428792"/>
            <a:ext cx="5763463" cy="237744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11111"/>
                </a:solidFill>
                <a:latin typeface="맑은 고딕"/>
                <a:ea typeface="맑은 고딕"/>
              </a:rPr>
              <a:t>화면 룰·기획 근거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5952744" y="5698540"/>
            <a:ext cx="5726887" cy="738835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100"/>
              </a:spcAft>
            </a:pPr>
            <a:r>
              <a:rPr sz="85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850" b="0">
                <a:solidFill>
                  <a:srgbClr val="333333"/>
                </a:solidFill>
                <a:latin typeface="맑은 고딕"/>
                <a:ea typeface="맑은 고딕"/>
              </a:rPr>
              <a:t>권한 편집은 ADM-08 소관(현황판은 읽기 전용)</a:t>
            </a:r>
          </a:p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DC2626"/>
                </a:solidFill>
                <a:latin typeface="맑은 고딕"/>
                <a:ea typeface="맑은 고딕"/>
              </a:rPr>
              <a:t>BE·DB  </a:t>
            </a:r>
            <a:r>
              <a:rPr sz="850" b="0">
                <a:solidFill>
                  <a:srgbClr val="666666"/>
                </a:solidFill>
                <a:latin typeface="맑은 고딕"/>
                <a:ea typeface="맑은 고딕"/>
              </a:rPr>
              <a:t>getOrgCompanies·getOrgDepts·getCompanyAdmins·getTeamsSyncSource·getAssetItemRefs. 부서 동기화=Entra/Teams 디렉터리 API(주기·수동 실행), 문의 채널=운영 설정 저장, 노출 토글은 목록 게이팅과 즉시 정합.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84048" y="384048"/>
            <a:ext cx="7996519" cy="365760"/>
          </a:xfrm>
          <a:prstGeom prst="rect">
            <a:avLst/>
          </a:prstGeom>
          <a:noFill/>
        </p:spPr>
        <p:txBody>
          <a:bodyPr wrap="square" anchor="ctr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111111"/>
                </a:solidFill>
                <a:latin typeface="맑은 고딕"/>
                <a:ea typeface="맑은 고딕"/>
              </a:rPr>
              <a:t>ADM-08  ·  사용자·권한·로그 관리 (Users)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238207" y="384048"/>
            <a:ext cx="4569439" cy="365760"/>
          </a:xfrm>
          <a:prstGeom prst="rect">
            <a:avLst/>
          </a:prstGeom>
          <a:noFill/>
        </p:spPr>
        <p:txBody>
          <a:bodyPr wrap="square" anchor="ctr" lIns="54864" rIns="54864" tIns="27432" bIns="18288">
            <a:no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999999"/>
                </a:solidFill>
                <a:latin typeface="맑은 고딕"/>
                <a:ea typeface="맑은 고딕"/>
              </a:rPr>
              <a:t>화면 정의 (Screen Definition)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384048" y="786384"/>
            <a:ext cx="11423599" cy="0"/>
          </a:xfrm>
          <a:prstGeom prst="line">
            <a:avLst/>
          </a:prstGeom>
          <a:ln w="19050">
            <a:solidFill>
              <a:srgbClr val="CCCCC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384048" y="822959"/>
            <a:ext cx="11423599" cy="182880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999999"/>
                </a:solidFill>
                <a:latin typeface="맑은 고딕"/>
                <a:ea typeface="맑은 고딕"/>
              </a:rPr>
              <a:t>화면에 표기된 카테고리·업무 도메인 등 분류 개수는 마스터 데이터에서 파생되는 현재값이며, 고정 상수가 아니다(0.9).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84048" y="1097280"/>
            <a:ext cx="6282979" cy="219456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999999"/>
                </a:solidFill>
                <a:latin typeface="맑은 고딕"/>
                <a:ea typeface="맑은 고딕"/>
              </a:rPr>
              <a:t>화면 구조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29768" y="1371600"/>
            <a:ext cx="3838754" cy="233172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75488" y="1371600"/>
            <a:ext cx="3747314" cy="233172"/>
          </a:xfrm>
          <a:prstGeom prst="rect">
            <a:avLst/>
          </a:prstGeom>
          <a:noFill/>
        </p:spPr>
        <p:txBody>
          <a:bodyPr wrap="square" anchor="ctr" lIns="54864" rIns="54864" tIns="27432" bIns="18288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333333"/>
                </a:solidFill>
                <a:latin typeface="맑은 고딕"/>
                <a:ea typeface="맑은 고딕"/>
              </a:rPr>
              <a:t>사용자 관리 (/admin/users)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13815" y="1714500"/>
            <a:ext cx="3600644" cy="233172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59536" y="1714500"/>
            <a:ext cx="3509204" cy="233172"/>
          </a:xfrm>
          <a:prstGeom prst="rect">
            <a:avLst/>
          </a:prstGeom>
          <a:noFill/>
        </p:spPr>
        <p:txBody>
          <a:bodyPr wrap="square" anchor="ctr" lIns="54864" rIns="54864" tIns="27432" bIns="18288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333333"/>
                </a:solidFill>
                <a:latin typeface="맑은 고딕"/>
                <a:ea typeface="맑은 고딕"/>
              </a:rPr>
              <a:t>탭1 관리자 권한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539496" y="1488186"/>
            <a:ext cx="0" cy="342900"/>
          </a:xfrm>
          <a:prstGeom prst="line">
            <a:avLst/>
          </a:prstGeom>
          <a:ln w="16510">
            <a:solidFill>
              <a:srgbClr val="99999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539496" y="1831086"/>
            <a:ext cx="274319" cy="0"/>
          </a:xfrm>
          <a:prstGeom prst="line">
            <a:avLst/>
          </a:prstGeom>
          <a:ln w="16510">
            <a:solidFill>
              <a:srgbClr val="99999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813815" y="2057400"/>
            <a:ext cx="3600644" cy="233172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59536" y="2057400"/>
            <a:ext cx="3509204" cy="233172"/>
          </a:xfrm>
          <a:prstGeom prst="rect">
            <a:avLst/>
          </a:prstGeom>
          <a:noFill/>
        </p:spPr>
        <p:txBody>
          <a:bodyPr wrap="square" anchor="ctr" lIns="54864" rIns="54864" tIns="27432" bIns="18288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333333"/>
                </a:solidFill>
                <a:latin typeface="맑은 고딕"/>
                <a:ea typeface="맑은 고딕"/>
              </a:rPr>
              <a:t>탭2 그룹 전체보기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539496" y="1488186"/>
            <a:ext cx="0" cy="685800"/>
          </a:xfrm>
          <a:prstGeom prst="line">
            <a:avLst/>
          </a:prstGeom>
          <a:ln w="16510">
            <a:solidFill>
              <a:srgbClr val="99999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539496" y="2173986"/>
            <a:ext cx="274319" cy="0"/>
          </a:xfrm>
          <a:prstGeom prst="line">
            <a:avLst/>
          </a:prstGeom>
          <a:ln w="16510">
            <a:solidFill>
              <a:srgbClr val="99999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ounded Rectangle 16"/>
          <p:cNvSpPr/>
          <p:nvPr/>
        </p:nvSpPr>
        <p:spPr>
          <a:xfrm>
            <a:off x="813815" y="2400300"/>
            <a:ext cx="3600644" cy="233172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59536" y="2400300"/>
            <a:ext cx="3509204" cy="233172"/>
          </a:xfrm>
          <a:prstGeom prst="rect">
            <a:avLst/>
          </a:prstGeom>
          <a:noFill/>
        </p:spPr>
        <p:txBody>
          <a:bodyPr wrap="square" anchor="ctr" lIns="54864" rIns="54864" tIns="27432" bIns="18288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333333"/>
                </a:solidFill>
                <a:latin typeface="맑은 고딕"/>
                <a:ea typeface="맑은 고딕"/>
              </a:rPr>
              <a:t>탭3 등록자 관리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539496" y="1488186"/>
            <a:ext cx="0" cy="1028700"/>
          </a:xfrm>
          <a:prstGeom prst="line">
            <a:avLst/>
          </a:prstGeom>
          <a:ln w="16510">
            <a:solidFill>
              <a:srgbClr val="99999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539496" y="2516886"/>
            <a:ext cx="274319" cy="0"/>
          </a:xfrm>
          <a:prstGeom prst="line">
            <a:avLst/>
          </a:prstGeom>
          <a:ln w="16510">
            <a:solidFill>
              <a:srgbClr val="99999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ounded Rectangle 20"/>
          <p:cNvSpPr/>
          <p:nvPr/>
        </p:nvSpPr>
        <p:spPr>
          <a:xfrm>
            <a:off x="813815" y="2743200"/>
            <a:ext cx="3600644" cy="233172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59536" y="2743200"/>
            <a:ext cx="3509204" cy="233172"/>
          </a:xfrm>
          <a:prstGeom prst="rect">
            <a:avLst/>
          </a:prstGeom>
          <a:noFill/>
        </p:spPr>
        <p:txBody>
          <a:bodyPr wrap="square" anchor="ctr" lIns="54864" rIns="54864" tIns="27432" bIns="18288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333333"/>
                </a:solidFill>
                <a:latin typeface="맑은 고딕"/>
                <a:ea typeface="맑은 고딕"/>
              </a:rPr>
              <a:t>탭4 활동 로그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539496" y="1488186"/>
            <a:ext cx="0" cy="1371600"/>
          </a:xfrm>
          <a:prstGeom prst="line">
            <a:avLst/>
          </a:prstGeom>
          <a:ln w="16510">
            <a:solidFill>
              <a:srgbClr val="99999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9496" y="2859786"/>
            <a:ext cx="274319" cy="0"/>
          </a:xfrm>
          <a:prstGeom prst="line">
            <a:avLst/>
          </a:prstGeom>
          <a:ln w="16510">
            <a:solidFill>
              <a:srgbClr val="99999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/>
          <p:cNvSpPr txBox="1"/>
          <p:nvPr/>
        </p:nvSpPr>
        <p:spPr>
          <a:xfrm>
            <a:off x="384048" y="3410712"/>
            <a:ext cx="6282979" cy="219456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999999"/>
                </a:solidFill>
                <a:latin typeface="맑은 고딕"/>
                <a:ea typeface="맑은 고딕"/>
              </a:rPr>
              <a:t>사용자 흐름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29768" y="3685032"/>
            <a:ext cx="1369576" cy="4572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75488" y="3685032"/>
            <a:ext cx="1278136" cy="457200"/>
          </a:xfrm>
          <a:prstGeom prst="rect">
            <a:avLst/>
          </a:prstGeom>
          <a:noFill/>
        </p:spPr>
        <p:txBody>
          <a:bodyPr wrap="square" anchor="ctr" lIns="54864" rIns="54864" tIns="27432" bIns="18288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333333"/>
                </a:solidFill>
                <a:latin typeface="맑은 고딕"/>
                <a:ea typeface="맑은 고딕"/>
              </a:rPr>
              <a:t>SSO 검색</a:t>
            </a:r>
          </a:p>
        </p:txBody>
      </p:sp>
      <p:sp>
        <p:nvSpPr>
          <p:cNvPr id="28" name="Right Arrow 27"/>
          <p:cNvSpPr/>
          <p:nvPr/>
        </p:nvSpPr>
        <p:spPr>
          <a:xfrm>
            <a:off x="1817632" y="3849624"/>
            <a:ext cx="201168" cy="128016"/>
          </a:xfrm>
          <a:prstGeom prst="rightArrow">
            <a:avLst/>
          </a:prstGeom>
          <a:solidFill>
            <a:srgbClr val="CCC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2037088" y="3685032"/>
            <a:ext cx="1369576" cy="4572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2082808" y="3685032"/>
            <a:ext cx="1278136" cy="457200"/>
          </a:xfrm>
          <a:prstGeom prst="rect">
            <a:avLst/>
          </a:prstGeom>
          <a:noFill/>
        </p:spPr>
        <p:txBody>
          <a:bodyPr wrap="square" anchor="ctr" lIns="54864" rIns="54864" tIns="27432" bIns="18288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333333"/>
                </a:solidFill>
                <a:latin typeface="맑은 고딕"/>
                <a:ea typeface="맑은 고딕"/>
              </a:rPr>
              <a:t>역할 선택</a:t>
            </a:r>
          </a:p>
        </p:txBody>
      </p:sp>
      <p:sp>
        <p:nvSpPr>
          <p:cNvPr id="31" name="Right Arrow 30"/>
          <p:cNvSpPr/>
          <p:nvPr/>
        </p:nvSpPr>
        <p:spPr>
          <a:xfrm>
            <a:off x="3424953" y="3849624"/>
            <a:ext cx="201168" cy="128016"/>
          </a:xfrm>
          <a:prstGeom prst="rightArrow">
            <a:avLst/>
          </a:prstGeom>
          <a:solidFill>
            <a:srgbClr val="CCC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3644409" y="3685032"/>
            <a:ext cx="1369576" cy="4572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690129" y="3685032"/>
            <a:ext cx="1278136" cy="457200"/>
          </a:xfrm>
          <a:prstGeom prst="rect">
            <a:avLst/>
          </a:prstGeom>
          <a:noFill/>
        </p:spPr>
        <p:txBody>
          <a:bodyPr wrap="square" anchor="ctr" lIns="54864" rIns="54864" tIns="27432" bIns="18288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333333"/>
                </a:solidFill>
                <a:latin typeface="맑은 고딕"/>
                <a:ea typeface="맑은 고딕"/>
              </a:rPr>
              <a:t>부여</a:t>
            </a:r>
          </a:p>
        </p:txBody>
      </p:sp>
      <p:sp>
        <p:nvSpPr>
          <p:cNvPr id="34" name="Right Arrow 33"/>
          <p:cNvSpPr/>
          <p:nvPr/>
        </p:nvSpPr>
        <p:spPr>
          <a:xfrm>
            <a:off x="5032274" y="3849624"/>
            <a:ext cx="201168" cy="128016"/>
          </a:xfrm>
          <a:prstGeom prst="rightArrow">
            <a:avLst/>
          </a:prstGeom>
          <a:solidFill>
            <a:srgbClr val="CCC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5251730" y="3685032"/>
            <a:ext cx="1369576" cy="4572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5297450" y="3685032"/>
            <a:ext cx="1278136" cy="457200"/>
          </a:xfrm>
          <a:prstGeom prst="rect">
            <a:avLst/>
          </a:prstGeom>
          <a:noFill/>
        </p:spPr>
        <p:txBody>
          <a:bodyPr wrap="square" anchor="ctr" lIns="54864" rIns="54864" tIns="27432" bIns="18288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333333"/>
                </a:solidFill>
                <a:latin typeface="맑은 고딕"/>
                <a:ea typeface="맑은 고딕"/>
              </a:rPr>
              <a:t>회수(보호 장치)</a:t>
            </a:r>
          </a:p>
        </p:txBody>
      </p:sp>
      <p:sp>
        <p:nvSpPr>
          <p:cNvPr id="37" name="Down Arrow 36"/>
          <p:cNvSpPr/>
          <p:nvPr/>
        </p:nvSpPr>
        <p:spPr>
          <a:xfrm>
            <a:off x="5872511" y="4160520"/>
            <a:ext cx="128016" cy="256032"/>
          </a:xfrm>
          <a:prstGeom prst="downArrow">
            <a:avLst/>
          </a:prstGeom>
          <a:solidFill>
            <a:srgbClr val="CCC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ounded Rectangle 37"/>
          <p:cNvSpPr/>
          <p:nvPr/>
        </p:nvSpPr>
        <p:spPr>
          <a:xfrm>
            <a:off x="5251730" y="4453128"/>
            <a:ext cx="1369576" cy="384048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5297450" y="4453128"/>
            <a:ext cx="1278136" cy="384048"/>
          </a:xfrm>
          <a:prstGeom prst="rect">
            <a:avLst/>
          </a:prstGeom>
          <a:noFill/>
        </p:spPr>
        <p:txBody>
          <a:bodyPr wrap="square" anchor="ctr" lIns="54864" rIns="54864" tIns="27432" bIns="18288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333333"/>
                </a:solidFill>
                <a:latin typeface="맑은 고딕"/>
                <a:ea typeface="맑은 고딕"/>
              </a:rPr>
              <a:t>마지막 admin 회수 차단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5251730" y="4892040"/>
            <a:ext cx="1369576" cy="384048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5297450" y="4892040"/>
            <a:ext cx="1278136" cy="384048"/>
          </a:xfrm>
          <a:prstGeom prst="rect">
            <a:avLst/>
          </a:prstGeom>
          <a:noFill/>
        </p:spPr>
        <p:txBody>
          <a:bodyPr wrap="square" anchor="ctr" lIns="54864" rIns="54864" tIns="27432" bIns="18288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333333"/>
                </a:solidFill>
                <a:latin typeface="맑은 고딕"/>
                <a:ea typeface="맑은 고딕"/>
              </a:rPr>
              <a:t>본인 회수 차단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5251730" y="5330952"/>
            <a:ext cx="1369576" cy="384048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5297450" y="5330952"/>
            <a:ext cx="1278136" cy="384048"/>
          </a:xfrm>
          <a:prstGeom prst="rect">
            <a:avLst/>
          </a:prstGeom>
          <a:noFill/>
        </p:spPr>
        <p:txBody>
          <a:bodyPr wrap="square" anchor="ctr" lIns="54864" rIns="54864" tIns="27432" bIns="18288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333333"/>
                </a:solidFill>
                <a:latin typeface="맑은 고딕"/>
                <a:ea typeface="맑은 고딕"/>
              </a:rPr>
              <a:t>담당 관계사 최소 1곳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29768" y="5861304"/>
            <a:ext cx="6191539" cy="201168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999999"/>
                </a:solidFill>
                <a:latin typeface="맑은 고딕"/>
                <a:ea typeface="맑은 고딕"/>
              </a:rPr>
              <a:t>설계 근거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48056" y="6080760"/>
            <a:ext cx="6154963" cy="393192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85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850" b="0">
                <a:solidFill>
                  <a:srgbClr val="666666"/>
                </a:solidFill>
                <a:latin typeface="맑은 고딕"/>
                <a:ea typeface="맑은 고딕"/>
              </a:rPr>
              <a:t>보호 장치 3종으로 권한 공백·자기 잠금을 구조적으로 막고, 서버에서도 동일하게 검증한다.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85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850" b="0">
                <a:solidFill>
                  <a:srgbClr val="666666"/>
                </a:solidFill>
                <a:latin typeface="맑은 고딕"/>
                <a:ea typeface="맑은 고딕"/>
              </a:rPr>
              <a:t>그룹 전체보기는 예외 권한이므로 사유 필수+확인 절차로 부여 근거를 기록한다.</a:t>
            </a:r>
          </a:p>
        </p:txBody>
      </p:sp>
      <p:sp>
        <p:nvSpPr>
          <p:cNvPr id="46" name="Rectangle 45"/>
          <p:cNvSpPr/>
          <p:nvPr/>
        </p:nvSpPr>
        <p:spPr>
          <a:xfrm>
            <a:off x="6941347" y="1097280"/>
            <a:ext cx="4866299" cy="813998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7051075" y="1133856"/>
            <a:ext cx="4646843" cy="237744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333333"/>
                </a:solidFill>
                <a:latin typeface="맑은 고딕"/>
                <a:ea typeface="맑은 고딕"/>
              </a:rPr>
              <a:t>정의·역할</a:t>
            </a:r>
          </a:p>
        </p:txBody>
      </p:sp>
      <p:cxnSp>
        <p:nvCxnSpPr>
          <p:cNvPr id="48" name="Connector 47"/>
          <p:cNvCxnSpPr/>
          <p:nvPr/>
        </p:nvCxnSpPr>
        <p:spPr>
          <a:xfrm>
            <a:off x="7051075" y="1371600"/>
            <a:ext cx="4646844" cy="0"/>
          </a:xfrm>
          <a:prstGeom prst="line">
            <a:avLst/>
          </a:prstGeom>
          <a:ln w="12700">
            <a:solidFill>
              <a:srgbClr val="EEEEE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9" name="TextBox 48"/>
          <p:cNvSpPr txBox="1"/>
          <p:nvPr/>
        </p:nvSpPr>
        <p:spPr>
          <a:xfrm>
            <a:off x="7069363" y="1408176"/>
            <a:ext cx="4610267" cy="466526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접근: admin 전용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관리자 권한·그룹 전체보기·등록자 현황·활동 로그의 통합 관리</a:t>
            </a:r>
          </a:p>
        </p:txBody>
      </p:sp>
      <p:sp>
        <p:nvSpPr>
          <p:cNvPr id="50" name="Rectangle 49"/>
          <p:cNvSpPr/>
          <p:nvPr/>
        </p:nvSpPr>
        <p:spPr>
          <a:xfrm>
            <a:off x="6941347" y="2039294"/>
            <a:ext cx="4866299" cy="615343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7051075" y="2075870"/>
            <a:ext cx="4646843" cy="237744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333333"/>
                </a:solidFill>
                <a:latin typeface="맑은 고딕"/>
                <a:ea typeface="맑은 고딕"/>
              </a:rPr>
              <a:t>목적</a:t>
            </a:r>
          </a:p>
        </p:txBody>
      </p:sp>
      <p:cxnSp>
        <p:nvCxnSpPr>
          <p:cNvPr id="52" name="Connector 51"/>
          <p:cNvCxnSpPr/>
          <p:nvPr/>
        </p:nvCxnSpPr>
        <p:spPr>
          <a:xfrm>
            <a:off x="7051075" y="2313614"/>
            <a:ext cx="4646844" cy="0"/>
          </a:xfrm>
          <a:prstGeom prst="line">
            <a:avLst/>
          </a:prstGeom>
          <a:ln w="12700">
            <a:solidFill>
              <a:srgbClr val="EEEEE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3" name="TextBox 52"/>
          <p:cNvSpPr txBox="1"/>
          <p:nvPr/>
        </p:nvSpPr>
        <p:spPr>
          <a:xfrm>
            <a:off x="7069363" y="2350190"/>
            <a:ext cx="4610267" cy="267871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권한 부여·회수의 단일 지점 + 관리 행위 로그 추적</a:t>
            </a:r>
          </a:p>
        </p:txBody>
      </p:sp>
      <p:sp>
        <p:nvSpPr>
          <p:cNvPr id="54" name="Rectangle 53"/>
          <p:cNvSpPr/>
          <p:nvPr/>
        </p:nvSpPr>
        <p:spPr>
          <a:xfrm>
            <a:off x="6941347" y="2782653"/>
            <a:ext cx="4866299" cy="1211306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7051075" y="2819229"/>
            <a:ext cx="4646843" cy="237744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333333"/>
                </a:solidFill>
                <a:latin typeface="맑은 고딕"/>
                <a:ea typeface="맑은 고딕"/>
              </a:rPr>
              <a:t>기획 의도</a:t>
            </a:r>
          </a:p>
        </p:txBody>
      </p:sp>
      <p:cxnSp>
        <p:nvCxnSpPr>
          <p:cNvPr id="56" name="Connector 55"/>
          <p:cNvCxnSpPr/>
          <p:nvPr/>
        </p:nvCxnSpPr>
        <p:spPr>
          <a:xfrm>
            <a:off x="7051075" y="3056973"/>
            <a:ext cx="4646844" cy="0"/>
          </a:xfrm>
          <a:prstGeom prst="line">
            <a:avLst/>
          </a:prstGeom>
          <a:ln w="12700">
            <a:solidFill>
              <a:srgbClr val="EEEEE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7" name="TextBox 56"/>
          <p:cNvSpPr txBox="1"/>
          <p:nvPr/>
        </p:nvSpPr>
        <p:spPr>
          <a:xfrm>
            <a:off x="7069363" y="3093549"/>
            <a:ext cx="4610267" cy="863834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권한 편집을 이 화면으로 일원화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보호 장치 3종(최소 1명·본인 차단·담당 최소 1곳)으로 권한 공백·자기 잠금을 구조적으로 방지 — 서버 동일 검증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그룹 전체보기는 예외 권한이므로 사유 필수+확인 절차로 부여 근거를 기록</a:t>
            </a:r>
          </a:p>
        </p:txBody>
      </p:sp>
      <p:sp>
        <p:nvSpPr>
          <p:cNvPr id="58" name="Rectangle 57"/>
          <p:cNvSpPr/>
          <p:nvPr/>
        </p:nvSpPr>
        <p:spPr>
          <a:xfrm>
            <a:off x="6941347" y="4121976"/>
            <a:ext cx="4866299" cy="1012652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7051075" y="4158552"/>
            <a:ext cx="4646843" cy="237744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333333"/>
                </a:solidFill>
                <a:latin typeface="맑은 고딕"/>
                <a:ea typeface="맑은 고딕"/>
              </a:rPr>
              <a:t>지켜야 할 룰</a:t>
            </a:r>
          </a:p>
        </p:txBody>
      </p:sp>
      <p:cxnSp>
        <p:nvCxnSpPr>
          <p:cNvPr id="60" name="Connector 59"/>
          <p:cNvCxnSpPr/>
          <p:nvPr/>
        </p:nvCxnSpPr>
        <p:spPr>
          <a:xfrm>
            <a:off x="7051075" y="4396296"/>
            <a:ext cx="4646844" cy="0"/>
          </a:xfrm>
          <a:prstGeom prst="line">
            <a:avLst/>
          </a:prstGeom>
          <a:ln w="12700">
            <a:solidFill>
              <a:srgbClr val="EEEEE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1" name="TextBox 60"/>
          <p:cNvSpPr txBox="1"/>
          <p:nvPr/>
        </p:nvSpPr>
        <p:spPr>
          <a:xfrm>
            <a:off x="7069363" y="4432872"/>
            <a:ext cx="4610267" cy="665180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보호 장치는 UI·서버 양쪽 적용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권한 변경은 활동 로그 기록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로그 소급 수정 금지(감사 무결성)</a:t>
            </a:r>
          </a:p>
        </p:txBody>
      </p:sp>
      <p:sp>
        <p:nvSpPr>
          <p:cNvPr id="62" name="Rectangle 61"/>
          <p:cNvSpPr/>
          <p:nvPr/>
        </p:nvSpPr>
        <p:spPr>
          <a:xfrm>
            <a:off x="6941347" y="5262645"/>
            <a:ext cx="4866299" cy="1211306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7051075" y="5299221"/>
            <a:ext cx="4646843" cy="237744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333333"/>
                </a:solidFill>
                <a:latin typeface="맑은 고딕"/>
                <a:ea typeface="맑은 고딕"/>
              </a:rPr>
              <a:t>개발 연동 노트</a:t>
            </a:r>
          </a:p>
        </p:txBody>
      </p:sp>
      <p:cxnSp>
        <p:nvCxnSpPr>
          <p:cNvPr id="64" name="Connector 63"/>
          <p:cNvCxnSpPr/>
          <p:nvPr/>
        </p:nvCxnSpPr>
        <p:spPr>
          <a:xfrm>
            <a:off x="7051075" y="5536965"/>
            <a:ext cx="4646844" cy="0"/>
          </a:xfrm>
          <a:prstGeom prst="line">
            <a:avLst/>
          </a:prstGeom>
          <a:ln w="12700">
            <a:solidFill>
              <a:srgbClr val="EEEEE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5" name="TextBox 64"/>
          <p:cNvSpPr txBox="1"/>
          <p:nvPr/>
        </p:nvSpPr>
        <p:spPr>
          <a:xfrm>
            <a:off x="7069363" y="5573541"/>
            <a:ext cx="4610267" cy="863834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getAdmins·getGroupViewers·getRegistrants·getAuditLogs·getSsoUsers·getSelectableCompanies·getCompanyAdmins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SSO 검색=디렉터리 API, 권한 변경=audit_logs 단일 트랜잭션, 보호 장치 서버 재검증(0.6)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aphicFrame>
        <p:nvGraphicFramePr>
          <p:cNvPr id="2" name="Table 1"/>
          <p:cNvGraphicFramePr>
            <a:graphicFrameLocks noGrp="1"/>
          </p:cNvGraphicFramePr>
          <p:nvPr/>
        </p:nvGraphicFramePr>
        <p:xfrm>
          <a:off x="384048" y="384048"/>
          <a:ext cx="11423599" cy="1042416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371600"/>
                <a:gridCol w="4297680"/>
                <a:gridCol w="1280160"/>
                <a:gridCol w="4474159"/>
              </a:tblGrid>
              <a:tr h="384048">
                <a:tc gridSpan="3"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사용자·권한·로그 관리  —  권한</a:t>
                      </a:r>
                    </a:p>
                  </a:txBody>
                  <a:tcPr anchor="ctr" marL="73152" marR="54864" marT="18288" marB="18288">
                    <a:solidFill>
                      <a:srgbClr val="111111"/>
                    </a:solidFill>
                    <a:lnL w="9525" cap="flat">
                      <a:solidFill>
                        <a:srgbClr val="666666"/>
                      </a:solidFill>
                    </a:lnL>
                    <a:lnR w="9525" cap="flat">
                      <a:solidFill>
                        <a:srgbClr val="666666"/>
                      </a:solidFill>
                    </a:lnR>
                    <a:lnT w="9525" cap="flat">
                      <a:solidFill>
                        <a:srgbClr val="666666"/>
                      </a:solidFill>
                    </a:lnT>
                    <a:lnB w="9525" cap="flat">
                      <a:solidFill>
                        <a:srgbClr val="666666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Page 1 / 2</a:t>
                      </a:r>
                    </a:p>
                  </a:txBody>
                  <a:tcPr anchor="ctr" marL="73152" marR="54864" marT="18288" marB="18288">
                    <a:solidFill>
                      <a:srgbClr val="111111"/>
                    </a:solidFill>
                    <a:lnL w="9525" cap="flat">
                      <a:solidFill>
                        <a:srgbClr val="666666"/>
                      </a:solidFill>
                    </a:lnL>
                    <a:lnR w="9525" cap="flat">
                      <a:solidFill>
                        <a:srgbClr val="666666"/>
                      </a:solidFill>
                    </a:lnR>
                    <a:lnT w="9525" cap="flat">
                      <a:solidFill>
                        <a:srgbClr val="666666"/>
                      </a:solidFill>
                    </a:lnT>
                    <a:lnB w="9525" cap="flat">
                      <a:solidFill>
                        <a:srgbClr val="666666"/>
                      </a:solidFill>
                    </a:lnB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</a:rPr>
                        <a:t>Page Title</a:t>
                      </a:r>
                    </a:p>
                  </a:txBody>
                  <a:tcPr anchor="ctr" marL="73152" marR="54864" marT="18288" marB="18288">
                    <a:solidFill>
                      <a:srgbClr val="EEEEEE"/>
                    </a:solidFill>
                    <a:lnL w="9525" cap="flat">
                      <a:solidFill>
                        <a:srgbClr val="666666"/>
                      </a:solidFill>
                    </a:lnL>
                    <a:lnR w="9525" cap="flat">
                      <a:solidFill>
                        <a:srgbClr val="666666"/>
                      </a:solidFill>
                    </a:lnR>
                    <a:lnT w="9525" cap="flat">
                      <a:solidFill>
                        <a:srgbClr val="666666"/>
                      </a:solidFill>
                    </a:lnT>
                    <a:lnB w="9525" cap="flat">
                      <a:solidFill>
                        <a:srgbClr val="666666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111111"/>
                          </a:solidFill>
                          <a:latin typeface="맑은 고딕"/>
                          <a:ea typeface="맑은 고딕"/>
                        </a:rPr>
                        <a:t>사용자 관리</a:t>
                      </a:r>
                    </a:p>
                  </a:txBody>
                  <a:tcPr anchor="ctr" marL="73152" marR="54864" marT="18288" marB="18288">
                    <a:solidFill>
                      <a:srgbClr val="FFFFFF"/>
                    </a:solidFill>
                    <a:lnL w="9525" cap="flat">
                      <a:solidFill>
                        <a:srgbClr val="666666"/>
                      </a:solidFill>
                    </a:lnL>
                    <a:lnR w="9525" cap="flat">
                      <a:solidFill>
                        <a:srgbClr val="666666"/>
                      </a:solidFill>
                    </a:lnR>
                    <a:lnT w="9525" cap="flat">
                      <a:solidFill>
                        <a:srgbClr val="666666"/>
                      </a:solidFill>
                    </a:lnT>
                    <a:lnB w="9525" cap="flat">
                      <a:solidFill>
                        <a:srgbClr val="666666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</a:rPr>
                        <a:t>Screen ID</a:t>
                      </a:r>
                    </a:p>
                  </a:txBody>
                  <a:tcPr anchor="ctr" marL="73152" marR="54864" marT="18288" marB="18288">
                    <a:solidFill>
                      <a:srgbClr val="EEEEEE"/>
                    </a:solidFill>
                    <a:lnL w="9525" cap="flat">
                      <a:solidFill>
                        <a:srgbClr val="666666"/>
                      </a:solidFill>
                    </a:lnL>
                    <a:lnR w="9525" cap="flat">
                      <a:solidFill>
                        <a:srgbClr val="666666"/>
                      </a:solidFill>
                    </a:lnR>
                    <a:lnT w="9525" cap="flat">
                      <a:solidFill>
                        <a:srgbClr val="666666"/>
                      </a:solidFill>
                    </a:lnT>
                    <a:lnB w="9525" cap="flat">
                      <a:solidFill>
                        <a:srgbClr val="666666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111111"/>
                          </a:solidFill>
                          <a:latin typeface="맑은 고딕"/>
                          <a:ea typeface="맑은 고딕"/>
                        </a:rPr>
                        <a:t>ADM-08</a:t>
                      </a:r>
                    </a:p>
                  </a:txBody>
                  <a:tcPr anchor="ctr" marL="73152" marR="54864" marT="18288" marB="18288">
                    <a:solidFill>
                      <a:srgbClr val="FFFFFF"/>
                    </a:solidFill>
                    <a:lnL w="9525" cap="flat">
                      <a:solidFill>
                        <a:srgbClr val="666666"/>
                      </a:solidFill>
                    </a:lnL>
                    <a:lnR w="9525" cap="flat">
                      <a:solidFill>
                        <a:srgbClr val="666666"/>
                      </a:solidFill>
                    </a:lnR>
                    <a:lnT w="9525" cap="flat">
                      <a:solidFill>
                        <a:srgbClr val="666666"/>
                      </a:solidFill>
                    </a:lnT>
                    <a:lnB w="9525" cap="flat">
                      <a:solidFill>
                        <a:srgbClr val="666666"/>
                      </a:solidFill>
                    </a:lnB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</a:rPr>
                        <a:t>Screen Path</a:t>
                      </a:r>
                    </a:p>
                  </a:txBody>
                  <a:tcPr anchor="ctr" marL="73152" marR="54864" marT="18288" marB="18288">
                    <a:solidFill>
                      <a:srgbClr val="EEEEEE"/>
                    </a:solidFill>
                    <a:lnL w="9525" cap="flat">
                      <a:solidFill>
                        <a:srgbClr val="666666"/>
                      </a:solidFill>
                    </a:lnL>
                    <a:lnR w="9525" cap="flat">
                      <a:solidFill>
                        <a:srgbClr val="666666"/>
                      </a:solidFill>
                    </a:lnR>
                    <a:lnT w="9525" cap="flat">
                      <a:solidFill>
                        <a:srgbClr val="666666"/>
                      </a:solidFill>
                    </a:lnT>
                    <a:lnB w="9525" cap="flat">
                      <a:solidFill>
                        <a:srgbClr val="666666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</a:rPr>
                        <a:t>/admin/users  (admin 전용)</a:t>
                      </a:r>
                    </a:p>
                  </a:txBody>
                  <a:tcPr anchor="ctr" marL="73152" marR="54864" marT="18288" marB="18288">
                    <a:solidFill>
                      <a:srgbClr val="FFFFFF"/>
                    </a:solidFill>
                    <a:lnL w="9525" cap="flat">
                      <a:solidFill>
                        <a:srgbClr val="666666"/>
                      </a:solidFill>
                    </a:lnL>
                    <a:lnR w="9525" cap="flat">
                      <a:solidFill>
                        <a:srgbClr val="666666"/>
                      </a:solidFill>
                    </a:lnR>
                    <a:lnT w="9525" cap="flat">
                      <a:solidFill>
                        <a:srgbClr val="666666"/>
                      </a:solidFill>
                    </a:lnT>
                    <a:lnB w="9525" cap="flat">
                      <a:solidFill>
                        <a:srgbClr val="666666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</a:rPr>
                        <a:t>작성자</a:t>
                      </a:r>
                    </a:p>
                  </a:txBody>
                  <a:tcPr anchor="ctr" marL="73152" marR="54864" marT="18288" marB="18288">
                    <a:solidFill>
                      <a:srgbClr val="EEEEEE"/>
                    </a:solidFill>
                    <a:lnL w="9525" cap="flat">
                      <a:solidFill>
                        <a:srgbClr val="666666"/>
                      </a:solidFill>
                    </a:lnL>
                    <a:lnR w="9525" cap="flat">
                      <a:solidFill>
                        <a:srgbClr val="666666"/>
                      </a:solidFill>
                    </a:lnR>
                    <a:lnT w="9525" cap="flat">
                      <a:solidFill>
                        <a:srgbClr val="666666"/>
                      </a:solidFill>
                    </a:lnT>
                    <a:lnB w="9525" cap="flat">
                      <a:solidFill>
                        <a:srgbClr val="666666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11111"/>
                          </a:solidFill>
                          <a:latin typeface="맑은 고딕"/>
                          <a:ea typeface="맑은 고딕"/>
                        </a:rPr>
                        <a:t>배상혁</a:t>
                      </a:r>
                    </a:p>
                  </a:txBody>
                  <a:tcPr anchor="ctr" marL="73152" marR="54864" marT="18288" marB="18288">
                    <a:solidFill>
                      <a:srgbClr val="FFFFFF"/>
                    </a:solidFill>
                    <a:lnL w="9525" cap="flat">
                      <a:solidFill>
                        <a:srgbClr val="666666"/>
                      </a:solidFill>
                    </a:lnL>
                    <a:lnR w="9525" cap="flat">
                      <a:solidFill>
                        <a:srgbClr val="666666"/>
                      </a:solidFill>
                    </a:lnR>
                    <a:lnT w="9525" cap="flat">
                      <a:solidFill>
                        <a:srgbClr val="666666"/>
                      </a:solidFill>
                    </a:lnT>
                    <a:lnB w="9525" cap="flat">
                      <a:solidFill>
                        <a:srgbClr val="666666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3" name="Rectangle 2"/>
          <p:cNvSpPr/>
          <p:nvPr/>
        </p:nvSpPr>
        <p:spPr>
          <a:xfrm>
            <a:off x="384048" y="1572767"/>
            <a:ext cx="5166360" cy="4901184"/>
          </a:xfrm>
          <a:prstGeom prst="rect">
            <a:avLst/>
          </a:prstGeom>
          <a:solidFill>
            <a:srgbClr val="FFFFFF"/>
          </a:solidFill>
          <a:ln w="3048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84048" y="1572767"/>
            <a:ext cx="5166360" cy="146304"/>
          </a:xfrm>
          <a:prstGeom prst="rect">
            <a:avLst/>
          </a:prstGeom>
          <a:solidFill>
            <a:srgbClr val="F7F7F7"/>
          </a:solidFill>
          <a:ln w="3048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484632" y="1623059"/>
            <a:ext cx="45720" cy="45720"/>
          </a:xfrm>
          <a:prstGeom prst="ellipse">
            <a:avLst/>
          </a:prstGeom>
          <a:solidFill>
            <a:srgbClr val="CCC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585216" y="1623059"/>
            <a:ext cx="45720" cy="45720"/>
          </a:xfrm>
          <a:prstGeom prst="ellipse">
            <a:avLst/>
          </a:prstGeom>
          <a:solidFill>
            <a:srgbClr val="CCC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685800" y="1623059"/>
            <a:ext cx="45720" cy="45720"/>
          </a:xfrm>
          <a:prstGeom prst="ellipse">
            <a:avLst/>
          </a:prstGeom>
          <a:solidFill>
            <a:srgbClr val="CCC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12064" y="1847087"/>
            <a:ext cx="4910328" cy="256032"/>
          </a:xfrm>
          <a:prstGeom prst="rect">
            <a:avLst/>
          </a:prstGeom>
          <a:solidFill>
            <a:srgbClr val="F7F7F7"/>
          </a:solidFill>
          <a:ln w="1651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585216" y="1911095"/>
            <a:ext cx="658368" cy="12801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5166359" y="1883663"/>
            <a:ext cx="182880" cy="182880"/>
          </a:xfrm>
          <a:prstGeom prst="ellipse">
            <a:avLst/>
          </a:prstGeom>
          <a:solidFill>
            <a:srgbClr val="FFFFFF"/>
          </a:solidFill>
          <a:ln w="1524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12064" y="2157983"/>
            <a:ext cx="914400" cy="4187952"/>
          </a:xfrm>
          <a:prstGeom prst="rect">
            <a:avLst/>
          </a:prstGeom>
          <a:solidFill>
            <a:srgbClr val="F7F7F7"/>
          </a:solidFill>
          <a:ln w="1651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594360" y="2267711"/>
            <a:ext cx="749808" cy="14630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594360" y="2542031"/>
            <a:ext cx="749808" cy="14630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594360" y="2816351"/>
            <a:ext cx="749808" cy="14630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594360" y="3090671"/>
            <a:ext cx="749808" cy="14630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594360" y="3364991"/>
            <a:ext cx="749808" cy="14630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594360" y="3639311"/>
            <a:ext cx="749808" cy="14630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594360" y="3913631"/>
            <a:ext cx="749808" cy="14630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594360" y="4187952"/>
            <a:ext cx="749808" cy="14630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594360" y="4462271"/>
            <a:ext cx="749808" cy="14630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170432" y="2532887"/>
            <a:ext cx="128016" cy="128016"/>
          </a:xfrm>
          <a:prstGeom prst="ellipse">
            <a:avLst/>
          </a:prstGeom>
          <a:solidFill>
            <a:srgbClr val="FFFFFF"/>
          </a:solidFill>
          <a:ln w="1524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1572768" y="2194559"/>
            <a:ext cx="859536" cy="23774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2487168" y="2194559"/>
            <a:ext cx="859536" cy="23774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3401568" y="2194559"/>
            <a:ext cx="859536" cy="23774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4315968" y="2194559"/>
            <a:ext cx="859536" cy="23774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1554480" y="2176271"/>
            <a:ext cx="237744" cy="237744"/>
          </a:xfrm>
          <a:prstGeom prst="ellipse">
            <a:avLst/>
          </a:prstGeom>
          <a:solidFill>
            <a:srgbClr val="DC2626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1</a:t>
            </a:r>
          </a:p>
        </p:txBody>
      </p:sp>
      <p:sp>
        <p:nvSpPr>
          <p:cNvPr id="27" name="Rectangle 26"/>
          <p:cNvSpPr/>
          <p:nvPr/>
        </p:nvSpPr>
        <p:spPr>
          <a:xfrm>
            <a:off x="1572768" y="2542031"/>
            <a:ext cx="2061972" cy="3785616"/>
          </a:xfrm>
          <a:prstGeom prst="rect">
            <a:avLst/>
          </a:prstGeom>
          <a:solidFill>
            <a:srgbClr val="FFFFFF"/>
          </a:solidFill>
          <a:ln w="1651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8" name="Connector 27"/>
          <p:cNvCxnSpPr/>
          <p:nvPr/>
        </p:nvCxnSpPr>
        <p:spPr>
          <a:xfrm>
            <a:off x="1673352" y="2706623"/>
            <a:ext cx="577352" cy="0"/>
          </a:xfrm>
          <a:prstGeom prst="line">
            <a:avLst/>
          </a:prstGeom>
          <a:ln w="20320">
            <a:solidFill>
              <a:srgbClr val="6666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Rectangle 28"/>
          <p:cNvSpPr/>
          <p:nvPr/>
        </p:nvSpPr>
        <p:spPr>
          <a:xfrm>
            <a:off x="1673352" y="2852927"/>
            <a:ext cx="1860803" cy="329184"/>
          </a:xfrm>
          <a:prstGeom prst="rect">
            <a:avLst/>
          </a:prstGeom>
          <a:solidFill>
            <a:srgbClr val="FFFFFF"/>
          </a:solidFill>
          <a:ln w="1397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0" name="Connector 29"/>
          <p:cNvCxnSpPr/>
          <p:nvPr/>
        </p:nvCxnSpPr>
        <p:spPr>
          <a:xfrm>
            <a:off x="1764792" y="2990087"/>
            <a:ext cx="536112" cy="0"/>
          </a:xfrm>
          <a:prstGeom prst="line">
            <a:avLst/>
          </a:prstGeom>
          <a:ln w="13970">
            <a:solidFill>
              <a:srgbClr val="6666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Rounded Rectangle 30"/>
          <p:cNvSpPr/>
          <p:nvPr/>
        </p:nvSpPr>
        <p:spPr>
          <a:xfrm>
            <a:off x="2480035" y="2944367"/>
            <a:ext cx="365760" cy="14630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2967227" y="2907791"/>
            <a:ext cx="566928" cy="219456"/>
          </a:xfrm>
          <a:prstGeom prst="roundRect">
            <a:avLst/>
          </a:prstGeom>
          <a:solidFill>
            <a:srgbClr val="F7F7F7"/>
          </a:solidFill>
          <a:ln w="1524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1673352" y="3236975"/>
            <a:ext cx="1860803" cy="329184"/>
          </a:xfrm>
          <a:prstGeom prst="rect">
            <a:avLst/>
          </a:prstGeom>
          <a:solidFill>
            <a:srgbClr val="FFFFFF"/>
          </a:solidFill>
          <a:ln w="1397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4" name="Connector 33"/>
          <p:cNvCxnSpPr/>
          <p:nvPr/>
        </p:nvCxnSpPr>
        <p:spPr>
          <a:xfrm>
            <a:off x="1764792" y="3374135"/>
            <a:ext cx="536112" cy="0"/>
          </a:xfrm>
          <a:prstGeom prst="line">
            <a:avLst/>
          </a:prstGeom>
          <a:ln w="13970">
            <a:solidFill>
              <a:srgbClr val="6666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Rounded Rectangle 34"/>
          <p:cNvSpPr/>
          <p:nvPr/>
        </p:nvSpPr>
        <p:spPr>
          <a:xfrm>
            <a:off x="2480035" y="3328415"/>
            <a:ext cx="365760" cy="14630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2967227" y="3291839"/>
            <a:ext cx="566928" cy="219456"/>
          </a:xfrm>
          <a:prstGeom prst="roundRect">
            <a:avLst/>
          </a:prstGeom>
          <a:solidFill>
            <a:srgbClr val="F7F7F7"/>
          </a:solidFill>
          <a:ln w="1524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2948939" y="2834639"/>
            <a:ext cx="237744" cy="237744"/>
          </a:xfrm>
          <a:prstGeom prst="ellipse">
            <a:avLst/>
          </a:prstGeom>
          <a:solidFill>
            <a:srgbClr val="DC2626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4</a:t>
            </a:r>
          </a:p>
        </p:txBody>
      </p:sp>
      <p:cxnSp>
        <p:nvCxnSpPr>
          <p:cNvPr id="38" name="Connector 37"/>
          <p:cNvCxnSpPr/>
          <p:nvPr/>
        </p:nvCxnSpPr>
        <p:spPr>
          <a:xfrm>
            <a:off x="1673352" y="3840479"/>
            <a:ext cx="618591" cy="0"/>
          </a:xfrm>
          <a:prstGeom prst="line">
            <a:avLst/>
          </a:prstGeom>
          <a:ln w="20320">
            <a:solidFill>
              <a:srgbClr val="6666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Rectangle 38"/>
          <p:cNvSpPr/>
          <p:nvPr/>
        </p:nvSpPr>
        <p:spPr>
          <a:xfrm>
            <a:off x="1673352" y="3986783"/>
            <a:ext cx="1860803" cy="548640"/>
          </a:xfrm>
          <a:prstGeom prst="rect">
            <a:avLst/>
          </a:prstGeom>
          <a:solidFill>
            <a:srgbClr val="FFFFFF"/>
          </a:solidFill>
          <a:ln w="1397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0" name="Connector 39"/>
          <p:cNvCxnSpPr/>
          <p:nvPr/>
        </p:nvCxnSpPr>
        <p:spPr>
          <a:xfrm>
            <a:off x="1764792" y="4123944"/>
            <a:ext cx="494873" cy="0"/>
          </a:xfrm>
          <a:prstGeom prst="line">
            <a:avLst/>
          </a:prstGeom>
          <a:ln w="13970">
            <a:solidFill>
              <a:srgbClr val="6666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" name="Rounded Rectangle 40"/>
          <p:cNvSpPr/>
          <p:nvPr/>
        </p:nvSpPr>
        <p:spPr>
          <a:xfrm>
            <a:off x="2438796" y="4078223"/>
            <a:ext cx="347472" cy="14630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ounded Rectangle 41"/>
          <p:cNvSpPr/>
          <p:nvPr/>
        </p:nvSpPr>
        <p:spPr>
          <a:xfrm>
            <a:off x="3003803" y="4041647"/>
            <a:ext cx="530352" cy="201168"/>
          </a:xfrm>
          <a:prstGeom prst="roundRect">
            <a:avLst/>
          </a:prstGeom>
          <a:solidFill>
            <a:srgbClr val="F7F7F7"/>
          </a:solidFill>
          <a:ln w="1524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ounded Rectangle 42"/>
          <p:cNvSpPr/>
          <p:nvPr/>
        </p:nvSpPr>
        <p:spPr>
          <a:xfrm>
            <a:off x="1764792" y="4315968"/>
            <a:ext cx="365760" cy="14630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ounded Rectangle 43"/>
          <p:cNvSpPr/>
          <p:nvPr/>
        </p:nvSpPr>
        <p:spPr>
          <a:xfrm>
            <a:off x="2167128" y="4315968"/>
            <a:ext cx="365760" cy="14630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ounded Rectangle 44"/>
          <p:cNvSpPr/>
          <p:nvPr/>
        </p:nvSpPr>
        <p:spPr>
          <a:xfrm>
            <a:off x="2569464" y="4315968"/>
            <a:ext cx="365760" cy="14630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ounded Rectangle 45"/>
          <p:cNvSpPr/>
          <p:nvPr/>
        </p:nvSpPr>
        <p:spPr>
          <a:xfrm>
            <a:off x="3113532" y="4297679"/>
            <a:ext cx="420624" cy="182880"/>
          </a:xfrm>
          <a:prstGeom prst="roundRect">
            <a:avLst/>
          </a:prstGeom>
          <a:solidFill>
            <a:srgbClr val="F7F7F7"/>
          </a:solidFill>
          <a:ln w="1524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1673352" y="4590288"/>
            <a:ext cx="1860803" cy="548640"/>
          </a:xfrm>
          <a:prstGeom prst="rect">
            <a:avLst/>
          </a:prstGeom>
          <a:solidFill>
            <a:srgbClr val="FFFFFF"/>
          </a:solidFill>
          <a:ln w="1397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8" name="Connector 47"/>
          <p:cNvCxnSpPr/>
          <p:nvPr/>
        </p:nvCxnSpPr>
        <p:spPr>
          <a:xfrm>
            <a:off x="1764792" y="4727448"/>
            <a:ext cx="494873" cy="0"/>
          </a:xfrm>
          <a:prstGeom prst="line">
            <a:avLst/>
          </a:prstGeom>
          <a:ln w="13970">
            <a:solidFill>
              <a:srgbClr val="6666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9" name="Rounded Rectangle 48"/>
          <p:cNvSpPr/>
          <p:nvPr/>
        </p:nvSpPr>
        <p:spPr>
          <a:xfrm>
            <a:off x="2438796" y="4681727"/>
            <a:ext cx="347472" cy="14630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ounded Rectangle 49"/>
          <p:cNvSpPr/>
          <p:nvPr/>
        </p:nvSpPr>
        <p:spPr>
          <a:xfrm>
            <a:off x="3003803" y="4645151"/>
            <a:ext cx="530352" cy="201168"/>
          </a:xfrm>
          <a:prstGeom prst="roundRect">
            <a:avLst/>
          </a:prstGeom>
          <a:solidFill>
            <a:srgbClr val="F7F7F7"/>
          </a:solidFill>
          <a:ln w="1524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ounded Rectangle 50"/>
          <p:cNvSpPr/>
          <p:nvPr/>
        </p:nvSpPr>
        <p:spPr>
          <a:xfrm>
            <a:off x="1764792" y="4919472"/>
            <a:ext cx="365760" cy="14630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ounded Rectangle 51"/>
          <p:cNvSpPr/>
          <p:nvPr/>
        </p:nvSpPr>
        <p:spPr>
          <a:xfrm>
            <a:off x="2167128" y="4919472"/>
            <a:ext cx="365760" cy="14630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ounded Rectangle 52"/>
          <p:cNvSpPr/>
          <p:nvPr/>
        </p:nvSpPr>
        <p:spPr>
          <a:xfrm>
            <a:off x="2569464" y="4919472"/>
            <a:ext cx="365760" cy="14630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ounded Rectangle 53"/>
          <p:cNvSpPr/>
          <p:nvPr/>
        </p:nvSpPr>
        <p:spPr>
          <a:xfrm>
            <a:off x="3113532" y="4901183"/>
            <a:ext cx="420624" cy="182880"/>
          </a:xfrm>
          <a:prstGeom prst="roundRect">
            <a:avLst/>
          </a:prstGeom>
          <a:solidFill>
            <a:srgbClr val="F7F7F7"/>
          </a:solidFill>
          <a:ln w="1524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1673352" y="5193792"/>
            <a:ext cx="1860803" cy="548640"/>
          </a:xfrm>
          <a:prstGeom prst="rect">
            <a:avLst/>
          </a:prstGeom>
          <a:solidFill>
            <a:srgbClr val="FFFFFF"/>
          </a:solidFill>
          <a:ln w="1397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6" name="Connector 55"/>
          <p:cNvCxnSpPr/>
          <p:nvPr/>
        </p:nvCxnSpPr>
        <p:spPr>
          <a:xfrm>
            <a:off x="1764792" y="5330952"/>
            <a:ext cx="494873" cy="0"/>
          </a:xfrm>
          <a:prstGeom prst="line">
            <a:avLst/>
          </a:prstGeom>
          <a:ln w="13970">
            <a:solidFill>
              <a:srgbClr val="6666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7" name="Rounded Rectangle 56"/>
          <p:cNvSpPr/>
          <p:nvPr/>
        </p:nvSpPr>
        <p:spPr>
          <a:xfrm>
            <a:off x="2438796" y="5285231"/>
            <a:ext cx="347472" cy="14630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ounded Rectangle 57"/>
          <p:cNvSpPr/>
          <p:nvPr/>
        </p:nvSpPr>
        <p:spPr>
          <a:xfrm>
            <a:off x="3003803" y="5248655"/>
            <a:ext cx="530352" cy="201168"/>
          </a:xfrm>
          <a:prstGeom prst="roundRect">
            <a:avLst/>
          </a:prstGeom>
          <a:solidFill>
            <a:srgbClr val="F7F7F7"/>
          </a:solidFill>
          <a:ln w="1524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ounded Rectangle 58"/>
          <p:cNvSpPr/>
          <p:nvPr/>
        </p:nvSpPr>
        <p:spPr>
          <a:xfrm>
            <a:off x="1764792" y="5522976"/>
            <a:ext cx="365760" cy="14630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ounded Rectangle 59"/>
          <p:cNvSpPr/>
          <p:nvPr/>
        </p:nvSpPr>
        <p:spPr>
          <a:xfrm>
            <a:off x="2167128" y="5522976"/>
            <a:ext cx="365760" cy="14630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ounded Rectangle 60"/>
          <p:cNvSpPr/>
          <p:nvPr/>
        </p:nvSpPr>
        <p:spPr>
          <a:xfrm>
            <a:off x="2569464" y="5522976"/>
            <a:ext cx="365760" cy="14630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ounded Rectangle 61"/>
          <p:cNvSpPr/>
          <p:nvPr/>
        </p:nvSpPr>
        <p:spPr>
          <a:xfrm>
            <a:off x="3113532" y="5504688"/>
            <a:ext cx="420624" cy="182880"/>
          </a:xfrm>
          <a:prstGeom prst="roundRect">
            <a:avLst/>
          </a:prstGeom>
          <a:solidFill>
            <a:srgbClr val="F7F7F7"/>
          </a:solidFill>
          <a:ln w="1524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Oval 62"/>
          <p:cNvSpPr/>
          <p:nvPr/>
        </p:nvSpPr>
        <p:spPr>
          <a:xfrm>
            <a:off x="1746504" y="3968496"/>
            <a:ext cx="237744" cy="237744"/>
          </a:xfrm>
          <a:prstGeom prst="ellipse">
            <a:avLst/>
          </a:prstGeom>
          <a:solidFill>
            <a:srgbClr val="DC2626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5</a:t>
            </a:r>
          </a:p>
        </p:txBody>
      </p:sp>
      <p:sp>
        <p:nvSpPr>
          <p:cNvPr id="64" name="Rectangle 63"/>
          <p:cNvSpPr/>
          <p:nvPr/>
        </p:nvSpPr>
        <p:spPr>
          <a:xfrm>
            <a:off x="3735324" y="2542031"/>
            <a:ext cx="1687068" cy="2377440"/>
          </a:xfrm>
          <a:prstGeom prst="rect">
            <a:avLst/>
          </a:prstGeom>
          <a:solidFill>
            <a:srgbClr val="F7F7F7"/>
          </a:solidFill>
          <a:ln w="1651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3835908" y="2670047"/>
            <a:ext cx="1010412" cy="201168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6" name="Connector 65"/>
          <p:cNvCxnSpPr/>
          <p:nvPr/>
        </p:nvCxnSpPr>
        <p:spPr>
          <a:xfrm>
            <a:off x="3835908" y="2871215"/>
            <a:ext cx="1010412" cy="0"/>
          </a:xfrm>
          <a:prstGeom prst="line">
            <a:avLst/>
          </a:prstGeom>
          <a:ln w="22860">
            <a:solidFill>
              <a:srgbClr val="33333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7" name="Rounded Rectangle 66"/>
          <p:cNvSpPr/>
          <p:nvPr/>
        </p:nvSpPr>
        <p:spPr>
          <a:xfrm>
            <a:off x="4882896" y="2670047"/>
            <a:ext cx="438912" cy="201168"/>
          </a:xfrm>
          <a:prstGeom prst="roundRect">
            <a:avLst/>
          </a:prstGeom>
          <a:solidFill>
            <a:srgbClr val="F7F7F7"/>
          </a:solidFill>
          <a:ln w="1524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Rectangle 67"/>
          <p:cNvSpPr/>
          <p:nvPr/>
        </p:nvSpPr>
        <p:spPr>
          <a:xfrm>
            <a:off x="3835908" y="2962655"/>
            <a:ext cx="1485900" cy="201168"/>
          </a:xfrm>
          <a:prstGeom prst="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Rectangle 68"/>
          <p:cNvSpPr/>
          <p:nvPr/>
        </p:nvSpPr>
        <p:spPr>
          <a:xfrm>
            <a:off x="3835908" y="3200399"/>
            <a:ext cx="1485900" cy="201168"/>
          </a:xfrm>
          <a:prstGeom prst="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Oval 69"/>
          <p:cNvSpPr/>
          <p:nvPr/>
        </p:nvSpPr>
        <p:spPr>
          <a:xfrm>
            <a:off x="3817620" y="2651759"/>
            <a:ext cx="237744" cy="237744"/>
          </a:xfrm>
          <a:prstGeom prst="ellipse">
            <a:avLst/>
          </a:prstGeom>
          <a:solidFill>
            <a:srgbClr val="DC2626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2</a:t>
            </a:r>
          </a:p>
        </p:txBody>
      </p:sp>
      <p:sp>
        <p:nvSpPr>
          <p:cNvPr id="71" name="Rounded Rectangle 70"/>
          <p:cNvSpPr/>
          <p:nvPr/>
        </p:nvSpPr>
        <p:spPr>
          <a:xfrm>
            <a:off x="3835908" y="3529583"/>
            <a:ext cx="724662" cy="21945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Rounded Rectangle 71"/>
          <p:cNvSpPr/>
          <p:nvPr/>
        </p:nvSpPr>
        <p:spPr>
          <a:xfrm>
            <a:off x="4615434" y="3529583"/>
            <a:ext cx="724662" cy="21945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Rounded Rectangle 72"/>
          <p:cNvSpPr/>
          <p:nvPr/>
        </p:nvSpPr>
        <p:spPr>
          <a:xfrm>
            <a:off x="3835908" y="3822191"/>
            <a:ext cx="457200" cy="1828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Rounded Rectangle 73"/>
          <p:cNvSpPr/>
          <p:nvPr/>
        </p:nvSpPr>
        <p:spPr>
          <a:xfrm>
            <a:off x="4329684" y="3822191"/>
            <a:ext cx="457200" cy="1828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Rounded Rectangle 74"/>
          <p:cNvSpPr/>
          <p:nvPr/>
        </p:nvSpPr>
        <p:spPr>
          <a:xfrm>
            <a:off x="4823460" y="3822191"/>
            <a:ext cx="457200" cy="1828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Rounded Rectangle 75"/>
          <p:cNvSpPr/>
          <p:nvPr/>
        </p:nvSpPr>
        <p:spPr>
          <a:xfrm>
            <a:off x="3835908" y="4041648"/>
            <a:ext cx="457200" cy="1828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Rounded Rectangle 76"/>
          <p:cNvSpPr/>
          <p:nvPr/>
        </p:nvSpPr>
        <p:spPr>
          <a:xfrm>
            <a:off x="4329684" y="4041648"/>
            <a:ext cx="457200" cy="1828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Rounded Rectangle 77"/>
          <p:cNvSpPr/>
          <p:nvPr/>
        </p:nvSpPr>
        <p:spPr>
          <a:xfrm>
            <a:off x="4823460" y="4041648"/>
            <a:ext cx="457200" cy="1828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Rounded Rectangle 78"/>
          <p:cNvSpPr/>
          <p:nvPr/>
        </p:nvSpPr>
        <p:spPr>
          <a:xfrm>
            <a:off x="3835908" y="4315968"/>
            <a:ext cx="1485900" cy="256032"/>
          </a:xfrm>
          <a:prstGeom prst="roundRect">
            <a:avLst/>
          </a:prstGeom>
          <a:solidFill>
            <a:srgbClr val="F7F7F7"/>
          </a:solidFill>
          <a:ln w="1524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Oval 79"/>
          <p:cNvSpPr/>
          <p:nvPr/>
        </p:nvSpPr>
        <p:spPr>
          <a:xfrm>
            <a:off x="3817620" y="3511295"/>
            <a:ext cx="237744" cy="237744"/>
          </a:xfrm>
          <a:prstGeom prst="ellipse">
            <a:avLst/>
          </a:prstGeom>
          <a:solidFill>
            <a:srgbClr val="DC2626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3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5824728" y="1572767"/>
            <a:ext cx="5982919" cy="256032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111111"/>
                </a:solidFill>
                <a:latin typeface="맑은 고딕"/>
                <a:ea typeface="맑은 고딕"/>
              </a:rPr>
              <a:t>Description</a:t>
            </a:r>
          </a:p>
        </p:txBody>
      </p:sp>
      <p:sp>
        <p:nvSpPr>
          <p:cNvPr id="82" name="Oval 81"/>
          <p:cNvSpPr/>
          <p:nvPr/>
        </p:nvSpPr>
        <p:spPr>
          <a:xfrm>
            <a:off x="5824728" y="1929383"/>
            <a:ext cx="219456" cy="219456"/>
          </a:xfrm>
          <a:prstGeom prst="ellipse">
            <a:avLst/>
          </a:prstGeom>
          <a:solidFill>
            <a:srgbClr val="DC2626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1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6135624" y="1901951"/>
            <a:ext cx="5672023" cy="667877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100"/>
              </a:spcAft>
            </a:pPr>
            <a:r>
              <a:rPr sz="950" b="1">
                <a:solidFill>
                  <a:srgbClr val="111111"/>
                </a:solidFill>
                <a:latin typeface="맑은 고딕"/>
                <a:ea typeface="맑은 고딕"/>
              </a:rPr>
              <a:t>관리자 권한 탭 </a:t>
            </a:r>
            <a:r>
              <a:rPr sz="950" b="0">
                <a:solidFill>
                  <a:srgbClr val="999999"/>
                </a:solidFill>
                <a:latin typeface="맑은 고딕"/>
                <a:ea typeface="맑은 고딕"/>
              </a:rPr>
              <a:t>—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전사/관계사 관리자 목록</a:t>
            </a:r>
          </a:p>
        </p:txBody>
      </p:sp>
      <p:cxnSp>
        <p:nvCxnSpPr>
          <p:cNvPr id="84" name="Connector 83"/>
          <p:cNvCxnSpPr/>
          <p:nvPr/>
        </p:nvCxnSpPr>
        <p:spPr>
          <a:xfrm>
            <a:off x="5824728" y="2551541"/>
            <a:ext cx="5982919" cy="0"/>
          </a:xfrm>
          <a:prstGeom prst="line">
            <a:avLst/>
          </a:prstGeom>
          <a:ln w="9525">
            <a:solidFill>
              <a:srgbClr val="EEEEE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5" name="Oval 84"/>
          <p:cNvSpPr/>
          <p:nvPr/>
        </p:nvSpPr>
        <p:spPr>
          <a:xfrm>
            <a:off x="5824728" y="2597261"/>
            <a:ext cx="219456" cy="219456"/>
          </a:xfrm>
          <a:prstGeom prst="ellipse">
            <a:avLst/>
          </a:prstGeom>
          <a:solidFill>
            <a:srgbClr val="DC2626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2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6135624" y="2569829"/>
            <a:ext cx="5672023" cy="667877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100"/>
              </a:spcAft>
            </a:pPr>
            <a:r>
              <a:rPr sz="950" b="1">
                <a:solidFill>
                  <a:srgbClr val="111111"/>
                </a:solidFill>
                <a:latin typeface="맑은 고딕"/>
                <a:ea typeface="맑은 고딕"/>
              </a:rPr>
              <a:t>SSO 사용자 검색 </a:t>
            </a:r>
            <a:r>
              <a:rPr sz="950" b="0">
                <a:solidFill>
                  <a:srgbClr val="999999"/>
                </a:solidFill>
                <a:latin typeface="맑은 고딕"/>
                <a:ea typeface="맑은 고딕"/>
              </a:rPr>
              <a:t>—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디렉터리 검색</a:t>
            </a:r>
          </a:p>
        </p:txBody>
      </p:sp>
      <p:cxnSp>
        <p:nvCxnSpPr>
          <p:cNvPr id="87" name="Connector 86"/>
          <p:cNvCxnSpPr/>
          <p:nvPr/>
        </p:nvCxnSpPr>
        <p:spPr>
          <a:xfrm>
            <a:off x="5824728" y="3219419"/>
            <a:ext cx="5982919" cy="0"/>
          </a:xfrm>
          <a:prstGeom prst="line">
            <a:avLst/>
          </a:prstGeom>
          <a:ln w="9525">
            <a:solidFill>
              <a:srgbClr val="EEEEE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8" name="Oval 87"/>
          <p:cNvSpPr/>
          <p:nvPr/>
        </p:nvSpPr>
        <p:spPr>
          <a:xfrm>
            <a:off x="5824728" y="3265139"/>
            <a:ext cx="219456" cy="219456"/>
          </a:xfrm>
          <a:prstGeom prst="ellipse">
            <a:avLst/>
          </a:prstGeom>
          <a:solidFill>
            <a:srgbClr val="DC2626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3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6135624" y="3237707"/>
            <a:ext cx="5672023" cy="667877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100"/>
              </a:spcAft>
            </a:pPr>
            <a:r>
              <a:rPr sz="950" b="1">
                <a:solidFill>
                  <a:srgbClr val="111111"/>
                </a:solidFill>
                <a:latin typeface="맑은 고딕"/>
                <a:ea typeface="맑은 고딕"/>
              </a:rPr>
              <a:t>역할 선택·부여 </a:t>
            </a:r>
            <a:r>
              <a:rPr sz="950" b="0">
                <a:solidFill>
                  <a:srgbClr val="999999"/>
                </a:solidFill>
                <a:latin typeface="맑은 고딕"/>
                <a:ea typeface="맑은 고딕"/>
              </a:rPr>
              <a:t>—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전사/관계사 — 관계사는 담당 복수 선택</a:t>
            </a:r>
          </a:p>
        </p:txBody>
      </p:sp>
      <p:cxnSp>
        <p:nvCxnSpPr>
          <p:cNvPr id="90" name="Connector 89"/>
          <p:cNvCxnSpPr/>
          <p:nvPr/>
        </p:nvCxnSpPr>
        <p:spPr>
          <a:xfrm>
            <a:off x="5824728" y="3887297"/>
            <a:ext cx="5982919" cy="0"/>
          </a:xfrm>
          <a:prstGeom prst="line">
            <a:avLst/>
          </a:prstGeom>
          <a:ln w="9525">
            <a:solidFill>
              <a:srgbClr val="EEEEE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1" name="Oval 90"/>
          <p:cNvSpPr/>
          <p:nvPr/>
        </p:nvSpPr>
        <p:spPr>
          <a:xfrm>
            <a:off x="5824728" y="3933017"/>
            <a:ext cx="219456" cy="219456"/>
          </a:xfrm>
          <a:prstGeom prst="ellipse">
            <a:avLst/>
          </a:prstGeom>
          <a:solidFill>
            <a:srgbClr val="DC2626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4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6135624" y="3905585"/>
            <a:ext cx="5672023" cy="667877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100"/>
              </a:spcAft>
            </a:pPr>
            <a:r>
              <a:rPr sz="950" b="1">
                <a:solidFill>
                  <a:srgbClr val="111111"/>
                </a:solidFill>
                <a:latin typeface="맑은 고딕"/>
                <a:ea typeface="맑은 고딕"/>
              </a:rPr>
              <a:t>회수·보호 장치 </a:t>
            </a:r>
            <a:r>
              <a:rPr sz="950" b="0">
                <a:solidFill>
                  <a:srgbClr val="999999"/>
                </a:solidFill>
                <a:latin typeface="맑은 고딕"/>
                <a:ea typeface="맑은 고딕"/>
              </a:rPr>
              <a:t>—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최소 1명 유지·본인 차단·담당 최소 1곳</a:t>
            </a:r>
          </a:p>
        </p:txBody>
      </p:sp>
      <p:cxnSp>
        <p:nvCxnSpPr>
          <p:cNvPr id="93" name="Connector 92"/>
          <p:cNvCxnSpPr/>
          <p:nvPr/>
        </p:nvCxnSpPr>
        <p:spPr>
          <a:xfrm>
            <a:off x="5824728" y="4555175"/>
            <a:ext cx="5982919" cy="0"/>
          </a:xfrm>
          <a:prstGeom prst="line">
            <a:avLst/>
          </a:prstGeom>
          <a:ln w="9525">
            <a:solidFill>
              <a:srgbClr val="EEEEE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4" name="Oval 93"/>
          <p:cNvSpPr/>
          <p:nvPr/>
        </p:nvSpPr>
        <p:spPr>
          <a:xfrm>
            <a:off x="5824728" y="4600895"/>
            <a:ext cx="219456" cy="219456"/>
          </a:xfrm>
          <a:prstGeom prst="ellipse">
            <a:avLst/>
          </a:prstGeom>
          <a:solidFill>
            <a:srgbClr val="DC2626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5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6135624" y="4573463"/>
            <a:ext cx="5672023" cy="667877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100"/>
              </a:spcAft>
            </a:pPr>
            <a:r>
              <a:rPr sz="950" b="1">
                <a:solidFill>
                  <a:srgbClr val="111111"/>
                </a:solidFill>
                <a:latin typeface="맑은 고딕"/>
                <a:ea typeface="맑은 고딕"/>
              </a:rPr>
              <a:t>담당 관계사 편집 </a:t>
            </a:r>
            <a:r>
              <a:rPr sz="950" b="0">
                <a:solidFill>
                  <a:srgbClr val="999999"/>
                </a:solidFill>
                <a:latin typeface="맑은 고딕"/>
                <a:ea typeface="맑은 고딕"/>
              </a:rPr>
              <a:t>—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추가/제거</a:t>
            </a:r>
          </a:p>
        </p:txBody>
      </p:sp>
      <p:sp>
        <p:nvSpPr>
          <p:cNvPr id="96" name="Rectangle 95"/>
          <p:cNvSpPr/>
          <p:nvPr/>
        </p:nvSpPr>
        <p:spPr>
          <a:xfrm>
            <a:off x="5824728" y="5387644"/>
            <a:ext cx="5982919" cy="1086307"/>
          </a:xfrm>
          <a:prstGeom prst="rect">
            <a:avLst/>
          </a:prstGeom>
          <a:solidFill>
            <a:srgbClr val="F7F7F7"/>
          </a:solidFill>
          <a:ln w="12700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97" name="Connector 96"/>
          <p:cNvCxnSpPr/>
          <p:nvPr/>
        </p:nvCxnSpPr>
        <p:spPr>
          <a:xfrm>
            <a:off x="5824728" y="5661964"/>
            <a:ext cx="5982919" cy="0"/>
          </a:xfrm>
          <a:prstGeom prst="line">
            <a:avLst/>
          </a:prstGeom>
          <a:ln w="12700">
            <a:solidFill>
              <a:srgbClr val="CCCCC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8" name="TextBox 97"/>
          <p:cNvSpPr txBox="1"/>
          <p:nvPr/>
        </p:nvSpPr>
        <p:spPr>
          <a:xfrm>
            <a:off x="5934456" y="5428792"/>
            <a:ext cx="5763463" cy="237744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11111"/>
                </a:solidFill>
                <a:latin typeface="맑은 고딕"/>
                <a:ea typeface="맑은 고딕"/>
              </a:rPr>
              <a:t>화면 룰·기획 근거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5952744" y="5698540"/>
            <a:ext cx="5726887" cy="738835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100"/>
              </a:spcAft>
            </a:pPr>
            <a:r>
              <a:rPr sz="85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850" b="0">
                <a:solidFill>
                  <a:srgbClr val="333333"/>
                </a:solidFill>
                <a:latin typeface="맑은 고딕"/>
                <a:ea typeface="맑은 고딕"/>
              </a:rPr>
              <a:t>보호 장치 3종은 서버에서도 동일 검증(0.6)</a:t>
            </a:r>
          </a:p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DC2626"/>
                </a:solidFill>
                <a:latin typeface="맑은 고딕"/>
                <a:ea typeface="맑은 고딕"/>
              </a:rPr>
              <a:t>BE·DB  </a:t>
            </a:r>
            <a:r>
              <a:rPr sz="850" b="0">
                <a:solidFill>
                  <a:srgbClr val="666666"/>
                </a:solidFill>
                <a:latin typeface="맑은 고딕"/>
                <a:ea typeface="맑은 고딕"/>
              </a:rPr>
              <a:t>getAdmins·getGroupViewers·getRegistrants·getAuditLogs·getSsoUsers·getSelectableCompanies·getCompanyAdmins. SSO 검색=디렉터리 API, 권한 변경=audit_logs 단일 트랜잭션, 보호 장치 서버 재검증(0.6).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aphicFrame>
        <p:nvGraphicFramePr>
          <p:cNvPr id="2" name="Table 1"/>
          <p:cNvGraphicFramePr>
            <a:graphicFrameLocks noGrp="1"/>
          </p:cNvGraphicFramePr>
          <p:nvPr/>
        </p:nvGraphicFramePr>
        <p:xfrm>
          <a:off x="384048" y="384048"/>
          <a:ext cx="11423599" cy="1042416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371600"/>
                <a:gridCol w="4297680"/>
                <a:gridCol w="1280160"/>
                <a:gridCol w="4474159"/>
              </a:tblGrid>
              <a:tr h="384048">
                <a:tc gridSpan="3"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사용자·권한·로그 관리  —  기타 탭</a:t>
                      </a:r>
                    </a:p>
                  </a:txBody>
                  <a:tcPr anchor="ctr" marL="73152" marR="54864" marT="18288" marB="18288">
                    <a:solidFill>
                      <a:srgbClr val="111111"/>
                    </a:solidFill>
                    <a:lnL w="9525" cap="flat">
                      <a:solidFill>
                        <a:srgbClr val="666666"/>
                      </a:solidFill>
                    </a:lnL>
                    <a:lnR w="9525" cap="flat">
                      <a:solidFill>
                        <a:srgbClr val="666666"/>
                      </a:solidFill>
                    </a:lnR>
                    <a:lnT w="9525" cap="flat">
                      <a:solidFill>
                        <a:srgbClr val="666666"/>
                      </a:solidFill>
                    </a:lnT>
                    <a:lnB w="9525" cap="flat">
                      <a:solidFill>
                        <a:srgbClr val="666666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Page 2 / 2</a:t>
                      </a:r>
                    </a:p>
                  </a:txBody>
                  <a:tcPr anchor="ctr" marL="73152" marR="54864" marT="18288" marB="18288">
                    <a:solidFill>
                      <a:srgbClr val="111111"/>
                    </a:solidFill>
                    <a:lnL w="9525" cap="flat">
                      <a:solidFill>
                        <a:srgbClr val="666666"/>
                      </a:solidFill>
                    </a:lnL>
                    <a:lnR w="9525" cap="flat">
                      <a:solidFill>
                        <a:srgbClr val="666666"/>
                      </a:solidFill>
                    </a:lnR>
                    <a:lnT w="9525" cap="flat">
                      <a:solidFill>
                        <a:srgbClr val="666666"/>
                      </a:solidFill>
                    </a:lnT>
                    <a:lnB w="9525" cap="flat">
                      <a:solidFill>
                        <a:srgbClr val="666666"/>
                      </a:solidFill>
                    </a:lnB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</a:rPr>
                        <a:t>Page Title</a:t>
                      </a:r>
                    </a:p>
                  </a:txBody>
                  <a:tcPr anchor="ctr" marL="73152" marR="54864" marT="18288" marB="18288">
                    <a:solidFill>
                      <a:srgbClr val="EEEEEE"/>
                    </a:solidFill>
                    <a:lnL w="9525" cap="flat">
                      <a:solidFill>
                        <a:srgbClr val="666666"/>
                      </a:solidFill>
                    </a:lnL>
                    <a:lnR w="9525" cap="flat">
                      <a:solidFill>
                        <a:srgbClr val="666666"/>
                      </a:solidFill>
                    </a:lnR>
                    <a:lnT w="9525" cap="flat">
                      <a:solidFill>
                        <a:srgbClr val="666666"/>
                      </a:solidFill>
                    </a:lnT>
                    <a:lnB w="9525" cap="flat">
                      <a:solidFill>
                        <a:srgbClr val="666666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111111"/>
                          </a:solidFill>
                          <a:latin typeface="맑은 고딕"/>
                          <a:ea typeface="맑은 고딕"/>
                        </a:rPr>
                        <a:t>사용자 관리</a:t>
                      </a:r>
                    </a:p>
                  </a:txBody>
                  <a:tcPr anchor="ctr" marL="73152" marR="54864" marT="18288" marB="18288">
                    <a:solidFill>
                      <a:srgbClr val="FFFFFF"/>
                    </a:solidFill>
                    <a:lnL w="9525" cap="flat">
                      <a:solidFill>
                        <a:srgbClr val="666666"/>
                      </a:solidFill>
                    </a:lnL>
                    <a:lnR w="9525" cap="flat">
                      <a:solidFill>
                        <a:srgbClr val="666666"/>
                      </a:solidFill>
                    </a:lnR>
                    <a:lnT w="9525" cap="flat">
                      <a:solidFill>
                        <a:srgbClr val="666666"/>
                      </a:solidFill>
                    </a:lnT>
                    <a:lnB w="9525" cap="flat">
                      <a:solidFill>
                        <a:srgbClr val="666666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</a:rPr>
                        <a:t>Screen ID</a:t>
                      </a:r>
                    </a:p>
                  </a:txBody>
                  <a:tcPr anchor="ctr" marL="73152" marR="54864" marT="18288" marB="18288">
                    <a:solidFill>
                      <a:srgbClr val="EEEEEE"/>
                    </a:solidFill>
                    <a:lnL w="9525" cap="flat">
                      <a:solidFill>
                        <a:srgbClr val="666666"/>
                      </a:solidFill>
                    </a:lnL>
                    <a:lnR w="9525" cap="flat">
                      <a:solidFill>
                        <a:srgbClr val="666666"/>
                      </a:solidFill>
                    </a:lnR>
                    <a:lnT w="9525" cap="flat">
                      <a:solidFill>
                        <a:srgbClr val="666666"/>
                      </a:solidFill>
                    </a:lnT>
                    <a:lnB w="9525" cap="flat">
                      <a:solidFill>
                        <a:srgbClr val="666666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111111"/>
                          </a:solidFill>
                          <a:latin typeface="맑은 고딕"/>
                          <a:ea typeface="맑은 고딕"/>
                        </a:rPr>
                        <a:t>ADM-08</a:t>
                      </a:r>
                    </a:p>
                  </a:txBody>
                  <a:tcPr anchor="ctr" marL="73152" marR="54864" marT="18288" marB="18288">
                    <a:solidFill>
                      <a:srgbClr val="FFFFFF"/>
                    </a:solidFill>
                    <a:lnL w="9525" cap="flat">
                      <a:solidFill>
                        <a:srgbClr val="666666"/>
                      </a:solidFill>
                    </a:lnL>
                    <a:lnR w="9525" cap="flat">
                      <a:solidFill>
                        <a:srgbClr val="666666"/>
                      </a:solidFill>
                    </a:lnR>
                    <a:lnT w="9525" cap="flat">
                      <a:solidFill>
                        <a:srgbClr val="666666"/>
                      </a:solidFill>
                    </a:lnT>
                    <a:lnB w="9525" cap="flat">
                      <a:solidFill>
                        <a:srgbClr val="666666"/>
                      </a:solidFill>
                    </a:lnB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</a:rPr>
                        <a:t>Screen Path</a:t>
                      </a:r>
                    </a:p>
                  </a:txBody>
                  <a:tcPr anchor="ctr" marL="73152" marR="54864" marT="18288" marB="18288">
                    <a:solidFill>
                      <a:srgbClr val="EEEEEE"/>
                    </a:solidFill>
                    <a:lnL w="9525" cap="flat">
                      <a:solidFill>
                        <a:srgbClr val="666666"/>
                      </a:solidFill>
                    </a:lnL>
                    <a:lnR w="9525" cap="flat">
                      <a:solidFill>
                        <a:srgbClr val="666666"/>
                      </a:solidFill>
                    </a:lnR>
                    <a:lnT w="9525" cap="flat">
                      <a:solidFill>
                        <a:srgbClr val="666666"/>
                      </a:solidFill>
                    </a:lnT>
                    <a:lnB w="9525" cap="flat">
                      <a:solidFill>
                        <a:srgbClr val="666666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</a:rPr>
                        <a:t>/admin/users  (admin 전용)</a:t>
                      </a:r>
                    </a:p>
                  </a:txBody>
                  <a:tcPr anchor="ctr" marL="73152" marR="54864" marT="18288" marB="18288">
                    <a:solidFill>
                      <a:srgbClr val="FFFFFF"/>
                    </a:solidFill>
                    <a:lnL w="9525" cap="flat">
                      <a:solidFill>
                        <a:srgbClr val="666666"/>
                      </a:solidFill>
                    </a:lnL>
                    <a:lnR w="9525" cap="flat">
                      <a:solidFill>
                        <a:srgbClr val="666666"/>
                      </a:solidFill>
                    </a:lnR>
                    <a:lnT w="9525" cap="flat">
                      <a:solidFill>
                        <a:srgbClr val="666666"/>
                      </a:solidFill>
                    </a:lnT>
                    <a:lnB w="9525" cap="flat">
                      <a:solidFill>
                        <a:srgbClr val="666666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</a:rPr>
                        <a:t>작성자</a:t>
                      </a:r>
                    </a:p>
                  </a:txBody>
                  <a:tcPr anchor="ctr" marL="73152" marR="54864" marT="18288" marB="18288">
                    <a:solidFill>
                      <a:srgbClr val="EEEEEE"/>
                    </a:solidFill>
                    <a:lnL w="9525" cap="flat">
                      <a:solidFill>
                        <a:srgbClr val="666666"/>
                      </a:solidFill>
                    </a:lnL>
                    <a:lnR w="9525" cap="flat">
                      <a:solidFill>
                        <a:srgbClr val="666666"/>
                      </a:solidFill>
                    </a:lnR>
                    <a:lnT w="9525" cap="flat">
                      <a:solidFill>
                        <a:srgbClr val="666666"/>
                      </a:solidFill>
                    </a:lnT>
                    <a:lnB w="9525" cap="flat">
                      <a:solidFill>
                        <a:srgbClr val="666666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11111"/>
                          </a:solidFill>
                          <a:latin typeface="맑은 고딕"/>
                          <a:ea typeface="맑은 고딕"/>
                        </a:rPr>
                        <a:t>배상혁</a:t>
                      </a:r>
                    </a:p>
                  </a:txBody>
                  <a:tcPr anchor="ctr" marL="73152" marR="54864" marT="18288" marB="18288">
                    <a:solidFill>
                      <a:srgbClr val="FFFFFF"/>
                    </a:solidFill>
                    <a:lnL w="9525" cap="flat">
                      <a:solidFill>
                        <a:srgbClr val="666666"/>
                      </a:solidFill>
                    </a:lnL>
                    <a:lnR w="9525" cap="flat">
                      <a:solidFill>
                        <a:srgbClr val="666666"/>
                      </a:solidFill>
                    </a:lnR>
                    <a:lnT w="9525" cap="flat">
                      <a:solidFill>
                        <a:srgbClr val="666666"/>
                      </a:solidFill>
                    </a:lnT>
                    <a:lnB w="9525" cap="flat">
                      <a:solidFill>
                        <a:srgbClr val="666666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3" name="Rectangle 2"/>
          <p:cNvSpPr/>
          <p:nvPr/>
        </p:nvSpPr>
        <p:spPr>
          <a:xfrm>
            <a:off x="384048" y="1572767"/>
            <a:ext cx="5166360" cy="4901184"/>
          </a:xfrm>
          <a:prstGeom prst="rect">
            <a:avLst/>
          </a:prstGeom>
          <a:solidFill>
            <a:srgbClr val="FFFFFF"/>
          </a:solidFill>
          <a:ln w="3048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84048" y="1572767"/>
            <a:ext cx="5166360" cy="146304"/>
          </a:xfrm>
          <a:prstGeom prst="rect">
            <a:avLst/>
          </a:prstGeom>
          <a:solidFill>
            <a:srgbClr val="F7F7F7"/>
          </a:solidFill>
          <a:ln w="3048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484632" y="1623059"/>
            <a:ext cx="45720" cy="45720"/>
          </a:xfrm>
          <a:prstGeom prst="ellipse">
            <a:avLst/>
          </a:prstGeom>
          <a:solidFill>
            <a:srgbClr val="CCC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585216" y="1623059"/>
            <a:ext cx="45720" cy="45720"/>
          </a:xfrm>
          <a:prstGeom prst="ellipse">
            <a:avLst/>
          </a:prstGeom>
          <a:solidFill>
            <a:srgbClr val="CCC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685800" y="1623059"/>
            <a:ext cx="45720" cy="45720"/>
          </a:xfrm>
          <a:prstGeom prst="ellipse">
            <a:avLst/>
          </a:prstGeom>
          <a:solidFill>
            <a:srgbClr val="CCC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12064" y="1847087"/>
            <a:ext cx="4910328" cy="256032"/>
          </a:xfrm>
          <a:prstGeom prst="rect">
            <a:avLst/>
          </a:prstGeom>
          <a:solidFill>
            <a:srgbClr val="F7F7F7"/>
          </a:solidFill>
          <a:ln w="1651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585216" y="1911095"/>
            <a:ext cx="658368" cy="12801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5166359" y="1883663"/>
            <a:ext cx="182880" cy="182880"/>
          </a:xfrm>
          <a:prstGeom prst="ellipse">
            <a:avLst/>
          </a:prstGeom>
          <a:solidFill>
            <a:srgbClr val="FFFFFF"/>
          </a:solidFill>
          <a:ln w="1524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12064" y="2157983"/>
            <a:ext cx="914400" cy="4187952"/>
          </a:xfrm>
          <a:prstGeom prst="rect">
            <a:avLst/>
          </a:prstGeom>
          <a:solidFill>
            <a:srgbClr val="F7F7F7"/>
          </a:solidFill>
          <a:ln w="1651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594360" y="2267711"/>
            <a:ext cx="749808" cy="14630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594360" y="2542031"/>
            <a:ext cx="749808" cy="14630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594360" y="2816351"/>
            <a:ext cx="749808" cy="14630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594360" y="3090671"/>
            <a:ext cx="749808" cy="14630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594360" y="3364991"/>
            <a:ext cx="749808" cy="14630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594360" y="3639311"/>
            <a:ext cx="749808" cy="14630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594360" y="3913631"/>
            <a:ext cx="749808" cy="14630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594360" y="4187952"/>
            <a:ext cx="749808" cy="14630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594360" y="4462271"/>
            <a:ext cx="749808" cy="14630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170432" y="2532887"/>
            <a:ext cx="128016" cy="128016"/>
          </a:xfrm>
          <a:prstGeom prst="ellipse">
            <a:avLst/>
          </a:prstGeom>
          <a:solidFill>
            <a:srgbClr val="FFFFFF"/>
          </a:solidFill>
          <a:ln w="1524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1572768" y="2194559"/>
            <a:ext cx="859536" cy="23774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2487168" y="2194559"/>
            <a:ext cx="859536" cy="23774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3401568" y="2194559"/>
            <a:ext cx="859536" cy="23774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4315968" y="2194559"/>
            <a:ext cx="859536" cy="23774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1572768" y="2542031"/>
            <a:ext cx="3849624" cy="1097280"/>
          </a:xfrm>
          <a:prstGeom prst="rect">
            <a:avLst/>
          </a:prstGeom>
          <a:solidFill>
            <a:srgbClr val="FFFFFF"/>
          </a:solidFill>
          <a:ln w="1651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7" name="Connector 26"/>
          <p:cNvCxnSpPr/>
          <p:nvPr/>
        </p:nvCxnSpPr>
        <p:spPr>
          <a:xfrm>
            <a:off x="1673352" y="2706623"/>
            <a:ext cx="846917" cy="0"/>
          </a:xfrm>
          <a:prstGeom prst="line">
            <a:avLst/>
          </a:prstGeom>
          <a:ln w="22860">
            <a:solidFill>
              <a:srgbClr val="6666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Rectangle 27"/>
          <p:cNvSpPr/>
          <p:nvPr/>
        </p:nvSpPr>
        <p:spPr>
          <a:xfrm>
            <a:off x="1673352" y="2852927"/>
            <a:ext cx="3648456" cy="219456"/>
          </a:xfrm>
          <a:prstGeom prst="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4809744" y="2871215"/>
            <a:ext cx="493776" cy="182880"/>
          </a:xfrm>
          <a:prstGeom prst="roundRect">
            <a:avLst/>
          </a:prstGeom>
          <a:solidFill>
            <a:srgbClr val="F7F7F7"/>
          </a:solidFill>
          <a:ln w="1524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1673352" y="3108959"/>
            <a:ext cx="3648456" cy="219456"/>
          </a:xfrm>
          <a:prstGeom prst="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4809744" y="3127247"/>
            <a:ext cx="493776" cy="182880"/>
          </a:xfrm>
          <a:prstGeom prst="roundRect">
            <a:avLst/>
          </a:prstGeom>
          <a:solidFill>
            <a:srgbClr val="F7F7F7"/>
          </a:solidFill>
          <a:ln w="1524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1673352" y="3401567"/>
            <a:ext cx="2990087" cy="182880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3" name="Connector 32"/>
          <p:cNvCxnSpPr/>
          <p:nvPr/>
        </p:nvCxnSpPr>
        <p:spPr>
          <a:xfrm>
            <a:off x="1673352" y="3584447"/>
            <a:ext cx="2990088" cy="0"/>
          </a:xfrm>
          <a:prstGeom prst="line">
            <a:avLst/>
          </a:prstGeom>
          <a:ln w="22860">
            <a:solidFill>
              <a:srgbClr val="33333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Rounded Rectangle 33"/>
          <p:cNvSpPr/>
          <p:nvPr/>
        </p:nvSpPr>
        <p:spPr>
          <a:xfrm>
            <a:off x="4754879" y="3383279"/>
            <a:ext cx="566928" cy="219456"/>
          </a:xfrm>
          <a:prstGeom prst="roundRect">
            <a:avLst/>
          </a:prstGeom>
          <a:solidFill>
            <a:srgbClr val="F7F7F7"/>
          </a:solidFill>
          <a:ln w="1524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1554480" y="2523743"/>
            <a:ext cx="237744" cy="237744"/>
          </a:xfrm>
          <a:prstGeom prst="ellipse">
            <a:avLst/>
          </a:prstGeom>
          <a:solidFill>
            <a:srgbClr val="DC2626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6</a:t>
            </a:r>
          </a:p>
        </p:txBody>
      </p:sp>
      <p:sp>
        <p:nvSpPr>
          <p:cNvPr id="36" name="Rectangle 35"/>
          <p:cNvSpPr/>
          <p:nvPr/>
        </p:nvSpPr>
        <p:spPr>
          <a:xfrm>
            <a:off x="1572768" y="3749039"/>
            <a:ext cx="3849624" cy="1005840"/>
          </a:xfrm>
          <a:prstGeom prst="rect">
            <a:avLst/>
          </a:prstGeom>
          <a:solidFill>
            <a:srgbClr val="FFFFFF"/>
          </a:solidFill>
          <a:ln w="1651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7" name="Connector 36"/>
          <p:cNvCxnSpPr/>
          <p:nvPr/>
        </p:nvCxnSpPr>
        <p:spPr>
          <a:xfrm>
            <a:off x="1673352" y="3913631"/>
            <a:ext cx="492541" cy="0"/>
          </a:xfrm>
          <a:prstGeom prst="line">
            <a:avLst/>
          </a:prstGeom>
          <a:ln w="13970">
            <a:solidFill>
              <a:srgbClr val="6666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>
            <a:off x="2585466" y="3913631"/>
            <a:ext cx="492541" cy="0"/>
          </a:xfrm>
          <a:prstGeom prst="line">
            <a:avLst/>
          </a:prstGeom>
          <a:ln w="13970">
            <a:solidFill>
              <a:srgbClr val="6666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>
            <a:off x="3497580" y="3913631"/>
            <a:ext cx="492541" cy="0"/>
          </a:xfrm>
          <a:prstGeom prst="line">
            <a:avLst/>
          </a:prstGeom>
          <a:ln w="13970">
            <a:solidFill>
              <a:srgbClr val="6666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>
            <a:off x="4409694" y="3913631"/>
            <a:ext cx="492541" cy="0"/>
          </a:xfrm>
          <a:prstGeom prst="line">
            <a:avLst/>
          </a:prstGeom>
          <a:ln w="13970">
            <a:solidFill>
              <a:srgbClr val="6666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Connector 40"/>
          <p:cNvCxnSpPr/>
          <p:nvPr/>
        </p:nvCxnSpPr>
        <p:spPr>
          <a:xfrm>
            <a:off x="1673352" y="4005072"/>
            <a:ext cx="3648455" cy="0"/>
          </a:xfrm>
          <a:prstGeom prst="line">
            <a:avLst/>
          </a:prstGeom>
          <a:ln w="15240">
            <a:solidFill>
              <a:srgbClr val="CCCCC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Connector 41"/>
          <p:cNvCxnSpPr/>
          <p:nvPr/>
        </p:nvCxnSpPr>
        <p:spPr>
          <a:xfrm>
            <a:off x="1673352" y="4151376"/>
            <a:ext cx="638479" cy="0"/>
          </a:xfrm>
          <a:prstGeom prst="line">
            <a:avLst/>
          </a:prstGeom>
          <a:ln w="13970">
            <a:solidFill>
              <a:srgbClr val="6666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Connector 42"/>
          <p:cNvCxnSpPr/>
          <p:nvPr/>
        </p:nvCxnSpPr>
        <p:spPr>
          <a:xfrm>
            <a:off x="2585466" y="4151376"/>
            <a:ext cx="638479" cy="0"/>
          </a:xfrm>
          <a:prstGeom prst="line">
            <a:avLst/>
          </a:prstGeom>
          <a:ln w="13970">
            <a:solidFill>
              <a:srgbClr val="6666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Connector 43"/>
          <p:cNvCxnSpPr/>
          <p:nvPr/>
        </p:nvCxnSpPr>
        <p:spPr>
          <a:xfrm>
            <a:off x="3497580" y="4151376"/>
            <a:ext cx="638479" cy="0"/>
          </a:xfrm>
          <a:prstGeom prst="line">
            <a:avLst/>
          </a:prstGeom>
          <a:ln w="13970">
            <a:solidFill>
              <a:srgbClr val="6666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Connector 44"/>
          <p:cNvCxnSpPr/>
          <p:nvPr/>
        </p:nvCxnSpPr>
        <p:spPr>
          <a:xfrm>
            <a:off x="4409694" y="4151376"/>
            <a:ext cx="638479" cy="0"/>
          </a:xfrm>
          <a:prstGeom prst="line">
            <a:avLst/>
          </a:prstGeom>
          <a:ln w="13970">
            <a:solidFill>
              <a:srgbClr val="6666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Connector 45"/>
          <p:cNvCxnSpPr/>
          <p:nvPr/>
        </p:nvCxnSpPr>
        <p:spPr>
          <a:xfrm>
            <a:off x="1673352" y="4334256"/>
            <a:ext cx="638479" cy="0"/>
          </a:xfrm>
          <a:prstGeom prst="line">
            <a:avLst/>
          </a:prstGeom>
          <a:ln w="13970">
            <a:solidFill>
              <a:srgbClr val="6666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Connector 46"/>
          <p:cNvCxnSpPr/>
          <p:nvPr/>
        </p:nvCxnSpPr>
        <p:spPr>
          <a:xfrm>
            <a:off x="2585466" y="4334256"/>
            <a:ext cx="638479" cy="0"/>
          </a:xfrm>
          <a:prstGeom prst="line">
            <a:avLst/>
          </a:prstGeom>
          <a:ln w="13970">
            <a:solidFill>
              <a:srgbClr val="6666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Connector 47"/>
          <p:cNvCxnSpPr/>
          <p:nvPr/>
        </p:nvCxnSpPr>
        <p:spPr>
          <a:xfrm>
            <a:off x="3497580" y="4334256"/>
            <a:ext cx="638479" cy="0"/>
          </a:xfrm>
          <a:prstGeom prst="line">
            <a:avLst/>
          </a:prstGeom>
          <a:ln w="13970">
            <a:solidFill>
              <a:srgbClr val="6666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Connector 48"/>
          <p:cNvCxnSpPr/>
          <p:nvPr/>
        </p:nvCxnSpPr>
        <p:spPr>
          <a:xfrm>
            <a:off x="4409694" y="4334256"/>
            <a:ext cx="638479" cy="0"/>
          </a:xfrm>
          <a:prstGeom prst="line">
            <a:avLst/>
          </a:prstGeom>
          <a:ln w="13970">
            <a:solidFill>
              <a:srgbClr val="6666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Connector 49"/>
          <p:cNvCxnSpPr/>
          <p:nvPr/>
        </p:nvCxnSpPr>
        <p:spPr>
          <a:xfrm>
            <a:off x="1673352" y="4517136"/>
            <a:ext cx="638479" cy="0"/>
          </a:xfrm>
          <a:prstGeom prst="line">
            <a:avLst/>
          </a:prstGeom>
          <a:ln w="13970">
            <a:solidFill>
              <a:srgbClr val="6666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Connector 50"/>
          <p:cNvCxnSpPr/>
          <p:nvPr/>
        </p:nvCxnSpPr>
        <p:spPr>
          <a:xfrm>
            <a:off x="2585466" y="4517136"/>
            <a:ext cx="638479" cy="0"/>
          </a:xfrm>
          <a:prstGeom prst="line">
            <a:avLst/>
          </a:prstGeom>
          <a:ln w="13970">
            <a:solidFill>
              <a:srgbClr val="6666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Connector 51"/>
          <p:cNvCxnSpPr/>
          <p:nvPr/>
        </p:nvCxnSpPr>
        <p:spPr>
          <a:xfrm>
            <a:off x="3497580" y="4517136"/>
            <a:ext cx="638479" cy="0"/>
          </a:xfrm>
          <a:prstGeom prst="line">
            <a:avLst/>
          </a:prstGeom>
          <a:ln w="13970">
            <a:solidFill>
              <a:srgbClr val="6666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Connector 52"/>
          <p:cNvCxnSpPr/>
          <p:nvPr/>
        </p:nvCxnSpPr>
        <p:spPr>
          <a:xfrm>
            <a:off x="4409694" y="4517136"/>
            <a:ext cx="638479" cy="0"/>
          </a:xfrm>
          <a:prstGeom prst="line">
            <a:avLst/>
          </a:prstGeom>
          <a:ln w="13970">
            <a:solidFill>
              <a:srgbClr val="6666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Connector 53"/>
          <p:cNvCxnSpPr/>
          <p:nvPr/>
        </p:nvCxnSpPr>
        <p:spPr>
          <a:xfrm>
            <a:off x="3177540" y="4626864"/>
            <a:ext cx="640080" cy="0"/>
          </a:xfrm>
          <a:prstGeom prst="line">
            <a:avLst/>
          </a:prstGeom>
          <a:ln w="13970">
            <a:solidFill>
              <a:srgbClr val="6666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5" name="Oval 54"/>
          <p:cNvSpPr/>
          <p:nvPr/>
        </p:nvSpPr>
        <p:spPr>
          <a:xfrm>
            <a:off x="1554480" y="3730752"/>
            <a:ext cx="237744" cy="237744"/>
          </a:xfrm>
          <a:prstGeom prst="ellipse">
            <a:avLst/>
          </a:prstGeom>
          <a:solidFill>
            <a:srgbClr val="DC2626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7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1572768" y="4864607"/>
            <a:ext cx="384048" cy="1828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ounded Rectangle 56"/>
          <p:cNvSpPr/>
          <p:nvPr/>
        </p:nvSpPr>
        <p:spPr>
          <a:xfrm>
            <a:off x="1993392" y="4864607"/>
            <a:ext cx="384048" cy="1828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ounded Rectangle 57"/>
          <p:cNvSpPr/>
          <p:nvPr/>
        </p:nvSpPr>
        <p:spPr>
          <a:xfrm>
            <a:off x="2414016" y="4864607"/>
            <a:ext cx="384048" cy="1828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ounded Rectangle 58"/>
          <p:cNvSpPr/>
          <p:nvPr/>
        </p:nvSpPr>
        <p:spPr>
          <a:xfrm>
            <a:off x="2834640" y="4864607"/>
            <a:ext cx="384048" cy="1828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ounded Rectangle 59"/>
          <p:cNvSpPr/>
          <p:nvPr/>
        </p:nvSpPr>
        <p:spPr>
          <a:xfrm>
            <a:off x="3255264" y="4864607"/>
            <a:ext cx="384048" cy="1828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4050791" y="4864607"/>
            <a:ext cx="1371600" cy="182880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2" name="Connector 61"/>
          <p:cNvCxnSpPr/>
          <p:nvPr/>
        </p:nvCxnSpPr>
        <p:spPr>
          <a:xfrm>
            <a:off x="4050791" y="5047488"/>
            <a:ext cx="1371601" cy="0"/>
          </a:xfrm>
          <a:prstGeom prst="line">
            <a:avLst/>
          </a:prstGeom>
          <a:ln w="22860">
            <a:solidFill>
              <a:srgbClr val="33333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3" name="Rectangle 62"/>
          <p:cNvSpPr/>
          <p:nvPr/>
        </p:nvSpPr>
        <p:spPr>
          <a:xfrm>
            <a:off x="1572768" y="5138927"/>
            <a:ext cx="3849624" cy="1188720"/>
          </a:xfrm>
          <a:prstGeom prst="rect">
            <a:avLst/>
          </a:prstGeom>
          <a:solidFill>
            <a:srgbClr val="FFFFFF"/>
          </a:solidFill>
          <a:ln w="1651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4" name="Connector 63"/>
          <p:cNvCxnSpPr/>
          <p:nvPr/>
        </p:nvCxnSpPr>
        <p:spPr>
          <a:xfrm>
            <a:off x="1673352" y="5285231"/>
            <a:ext cx="456057" cy="0"/>
          </a:xfrm>
          <a:prstGeom prst="line">
            <a:avLst/>
          </a:prstGeom>
          <a:ln w="13970">
            <a:solidFill>
              <a:srgbClr val="6666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" name="Connector 64"/>
          <p:cNvCxnSpPr/>
          <p:nvPr/>
        </p:nvCxnSpPr>
        <p:spPr>
          <a:xfrm>
            <a:off x="2585466" y="5285231"/>
            <a:ext cx="456057" cy="0"/>
          </a:xfrm>
          <a:prstGeom prst="line">
            <a:avLst/>
          </a:prstGeom>
          <a:ln w="13970">
            <a:solidFill>
              <a:srgbClr val="6666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6" name="Connector 65"/>
          <p:cNvCxnSpPr/>
          <p:nvPr/>
        </p:nvCxnSpPr>
        <p:spPr>
          <a:xfrm>
            <a:off x="3497580" y="5285231"/>
            <a:ext cx="456057" cy="0"/>
          </a:xfrm>
          <a:prstGeom prst="line">
            <a:avLst/>
          </a:prstGeom>
          <a:ln w="13970">
            <a:solidFill>
              <a:srgbClr val="6666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7" name="Connector 66"/>
          <p:cNvCxnSpPr/>
          <p:nvPr/>
        </p:nvCxnSpPr>
        <p:spPr>
          <a:xfrm>
            <a:off x="4409694" y="5285231"/>
            <a:ext cx="456057" cy="0"/>
          </a:xfrm>
          <a:prstGeom prst="line">
            <a:avLst/>
          </a:prstGeom>
          <a:ln w="13970">
            <a:solidFill>
              <a:srgbClr val="6666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8" name="Connector 67"/>
          <p:cNvCxnSpPr/>
          <p:nvPr/>
        </p:nvCxnSpPr>
        <p:spPr>
          <a:xfrm>
            <a:off x="1673352" y="5376671"/>
            <a:ext cx="3648455" cy="0"/>
          </a:xfrm>
          <a:prstGeom prst="line">
            <a:avLst/>
          </a:prstGeom>
          <a:ln w="15240">
            <a:solidFill>
              <a:srgbClr val="CCCCC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9" name="Connector 68"/>
          <p:cNvCxnSpPr/>
          <p:nvPr/>
        </p:nvCxnSpPr>
        <p:spPr>
          <a:xfrm>
            <a:off x="1673352" y="5522975"/>
            <a:ext cx="620237" cy="0"/>
          </a:xfrm>
          <a:prstGeom prst="line">
            <a:avLst/>
          </a:prstGeom>
          <a:ln w="13970">
            <a:solidFill>
              <a:srgbClr val="6666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0" name="Connector 69"/>
          <p:cNvCxnSpPr/>
          <p:nvPr/>
        </p:nvCxnSpPr>
        <p:spPr>
          <a:xfrm>
            <a:off x="2585466" y="5522975"/>
            <a:ext cx="620237" cy="0"/>
          </a:xfrm>
          <a:prstGeom prst="line">
            <a:avLst/>
          </a:prstGeom>
          <a:ln w="13970">
            <a:solidFill>
              <a:srgbClr val="6666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1" name="Connector 70"/>
          <p:cNvCxnSpPr/>
          <p:nvPr/>
        </p:nvCxnSpPr>
        <p:spPr>
          <a:xfrm>
            <a:off x="3497580" y="5522975"/>
            <a:ext cx="620237" cy="0"/>
          </a:xfrm>
          <a:prstGeom prst="line">
            <a:avLst/>
          </a:prstGeom>
          <a:ln w="13970">
            <a:solidFill>
              <a:srgbClr val="6666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2" name="Connector 71"/>
          <p:cNvCxnSpPr/>
          <p:nvPr/>
        </p:nvCxnSpPr>
        <p:spPr>
          <a:xfrm>
            <a:off x="4409694" y="5522975"/>
            <a:ext cx="620237" cy="0"/>
          </a:xfrm>
          <a:prstGeom prst="line">
            <a:avLst/>
          </a:prstGeom>
          <a:ln w="13970">
            <a:solidFill>
              <a:srgbClr val="6666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3" name="Connector 72"/>
          <p:cNvCxnSpPr/>
          <p:nvPr/>
        </p:nvCxnSpPr>
        <p:spPr>
          <a:xfrm>
            <a:off x="1673352" y="5687567"/>
            <a:ext cx="620237" cy="0"/>
          </a:xfrm>
          <a:prstGeom prst="line">
            <a:avLst/>
          </a:prstGeom>
          <a:ln w="13970">
            <a:solidFill>
              <a:srgbClr val="6666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4" name="Connector 73"/>
          <p:cNvCxnSpPr/>
          <p:nvPr/>
        </p:nvCxnSpPr>
        <p:spPr>
          <a:xfrm>
            <a:off x="2585466" y="5687567"/>
            <a:ext cx="620237" cy="0"/>
          </a:xfrm>
          <a:prstGeom prst="line">
            <a:avLst/>
          </a:prstGeom>
          <a:ln w="13970">
            <a:solidFill>
              <a:srgbClr val="6666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5" name="Connector 74"/>
          <p:cNvCxnSpPr/>
          <p:nvPr/>
        </p:nvCxnSpPr>
        <p:spPr>
          <a:xfrm>
            <a:off x="3497580" y="5687567"/>
            <a:ext cx="620237" cy="0"/>
          </a:xfrm>
          <a:prstGeom prst="line">
            <a:avLst/>
          </a:prstGeom>
          <a:ln w="13970">
            <a:solidFill>
              <a:srgbClr val="6666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6" name="Connector 75"/>
          <p:cNvCxnSpPr/>
          <p:nvPr/>
        </p:nvCxnSpPr>
        <p:spPr>
          <a:xfrm>
            <a:off x="4409694" y="5687567"/>
            <a:ext cx="620237" cy="0"/>
          </a:xfrm>
          <a:prstGeom prst="line">
            <a:avLst/>
          </a:prstGeom>
          <a:ln w="13970">
            <a:solidFill>
              <a:srgbClr val="6666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7" name="Connector 76"/>
          <p:cNvCxnSpPr/>
          <p:nvPr/>
        </p:nvCxnSpPr>
        <p:spPr>
          <a:xfrm>
            <a:off x="1673352" y="5852159"/>
            <a:ext cx="620237" cy="0"/>
          </a:xfrm>
          <a:prstGeom prst="line">
            <a:avLst/>
          </a:prstGeom>
          <a:ln w="13970">
            <a:solidFill>
              <a:srgbClr val="6666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8" name="Connector 77"/>
          <p:cNvCxnSpPr/>
          <p:nvPr/>
        </p:nvCxnSpPr>
        <p:spPr>
          <a:xfrm>
            <a:off x="2585466" y="5852159"/>
            <a:ext cx="620237" cy="0"/>
          </a:xfrm>
          <a:prstGeom prst="line">
            <a:avLst/>
          </a:prstGeom>
          <a:ln w="13970">
            <a:solidFill>
              <a:srgbClr val="6666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9" name="Connector 78"/>
          <p:cNvCxnSpPr/>
          <p:nvPr/>
        </p:nvCxnSpPr>
        <p:spPr>
          <a:xfrm>
            <a:off x="3497580" y="5852159"/>
            <a:ext cx="620237" cy="0"/>
          </a:xfrm>
          <a:prstGeom prst="line">
            <a:avLst/>
          </a:prstGeom>
          <a:ln w="13970">
            <a:solidFill>
              <a:srgbClr val="6666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0" name="Connector 79"/>
          <p:cNvCxnSpPr/>
          <p:nvPr/>
        </p:nvCxnSpPr>
        <p:spPr>
          <a:xfrm>
            <a:off x="4409694" y="5852159"/>
            <a:ext cx="620237" cy="0"/>
          </a:xfrm>
          <a:prstGeom prst="line">
            <a:avLst/>
          </a:prstGeom>
          <a:ln w="13970">
            <a:solidFill>
              <a:srgbClr val="6666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1" name="Connector 80"/>
          <p:cNvCxnSpPr/>
          <p:nvPr/>
        </p:nvCxnSpPr>
        <p:spPr>
          <a:xfrm>
            <a:off x="1673352" y="6016751"/>
            <a:ext cx="620237" cy="0"/>
          </a:xfrm>
          <a:prstGeom prst="line">
            <a:avLst/>
          </a:prstGeom>
          <a:ln w="13970">
            <a:solidFill>
              <a:srgbClr val="6666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2" name="Connector 81"/>
          <p:cNvCxnSpPr/>
          <p:nvPr/>
        </p:nvCxnSpPr>
        <p:spPr>
          <a:xfrm>
            <a:off x="2585466" y="6016751"/>
            <a:ext cx="620237" cy="0"/>
          </a:xfrm>
          <a:prstGeom prst="line">
            <a:avLst/>
          </a:prstGeom>
          <a:ln w="13970">
            <a:solidFill>
              <a:srgbClr val="6666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3" name="Connector 82"/>
          <p:cNvCxnSpPr/>
          <p:nvPr/>
        </p:nvCxnSpPr>
        <p:spPr>
          <a:xfrm>
            <a:off x="3497580" y="6016751"/>
            <a:ext cx="620237" cy="0"/>
          </a:xfrm>
          <a:prstGeom prst="line">
            <a:avLst/>
          </a:prstGeom>
          <a:ln w="13970">
            <a:solidFill>
              <a:srgbClr val="6666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4" name="Connector 83"/>
          <p:cNvCxnSpPr/>
          <p:nvPr/>
        </p:nvCxnSpPr>
        <p:spPr>
          <a:xfrm>
            <a:off x="4409694" y="6016751"/>
            <a:ext cx="620237" cy="0"/>
          </a:xfrm>
          <a:prstGeom prst="line">
            <a:avLst/>
          </a:prstGeom>
          <a:ln w="13970">
            <a:solidFill>
              <a:srgbClr val="6666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5" name="Connector 84"/>
          <p:cNvCxnSpPr/>
          <p:nvPr/>
        </p:nvCxnSpPr>
        <p:spPr>
          <a:xfrm>
            <a:off x="3177540" y="6199632"/>
            <a:ext cx="640080" cy="0"/>
          </a:xfrm>
          <a:prstGeom prst="line">
            <a:avLst/>
          </a:prstGeom>
          <a:ln w="13970">
            <a:solidFill>
              <a:srgbClr val="6666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6" name="Oval 85"/>
          <p:cNvSpPr/>
          <p:nvPr/>
        </p:nvSpPr>
        <p:spPr>
          <a:xfrm>
            <a:off x="1554480" y="4846320"/>
            <a:ext cx="237744" cy="237744"/>
          </a:xfrm>
          <a:prstGeom prst="ellipse">
            <a:avLst/>
          </a:prstGeom>
          <a:solidFill>
            <a:srgbClr val="DC2626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8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5824728" y="1572767"/>
            <a:ext cx="5982919" cy="256032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111111"/>
                </a:solidFill>
                <a:latin typeface="맑은 고딕"/>
                <a:ea typeface="맑은 고딕"/>
              </a:rPr>
              <a:t>Description</a:t>
            </a:r>
          </a:p>
        </p:txBody>
      </p:sp>
      <p:sp>
        <p:nvSpPr>
          <p:cNvPr id="88" name="Oval 87"/>
          <p:cNvSpPr/>
          <p:nvPr/>
        </p:nvSpPr>
        <p:spPr>
          <a:xfrm>
            <a:off x="5824728" y="1929383"/>
            <a:ext cx="219456" cy="219456"/>
          </a:xfrm>
          <a:prstGeom prst="ellipse">
            <a:avLst/>
          </a:prstGeom>
          <a:solidFill>
            <a:srgbClr val="DC2626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6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6135624" y="1901951"/>
            <a:ext cx="5672023" cy="1002182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100"/>
              </a:spcAft>
            </a:pPr>
            <a:r>
              <a:rPr sz="950" b="1">
                <a:solidFill>
                  <a:srgbClr val="111111"/>
                </a:solidFill>
                <a:latin typeface="맑은 고딕"/>
                <a:ea typeface="맑은 고딕"/>
              </a:rPr>
              <a:t>그룹 전체보기 탭 </a:t>
            </a:r>
            <a:r>
              <a:rPr sz="950" b="0">
                <a:solidFill>
                  <a:srgbClr val="999999"/>
                </a:solidFill>
                <a:latin typeface="맑은 고딕"/>
                <a:ea typeface="맑은 고딕"/>
              </a:rPr>
              <a:t>—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부여 목록·사유 필수·확인 절차·회수</a:t>
            </a:r>
          </a:p>
        </p:txBody>
      </p:sp>
      <p:cxnSp>
        <p:nvCxnSpPr>
          <p:cNvPr id="90" name="Connector 89"/>
          <p:cNvCxnSpPr/>
          <p:nvPr/>
        </p:nvCxnSpPr>
        <p:spPr>
          <a:xfrm>
            <a:off x="5824728" y="2885846"/>
            <a:ext cx="5982919" cy="0"/>
          </a:xfrm>
          <a:prstGeom prst="line">
            <a:avLst/>
          </a:prstGeom>
          <a:ln w="9525">
            <a:solidFill>
              <a:srgbClr val="EEEEE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1" name="Oval 90"/>
          <p:cNvSpPr/>
          <p:nvPr/>
        </p:nvSpPr>
        <p:spPr>
          <a:xfrm>
            <a:off x="5824728" y="2931566"/>
            <a:ext cx="219456" cy="219456"/>
          </a:xfrm>
          <a:prstGeom prst="ellipse">
            <a:avLst/>
          </a:prstGeom>
          <a:solidFill>
            <a:srgbClr val="DC2626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7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6135624" y="2904134"/>
            <a:ext cx="5672023" cy="1002182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100"/>
              </a:spcAft>
            </a:pPr>
            <a:r>
              <a:rPr sz="950" b="1">
                <a:solidFill>
                  <a:srgbClr val="111111"/>
                </a:solidFill>
                <a:latin typeface="맑은 고딕"/>
                <a:ea typeface="맑은 고딕"/>
              </a:rPr>
              <a:t>등록자 관리 탭 </a:t>
            </a:r>
            <a:r>
              <a:rPr sz="950" b="0">
                <a:solidFill>
                  <a:srgbClr val="999999"/>
                </a:solidFill>
                <a:latin typeface="맑은 고딕"/>
                <a:ea typeface="맑은 고딕"/>
              </a:rPr>
              <a:t>—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등록 이력 사용자 테이블·더보기</a:t>
            </a:r>
          </a:p>
        </p:txBody>
      </p:sp>
      <p:cxnSp>
        <p:nvCxnSpPr>
          <p:cNvPr id="93" name="Connector 92"/>
          <p:cNvCxnSpPr/>
          <p:nvPr/>
        </p:nvCxnSpPr>
        <p:spPr>
          <a:xfrm>
            <a:off x="5824728" y="3888028"/>
            <a:ext cx="5982919" cy="0"/>
          </a:xfrm>
          <a:prstGeom prst="line">
            <a:avLst/>
          </a:prstGeom>
          <a:ln w="9525">
            <a:solidFill>
              <a:srgbClr val="EEEEE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4" name="Oval 93"/>
          <p:cNvSpPr/>
          <p:nvPr/>
        </p:nvSpPr>
        <p:spPr>
          <a:xfrm>
            <a:off x="5824728" y="3933748"/>
            <a:ext cx="219456" cy="219456"/>
          </a:xfrm>
          <a:prstGeom prst="ellipse">
            <a:avLst/>
          </a:prstGeom>
          <a:solidFill>
            <a:srgbClr val="DC2626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8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6135624" y="3906316"/>
            <a:ext cx="5672023" cy="1002182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100"/>
              </a:spcAft>
            </a:pPr>
            <a:r>
              <a:rPr sz="950" b="1">
                <a:solidFill>
                  <a:srgbClr val="111111"/>
                </a:solidFill>
                <a:latin typeface="맑은 고딕"/>
                <a:ea typeface="맑은 고딕"/>
              </a:rPr>
              <a:t>활동 로그 탭 </a:t>
            </a:r>
            <a:r>
              <a:rPr sz="950" b="0">
                <a:solidFill>
                  <a:srgbClr val="999999"/>
                </a:solidFill>
                <a:latin typeface="맑은 고딕"/>
                <a:ea typeface="맑은 고딕"/>
              </a:rPr>
              <a:t>—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카테고리 필터·검색·테이블·더보기</a:t>
            </a:r>
          </a:p>
        </p:txBody>
      </p:sp>
      <p:sp>
        <p:nvSpPr>
          <p:cNvPr id="96" name="Rectangle 95"/>
          <p:cNvSpPr/>
          <p:nvPr/>
        </p:nvSpPr>
        <p:spPr>
          <a:xfrm>
            <a:off x="5824728" y="5054803"/>
            <a:ext cx="5982919" cy="1419148"/>
          </a:xfrm>
          <a:prstGeom prst="rect">
            <a:avLst/>
          </a:prstGeom>
          <a:solidFill>
            <a:srgbClr val="F7F7F7"/>
          </a:solidFill>
          <a:ln w="12700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97" name="Connector 96"/>
          <p:cNvCxnSpPr/>
          <p:nvPr/>
        </p:nvCxnSpPr>
        <p:spPr>
          <a:xfrm>
            <a:off x="5824728" y="5329123"/>
            <a:ext cx="5982919" cy="0"/>
          </a:xfrm>
          <a:prstGeom prst="line">
            <a:avLst/>
          </a:prstGeom>
          <a:ln w="12700">
            <a:solidFill>
              <a:srgbClr val="CCCCC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8" name="TextBox 97"/>
          <p:cNvSpPr txBox="1"/>
          <p:nvPr/>
        </p:nvSpPr>
        <p:spPr>
          <a:xfrm>
            <a:off x="5934456" y="5095951"/>
            <a:ext cx="5763463" cy="237744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11111"/>
                </a:solidFill>
                <a:latin typeface="맑은 고딕"/>
                <a:ea typeface="맑은 고딕"/>
              </a:rPr>
              <a:t>화면 룰·기획 근거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5952744" y="5365699"/>
            <a:ext cx="5726887" cy="1071676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100"/>
              </a:spcAft>
            </a:pPr>
            <a:r>
              <a:rPr sz="85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850" b="0">
                <a:solidFill>
                  <a:srgbClr val="333333"/>
                </a:solidFill>
                <a:latin typeface="맑은 고딕"/>
                <a:ea typeface="맑은 고딕"/>
              </a:rPr>
              <a:t>그룹 전체보기 = 비노출 관계사 카드 열람 예외 권한 — 부여 근거 기록</a:t>
            </a:r>
          </a:p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100"/>
              </a:spcAft>
            </a:pPr>
            <a:r>
              <a:rPr sz="85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850" b="0">
                <a:solidFill>
                  <a:srgbClr val="333333"/>
                </a:solidFill>
                <a:latin typeface="맑은 고딕"/>
                <a:ea typeface="맑은 고딕"/>
              </a:rPr>
              <a:t>활동 로그 소급 수정 금지</a:t>
            </a:r>
          </a:p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100"/>
              </a:spcAft>
            </a:pPr>
            <a:r>
              <a:rPr sz="85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850" b="0">
                <a:solidFill>
                  <a:srgbClr val="333333"/>
                </a:solidFill>
                <a:latin typeface="맑은 고딕"/>
                <a:ea typeface="맑은 고딕"/>
              </a:rPr>
              <a:t>탭 2·3·4는 배타 전환 — 본 도면은 합성 표기</a:t>
            </a:r>
          </a:p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DC2626"/>
                </a:solidFill>
                <a:latin typeface="맑은 고딕"/>
                <a:ea typeface="맑은 고딕"/>
              </a:rPr>
              <a:t>BE·DB  </a:t>
            </a:r>
            <a:r>
              <a:rPr sz="850" b="0">
                <a:solidFill>
                  <a:srgbClr val="666666"/>
                </a:solidFill>
                <a:latin typeface="맑은 고딕"/>
                <a:ea typeface="맑은 고딕"/>
              </a:rPr>
              <a:t>getAdmins·getGroupViewers·getRegistrants·getAuditLogs·getSsoUsers·getSelectableCompanies·getCompanyAdmins. SSO 검색=디렉터리 API, 권한 변경=audit_logs 단일 트랜잭션, 보호 장치 서버 재검증(0.6).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84048" y="384048"/>
            <a:ext cx="7996519" cy="365760"/>
          </a:xfrm>
          <a:prstGeom prst="rect">
            <a:avLst/>
          </a:prstGeom>
          <a:noFill/>
        </p:spPr>
        <p:txBody>
          <a:bodyPr wrap="square" anchor="ctr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111111"/>
                </a:solidFill>
                <a:latin typeface="맑은 고딕"/>
                <a:ea typeface="맑은 고딕"/>
              </a:rPr>
              <a:t>ADM-09  ·  공지·업데이트 관리 (Notices)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238207" y="384048"/>
            <a:ext cx="4569439" cy="365760"/>
          </a:xfrm>
          <a:prstGeom prst="rect">
            <a:avLst/>
          </a:prstGeom>
          <a:noFill/>
        </p:spPr>
        <p:txBody>
          <a:bodyPr wrap="square" anchor="ctr" lIns="54864" rIns="54864" tIns="27432" bIns="18288">
            <a:no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999999"/>
                </a:solidFill>
                <a:latin typeface="맑은 고딕"/>
                <a:ea typeface="맑은 고딕"/>
              </a:rPr>
              <a:t>화면 정의 (Screen Definition)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384048" y="786384"/>
            <a:ext cx="11423599" cy="0"/>
          </a:xfrm>
          <a:prstGeom prst="line">
            <a:avLst/>
          </a:prstGeom>
          <a:ln w="19050">
            <a:solidFill>
              <a:srgbClr val="CCCCC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384048" y="822959"/>
            <a:ext cx="11423599" cy="182880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999999"/>
                </a:solidFill>
                <a:latin typeface="맑은 고딕"/>
                <a:ea typeface="맑은 고딕"/>
              </a:rPr>
              <a:t>화면에 표기된 카테고리·업무 도메인 등 분류 개수는 마스터 데이터에서 파생되는 현재값이며, 고정 상수가 아니다(0.9).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84048" y="1097280"/>
            <a:ext cx="6282979" cy="219456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999999"/>
                </a:solidFill>
                <a:latin typeface="맑은 고딕"/>
                <a:ea typeface="맑은 고딕"/>
              </a:rPr>
              <a:t>화면 구조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29768" y="1371600"/>
            <a:ext cx="3838754" cy="233172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75488" y="1371600"/>
            <a:ext cx="3747314" cy="233172"/>
          </a:xfrm>
          <a:prstGeom prst="rect">
            <a:avLst/>
          </a:prstGeom>
          <a:noFill/>
        </p:spPr>
        <p:txBody>
          <a:bodyPr wrap="square" anchor="ctr" lIns="54864" rIns="54864" tIns="27432" bIns="18288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333333"/>
                </a:solidFill>
                <a:latin typeface="맑은 고딕"/>
                <a:ea typeface="맑은 고딕"/>
              </a:rPr>
              <a:t>공지 관리 (/admin/notices)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13815" y="1714500"/>
            <a:ext cx="3600644" cy="233172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59536" y="1714500"/>
            <a:ext cx="3509204" cy="233172"/>
          </a:xfrm>
          <a:prstGeom prst="rect">
            <a:avLst/>
          </a:prstGeom>
          <a:noFill/>
        </p:spPr>
        <p:txBody>
          <a:bodyPr wrap="square" anchor="ctr" lIns="54864" rIns="54864" tIns="27432" bIns="18288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333333"/>
                </a:solidFill>
                <a:latin typeface="맑은 고딕"/>
                <a:ea typeface="맑은 고딕"/>
              </a:rPr>
              <a:t>좌 소식 목록 (작성·종류 필터)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539496" y="1488186"/>
            <a:ext cx="0" cy="342900"/>
          </a:xfrm>
          <a:prstGeom prst="line">
            <a:avLst/>
          </a:prstGeom>
          <a:ln w="16510">
            <a:solidFill>
              <a:srgbClr val="99999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539496" y="1831086"/>
            <a:ext cx="274319" cy="0"/>
          </a:xfrm>
          <a:prstGeom prst="line">
            <a:avLst/>
          </a:prstGeom>
          <a:ln w="16510">
            <a:solidFill>
              <a:srgbClr val="99999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813815" y="2057400"/>
            <a:ext cx="3600644" cy="233172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59536" y="2057400"/>
            <a:ext cx="3509204" cy="233172"/>
          </a:xfrm>
          <a:prstGeom prst="rect">
            <a:avLst/>
          </a:prstGeom>
          <a:noFill/>
        </p:spPr>
        <p:txBody>
          <a:bodyPr wrap="square" anchor="ctr" lIns="54864" rIns="54864" tIns="27432" bIns="18288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333333"/>
                </a:solidFill>
                <a:latin typeface="맑은 고딕"/>
                <a:ea typeface="맑은 고딕"/>
              </a:rPr>
              <a:t>우 내용 편집·노출 설정·저장/삭제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539496" y="1488186"/>
            <a:ext cx="0" cy="685800"/>
          </a:xfrm>
          <a:prstGeom prst="line">
            <a:avLst/>
          </a:prstGeom>
          <a:ln w="16510">
            <a:solidFill>
              <a:srgbClr val="99999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539496" y="2173986"/>
            <a:ext cx="274319" cy="0"/>
          </a:xfrm>
          <a:prstGeom prst="line">
            <a:avLst/>
          </a:prstGeom>
          <a:ln w="16510">
            <a:solidFill>
              <a:srgbClr val="99999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384048" y="4288536"/>
            <a:ext cx="6282979" cy="219456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999999"/>
                </a:solidFill>
                <a:latin typeface="맑은 고딕"/>
                <a:ea typeface="맑은 고딕"/>
              </a:rPr>
              <a:t>사용자 흐름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29768" y="4562855"/>
            <a:ext cx="1369576" cy="4572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75488" y="4562855"/>
            <a:ext cx="1278136" cy="457200"/>
          </a:xfrm>
          <a:prstGeom prst="rect">
            <a:avLst/>
          </a:prstGeom>
          <a:noFill/>
        </p:spPr>
        <p:txBody>
          <a:bodyPr wrap="square" anchor="ctr" lIns="54864" rIns="54864" tIns="27432" bIns="18288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333333"/>
                </a:solidFill>
                <a:latin typeface="맑은 고딕"/>
                <a:ea typeface="맑은 고딕"/>
              </a:rPr>
              <a:t>작성/선택</a:t>
            </a:r>
          </a:p>
        </p:txBody>
      </p:sp>
      <p:sp>
        <p:nvSpPr>
          <p:cNvPr id="20" name="Right Arrow 19"/>
          <p:cNvSpPr/>
          <p:nvPr/>
        </p:nvSpPr>
        <p:spPr>
          <a:xfrm>
            <a:off x="1817632" y="4727447"/>
            <a:ext cx="201168" cy="128016"/>
          </a:xfrm>
          <a:prstGeom prst="rightArrow">
            <a:avLst/>
          </a:prstGeom>
          <a:solidFill>
            <a:srgbClr val="CCC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2037088" y="4562855"/>
            <a:ext cx="1369576" cy="4572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2082808" y="4562855"/>
            <a:ext cx="1278136" cy="457200"/>
          </a:xfrm>
          <a:prstGeom prst="rect">
            <a:avLst/>
          </a:prstGeom>
          <a:noFill/>
        </p:spPr>
        <p:txBody>
          <a:bodyPr wrap="square" anchor="ctr" lIns="54864" rIns="54864" tIns="27432" bIns="18288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333333"/>
                </a:solidFill>
                <a:latin typeface="맑은 고딕"/>
                <a:ea typeface="맑은 고딕"/>
              </a:rPr>
              <a:t>편집(종류·제목·본문·게시일)</a:t>
            </a:r>
          </a:p>
        </p:txBody>
      </p:sp>
      <p:sp>
        <p:nvSpPr>
          <p:cNvPr id="23" name="Right Arrow 22"/>
          <p:cNvSpPr/>
          <p:nvPr/>
        </p:nvSpPr>
        <p:spPr>
          <a:xfrm>
            <a:off x="3424953" y="4727447"/>
            <a:ext cx="201168" cy="128016"/>
          </a:xfrm>
          <a:prstGeom prst="rightArrow">
            <a:avLst/>
          </a:prstGeom>
          <a:solidFill>
            <a:srgbClr val="CCC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3644409" y="4562855"/>
            <a:ext cx="1369576" cy="4572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690129" y="4562855"/>
            <a:ext cx="1278136" cy="457200"/>
          </a:xfrm>
          <a:prstGeom prst="rect">
            <a:avLst/>
          </a:prstGeom>
          <a:noFill/>
        </p:spPr>
        <p:txBody>
          <a:bodyPr wrap="square" anchor="ctr" lIns="54864" rIns="54864" tIns="27432" bIns="18288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333333"/>
                </a:solidFill>
                <a:latin typeface="맑은 고딕"/>
                <a:ea typeface="맑은 고딕"/>
              </a:rPr>
              <a:t>노출·고정 설정</a:t>
            </a:r>
          </a:p>
        </p:txBody>
      </p:sp>
      <p:sp>
        <p:nvSpPr>
          <p:cNvPr id="26" name="Right Arrow 25"/>
          <p:cNvSpPr/>
          <p:nvPr/>
        </p:nvSpPr>
        <p:spPr>
          <a:xfrm>
            <a:off x="5032274" y="4727447"/>
            <a:ext cx="201168" cy="128016"/>
          </a:xfrm>
          <a:prstGeom prst="rightArrow">
            <a:avLst/>
          </a:prstGeom>
          <a:solidFill>
            <a:srgbClr val="CCC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5251730" y="4562855"/>
            <a:ext cx="1369576" cy="4572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297450" y="4562855"/>
            <a:ext cx="1278136" cy="457200"/>
          </a:xfrm>
          <a:prstGeom prst="rect">
            <a:avLst/>
          </a:prstGeom>
          <a:noFill/>
        </p:spPr>
        <p:txBody>
          <a:bodyPr wrap="square" anchor="ctr" lIns="54864" rIns="54864" tIns="27432" bIns="18288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333333"/>
                </a:solidFill>
                <a:latin typeface="맑은 고딕"/>
                <a:ea typeface="맑은 고딕"/>
              </a:rPr>
              <a:t>저장</a:t>
            </a:r>
          </a:p>
        </p:txBody>
      </p:sp>
      <p:sp>
        <p:nvSpPr>
          <p:cNvPr id="29" name="Down Arrow 28"/>
          <p:cNvSpPr/>
          <p:nvPr/>
        </p:nvSpPr>
        <p:spPr>
          <a:xfrm>
            <a:off x="1050548" y="5038343"/>
            <a:ext cx="128016" cy="256032"/>
          </a:xfrm>
          <a:prstGeom prst="downArrow">
            <a:avLst/>
          </a:prstGeom>
          <a:solidFill>
            <a:srgbClr val="CCC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429768" y="5330951"/>
            <a:ext cx="1369576" cy="384048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75488" y="5330951"/>
            <a:ext cx="1278136" cy="384048"/>
          </a:xfrm>
          <a:prstGeom prst="rect">
            <a:avLst/>
          </a:prstGeom>
          <a:noFill/>
        </p:spPr>
        <p:txBody>
          <a:bodyPr wrap="square" anchor="ctr" lIns="54864" rIns="54864" tIns="27432" bIns="18288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333333"/>
                </a:solidFill>
                <a:latin typeface="맑은 고딕"/>
                <a:ea typeface="맑은 고딕"/>
              </a:rPr>
              <a:t>companyAdmin 진입 → 전사 전용 안내</a:t>
            </a:r>
          </a:p>
        </p:txBody>
      </p:sp>
      <p:sp>
        <p:nvSpPr>
          <p:cNvPr id="32" name="Down Arrow 31"/>
          <p:cNvSpPr/>
          <p:nvPr/>
        </p:nvSpPr>
        <p:spPr>
          <a:xfrm>
            <a:off x="5872511" y="5038343"/>
            <a:ext cx="128016" cy="256032"/>
          </a:xfrm>
          <a:prstGeom prst="downArrow">
            <a:avLst/>
          </a:prstGeom>
          <a:solidFill>
            <a:srgbClr val="CCC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5251730" y="5330951"/>
            <a:ext cx="1369576" cy="384048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297450" y="5330951"/>
            <a:ext cx="1278136" cy="384048"/>
          </a:xfrm>
          <a:prstGeom prst="rect">
            <a:avLst/>
          </a:prstGeom>
          <a:noFill/>
        </p:spPr>
        <p:txBody>
          <a:bodyPr wrap="square" anchor="ctr" lIns="54864" rIns="54864" tIns="27432" bIns="18288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333333"/>
                </a:solidFill>
                <a:latin typeface="맑은 고딕"/>
                <a:ea typeface="맑은 고딕"/>
              </a:rPr>
              <a:t>삭제 → 노출 끄기 권장 안내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29768" y="5861303"/>
            <a:ext cx="6191539" cy="201168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999999"/>
                </a:solidFill>
                <a:latin typeface="맑은 고딕"/>
                <a:ea typeface="맑은 고딕"/>
              </a:rPr>
              <a:t>설계 근거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48056" y="6080759"/>
            <a:ext cx="6154963" cy="393192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85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850" b="0">
                <a:solidFill>
                  <a:srgbClr val="666666"/>
                </a:solidFill>
                <a:latin typeface="맑은 고딕"/>
                <a:ea typeface="맑은 고딕"/>
              </a:rPr>
              <a:t>소식은 전사 공지 성격이라 라우트+화면 이중 방어로 전사 관리자 전용을 지킨다.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85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850" b="0">
                <a:solidFill>
                  <a:srgbClr val="666666"/>
                </a:solidFill>
                <a:latin typeface="맑은 고딕"/>
                <a:ea typeface="맑은 고딕"/>
              </a:rPr>
              <a:t>삭제 대신 노출 끄기를 권장해 이력 유실을 막는다.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941347" y="1097280"/>
            <a:ext cx="4866299" cy="886392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7051075" y="1133856"/>
            <a:ext cx="4646843" cy="237744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333333"/>
                </a:solidFill>
                <a:latin typeface="맑은 고딕"/>
                <a:ea typeface="맑은 고딕"/>
              </a:rPr>
              <a:t>정의·역할</a:t>
            </a:r>
          </a:p>
        </p:txBody>
      </p:sp>
      <p:cxnSp>
        <p:nvCxnSpPr>
          <p:cNvPr id="39" name="Connector 38"/>
          <p:cNvCxnSpPr/>
          <p:nvPr/>
        </p:nvCxnSpPr>
        <p:spPr>
          <a:xfrm>
            <a:off x="7051075" y="1371600"/>
            <a:ext cx="4646844" cy="0"/>
          </a:xfrm>
          <a:prstGeom prst="line">
            <a:avLst/>
          </a:prstGeom>
          <a:ln w="12700">
            <a:solidFill>
              <a:srgbClr val="EEEEE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0" name="TextBox 39"/>
          <p:cNvSpPr txBox="1"/>
          <p:nvPr/>
        </p:nvSpPr>
        <p:spPr>
          <a:xfrm>
            <a:off x="7069363" y="1408176"/>
            <a:ext cx="4610267" cy="538920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접근: admin 전용 (라우트는 companyAdmin 통과·화면에서 전사 전용 안내)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공지사항·업데이트의 작성·수정·삭제·고정·노출 관리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941347" y="2111688"/>
            <a:ext cx="4866299" cy="670070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7051075" y="2148264"/>
            <a:ext cx="4646843" cy="237744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333333"/>
                </a:solidFill>
                <a:latin typeface="맑은 고딕"/>
                <a:ea typeface="맑은 고딕"/>
              </a:rPr>
              <a:t>목적</a:t>
            </a:r>
          </a:p>
        </p:txBody>
      </p:sp>
      <p:cxnSp>
        <p:nvCxnSpPr>
          <p:cNvPr id="43" name="Connector 42"/>
          <p:cNvCxnSpPr/>
          <p:nvPr/>
        </p:nvCxnSpPr>
        <p:spPr>
          <a:xfrm>
            <a:off x="7051075" y="2386008"/>
            <a:ext cx="4646844" cy="0"/>
          </a:xfrm>
          <a:prstGeom prst="line">
            <a:avLst/>
          </a:prstGeom>
          <a:ln w="12700">
            <a:solidFill>
              <a:srgbClr val="EEEEE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TextBox 43"/>
          <p:cNvSpPr txBox="1"/>
          <p:nvPr/>
        </p:nvSpPr>
        <p:spPr>
          <a:xfrm>
            <a:off x="7069363" y="2422584"/>
            <a:ext cx="4610267" cy="322598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랜딩 최신소식·소식 화면의 콘텐츠 운영</a:t>
            </a:r>
          </a:p>
        </p:txBody>
      </p:sp>
      <p:sp>
        <p:nvSpPr>
          <p:cNvPr id="45" name="Rectangle 44"/>
          <p:cNvSpPr/>
          <p:nvPr/>
        </p:nvSpPr>
        <p:spPr>
          <a:xfrm>
            <a:off x="6941347" y="2909775"/>
            <a:ext cx="4866299" cy="1102714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7051075" y="2946351"/>
            <a:ext cx="4646843" cy="237744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333333"/>
                </a:solidFill>
                <a:latin typeface="맑은 고딕"/>
                <a:ea typeface="맑은 고딕"/>
              </a:rPr>
              <a:t>기획 의도</a:t>
            </a:r>
          </a:p>
        </p:txBody>
      </p:sp>
      <p:cxnSp>
        <p:nvCxnSpPr>
          <p:cNvPr id="47" name="Connector 46"/>
          <p:cNvCxnSpPr/>
          <p:nvPr/>
        </p:nvCxnSpPr>
        <p:spPr>
          <a:xfrm>
            <a:off x="7051075" y="3184095"/>
            <a:ext cx="4646844" cy="0"/>
          </a:xfrm>
          <a:prstGeom prst="line">
            <a:avLst/>
          </a:prstGeom>
          <a:ln w="12700">
            <a:solidFill>
              <a:srgbClr val="EEEEE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8" name="TextBox 47"/>
          <p:cNvSpPr txBox="1"/>
          <p:nvPr/>
        </p:nvSpPr>
        <p:spPr>
          <a:xfrm>
            <a:off x="7069363" y="3220671"/>
            <a:ext cx="4610267" cy="755242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소식은 전사 공지 성격 — 전사 관리자 전용(라우트+화면 이중 방어)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삭제 대신 노출 끄기 권장 — 이력 유실 방지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소식은 알림 미발생(0.10) — 알림은 본인 신청·활동 통지로 한정해 피로도 관리</a:t>
            </a:r>
          </a:p>
        </p:txBody>
      </p:sp>
      <p:sp>
        <p:nvSpPr>
          <p:cNvPr id="49" name="Rectangle 48"/>
          <p:cNvSpPr/>
          <p:nvPr/>
        </p:nvSpPr>
        <p:spPr>
          <a:xfrm>
            <a:off x="6941347" y="4140506"/>
            <a:ext cx="4866299" cy="1102714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7051075" y="4177082"/>
            <a:ext cx="4646843" cy="237744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333333"/>
                </a:solidFill>
                <a:latin typeface="맑은 고딕"/>
                <a:ea typeface="맑은 고딕"/>
              </a:rPr>
              <a:t>지켜야 할 룰</a:t>
            </a:r>
          </a:p>
        </p:txBody>
      </p:sp>
      <p:cxnSp>
        <p:nvCxnSpPr>
          <p:cNvPr id="51" name="Connector 50"/>
          <p:cNvCxnSpPr/>
          <p:nvPr/>
        </p:nvCxnSpPr>
        <p:spPr>
          <a:xfrm>
            <a:off x="7051075" y="4414826"/>
            <a:ext cx="4646844" cy="0"/>
          </a:xfrm>
          <a:prstGeom prst="line">
            <a:avLst/>
          </a:prstGeom>
          <a:ln w="12700">
            <a:solidFill>
              <a:srgbClr val="EEEEE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2" name="TextBox 51"/>
          <p:cNvSpPr txBox="1"/>
          <p:nvPr/>
        </p:nvSpPr>
        <p:spPr>
          <a:xfrm>
            <a:off x="7069363" y="4451402"/>
            <a:ext cx="4610267" cy="755242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게시일 YYYY.MM.DD 형식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고정 소식 상단 우선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노출 꺼진 소식은 사용자 미표시·데이터 유지</a:t>
            </a:r>
          </a:p>
        </p:txBody>
      </p:sp>
      <p:sp>
        <p:nvSpPr>
          <p:cNvPr id="53" name="Rectangle 52"/>
          <p:cNvSpPr/>
          <p:nvPr/>
        </p:nvSpPr>
        <p:spPr>
          <a:xfrm>
            <a:off x="6941347" y="5371237"/>
            <a:ext cx="4866299" cy="1102714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7051075" y="5407813"/>
            <a:ext cx="4646843" cy="237744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333333"/>
                </a:solidFill>
                <a:latin typeface="맑은 고딕"/>
                <a:ea typeface="맑은 고딕"/>
              </a:rPr>
              <a:t>개발 연동 노트</a:t>
            </a:r>
          </a:p>
        </p:txBody>
      </p:sp>
      <p:cxnSp>
        <p:nvCxnSpPr>
          <p:cNvPr id="55" name="Connector 54"/>
          <p:cNvCxnSpPr/>
          <p:nvPr/>
        </p:nvCxnSpPr>
        <p:spPr>
          <a:xfrm>
            <a:off x="7051075" y="5645557"/>
            <a:ext cx="4646844" cy="0"/>
          </a:xfrm>
          <a:prstGeom prst="line">
            <a:avLst/>
          </a:prstGeom>
          <a:ln w="12700">
            <a:solidFill>
              <a:srgbClr val="EEEEE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6" name="TextBox 55"/>
          <p:cNvSpPr txBox="1"/>
          <p:nvPr/>
        </p:nvSpPr>
        <p:spPr>
          <a:xfrm>
            <a:off x="7069363" y="5682133"/>
            <a:ext cx="4610267" cy="755242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getAdminNotices(비노출 포함). 공지 CRUD·고정/노출 토글 API, 소식 ID 서버 발급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공개/관리 조회의 노출 필터 차이 구분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aphicFrame>
        <p:nvGraphicFramePr>
          <p:cNvPr id="2" name="Table 1"/>
          <p:cNvGraphicFramePr>
            <a:graphicFrameLocks noGrp="1"/>
          </p:cNvGraphicFramePr>
          <p:nvPr/>
        </p:nvGraphicFramePr>
        <p:xfrm>
          <a:off x="384048" y="384048"/>
          <a:ext cx="11423599" cy="1042416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371600"/>
                <a:gridCol w="4297680"/>
                <a:gridCol w="1280160"/>
                <a:gridCol w="4474159"/>
              </a:tblGrid>
              <a:tr h="384048">
                <a:tc gridSpan="3"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공지·업데이트 관리</a:t>
                      </a:r>
                    </a:p>
                  </a:txBody>
                  <a:tcPr anchor="ctr" marL="73152" marR="54864" marT="18288" marB="18288">
                    <a:solidFill>
                      <a:srgbClr val="111111"/>
                    </a:solidFill>
                    <a:lnL w="9525" cap="flat">
                      <a:solidFill>
                        <a:srgbClr val="666666"/>
                      </a:solidFill>
                    </a:lnL>
                    <a:lnR w="9525" cap="flat">
                      <a:solidFill>
                        <a:srgbClr val="666666"/>
                      </a:solidFill>
                    </a:lnR>
                    <a:lnT w="9525" cap="flat">
                      <a:solidFill>
                        <a:srgbClr val="666666"/>
                      </a:solidFill>
                    </a:lnT>
                    <a:lnB w="9525" cap="flat">
                      <a:solidFill>
                        <a:srgbClr val="666666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Page 1 / 1</a:t>
                      </a:r>
                    </a:p>
                  </a:txBody>
                  <a:tcPr anchor="ctr" marL="73152" marR="54864" marT="18288" marB="18288">
                    <a:solidFill>
                      <a:srgbClr val="111111"/>
                    </a:solidFill>
                    <a:lnL w="9525" cap="flat">
                      <a:solidFill>
                        <a:srgbClr val="666666"/>
                      </a:solidFill>
                    </a:lnL>
                    <a:lnR w="9525" cap="flat">
                      <a:solidFill>
                        <a:srgbClr val="666666"/>
                      </a:solidFill>
                    </a:lnR>
                    <a:lnT w="9525" cap="flat">
                      <a:solidFill>
                        <a:srgbClr val="666666"/>
                      </a:solidFill>
                    </a:lnT>
                    <a:lnB w="9525" cap="flat">
                      <a:solidFill>
                        <a:srgbClr val="666666"/>
                      </a:solidFill>
                    </a:lnB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</a:rPr>
                        <a:t>Page Title</a:t>
                      </a:r>
                    </a:p>
                  </a:txBody>
                  <a:tcPr anchor="ctr" marL="73152" marR="54864" marT="18288" marB="18288">
                    <a:solidFill>
                      <a:srgbClr val="EEEEEE"/>
                    </a:solidFill>
                    <a:lnL w="9525" cap="flat">
                      <a:solidFill>
                        <a:srgbClr val="666666"/>
                      </a:solidFill>
                    </a:lnL>
                    <a:lnR w="9525" cap="flat">
                      <a:solidFill>
                        <a:srgbClr val="666666"/>
                      </a:solidFill>
                    </a:lnR>
                    <a:lnT w="9525" cap="flat">
                      <a:solidFill>
                        <a:srgbClr val="666666"/>
                      </a:solidFill>
                    </a:lnT>
                    <a:lnB w="9525" cap="flat">
                      <a:solidFill>
                        <a:srgbClr val="666666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111111"/>
                          </a:solidFill>
                          <a:latin typeface="맑은 고딕"/>
                          <a:ea typeface="맑은 고딕"/>
                        </a:rPr>
                        <a:t>공지 관리</a:t>
                      </a:r>
                    </a:p>
                  </a:txBody>
                  <a:tcPr anchor="ctr" marL="73152" marR="54864" marT="18288" marB="18288">
                    <a:solidFill>
                      <a:srgbClr val="FFFFFF"/>
                    </a:solidFill>
                    <a:lnL w="9525" cap="flat">
                      <a:solidFill>
                        <a:srgbClr val="666666"/>
                      </a:solidFill>
                    </a:lnL>
                    <a:lnR w="9525" cap="flat">
                      <a:solidFill>
                        <a:srgbClr val="666666"/>
                      </a:solidFill>
                    </a:lnR>
                    <a:lnT w="9525" cap="flat">
                      <a:solidFill>
                        <a:srgbClr val="666666"/>
                      </a:solidFill>
                    </a:lnT>
                    <a:lnB w="9525" cap="flat">
                      <a:solidFill>
                        <a:srgbClr val="666666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</a:rPr>
                        <a:t>Screen ID</a:t>
                      </a:r>
                    </a:p>
                  </a:txBody>
                  <a:tcPr anchor="ctr" marL="73152" marR="54864" marT="18288" marB="18288">
                    <a:solidFill>
                      <a:srgbClr val="EEEEEE"/>
                    </a:solidFill>
                    <a:lnL w="9525" cap="flat">
                      <a:solidFill>
                        <a:srgbClr val="666666"/>
                      </a:solidFill>
                    </a:lnL>
                    <a:lnR w="9525" cap="flat">
                      <a:solidFill>
                        <a:srgbClr val="666666"/>
                      </a:solidFill>
                    </a:lnR>
                    <a:lnT w="9525" cap="flat">
                      <a:solidFill>
                        <a:srgbClr val="666666"/>
                      </a:solidFill>
                    </a:lnT>
                    <a:lnB w="9525" cap="flat">
                      <a:solidFill>
                        <a:srgbClr val="666666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111111"/>
                          </a:solidFill>
                          <a:latin typeface="맑은 고딕"/>
                          <a:ea typeface="맑은 고딕"/>
                        </a:rPr>
                        <a:t>ADM-09</a:t>
                      </a:r>
                    </a:p>
                  </a:txBody>
                  <a:tcPr anchor="ctr" marL="73152" marR="54864" marT="18288" marB="18288">
                    <a:solidFill>
                      <a:srgbClr val="FFFFFF"/>
                    </a:solidFill>
                    <a:lnL w="9525" cap="flat">
                      <a:solidFill>
                        <a:srgbClr val="666666"/>
                      </a:solidFill>
                    </a:lnL>
                    <a:lnR w="9525" cap="flat">
                      <a:solidFill>
                        <a:srgbClr val="666666"/>
                      </a:solidFill>
                    </a:lnR>
                    <a:lnT w="9525" cap="flat">
                      <a:solidFill>
                        <a:srgbClr val="666666"/>
                      </a:solidFill>
                    </a:lnT>
                    <a:lnB w="9525" cap="flat">
                      <a:solidFill>
                        <a:srgbClr val="666666"/>
                      </a:solidFill>
                    </a:lnB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</a:rPr>
                        <a:t>Screen Path</a:t>
                      </a:r>
                    </a:p>
                  </a:txBody>
                  <a:tcPr anchor="ctr" marL="73152" marR="54864" marT="18288" marB="18288">
                    <a:solidFill>
                      <a:srgbClr val="EEEEEE"/>
                    </a:solidFill>
                    <a:lnL w="9525" cap="flat">
                      <a:solidFill>
                        <a:srgbClr val="666666"/>
                      </a:solidFill>
                    </a:lnL>
                    <a:lnR w="9525" cap="flat">
                      <a:solidFill>
                        <a:srgbClr val="666666"/>
                      </a:solidFill>
                    </a:lnR>
                    <a:lnT w="9525" cap="flat">
                      <a:solidFill>
                        <a:srgbClr val="666666"/>
                      </a:solidFill>
                    </a:lnT>
                    <a:lnB w="9525" cap="flat">
                      <a:solidFill>
                        <a:srgbClr val="666666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</a:rPr>
                        <a:t>/admin/notices  (admin 전용 · 라우트는 companyAdmin 통과)</a:t>
                      </a:r>
                    </a:p>
                  </a:txBody>
                  <a:tcPr anchor="ctr" marL="73152" marR="54864" marT="18288" marB="18288">
                    <a:solidFill>
                      <a:srgbClr val="FFFFFF"/>
                    </a:solidFill>
                    <a:lnL w="9525" cap="flat">
                      <a:solidFill>
                        <a:srgbClr val="666666"/>
                      </a:solidFill>
                    </a:lnL>
                    <a:lnR w="9525" cap="flat">
                      <a:solidFill>
                        <a:srgbClr val="666666"/>
                      </a:solidFill>
                    </a:lnR>
                    <a:lnT w="9525" cap="flat">
                      <a:solidFill>
                        <a:srgbClr val="666666"/>
                      </a:solidFill>
                    </a:lnT>
                    <a:lnB w="9525" cap="flat">
                      <a:solidFill>
                        <a:srgbClr val="666666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</a:rPr>
                        <a:t>작성자</a:t>
                      </a:r>
                    </a:p>
                  </a:txBody>
                  <a:tcPr anchor="ctr" marL="73152" marR="54864" marT="18288" marB="18288">
                    <a:solidFill>
                      <a:srgbClr val="EEEEEE"/>
                    </a:solidFill>
                    <a:lnL w="9525" cap="flat">
                      <a:solidFill>
                        <a:srgbClr val="666666"/>
                      </a:solidFill>
                    </a:lnL>
                    <a:lnR w="9525" cap="flat">
                      <a:solidFill>
                        <a:srgbClr val="666666"/>
                      </a:solidFill>
                    </a:lnR>
                    <a:lnT w="9525" cap="flat">
                      <a:solidFill>
                        <a:srgbClr val="666666"/>
                      </a:solidFill>
                    </a:lnT>
                    <a:lnB w="9525" cap="flat">
                      <a:solidFill>
                        <a:srgbClr val="666666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11111"/>
                          </a:solidFill>
                          <a:latin typeface="맑은 고딕"/>
                          <a:ea typeface="맑은 고딕"/>
                        </a:rPr>
                        <a:t>배상혁</a:t>
                      </a:r>
                    </a:p>
                  </a:txBody>
                  <a:tcPr anchor="ctr" marL="73152" marR="54864" marT="18288" marB="18288">
                    <a:solidFill>
                      <a:srgbClr val="FFFFFF"/>
                    </a:solidFill>
                    <a:lnL w="9525" cap="flat">
                      <a:solidFill>
                        <a:srgbClr val="666666"/>
                      </a:solidFill>
                    </a:lnL>
                    <a:lnR w="9525" cap="flat">
                      <a:solidFill>
                        <a:srgbClr val="666666"/>
                      </a:solidFill>
                    </a:lnR>
                    <a:lnT w="9525" cap="flat">
                      <a:solidFill>
                        <a:srgbClr val="666666"/>
                      </a:solidFill>
                    </a:lnT>
                    <a:lnB w="9525" cap="flat">
                      <a:solidFill>
                        <a:srgbClr val="666666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3" name="Rectangle 2"/>
          <p:cNvSpPr/>
          <p:nvPr/>
        </p:nvSpPr>
        <p:spPr>
          <a:xfrm>
            <a:off x="384048" y="1572767"/>
            <a:ext cx="5166360" cy="4901184"/>
          </a:xfrm>
          <a:prstGeom prst="rect">
            <a:avLst/>
          </a:prstGeom>
          <a:solidFill>
            <a:srgbClr val="FFFFFF"/>
          </a:solidFill>
          <a:ln w="3048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84048" y="1572767"/>
            <a:ext cx="5166360" cy="146304"/>
          </a:xfrm>
          <a:prstGeom prst="rect">
            <a:avLst/>
          </a:prstGeom>
          <a:solidFill>
            <a:srgbClr val="F7F7F7"/>
          </a:solidFill>
          <a:ln w="3048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484632" y="1623059"/>
            <a:ext cx="45720" cy="45720"/>
          </a:xfrm>
          <a:prstGeom prst="ellipse">
            <a:avLst/>
          </a:prstGeom>
          <a:solidFill>
            <a:srgbClr val="CCC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585216" y="1623059"/>
            <a:ext cx="45720" cy="45720"/>
          </a:xfrm>
          <a:prstGeom prst="ellipse">
            <a:avLst/>
          </a:prstGeom>
          <a:solidFill>
            <a:srgbClr val="CCC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685800" y="1623059"/>
            <a:ext cx="45720" cy="45720"/>
          </a:xfrm>
          <a:prstGeom prst="ellipse">
            <a:avLst/>
          </a:prstGeom>
          <a:solidFill>
            <a:srgbClr val="CCC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12064" y="1847087"/>
            <a:ext cx="4910328" cy="256032"/>
          </a:xfrm>
          <a:prstGeom prst="rect">
            <a:avLst/>
          </a:prstGeom>
          <a:solidFill>
            <a:srgbClr val="F7F7F7"/>
          </a:solidFill>
          <a:ln w="1651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585216" y="1911095"/>
            <a:ext cx="658368" cy="12801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5166359" y="1883663"/>
            <a:ext cx="182880" cy="182880"/>
          </a:xfrm>
          <a:prstGeom prst="ellipse">
            <a:avLst/>
          </a:prstGeom>
          <a:solidFill>
            <a:srgbClr val="FFFFFF"/>
          </a:solidFill>
          <a:ln w="1524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12064" y="2157983"/>
            <a:ext cx="914400" cy="4187952"/>
          </a:xfrm>
          <a:prstGeom prst="rect">
            <a:avLst/>
          </a:prstGeom>
          <a:solidFill>
            <a:srgbClr val="F7F7F7"/>
          </a:solidFill>
          <a:ln w="1651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594360" y="2267711"/>
            <a:ext cx="749808" cy="14630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594360" y="2542031"/>
            <a:ext cx="749808" cy="14630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594360" y="2816351"/>
            <a:ext cx="749808" cy="14630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594360" y="3090671"/>
            <a:ext cx="749808" cy="14630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594360" y="3364991"/>
            <a:ext cx="749808" cy="14630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594360" y="3639311"/>
            <a:ext cx="749808" cy="14630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594360" y="3913631"/>
            <a:ext cx="749808" cy="14630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594360" y="4187952"/>
            <a:ext cx="749808" cy="14630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594360" y="4462271"/>
            <a:ext cx="749808" cy="14630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170432" y="2532887"/>
            <a:ext cx="128016" cy="128016"/>
          </a:xfrm>
          <a:prstGeom prst="ellipse">
            <a:avLst/>
          </a:prstGeom>
          <a:solidFill>
            <a:srgbClr val="FFFFFF"/>
          </a:solidFill>
          <a:ln w="1524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2" name="Connector 21"/>
          <p:cNvCxnSpPr/>
          <p:nvPr/>
        </p:nvCxnSpPr>
        <p:spPr>
          <a:xfrm>
            <a:off x="1572768" y="2304287"/>
            <a:ext cx="349965" cy="0"/>
          </a:xfrm>
          <a:prstGeom prst="line">
            <a:avLst/>
          </a:prstGeom>
          <a:ln w="22860">
            <a:solidFill>
              <a:srgbClr val="6666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Rounded Rectangle 22"/>
          <p:cNvSpPr/>
          <p:nvPr/>
        </p:nvSpPr>
        <p:spPr>
          <a:xfrm>
            <a:off x="1972194" y="2194559"/>
            <a:ext cx="475488" cy="219456"/>
          </a:xfrm>
          <a:prstGeom prst="roundRect">
            <a:avLst/>
          </a:prstGeom>
          <a:solidFill>
            <a:srgbClr val="F7F7F7"/>
          </a:solidFill>
          <a:ln w="1524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1572768" y="2505455"/>
            <a:ext cx="261158" cy="16459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1879646" y="2505455"/>
            <a:ext cx="261158" cy="16459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2186524" y="2505455"/>
            <a:ext cx="261158" cy="16459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1572768" y="2761487"/>
            <a:ext cx="874914" cy="512064"/>
          </a:xfrm>
          <a:prstGeom prst="rect">
            <a:avLst/>
          </a:prstGeom>
          <a:solidFill>
            <a:srgbClr val="FFFFFF"/>
          </a:solidFill>
          <a:ln w="1524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1618488" y="2816351"/>
            <a:ext cx="237744" cy="10972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1883664" y="2816351"/>
            <a:ext cx="201168" cy="10972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0" name="Connector 29"/>
          <p:cNvCxnSpPr/>
          <p:nvPr/>
        </p:nvCxnSpPr>
        <p:spPr>
          <a:xfrm>
            <a:off x="1618488" y="3035807"/>
            <a:ext cx="728610" cy="0"/>
          </a:xfrm>
          <a:prstGeom prst="line">
            <a:avLst/>
          </a:prstGeom>
          <a:ln w="13970">
            <a:solidFill>
              <a:srgbClr val="6666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1618488" y="3163823"/>
            <a:ext cx="384962" cy="0"/>
          </a:xfrm>
          <a:prstGeom prst="line">
            <a:avLst/>
          </a:prstGeom>
          <a:ln w="13970">
            <a:solidFill>
              <a:srgbClr val="6666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Rectangle 31"/>
          <p:cNvSpPr/>
          <p:nvPr/>
        </p:nvSpPr>
        <p:spPr>
          <a:xfrm>
            <a:off x="1572768" y="3328415"/>
            <a:ext cx="874914" cy="512064"/>
          </a:xfrm>
          <a:prstGeom prst="rect">
            <a:avLst/>
          </a:prstGeom>
          <a:solidFill>
            <a:srgbClr val="FFFFFF"/>
          </a:solidFill>
          <a:ln w="1524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1618488" y="3383279"/>
            <a:ext cx="237744" cy="10972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ounded Rectangle 33"/>
          <p:cNvSpPr/>
          <p:nvPr/>
        </p:nvSpPr>
        <p:spPr>
          <a:xfrm>
            <a:off x="1883664" y="3383279"/>
            <a:ext cx="201168" cy="10972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5" name="Connector 34"/>
          <p:cNvCxnSpPr/>
          <p:nvPr/>
        </p:nvCxnSpPr>
        <p:spPr>
          <a:xfrm>
            <a:off x="1618488" y="3602735"/>
            <a:ext cx="728610" cy="0"/>
          </a:xfrm>
          <a:prstGeom prst="line">
            <a:avLst/>
          </a:prstGeom>
          <a:ln w="13970">
            <a:solidFill>
              <a:srgbClr val="6666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>
            <a:off x="1618488" y="3730752"/>
            <a:ext cx="384962" cy="0"/>
          </a:xfrm>
          <a:prstGeom prst="line">
            <a:avLst/>
          </a:prstGeom>
          <a:ln w="13970">
            <a:solidFill>
              <a:srgbClr val="6666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Rectangle 36"/>
          <p:cNvSpPr/>
          <p:nvPr/>
        </p:nvSpPr>
        <p:spPr>
          <a:xfrm>
            <a:off x="1572768" y="3895344"/>
            <a:ext cx="874914" cy="512064"/>
          </a:xfrm>
          <a:prstGeom prst="rect">
            <a:avLst/>
          </a:prstGeom>
          <a:solidFill>
            <a:srgbClr val="FFFFFF"/>
          </a:solidFill>
          <a:ln w="1524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ounded Rectangle 37"/>
          <p:cNvSpPr/>
          <p:nvPr/>
        </p:nvSpPr>
        <p:spPr>
          <a:xfrm>
            <a:off x="1618488" y="3950207"/>
            <a:ext cx="237744" cy="10972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ounded Rectangle 38"/>
          <p:cNvSpPr/>
          <p:nvPr/>
        </p:nvSpPr>
        <p:spPr>
          <a:xfrm>
            <a:off x="1883664" y="3950207"/>
            <a:ext cx="201168" cy="10972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0" name="Connector 39"/>
          <p:cNvCxnSpPr/>
          <p:nvPr/>
        </p:nvCxnSpPr>
        <p:spPr>
          <a:xfrm>
            <a:off x="1618488" y="4169663"/>
            <a:ext cx="728610" cy="0"/>
          </a:xfrm>
          <a:prstGeom prst="line">
            <a:avLst/>
          </a:prstGeom>
          <a:ln w="13970">
            <a:solidFill>
              <a:srgbClr val="6666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Connector 40"/>
          <p:cNvCxnSpPr/>
          <p:nvPr/>
        </p:nvCxnSpPr>
        <p:spPr>
          <a:xfrm>
            <a:off x="1618488" y="4297680"/>
            <a:ext cx="384962" cy="0"/>
          </a:xfrm>
          <a:prstGeom prst="line">
            <a:avLst/>
          </a:prstGeom>
          <a:ln w="13970">
            <a:solidFill>
              <a:srgbClr val="6666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2" name="Rectangle 41"/>
          <p:cNvSpPr/>
          <p:nvPr/>
        </p:nvSpPr>
        <p:spPr>
          <a:xfrm>
            <a:off x="1572768" y="4462271"/>
            <a:ext cx="874914" cy="512064"/>
          </a:xfrm>
          <a:prstGeom prst="rect">
            <a:avLst/>
          </a:prstGeom>
          <a:solidFill>
            <a:srgbClr val="FFFFFF"/>
          </a:solidFill>
          <a:ln w="1524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ounded Rectangle 42"/>
          <p:cNvSpPr/>
          <p:nvPr/>
        </p:nvSpPr>
        <p:spPr>
          <a:xfrm>
            <a:off x="1618488" y="4517135"/>
            <a:ext cx="237744" cy="10972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ounded Rectangle 43"/>
          <p:cNvSpPr/>
          <p:nvPr/>
        </p:nvSpPr>
        <p:spPr>
          <a:xfrm>
            <a:off x="1883664" y="4517135"/>
            <a:ext cx="201168" cy="10972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5" name="Connector 44"/>
          <p:cNvCxnSpPr/>
          <p:nvPr/>
        </p:nvCxnSpPr>
        <p:spPr>
          <a:xfrm>
            <a:off x="1618488" y="4736591"/>
            <a:ext cx="728610" cy="0"/>
          </a:xfrm>
          <a:prstGeom prst="line">
            <a:avLst/>
          </a:prstGeom>
          <a:ln w="13970">
            <a:solidFill>
              <a:srgbClr val="6666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Connector 45"/>
          <p:cNvCxnSpPr/>
          <p:nvPr/>
        </p:nvCxnSpPr>
        <p:spPr>
          <a:xfrm>
            <a:off x="1618488" y="4864607"/>
            <a:ext cx="384962" cy="0"/>
          </a:xfrm>
          <a:prstGeom prst="line">
            <a:avLst/>
          </a:prstGeom>
          <a:ln w="13970">
            <a:solidFill>
              <a:srgbClr val="6666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7" name="Oval 46"/>
          <p:cNvSpPr/>
          <p:nvPr/>
        </p:nvSpPr>
        <p:spPr>
          <a:xfrm>
            <a:off x="1554480" y="2176271"/>
            <a:ext cx="237744" cy="237744"/>
          </a:xfrm>
          <a:prstGeom prst="ellipse">
            <a:avLst/>
          </a:prstGeom>
          <a:solidFill>
            <a:srgbClr val="DC2626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1</a:t>
            </a:r>
          </a:p>
        </p:txBody>
      </p:sp>
      <p:cxnSp>
        <p:nvCxnSpPr>
          <p:cNvPr id="48" name="Connector 47"/>
          <p:cNvCxnSpPr/>
          <p:nvPr/>
        </p:nvCxnSpPr>
        <p:spPr>
          <a:xfrm>
            <a:off x="4416552" y="2285999"/>
            <a:ext cx="1005840" cy="0"/>
          </a:xfrm>
          <a:prstGeom prst="line">
            <a:avLst/>
          </a:prstGeom>
          <a:ln w="13970">
            <a:solidFill>
              <a:srgbClr val="6666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9" name="Oval 48"/>
          <p:cNvSpPr/>
          <p:nvPr/>
        </p:nvSpPr>
        <p:spPr>
          <a:xfrm>
            <a:off x="4142232" y="2176271"/>
            <a:ext cx="237744" cy="237744"/>
          </a:xfrm>
          <a:prstGeom prst="ellipse">
            <a:avLst/>
          </a:prstGeom>
          <a:solidFill>
            <a:srgbClr val="DC2626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5</a:t>
            </a:r>
          </a:p>
        </p:txBody>
      </p:sp>
      <p:cxnSp>
        <p:nvCxnSpPr>
          <p:cNvPr id="50" name="Connector 49"/>
          <p:cNvCxnSpPr/>
          <p:nvPr/>
        </p:nvCxnSpPr>
        <p:spPr>
          <a:xfrm>
            <a:off x="2593986" y="2633471"/>
            <a:ext cx="791954" cy="0"/>
          </a:xfrm>
          <a:prstGeom prst="line">
            <a:avLst/>
          </a:prstGeom>
          <a:ln w="22860">
            <a:solidFill>
              <a:srgbClr val="6666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1" name="Rounded Rectangle 50"/>
          <p:cNvSpPr/>
          <p:nvPr/>
        </p:nvSpPr>
        <p:spPr>
          <a:xfrm>
            <a:off x="4288536" y="2505455"/>
            <a:ext cx="548640" cy="237744"/>
          </a:xfrm>
          <a:prstGeom prst="roundRect">
            <a:avLst/>
          </a:prstGeom>
          <a:solidFill>
            <a:srgbClr val="F7F7F7"/>
          </a:solidFill>
          <a:ln w="1524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ounded Rectangle 51"/>
          <p:cNvSpPr/>
          <p:nvPr/>
        </p:nvSpPr>
        <p:spPr>
          <a:xfrm>
            <a:off x="4873752" y="2505455"/>
            <a:ext cx="548640" cy="237744"/>
          </a:xfrm>
          <a:prstGeom prst="roundRect">
            <a:avLst/>
          </a:prstGeom>
          <a:solidFill>
            <a:srgbClr val="F7F7F7"/>
          </a:solidFill>
          <a:ln w="1524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Oval 52"/>
          <p:cNvSpPr/>
          <p:nvPr/>
        </p:nvSpPr>
        <p:spPr>
          <a:xfrm>
            <a:off x="4270248" y="2487167"/>
            <a:ext cx="237744" cy="237744"/>
          </a:xfrm>
          <a:prstGeom prst="ellipse">
            <a:avLst/>
          </a:prstGeom>
          <a:solidFill>
            <a:srgbClr val="DC2626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4</a:t>
            </a:r>
          </a:p>
        </p:txBody>
      </p:sp>
      <p:sp>
        <p:nvSpPr>
          <p:cNvPr id="54" name="Rectangle 53"/>
          <p:cNvSpPr/>
          <p:nvPr/>
        </p:nvSpPr>
        <p:spPr>
          <a:xfrm>
            <a:off x="2593986" y="2852927"/>
            <a:ext cx="2828405" cy="2377440"/>
          </a:xfrm>
          <a:prstGeom prst="rect">
            <a:avLst/>
          </a:prstGeom>
          <a:solidFill>
            <a:srgbClr val="FFFFFF"/>
          </a:solidFill>
          <a:ln w="1651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ounded Rectangle 54"/>
          <p:cNvSpPr/>
          <p:nvPr/>
        </p:nvSpPr>
        <p:spPr>
          <a:xfrm>
            <a:off x="2694570" y="2980943"/>
            <a:ext cx="548640" cy="2011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ounded Rectangle 55"/>
          <p:cNvSpPr/>
          <p:nvPr/>
        </p:nvSpPr>
        <p:spPr>
          <a:xfrm>
            <a:off x="3279786" y="2980943"/>
            <a:ext cx="548640" cy="2011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2694570" y="3291839"/>
            <a:ext cx="2627237" cy="201168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8" name="Connector 57"/>
          <p:cNvCxnSpPr/>
          <p:nvPr/>
        </p:nvCxnSpPr>
        <p:spPr>
          <a:xfrm>
            <a:off x="2694570" y="3493007"/>
            <a:ext cx="2627237" cy="0"/>
          </a:xfrm>
          <a:prstGeom prst="line">
            <a:avLst/>
          </a:prstGeom>
          <a:ln w="22860">
            <a:solidFill>
              <a:srgbClr val="33333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9" name="Rectangle 58"/>
          <p:cNvSpPr/>
          <p:nvPr/>
        </p:nvSpPr>
        <p:spPr>
          <a:xfrm>
            <a:off x="2694570" y="3584447"/>
            <a:ext cx="2627237" cy="1225296"/>
          </a:xfrm>
          <a:prstGeom prst="rect">
            <a:avLst/>
          </a:prstGeom>
          <a:solidFill>
            <a:srgbClr val="F7F7F7"/>
          </a:solidFill>
          <a:ln w="1397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0" name="Connector 59"/>
          <p:cNvCxnSpPr/>
          <p:nvPr/>
        </p:nvCxnSpPr>
        <p:spPr>
          <a:xfrm>
            <a:off x="2786010" y="3712463"/>
            <a:ext cx="2444357" cy="0"/>
          </a:xfrm>
          <a:prstGeom prst="line">
            <a:avLst/>
          </a:prstGeom>
          <a:ln w="13970">
            <a:solidFill>
              <a:srgbClr val="6666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" name="Connector 60"/>
          <p:cNvCxnSpPr/>
          <p:nvPr/>
        </p:nvCxnSpPr>
        <p:spPr>
          <a:xfrm>
            <a:off x="2786010" y="3877055"/>
            <a:ext cx="2444357" cy="0"/>
          </a:xfrm>
          <a:prstGeom prst="line">
            <a:avLst/>
          </a:prstGeom>
          <a:ln w="13970">
            <a:solidFill>
              <a:srgbClr val="6666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2" name="Connector 61"/>
          <p:cNvCxnSpPr/>
          <p:nvPr/>
        </p:nvCxnSpPr>
        <p:spPr>
          <a:xfrm>
            <a:off x="2786010" y="4041647"/>
            <a:ext cx="2444357" cy="0"/>
          </a:xfrm>
          <a:prstGeom prst="line">
            <a:avLst/>
          </a:prstGeom>
          <a:ln w="13970">
            <a:solidFill>
              <a:srgbClr val="6666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3" name="Connector 62"/>
          <p:cNvCxnSpPr/>
          <p:nvPr/>
        </p:nvCxnSpPr>
        <p:spPr>
          <a:xfrm>
            <a:off x="2786010" y="4206239"/>
            <a:ext cx="2444357" cy="0"/>
          </a:xfrm>
          <a:prstGeom prst="line">
            <a:avLst/>
          </a:prstGeom>
          <a:ln w="13970">
            <a:solidFill>
              <a:srgbClr val="6666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" name="Connector 63"/>
          <p:cNvCxnSpPr/>
          <p:nvPr/>
        </p:nvCxnSpPr>
        <p:spPr>
          <a:xfrm>
            <a:off x="2786010" y="4370831"/>
            <a:ext cx="2444357" cy="0"/>
          </a:xfrm>
          <a:prstGeom prst="line">
            <a:avLst/>
          </a:prstGeom>
          <a:ln w="13970">
            <a:solidFill>
              <a:srgbClr val="6666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" name="Connector 64"/>
          <p:cNvCxnSpPr/>
          <p:nvPr/>
        </p:nvCxnSpPr>
        <p:spPr>
          <a:xfrm>
            <a:off x="2786010" y="4535423"/>
            <a:ext cx="1515502" cy="0"/>
          </a:xfrm>
          <a:prstGeom prst="line">
            <a:avLst/>
          </a:prstGeom>
          <a:ln w="13970">
            <a:solidFill>
              <a:srgbClr val="6666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6" name="Rectangle 65"/>
          <p:cNvSpPr/>
          <p:nvPr/>
        </p:nvSpPr>
        <p:spPr>
          <a:xfrm>
            <a:off x="2694570" y="4919471"/>
            <a:ext cx="1187930" cy="182880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7" name="Connector 66"/>
          <p:cNvCxnSpPr/>
          <p:nvPr/>
        </p:nvCxnSpPr>
        <p:spPr>
          <a:xfrm>
            <a:off x="2694570" y="5102351"/>
            <a:ext cx="1187930" cy="0"/>
          </a:xfrm>
          <a:prstGeom prst="line">
            <a:avLst/>
          </a:prstGeom>
          <a:ln w="22860">
            <a:solidFill>
              <a:srgbClr val="33333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8" name="Oval 67"/>
          <p:cNvSpPr/>
          <p:nvPr/>
        </p:nvSpPr>
        <p:spPr>
          <a:xfrm>
            <a:off x="2575698" y="2834639"/>
            <a:ext cx="237744" cy="237744"/>
          </a:xfrm>
          <a:prstGeom prst="ellipse">
            <a:avLst/>
          </a:prstGeom>
          <a:solidFill>
            <a:srgbClr val="DC2626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2</a:t>
            </a:r>
          </a:p>
        </p:txBody>
      </p:sp>
      <p:sp>
        <p:nvSpPr>
          <p:cNvPr id="69" name="Rectangle 68"/>
          <p:cNvSpPr/>
          <p:nvPr/>
        </p:nvSpPr>
        <p:spPr>
          <a:xfrm>
            <a:off x="2593986" y="5340095"/>
            <a:ext cx="2828405" cy="859536"/>
          </a:xfrm>
          <a:prstGeom prst="rect">
            <a:avLst/>
          </a:prstGeom>
          <a:solidFill>
            <a:srgbClr val="F7F7F7"/>
          </a:solidFill>
          <a:ln w="1651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0" name="Connector 69"/>
          <p:cNvCxnSpPr/>
          <p:nvPr/>
        </p:nvCxnSpPr>
        <p:spPr>
          <a:xfrm>
            <a:off x="2694570" y="5486399"/>
            <a:ext cx="678817" cy="0"/>
          </a:xfrm>
          <a:prstGeom prst="line">
            <a:avLst/>
          </a:prstGeom>
          <a:ln w="20320">
            <a:solidFill>
              <a:srgbClr val="6666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1" name="Connector 70"/>
          <p:cNvCxnSpPr/>
          <p:nvPr/>
        </p:nvCxnSpPr>
        <p:spPr>
          <a:xfrm>
            <a:off x="2694570" y="5760719"/>
            <a:ext cx="961658" cy="0"/>
          </a:xfrm>
          <a:prstGeom prst="line">
            <a:avLst/>
          </a:prstGeom>
          <a:ln w="13970">
            <a:solidFill>
              <a:srgbClr val="6666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2" name="Rounded Rectangle 71"/>
          <p:cNvSpPr/>
          <p:nvPr/>
        </p:nvSpPr>
        <p:spPr>
          <a:xfrm>
            <a:off x="4956047" y="5669279"/>
            <a:ext cx="365760" cy="1828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Oval 72"/>
          <p:cNvSpPr/>
          <p:nvPr/>
        </p:nvSpPr>
        <p:spPr>
          <a:xfrm>
            <a:off x="5157215" y="5687567"/>
            <a:ext cx="146304" cy="146304"/>
          </a:xfrm>
          <a:prstGeom prst="ellipse">
            <a:avLst/>
          </a:prstGeom>
          <a:solidFill>
            <a:srgbClr val="FFFFFF"/>
          </a:solidFill>
          <a:ln w="1524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4" name="Connector 73"/>
          <p:cNvCxnSpPr/>
          <p:nvPr/>
        </p:nvCxnSpPr>
        <p:spPr>
          <a:xfrm>
            <a:off x="2694570" y="6016751"/>
            <a:ext cx="961658" cy="0"/>
          </a:xfrm>
          <a:prstGeom prst="line">
            <a:avLst/>
          </a:prstGeom>
          <a:ln w="13970">
            <a:solidFill>
              <a:srgbClr val="6666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5" name="Rounded Rectangle 74"/>
          <p:cNvSpPr/>
          <p:nvPr/>
        </p:nvSpPr>
        <p:spPr>
          <a:xfrm>
            <a:off x="4956047" y="5925311"/>
            <a:ext cx="365760" cy="1828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Oval 75"/>
          <p:cNvSpPr/>
          <p:nvPr/>
        </p:nvSpPr>
        <p:spPr>
          <a:xfrm>
            <a:off x="5157215" y="5943599"/>
            <a:ext cx="146304" cy="146304"/>
          </a:xfrm>
          <a:prstGeom prst="ellipse">
            <a:avLst/>
          </a:prstGeom>
          <a:solidFill>
            <a:srgbClr val="FFFFFF"/>
          </a:solidFill>
          <a:ln w="1524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Oval 76"/>
          <p:cNvSpPr/>
          <p:nvPr/>
        </p:nvSpPr>
        <p:spPr>
          <a:xfrm>
            <a:off x="2575698" y="5321807"/>
            <a:ext cx="237744" cy="237744"/>
          </a:xfrm>
          <a:prstGeom prst="ellipse">
            <a:avLst/>
          </a:prstGeom>
          <a:solidFill>
            <a:srgbClr val="DC2626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3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5824728" y="1572767"/>
            <a:ext cx="5982919" cy="256032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111111"/>
                </a:solidFill>
                <a:latin typeface="맑은 고딕"/>
                <a:ea typeface="맑은 고딕"/>
              </a:rPr>
              <a:t>Description</a:t>
            </a:r>
          </a:p>
        </p:txBody>
      </p:sp>
      <p:sp>
        <p:nvSpPr>
          <p:cNvPr id="79" name="Oval 78"/>
          <p:cNvSpPr/>
          <p:nvPr/>
        </p:nvSpPr>
        <p:spPr>
          <a:xfrm>
            <a:off x="5824728" y="1929383"/>
            <a:ext cx="219456" cy="219456"/>
          </a:xfrm>
          <a:prstGeom prst="ellipse">
            <a:avLst/>
          </a:prstGeom>
          <a:solidFill>
            <a:srgbClr val="DC2626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1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6135624" y="1901951"/>
            <a:ext cx="5672023" cy="667877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100"/>
              </a:spcAft>
            </a:pPr>
            <a:r>
              <a:rPr sz="950" b="1">
                <a:solidFill>
                  <a:srgbClr val="111111"/>
                </a:solidFill>
                <a:latin typeface="맑은 고딕"/>
                <a:ea typeface="맑은 고딕"/>
              </a:rPr>
              <a:t>소식 목록 </a:t>
            </a:r>
            <a:r>
              <a:rPr sz="950" b="0">
                <a:solidFill>
                  <a:srgbClr val="999999"/>
                </a:solidFill>
                <a:latin typeface="맑은 고딕"/>
                <a:ea typeface="맑은 고딕"/>
              </a:rPr>
              <a:t>—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작성 버튼·종류 필터[전체/공지사항/업데이트]·행: 종류 뱃지·고정/숨김 뱃지·제목·날짜·더보기</a:t>
            </a:r>
          </a:p>
        </p:txBody>
      </p:sp>
      <p:cxnSp>
        <p:nvCxnSpPr>
          <p:cNvPr id="81" name="Connector 80"/>
          <p:cNvCxnSpPr/>
          <p:nvPr/>
        </p:nvCxnSpPr>
        <p:spPr>
          <a:xfrm>
            <a:off x="5824728" y="2551541"/>
            <a:ext cx="5982919" cy="0"/>
          </a:xfrm>
          <a:prstGeom prst="line">
            <a:avLst/>
          </a:prstGeom>
          <a:ln w="9525">
            <a:solidFill>
              <a:srgbClr val="EEEEE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2" name="Oval 81"/>
          <p:cNvSpPr/>
          <p:nvPr/>
        </p:nvSpPr>
        <p:spPr>
          <a:xfrm>
            <a:off x="5824728" y="2597261"/>
            <a:ext cx="219456" cy="219456"/>
          </a:xfrm>
          <a:prstGeom prst="ellipse">
            <a:avLst/>
          </a:prstGeom>
          <a:solidFill>
            <a:srgbClr val="DC2626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2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6135624" y="2569829"/>
            <a:ext cx="5672023" cy="667877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100"/>
              </a:spcAft>
            </a:pPr>
            <a:r>
              <a:rPr sz="950" b="1">
                <a:solidFill>
                  <a:srgbClr val="111111"/>
                </a:solidFill>
                <a:latin typeface="맑은 고딕"/>
                <a:ea typeface="맑은 고딕"/>
              </a:rPr>
              <a:t>내용 편집 </a:t>
            </a:r>
            <a:r>
              <a:rPr sz="950" b="0">
                <a:solidFill>
                  <a:srgbClr val="999999"/>
                </a:solidFill>
                <a:latin typeface="맑은 고딕"/>
                <a:ea typeface="맑은 고딕"/>
              </a:rPr>
              <a:t>—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종류 선택·제목·본문·게시일[형식 검증]</a:t>
            </a:r>
          </a:p>
        </p:txBody>
      </p:sp>
      <p:cxnSp>
        <p:nvCxnSpPr>
          <p:cNvPr id="84" name="Connector 83"/>
          <p:cNvCxnSpPr/>
          <p:nvPr/>
        </p:nvCxnSpPr>
        <p:spPr>
          <a:xfrm>
            <a:off x="5824728" y="3219419"/>
            <a:ext cx="5982919" cy="0"/>
          </a:xfrm>
          <a:prstGeom prst="line">
            <a:avLst/>
          </a:prstGeom>
          <a:ln w="9525">
            <a:solidFill>
              <a:srgbClr val="EEEEE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5" name="Oval 84"/>
          <p:cNvSpPr/>
          <p:nvPr/>
        </p:nvSpPr>
        <p:spPr>
          <a:xfrm>
            <a:off x="5824728" y="3265139"/>
            <a:ext cx="219456" cy="219456"/>
          </a:xfrm>
          <a:prstGeom prst="ellipse">
            <a:avLst/>
          </a:prstGeom>
          <a:solidFill>
            <a:srgbClr val="DC2626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3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6135624" y="3237707"/>
            <a:ext cx="5672023" cy="667877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100"/>
              </a:spcAft>
            </a:pPr>
            <a:r>
              <a:rPr sz="950" b="1">
                <a:solidFill>
                  <a:srgbClr val="111111"/>
                </a:solidFill>
                <a:latin typeface="맑은 고딕"/>
                <a:ea typeface="맑은 고딕"/>
              </a:rPr>
              <a:t>노출 설정 </a:t>
            </a:r>
            <a:r>
              <a:rPr sz="950" b="0">
                <a:solidFill>
                  <a:srgbClr val="999999"/>
                </a:solidFill>
                <a:latin typeface="맑은 고딕"/>
                <a:ea typeface="맑은 고딕"/>
              </a:rPr>
              <a:t>—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고정/일반·노출/숨김 토글[조회 모드 즉시 반영]</a:t>
            </a:r>
          </a:p>
        </p:txBody>
      </p:sp>
      <p:cxnSp>
        <p:nvCxnSpPr>
          <p:cNvPr id="87" name="Connector 86"/>
          <p:cNvCxnSpPr/>
          <p:nvPr/>
        </p:nvCxnSpPr>
        <p:spPr>
          <a:xfrm>
            <a:off x="5824728" y="3887297"/>
            <a:ext cx="5982919" cy="0"/>
          </a:xfrm>
          <a:prstGeom prst="line">
            <a:avLst/>
          </a:prstGeom>
          <a:ln w="9525">
            <a:solidFill>
              <a:srgbClr val="EEEEE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8" name="Oval 87"/>
          <p:cNvSpPr/>
          <p:nvPr/>
        </p:nvSpPr>
        <p:spPr>
          <a:xfrm>
            <a:off x="5824728" y="3933017"/>
            <a:ext cx="219456" cy="219456"/>
          </a:xfrm>
          <a:prstGeom prst="ellipse">
            <a:avLst/>
          </a:prstGeom>
          <a:solidFill>
            <a:srgbClr val="DC2626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4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6135624" y="3905585"/>
            <a:ext cx="5672023" cy="667877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100"/>
              </a:spcAft>
            </a:pPr>
            <a:r>
              <a:rPr sz="950" b="1">
                <a:solidFill>
                  <a:srgbClr val="111111"/>
                </a:solidFill>
                <a:latin typeface="맑은 고딕"/>
                <a:ea typeface="맑은 고딕"/>
              </a:rPr>
              <a:t>저장·삭제 </a:t>
            </a:r>
            <a:r>
              <a:rPr sz="950" b="0">
                <a:solidFill>
                  <a:srgbClr val="999999"/>
                </a:solidFill>
                <a:latin typeface="맑은 고딕"/>
                <a:ea typeface="맑은 고딕"/>
              </a:rPr>
              <a:t>—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확인 절차·"노출 끄기 권장" 안내</a:t>
            </a:r>
          </a:p>
        </p:txBody>
      </p:sp>
      <p:cxnSp>
        <p:nvCxnSpPr>
          <p:cNvPr id="90" name="Connector 89"/>
          <p:cNvCxnSpPr/>
          <p:nvPr/>
        </p:nvCxnSpPr>
        <p:spPr>
          <a:xfrm>
            <a:off x="5824728" y="4555175"/>
            <a:ext cx="5982919" cy="0"/>
          </a:xfrm>
          <a:prstGeom prst="line">
            <a:avLst/>
          </a:prstGeom>
          <a:ln w="9525">
            <a:solidFill>
              <a:srgbClr val="EEEEE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1" name="Oval 90"/>
          <p:cNvSpPr/>
          <p:nvPr/>
        </p:nvSpPr>
        <p:spPr>
          <a:xfrm>
            <a:off x="5824728" y="4600895"/>
            <a:ext cx="219456" cy="219456"/>
          </a:xfrm>
          <a:prstGeom prst="ellipse">
            <a:avLst/>
          </a:prstGeom>
          <a:solidFill>
            <a:srgbClr val="DC2626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5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6135624" y="4573463"/>
            <a:ext cx="5672023" cy="667877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100"/>
              </a:spcAft>
            </a:pPr>
            <a:r>
              <a:rPr sz="950" b="1">
                <a:solidFill>
                  <a:srgbClr val="111111"/>
                </a:solidFill>
                <a:latin typeface="맑은 고딕"/>
                <a:ea typeface="맑은 고딕"/>
              </a:rPr>
              <a:t>소식 ID </a:t>
            </a:r>
            <a:r>
              <a:rPr sz="950" b="0">
                <a:solidFill>
                  <a:srgbClr val="999999"/>
                </a:solidFill>
                <a:latin typeface="맑은 고딕"/>
                <a:ea typeface="맑은 고딕"/>
              </a:rPr>
              <a:t>—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신규 저장 시 NOTICE-{연도}-{순번} 발급</a:t>
            </a:r>
          </a:p>
        </p:txBody>
      </p:sp>
      <p:sp>
        <p:nvSpPr>
          <p:cNvPr id="93" name="Rectangle 92"/>
          <p:cNvSpPr/>
          <p:nvPr/>
        </p:nvSpPr>
        <p:spPr>
          <a:xfrm>
            <a:off x="5824728" y="5387644"/>
            <a:ext cx="5982919" cy="1086307"/>
          </a:xfrm>
          <a:prstGeom prst="rect">
            <a:avLst/>
          </a:prstGeom>
          <a:solidFill>
            <a:srgbClr val="F7F7F7"/>
          </a:solidFill>
          <a:ln w="12700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94" name="Connector 93"/>
          <p:cNvCxnSpPr/>
          <p:nvPr/>
        </p:nvCxnSpPr>
        <p:spPr>
          <a:xfrm>
            <a:off x="5824728" y="5661964"/>
            <a:ext cx="5982919" cy="0"/>
          </a:xfrm>
          <a:prstGeom prst="line">
            <a:avLst/>
          </a:prstGeom>
          <a:ln w="12700">
            <a:solidFill>
              <a:srgbClr val="CCCCC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5" name="TextBox 94"/>
          <p:cNvSpPr txBox="1"/>
          <p:nvPr/>
        </p:nvSpPr>
        <p:spPr>
          <a:xfrm>
            <a:off x="5934456" y="5428792"/>
            <a:ext cx="5763463" cy="237744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11111"/>
                </a:solidFill>
                <a:latin typeface="맑은 고딕"/>
                <a:ea typeface="맑은 고딕"/>
              </a:rPr>
              <a:t>화면 룰·기획 근거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5952744" y="5698540"/>
            <a:ext cx="5726887" cy="738835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100"/>
              </a:spcAft>
            </a:pPr>
            <a:r>
              <a:rPr sz="85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850" b="0">
                <a:solidFill>
                  <a:srgbClr val="333333"/>
                </a:solidFill>
                <a:latin typeface="맑은 고딕"/>
                <a:ea typeface="맑은 고딕"/>
              </a:rPr>
              <a:t>companyAdmin 진입 시 "전사 관리자 전용" 안내 렌더</a:t>
            </a:r>
          </a:p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100"/>
              </a:spcAft>
            </a:pPr>
            <a:r>
              <a:rPr sz="85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850" b="0">
                <a:solidFill>
                  <a:srgbClr val="333333"/>
                </a:solidFill>
                <a:latin typeface="맑은 고딕"/>
                <a:ea typeface="맑은 고딕"/>
              </a:rPr>
              <a:t>소식은 알림을 발생시키지 않음(0.10)</a:t>
            </a:r>
          </a:p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DC2626"/>
                </a:solidFill>
                <a:latin typeface="맑은 고딕"/>
                <a:ea typeface="맑은 고딕"/>
              </a:rPr>
              <a:t>BE·DB  </a:t>
            </a:r>
            <a:r>
              <a:rPr sz="850" b="0">
                <a:solidFill>
                  <a:srgbClr val="666666"/>
                </a:solidFill>
                <a:latin typeface="맑은 고딕"/>
                <a:ea typeface="맑은 고딕"/>
              </a:rPr>
              <a:t>getAdminNotices(비노출 포함). 공지 CRUD·고정/노출 토글 API, 소식 ID 서버 발급, 공개/관리 조회의 노출 필터 차이 구분.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