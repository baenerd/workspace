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ADM-01  ·  관리자 대시보드 (Dashboard)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대시보드 (/admin)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헤더 (타이틀·조회 범위 선택기)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KPI 카드 ×5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5" y="22174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2174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승인 대기 · 최근 승인 (2열)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" y="13053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" y="23340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3815" y="25603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25603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월별 등록 추이 · 카테고리별 구성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" y="1305306"/>
            <a:ext cx="0" cy="13716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9496" y="26769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" y="29032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9032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비즈니스 도메인 분포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" y="1305306"/>
            <a:ext cx="0" cy="17145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" y="30198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4048" y="384048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범위 선택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817632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037088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2808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KPI 집계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424953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44409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90129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대기·최근 검토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032274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51730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97450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검토/상세 이동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1347" y="914400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69363" y="1225296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admin·companyAdmin 공용 대시보드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KPI 5 + 대기·최근 목록 + 등록 추이·카테고리·도메인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1347" y="2195578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51075" y="22321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051075" y="24698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069363" y="2506474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그룹 전체 등록·승인 현황 조망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전사·관계사 범위별 확인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1347" y="3476757"/>
            <a:ext cx="4866299" cy="17160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1075" y="3513333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051075" y="3751077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069363" y="3787653"/>
            <a:ext cx="4610267" cy="13685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KPI 5종: 전체 등록물·승인 대기(부분 승인 포함)·이번 달 신규·게시된 도구·누적 활용 후기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운영 상태 폐기('게시된 도구'=승인 완료·게시 기준)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pendingCount는 baseScope 기준(조회 선택과 무관)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1347" y="5320789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51075" y="53573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51075" y="55951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069363" y="5631685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권한 범위(baseScope)·조회 범위(viewScope) 분리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출처 색상·라벨 PLATFORMS 파생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관리자 대시보드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1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대시보드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228234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59352" y="2194559"/>
            <a:ext cx="1371600" cy="23774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167127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범위</a:t>
            </a:r>
          </a:p>
        </p:txBody>
      </p:sp>
      <p:sp>
        <p:nvSpPr>
          <p:cNvPr id="21" name="Oval 20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18488" y="2560319"/>
            <a:ext cx="687628" cy="5486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79268" y="2560319"/>
            <a:ext cx="687628" cy="5486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40049" y="2560319"/>
            <a:ext cx="687628" cy="5486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00830" y="2560319"/>
            <a:ext cx="687628" cy="5486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1611" y="2560319"/>
            <a:ext cx="687628" cy="5486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00200" y="254203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18488" y="3236975"/>
            <a:ext cx="1810512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709928" y="3364991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09928" y="3621023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709928" y="3877055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600200" y="321868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1880" y="3236975"/>
            <a:ext cx="1810512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3703320" y="3364991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703320" y="3621023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703320" y="3877055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593592" y="321868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18488" y="5102351"/>
            <a:ext cx="1764792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668910" y="4649723"/>
            <a:ext cx="151267" cy="452628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21023" y="4443983"/>
            <a:ext cx="151267" cy="658368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3136" y="4773167"/>
            <a:ext cx="151267" cy="329184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25250" y="4320540"/>
            <a:ext cx="151267" cy="781812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77363" y="4608575"/>
            <a:ext cx="151267" cy="493776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29476" y="4509820"/>
            <a:ext cx="151267" cy="592531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81589" y="4690871"/>
            <a:ext cx="151267" cy="41148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18488" y="4233671"/>
            <a:ext cx="1764792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추이</a:t>
            </a:r>
          </a:p>
        </p:txBody>
      </p:sp>
      <p:sp>
        <p:nvSpPr>
          <p:cNvPr id="47" name="Oval 46"/>
          <p:cNvSpPr/>
          <p:nvPr/>
        </p:nvSpPr>
        <p:spPr>
          <a:xfrm>
            <a:off x="1600200" y="426110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4279391"/>
            <a:ext cx="1764792" cy="82296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749040" y="4965191"/>
            <a:ext cx="1581912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828135" y="4471415"/>
            <a:ext cx="237286" cy="493776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3613" y="4581143"/>
            <a:ext cx="237286" cy="384048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19091" y="4690871"/>
            <a:ext cx="237286" cy="27432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14569" y="4800599"/>
            <a:ext cx="237286" cy="164592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639312" y="426110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18488" y="5212079"/>
            <a:ext cx="3803904" cy="1115568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709928" y="6236208"/>
            <a:ext cx="3621024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830628" y="5676595"/>
            <a:ext cx="362102" cy="559612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434132" y="5396788"/>
            <a:ext cx="362102" cy="839419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037636" y="5769864"/>
            <a:ext cx="362102" cy="466344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41140" y="5583326"/>
            <a:ext cx="362102" cy="652881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44644" y="5863132"/>
            <a:ext cx="362102" cy="373075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48148" y="5723229"/>
            <a:ext cx="362102" cy="512978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600200" y="519379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65" name="Oval 64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35624" y="1901951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헤더·조회 범위 선택기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역할별 eyebrow + 타이틀 '대시보드'. admin 항상·companyAdmin 담당 2곳↑ 선택기, 1곳=배지, 0곳=안내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0곳: '담당 관계사가 지정되지 않았습니다. 전사관리자에게 문의하세요.'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824728" y="2536806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5824728" y="2582526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35624" y="2555094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KPI 카드 ×5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전체 등록물 · 승인 대기(부분 승인 N건 포함) · 이번 달 신규 · 게시된 도구 · 누적 활용 후기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824728" y="3189949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5824728" y="3235669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35624" y="3208237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승인 대기 패널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미종결 대기 항목(소스·제목·부서·유형·신청일) + [전체 보기 →] + 항목별 [검토]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824728" y="3843092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824728" y="3888812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35624" y="3861380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최근 승인 패널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최근 승인건(소스·제목·부서·승인일·'승인' 배지) + [전체 보기 →], 행 클릭→상세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824728" y="4496235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824728" y="4541955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35624" y="4514523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월별 등록 추이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2025 · 카테고리별 7유형 스택 막대(PLATFORMS 색)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824728" y="5149378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5824728" y="5195098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35624" y="5167666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카테고리별 구성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누적 N건 구성비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824728" y="5802521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5824728" y="5848241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35624" y="5820809"/>
            <a:ext cx="5672023" cy="65314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비즈니스 도메인 분포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AX 플랫폼 기준 도메인 분포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ADM-02  ·  등록 검토 (병렬 2-슬롯 승인)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등록 검토 (/admin/review)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SummaryStrip 필터 ×4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등록 신청 목록 (SlotPill)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5" y="22174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2174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상세 검토 패널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" y="13053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" y="23340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SlotCard 관계사 / 전사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23340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97864" y="29032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584" y="29032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반려 (사유 필수)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543" y="2334006"/>
            <a:ext cx="0" cy="6858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3" y="30198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97864" y="32461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" y="32461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검토 필드(공통·유형별)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3" y="23340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3" y="33627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197864" y="35890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3584" y="35890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승인 이력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3543" y="2334006"/>
            <a:ext cx="0" cy="13716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3543" y="37056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4048" y="4041648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" y="4315968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315968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신청 수신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353406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72862" y="4315968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18582" y="4315968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검토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496501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15957" y="4315968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61677" y="4315968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슬롯 승인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604624" y="4791455"/>
            <a:ext cx="128016" cy="256032"/>
          </a:xfrm>
          <a:prstGeom prst="down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715957" y="5084064"/>
            <a:ext cx="190535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61677" y="5084064"/>
            <a:ext cx="1813910" cy="384048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반려 → 종결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1347" y="914400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069363" y="1225296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AX 항목 등록 신청 검토. 순서 없는 병렬 승인 슬롯 2개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관계사 슬롯 / 전사 슬롯을 개별 처리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1347" y="2195578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51075" y="22321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51075" y="24698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069363" y="2506474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슬롯 단위 병렬 승인/반려로 게시 여부 결정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관계사·전사 권한 범위 분리 검토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41347" y="3476757"/>
            <a:ext cx="4866299" cy="17160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1075" y="3513333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051075" y="3751077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069363" y="3787653"/>
            <a:ext cx="4610267" cy="13685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두 슬롯 모두 승인→게시됨, 어느 한쪽 반려→반려(종결)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일괄 게시 버튼 없음(게시는 두 번째 승인의 파생)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전사 공용 항목은 company 슬롯도 admin만 승인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'1차/2차' 서수 명칭 전면 폐기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1347" y="5320789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51075" y="53573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051075" y="55951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069363" y="5631685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SlotPill·SlotCard로 병렬 진행 시각화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'두 승인이 모두 완료되면 게시됩니다.' 배너로 파생 게시 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등록 검토 (병렬 2-슬롯)  —  목록·슬롯 승인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등록 신청 목록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/admin/review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9464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0440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71416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8488" y="2670047"/>
            <a:ext cx="1369405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618488" y="2852927"/>
            <a:ext cx="1369405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618488" y="2642615"/>
            <a:ext cx="1369405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필터</a:t>
            </a:r>
          </a:p>
        </p:txBody>
      </p:sp>
      <p:sp>
        <p:nvSpPr>
          <p:cNvPr id="26" name="Oval 25"/>
          <p:cNvSpPr/>
          <p:nvPr/>
        </p:nvSpPr>
        <p:spPr>
          <a:xfrm>
            <a:off x="1600200" y="265175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18488" y="29443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73352" y="29992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73493" y="30723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34015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673352" y="34564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73493" y="35295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18488" y="38587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673352" y="39136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73493" y="39867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18488" y="43159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673352" y="43708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73493" y="44439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600200" y="292607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34197" y="2670047"/>
            <a:ext cx="2288194" cy="237744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15909" y="265175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134197" y="2980943"/>
            <a:ext cx="993076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115909" y="296265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34197" y="3200399"/>
            <a:ext cx="1098333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4058" y="3200399"/>
            <a:ext cx="1098333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225637" y="3547871"/>
            <a:ext cx="686458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415498" y="3547871"/>
            <a:ext cx="686458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134197" y="3840479"/>
            <a:ext cx="640080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34197" y="3813047"/>
            <a:ext cx="640080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반려</a:t>
            </a:r>
          </a:p>
        </p:txBody>
      </p:sp>
      <p:sp>
        <p:nvSpPr>
          <p:cNvPr id="50" name="Oval 49"/>
          <p:cNvSpPr/>
          <p:nvPr/>
        </p:nvSpPr>
        <p:spPr>
          <a:xfrm>
            <a:off x="3115909" y="382219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34197" y="4114799"/>
            <a:ext cx="2288194" cy="64008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225637" y="4224527"/>
            <a:ext cx="2105315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25637" y="4347971"/>
            <a:ext cx="2105315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25637" y="4471415"/>
            <a:ext cx="2105315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225637" y="4594859"/>
            <a:ext cx="1305295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3134197" y="4864607"/>
            <a:ext cx="2288194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3225637" y="4956047"/>
            <a:ext cx="2105315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225637" y="5079491"/>
            <a:ext cx="1305295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60" name="Oval 59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35624" y="190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SummaryStrip 필터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전체 · 승인 대기 · 부분 승인 · 처리완료 4칩(카운트 겸 필터)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부분 승인 count&gt;0 시 '관계사만 N · 전사만 N' 서브라인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824728" y="2645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5824728" y="2691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35624" y="2663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소스 필터 · 목록 필터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카테고리(전체+7유형) select + 역할 배너(관계사/전사 승인 담당)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24728" y="3407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5824728" y="3453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35624" y="3425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등록 신청 목록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소스·단계 배지·제목·부서·신청자 + SlotPill(관계사|전사 2분할, 승인 시 초록 ✓)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목록 '해당하는 신청 건이 없습니다.'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35624" y="4187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상세 헤더·SlotCard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카테고리·단계 배지·ID·신청일 + 슬롯 카드 2장(관계사 관리자 승인 / 전사 관리자 승인, [이 슬롯 승인])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824728" y="4931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5824728" y="4977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35624" y="4949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반려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'반려' → 사유 필수 → 반려 확정 시 종결(신청자에 그대로 전달)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824728" y="5693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5824728" y="5739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35624" y="571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게시 배너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'내용을 직접 수정한 후 승인할 수 있습니다. 두 승인이 모두 완료되면 게시됩니다.'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등록 검토 (병렬 2-슬롯)  —  검토 필드·이력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검토 필드·이력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/admin/review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9464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0440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71416" y="2194559"/>
            <a:ext cx="877824" cy="384048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2670047"/>
            <a:ext cx="1369405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618488" y="2852927"/>
            <a:ext cx="1369405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618488" y="2642615"/>
            <a:ext cx="1369405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  <a:ea typeface="맑은 고딕"/>
              </a:rPr>
              <a:t>필터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18488" y="29443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73352" y="29992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73493" y="30723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18488" y="34015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73352" y="34564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73493" y="35295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18488" y="38587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73352" y="39136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73493" y="39867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18488" y="4315967"/>
            <a:ext cx="1369405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673352" y="4370831"/>
            <a:ext cx="547762" cy="109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73493" y="4443983"/>
            <a:ext cx="82296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34197" y="2670047"/>
            <a:ext cx="2288194" cy="237744"/>
          </a:xfrm>
          <a:prstGeom prst="rect">
            <a:avLst/>
          </a:prstGeom>
          <a:solidFill>
            <a:srgbClr val="F7F7F7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134197" y="2980943"/>
            <a:ext cx="993076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134197" y="3200399"/>
            <a:ext cx="1098333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4058" y="3200399"/>
            <a:ext cx="1098333" cy="54864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25637" y="3547871"/>
            <a:ext cx="686458" cy="1463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15498" y="3547871"/>
            <a:ext cx="686458" cy="1463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134197" y="3840479"/>
            <a:ext cx="640080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34197" y="3813047"/>
            <a:ext cx="640080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  <a:ea typeface="맑은 고딕"/>
              </a:rPr>
              <a:t>반려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34197" y="4114799"/>
            <a:ext cx="2288194" cy="64008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225637" y="4224527"/>
            <a:ext cx="210531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225637" y="4347971"/>
            <a:ext cx="210531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225637" y="4471415"/>
            <a:ext cx="210531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225637" y="4594859"/>
            <a:ext cx="130529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115909" y="409651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34197" y="4864607"/>
            <a:ext cx="2288194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225637" y="4956047"/>
            <a:ext cx="210531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25637" y="5079491"/>
            <a:ext cx="1305295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115909" y="484632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56" name="Oval 55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5624" y="1901951"/>
            <a:ext cx="5672023" cy="2286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검토 필드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공통(이미지·제목·요약·상세·도메인·태그) + 유형별(n8n 다이어그램·난이도·절감시간 / 비서 프롬프트·모델 / AI Agent 가용·강점·URL·모델명·글분량·비용 / ML 유형·데이터·도구 / vibe·etc 공통만)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35624" y="4187952"/>
            <a:ext cx="5672023" cy="2286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승인 이력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슬롯·액션·처리자·일시·사유 이력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ADM-03  ·  항목 관리 (Project Manage)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항목 관리 (/admin/projects)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좌 통합 목록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97864" y="1874519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1874519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전체 항목·직접 등록/담당 배지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3" y="1648206"/>
            <a:ext cx="0" cy="3428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3543" y="1991105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97864" y="22174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22174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검색·소스 필터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3" y="1648206"/>
            <a:ext cx="0" cy="6858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3" y="23340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항목 리스트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16482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" y="29032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9032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우 상세/편집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" y="1305306"/>
            <a:ext cx="0" cy="17145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" y="30198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97864" y="32461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" y="32461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헤더·액션(하이라이트·금주의 발견·수정·삭제)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3" y="30198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3" y="33627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197864" y="35890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3584" y="35890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기본·유형별·신청자·담당자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3543" y="3019806"/>
            <a:ext cx="0" cy="6858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3543" y="37056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4048" y="4041648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항목 선택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817632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037088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2808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수정/토글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424953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44409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90129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저장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032274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251730" y="4315968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97450" y="4315968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게시본 반영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2657869" y="4791455"/>
            <a:ext cx="128016" cy="256032"/>
          </a:xfrm>
          <a:prstGeom prst="down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037088" y="5084064"/>
            <a:ext cx="136957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82808" y="5084064"/>
            <a:ext cx="1278136" cy="384048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삭제 → 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1347" y="914400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069363" y="1225296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게시된 AX 항목 전체 관리. 등록 폼과 동일 간소화 7유형 체계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좌 목록 + 우 상세/편집 마스터-디테일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1347" y="2261889"/>
            <a:ext cx="4866299" cy="92186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1075" y="22984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051075" y="25362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069363" y="2572785"/>
            <a:ext cx="4610267" cy="57439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게시본 수정·삭제·노출(하이라이트·금주의 발견) 관리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1347" y="3311769"/>
            <a:ext cx="4866299" cy="18146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51075" y="334834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051075" y="358608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069363" y="3622665"/>
            <a:ext cx="4610267" cy="146722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CompanyAdmin: 담당+전사 공용만 표시, 삭제만 가능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Admin 전용: ★ 하이라이트·✦ 금주의 발견·수정·직접 등록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상태·관계사·실행 URL 편집 없음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expectedTimeSaved 직렬화(timeSavedValue·timeSavedPeriod)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1347" y="5254478"/>
            <a:ext cx="4866299" cy="1219473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51075" y="52910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051075" y="55287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069363" y="5565374"/>
            <a:ext cx="4610267" cy="872001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등록 폼과 동일 필드로 편집 학습 비용 최소화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역할별 가능 액션 분리로 권한 경계 명확화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 관리  —  목록·액션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항목 관리 — 목록·액션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/admin/projects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1293327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97415" y="2212847"/>
            <a:ext cx="868680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18488" y="2523743"/>
            <a:ext cx="1293327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618488" y="2706623"/>
            <a:ext cx="1293327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618488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941819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265151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88483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00200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18488" y="2980943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73352" y="3026663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673352" y="3154679"/>
            <a:ext cx="64149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618488" y="3364991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73352" y="3410711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673352" y="3538727"/>
            <a:ext cx="64149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618488" y="3749039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673352" y="3794759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673352" y="3922775"/>
            <a:ext cx="64149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618488" y="4133087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673352" y="4178807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673352" y="4306823"/>
            <a:ext cx="64149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618488" y="4517136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673352" y="4562855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673352" y="4690871"/>
            <a:ext cx="64149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600200" y="296265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058119" y="2194559"/>
            <a:ext cx="73292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685031" y="2176271"/>
            <a:ext cx="402336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23944" y="2176271"/>
            <a:ext cx="402336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62855" y="2176271"/>
            <a:ext cx="402336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001767" y="2176271"/>
            <a:ext cx="402336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39831" y="215798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58119" y="2523743"/>
            <a:ext cx="2364272" cy="118872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49559" y="2615183"/>
            <a:ext cx="2181392" cy="365760"/>
          </a:xfrm>
          <a:prstGeom prst="rect">
            <a:avLst/>
          </a:prstGeom>
          <a:solidFill>
            <a:srgbClr val="F7F7F7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49559" y="3072383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149559" y="3236975"/>
            <a:ext cx="2181393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3149559" y="3328415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3149559" y="3493007"/>
            <a:ext cx="2181393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3058119" y="3822191"/>
            <a:ext cx="2364272" cy="77724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3149559" y="3931920"/>
            <a:ext cx="2181393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149559" y="4055363"/>
            <a:ext cx="2181393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149559" y="4178808"/>
            <a:ext cx="1352463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3058119" y="4709159"/>
            <a:ext cx="2364272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058119" y="5038344"/>
            <a:ext cx="2364272" cy="128930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49559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3149559" y="5276088"/>
            <a:ext cx="499628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3694907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3694907" y="5276088"/>
            <a:ext cx="499628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4240255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4240255" y="5276088"/>
            <a:ext cx="499628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785603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4785603" y="5276088"/>
            <a:ext cx="499629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71" name="Oval 70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35624" y="1901951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목록 헤더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'전체 항목' N + admin 전용 [+ 직접 등록] / companyAdmin '…담당' 배지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824728" y="3026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824728" y="3072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35624" y="3044951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검색·소스 필터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항목명·부서 검색 + 소스(전체+7유형) 칩 필터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목록 '검색 결과가 없습니다.'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35624" y="4187952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항목 리스트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카테고리 배지·ID·제목·부서·수정일, 선택 행 강조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824728" y="5312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5824728" y="5358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35624" y="5330952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상세 헤더·액션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admin: ★/☆ 하이라이트 토글·✦ 금주의 발견(단일)·수정·삭제 / companyAdmin: 삭제만(담당+전사 공용만 표시)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 관리  —  편집 필드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항목 관리 — 편집 필드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/admin/projects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1293327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97415" y="2212847"/>
            <a:ext cx="868680" cy="201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18488" y="2523743"/>
            <a:ext cx="1293327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618488" y="2706623"/>
            <a:ext cx="1293327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618488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41819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65151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88483" y="2761487"/>
            <a:ext cx="277611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18488" y="2980943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673352" y="3026663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673352" y="3154679"/>
            <a:ext cx="641490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618488" y="3364991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73352" y="3410711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673352" y="3538727"/>
            <a:ext cx="641490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618488" y="3749039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673352" y="3794759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673352" y="3922775"/>
            <a:ext cx="641490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618488" y="4133087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673352" y="4178807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1673352" y="4306823"/>
            <a:ext cx="641490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618488" y="4517136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673352" y="4562855"/>
            <a:ext cx="4526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673352" y="4690871"/>
            <a:ext cx="641490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058119" y="2194559"/>
            <a:ext cx="732924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685031" y="2176271"/>
            <a:ext cx="402336" cy="201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23944" y="2176271"/>
            <a:ext cx="402336" cy="201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62855" y="2176271"/>
            <a:ext cx="402336" cy="201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01767" y="2176271"/>
            <a:ext cx="402336" cy="201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058119" y="2523743"/>
            <a:ext cx="2364272" cy="118872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49559" y="2615183"/>
            <a:ext cx="2181392" cy="365760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49559" y="3072383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3149559" y="3236975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149559" y="3328415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3149559" y="3493007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039831" y="250545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58119" y="3822191"/>
            <a:ext cx="2364272" cy="7772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149559" y="3931920"/>
            <a:ext cx="2181393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149559" y="4055363"/>
            <a:ext cx="2181393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149559" y="4178808"/>
            <a:ext cx="1352463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039831" y="3803904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58119" y="4709159"/>
            <a:ext cx="2364272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039831" y="46908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58119" y="5038344"/>
            <a:ext cx="2364272" cy="128930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149559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3149559" y="5276088"/>
            <a:ext cx="499628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3694907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3694907" y="5276088"/>
            <a:ext cx="499628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4240255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4240255" y="5276088"/>
            <a:ext cx="499628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4785603" y="5129783"/>
            <a:ext cx="49962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4785603" y="5276088"/>
            <a:ext cx="499629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3039831" y="502005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71" name="Oval 70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35624" y="1901951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기본 정보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첨부 사진·제목·요약·상세·업무 도메인·등록 부서·태그(쉼표 구분)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824728" y="3026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824728" y="3072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35624" y="3044951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유형별 세부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n8n/PA=다이어그램·절감시간·난이도 / 비서=프롬프트·모델 / AI Agent=가용·강점·URL·모델명·글분량·비용 / ML=유형·데이터·도구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35624" y="4187952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등록 신청자 정보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createdByEmail 직접 수정('퇴사·인사이동 시 직접 수정')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824728" y="5312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5824728" y="5358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35624" y="5330952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담당자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이름·부서·이메일·역할 + [+ 담당자 추가]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ADM-04  ·  통계 (Statistics)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통계 (/admin/statistics)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헤더·조회 범위 선택기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상단 카드 ×4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5" y="22174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2174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기간 프리셋 · 월 지정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" y="1305306"/>
            <a:ext cx="0" cy="10287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" y="23340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3815" y="25603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25603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등록 추이 · 카테고리별 현황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" y="1305306"/>
            <a:ext cx="0" cy="13716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9496" y="26769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" y="29032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9032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도메인·부서 · 절감 효과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" y="1305306"/>
            <a:ext cx="0" cy="17145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" y="30198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815" y="32461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2461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3-col 분석 · TOP5 · 키워드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9496" y="1305306"/>
            <a:ext cx="0" cy="20574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9496" y="33627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4048" y="384048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4114800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114800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범위·기간 선택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353406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572862" y="4114800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8582" y="4114800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지표 집계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496501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715957" y="4114800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61677" y="4114800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차트·표 분석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1347" y="914400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69363" y="1225296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통계 대시보드. 조회 범위 선택기 노출(pendingCount 없음)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등록·도메인·절감·후기·키워드 정량 분석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1347" y="2195578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1075" y="22321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051075" y="24698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069363" y="2506474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정량 지표로 AX 확산 현황 분석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전사·관계사 범위별 비교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1347" y="3476757"/>
            <a:ext cx="4866299" cy="17160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51075" y="3513333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051075" y="3751077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069363" y="3787653"/>
            <a:ext cx="4610267" cy="13685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상단 카드 4: 전체 등록물·이번 달 신규·참여 부서·참여 관계사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운영 상태 폐기('활성 항목' 카드·상태 4그룹 차트 제거)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난이도=n8n 전용, 비용 구간=AI Agent 대상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절감 효과 parseTimeSaved→연간 환산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1347" y="5320789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51075" y="53573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051075" y="55951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069363" y="5631685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baseScope/viewScope·AdminScopeSelect 대시보드와 공유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출처 색상 PLATFORMS 파생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통계  —  카드·추이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통계 대시보드 — 카드·추이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/admin/statistics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2092147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59352" y="2194559"/>
            <a:ext cx="1371600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167127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범위</a:t>
            </a:r>
          </a:p>
        </p:txBody>
      </p:sp>
      <p:sp>
        <p:nvSpPr>
          <p:cNvPr id="21" name="Oval 20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18488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9464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0440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71416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00200" y="250545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18488" y="3090671"/>
            <a:ext cx="749808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41448" y="3090671"/>
            <a:ext cx="749808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64408" y="3090671"/>
            <a:ext cx="749808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087368" y="3090671"/>
            <a:ext cx="749808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99431" y="3090671"/>
            <a:ext cx="777240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00200" y="307238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618488" y="4069079"/>
            <a:ext cx="1810512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670216" y="3691889"/>
            <a:ext cx="155186" cy="37719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28861" y="3520439"/>
            <a:ext cx="155186" cy="54864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87506" y="3794759"/>
            <a:ext cx="155186" cy="27432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46150" y="3417569"/>
            <a:ext cx="155186" cy="651509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04795" y="3657599"/>
            <a:ext cx="155186" cy="411479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63439" y="3575303"/>
            <a:ext cx="155186" cy="493776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22084" y="3726179"/>
            <a:ext cx="155186" cy="34290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18488" y="3337559"/>
            <a:ext cx="1810512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추이</a:t>
            </a:r>
          </a:p>
        </p:txBody>
      </p:sp>
      <p:sp>
        <p:nvSpPr>
          <p:cNvPr id="42" name="Oval 41"/>
          <p:cNvSpPr/>
          <p:nvPr/>
        </p:nvSpPr>
        <p:spPr>
          <a:xfrm>
            <a:off x="1600200" y="336499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11880" y="3383279"/>
            <a:ext cx="53035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51960" y="3383279"/>
            <a:ext cx="53035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892040" y="3383279"/>
            <a:ext cx="53035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93592" y="336499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18488" y="4187951"/>
            <a:ext cx="1810512" cy="64008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709928" y="4709159"/>
            <a:ext cx="1627632" cy="0"/>
          </a:xfrm>
          <a:prstGeom prst="line">
            <a:avLst/>
          </a:prstGeom>
          <a:ln w="1651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791309" y="4462271"/>
            <a:ext cx="244144" cy="246888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98217" y="4338827"/>
            <a:ext cx="244144" cy="370332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05125" y="4503420"/>
            <a:ext cx="244144" cy="205740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12033" y="4421123"/>
            <a:ext cx="244144" cy="288036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11880" y="4187951"/>
            <a:ext cx="1810512" cy="64008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703320" y="4297679"/>
            <a:ext cx="1627632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703320" y="4421123"/>
            <a:ext cx="1627632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703320" y="4544567"/>
            <a:ext cx="1009131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618488" y="4937759"/>
            <a:ext cx="1146048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691640" y="6236208"/>
            <a:ext cx="999744" cy="0"/>
          </a:xfrm>
          <a:prstGeom prst="line">
            <a:avLst/>
          </a:prstGeom>
          <a:ln w="1651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758289" y="5391302"/>
            <a:ext cx="199948" cy="844905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091537" y="5753404"/>
            <a:ext cx="199948" cy="482803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4785" y="5149900"/>
            <a:ext cx="199948" cy="1086307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947416" y="4937759"/>
            <a:ext cx="1146048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3020568" y="6236208"/>
            <a:ext cx="999744" cy="0"/>
          </a:xfrm>
          <a:prstGeom prst="line">
            <a:avLst/>
          </a:prstGeom>
          <a:ln w="1651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3087217" y="5391302"/>
            <a:ext cx="199948" cy="844905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420465" y="5753404"/>
            <a:ext cx="199948" cy="482803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753713" y="5149900"/>
            <a:ext cx="199948" cy="1086307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76344" y="4937759"/>
            <a:ext cx="1146048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4349496" y="6236208"/>
            <a:ext cx="999744" cy="0"/>
          </a:xfrm>
          <a:prstGeom prst="line">
            <a:avLst/>
          </a:prstGeom>
          <a:ln w="1651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4416145" y="5391302"/>
            <a:ext cx="199948" cy="844905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49393" y="5753404"/>
            <a:ext cx="199948" cy="482803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082641" y="5149900"/>
            <a:ext cx="199948" cy="1086307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73" name="Oval 72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35624" y="19019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헤더·조회 범위 선택기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타이틀 '통계 대시보드' + AdminScopeSelect(pendingCount 미표시), 담당 1곳=배지·0곳=안내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824728" y="27980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5824728" y="28437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35624" y="28163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상단 카드 ×4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전체 등록물 · 이번 달 신규 · 참여 부서 · 참여 관계사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824728" y="37124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5824728" y="37581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35624" y="37307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기간 컨트롤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프리셋(이번 달·최근 3개월·최근 6개월·올해 전체) + [월 지정](연/월 select)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824728" y="46268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5824728" y="46725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35624" y="46451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등록 추이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7유형 스택 막대(PLATFORMS 색), 기간 라벨 표기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824728" y="55412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5824728" y="55869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35624" y="55595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카테고리별 등록 현황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3-col 카테고리별 건수·비율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통계  —  분석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통계 대시보드 — 분석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/admin/statistics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2092147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59352" y="2194559"/>
            <a:ext cx="137160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9352" y="2167127"/>
            <a:ext cx="1371600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  <a:ea typeface="맑은 고딕"/>
              </a:rPr>
              <a:t>범위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18488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9464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20440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71416" y="2523743"/>
            <a:ext cx="877824" cy="45720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18488" y="3090671"/>
            <a:ext cx="749808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41448" y="3090671"/>
            <a:ext cx="749808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64408" y="3090671"/>
            <a:ext cx="749808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87368" y="3090671"/>
            <a:ext cx="749808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99431" y="3090671"/>
            <a:ext cx="777240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618488" y="4069079"/>
            <a:ext cx="1810512" cy="0"/>
          </a:xfrm>
          <a:prstGeom prst="line">
            <a:avLst/>
          </a:prstGeom>
          <a:ln w="1651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670216" y="3691889"/>
            <a:ext cx="155186" cy="377190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8861" y="3520439"/>
            <a:ext cx="155186" cy="548640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87506" y="3794759"/>
            <a:ext cx="155186" cy="274320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46150" y="3417569"/>
            <a:ext cx="155186" cy="651509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04795" y="3657599"/>
            <a:ext cx="155186" cy="411479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63439" y="3575303"/>
            <a:ext cx="155186" cy="493776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22084" y="3726179"/>
            <a:ext cx="155186" cy="342900"/>
          </a:xfrm>
          <a:prstGeom prst="rect">
            <a:avLst/>
          </a:prstGeom>
          <a:solidFill>
            <a:srgbClr val="EEEEEE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18488" y="3337559"/>
            <a:ext cx="1810512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  <a:ea typeface="맑은 고딕"/>
              </a:rPr>
              <a:t>추이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11880" y="3383279"/>
            <a:ext cx="53035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251960" y="3383279"/>
            <a:ext cx="53035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92040" y="3383279"/>
            <a:ext cx="53035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618488" y="4187951"/>
            <a:ext cx="1810512" cy="64008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709928" y="4709159"/>
            <a:ext cx="1627632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791309" y="4462271"/>
            <a:ext cx="244144" cy="246888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98217" y="4338827"/>
            <a:ext cx="244144" cy="370332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605125" y="4503420"/>
            <a:ext cx="244144" cy="205740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12033" y="4421123"/>
            <a:ext cx="244144" cy="288036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600200" y="416966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11880" y="4187951"/>
            <a:ext cx="1810512" cy="64008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3703320" y="4297679"/>
            <a:ext cx="1627632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703320" y="4421123"/>
            <a:ext cx="1627632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703320" y="4544567"/>
            <a:ext cx="10091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3593592" y="416966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18488" y="4937759"/>
            <a:ext cx="1146048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1691640" y="6236208"/>
            <a:ext cx="999744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758289" y="5391302"/>
            <a:ext cx="199948" cy="844905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091537" y="5753404"/>
            <a:ext cx="199948" cy="482803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424785" y="5149900"/>
            <a:ext cx="199948" cy="1086307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947416" y="4937759"/>
            <a:ext cx="1146048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3020568" y="6236208"/>
            <a:ext cx="999744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3087217" y="5391302"/>
            <a:ext cx="199948" cy="844905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20465" y="5753404"/>
            <a:ext cx="199948" cy="482803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753713" y="5149900"/>
            <a:ext cx="199948" cy="1086307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76344" y="4937759"/>
            <a:ext cx="1146048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4349496" y="6236208"/>
            <a:ext cx="999744" cy="0"/>
          </a:xfrm>
          <a:prstGeom prst="line">
            <a:avLst/>
          </a:prstGeom>
          <a:ln w="1651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4416145" y="5391302"/>
            <a:ext cx="199948" cy="844905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749393" y="5753404"/>
            <a:ext cx="199948" cy="482803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082641" y="5149900"/>
            <a:ext cx="199948" cy="1086307"/>
          </a:xfrm>
          <a:prstGeom prst="rect">
            <a:avLst/>
          </a:prstGeom>
          <a:solidFill>
            <a:srgbClr val="CCCCC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600200" y="49194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70" name="Oval 69"/>
          <p:cNvSpPr/>
          <p:nvPr/>
        </p:nvSpPr>
        <p:spPr>
          <a:xfrm>
            <a:off x="4258056" y="49194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71" name="Oval 70"/>
          <p:cNvSpPr/>
          <p:nvPr/>
        </p:nvSpPr>
        <p:spPr>
          <a:xfrm>
            <a:off x="5166359" y="4919472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73" name="Oval 72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35624" y="19019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도메인·부서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비즈니스 도메인 분포 + 부서별 현황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상태 '해당 범위의 부서 데이터가 없습니다.'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824728" y="27980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5824728" y="28437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35624" y="28163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절감 효과 요약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n8n·PA 예상 절감 시간 연간 환산 + 집계 가능/추정 불가 건수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5824728" y="37124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5824728" y="37581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35624" y="37307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3-col 분석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난이도 분포(n8n 전용) · 비용 구간(AI Agent) · ML 모델 유형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824728" y="46268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5824728" y="46725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35624" y="46451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후기 많은 항목 TOP 5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누적 후기 수 기준 상위 5(제목·ID·평균 ♥)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상태 '해당 범위의 후기 데이터가 없습니다.'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824728" y="55412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5824728" y="55869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35624" y="55595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탐색 키워드 빈도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사용자 탐색 상위 키워드 막대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ADM-05  ·  분류 체계 관리 (Taxonomy)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분류체계 (/admin/taxonomy)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탭 (도메인·난이도·비용·ML) | 자유 태그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고정 분류 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97864" y="22174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22174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좌 분류 카드·항목 리스트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3" y="1991105"/>
            <a:ext cx="0" cy="3429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3" y="23340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우 항목 추가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1991105"/>
            <a:ext cx="0" cy="6858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" y="29032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9032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자유 태그 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" y="1305306"/>
            <a:ext cx="0" cy="17145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" y="30198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97864" y="32461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" y="32461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목록·출처 필터·표준화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3" y="30198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3" y="33627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3815" y="35890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5890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운영 유의사항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9496" y="1305306"/>
            <a:ext cx="0" cy="24003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9496" y="37056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4048" y="4041648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" y="4315968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315968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탭 선택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353406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72862" y="4315968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18582" y="4315968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항목 추가/수정/삭제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496501" y="4480559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15957" y="4315968"/>
            <a:ext cx="190535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61677" y="4315968"/>
            <a:ext cx="1813910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저장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3461529" y="4791455"/>
            <a:ext cx="128016" cy="256032"/>
          </a:xfrm>
          <a:prstGeom prst="down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572862" y="5084064"/>
            <a:ext cx="190535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18582" y="5084064"/>
            <a:ext cx="1813910" cy="384048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자유 태그 → 표준화 편입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1347" y="914400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069363" y="1225296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AX 항목 분류체계 관리. 탭 4종 + 자유 태그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등록·검토·통계 공용 분류 축 관리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1347" y="2195578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51075" y="22321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51075" y="24698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069363" y="2506474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공용 분류 축 중앙 관리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유형별 전용 분류 일관 유지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41347" y="3476757"/>
            <a:ext cx="4866299" cy="17160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1075" y="3513333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051075" y="3751077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069363" y="3787653"/>
            <a:ext cx="4610267" cy="13685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탭 4: 업무 도메인·구성 난이도·비용 등급·ML 모델 유형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구성 난이도=n8n 전용, 비용=AI Agent 전용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자유 태그 출처는 etc('AI 프로젝트') 포함 7유형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고아 분류(노드 힌트·커넥터·연동앱·도구 힌트) 삭제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1347" y="5320789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51075" y="53573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051075" y="55951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069363" y="5631685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사라진 입력의 분류 정리로 데이터 정합성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n8n JSON 업로드 전환으로 노드 분류 제거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분류 체계 관리  —  고정 분류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분류체계 관리 — 고정 분류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/admin/taxonomy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184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328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472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616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760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8488" y="2505455"/>
            <a:ext cx="2282342" cy="338328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728216" y="2615183"/>
            <a:ext cx="707526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728216" y="2889503"/>
            <a:ext cx="2062886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86430" y="2944367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97910" y="2944367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28216" y="3218687"/>
            <a:ext cx="2062886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86430" y="3273551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97910" y="3273551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28216" y="3547871"/>
            <a:ext cx="2062886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986430" y="3602735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97910" y="3602735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28216" y="3877055"/>
            <a:ext cx="2062886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86430" y="3931919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397910" y="3931919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28216" y="4206240"/>
            <a:ext cx="2062886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986430" y="4261103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97910" y="4261103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728216" y="4535423"/>
            <a:ext cx="2062886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986430" y="4590288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397910" y="4590288"/>
            <a:ext cx="3657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00200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5" name="Oval 44"/>
          <p:cNvSpPr/>
          <p:nvPr/>
        </p:nvSpPr>
        <p:spPr>
          <a:xfrm>
            <a:off x="2940710" y="2889503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83710" y="2505455"/>
            <a:ext cx="1338681" cy="91440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75150" y="2871215"/>
            <a:ext cx="1155801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4175150" y="3054095"/>
            <a:ext cx="115580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175150" y="3145535"/>
            <a:ext cx="1155801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65422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18488" y="5961888"/>
            <a:ext cx="3803904" cy="384048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00200" y="594360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54" name="Oval 53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35624" y="19019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업무 도메인·구성 난이도·비용 등급·ML 모델 유형 | 자유 태그(카운트 배지)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824728" y="27980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824728" y="28437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35624" y="28163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분류 카드·설명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분류명 + 'AX 플랫폼 항목 전용' 배지 + 설명(난이도=n8n 전용·비용=AI Agent 전용)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824728" y="37124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824728" y="37581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35624" y="37307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항목 리스트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행별 [수정][삭제](인라인 편집/삭제 확인 '"{label}" 삭제할까요?')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824728" y="46268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5824728" y="46725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35624" y="46451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항목 추가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항목명 입력 + [추가]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placeholder '새 항목 입력 후 Enter 또는 추가'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24728" y="55412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5824728" y="55869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35624" y="55595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운영 유의사항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'고정 분류 항목을 삭제하면 기존 항목이 공란으로 처리될 수 있습니다. 삭제 전 사용 중인 항목 수를 확인하세요.'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분류 체계 관리  —  자유 태그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분류체계 관리 — 자유 태그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/admin/taxonomy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184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328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472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616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76088" y="2194559"/>
            <a:ext cx="82296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578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18488" y="2505455"/>
            <a:ext cx="117921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618488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85416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52344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19272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86200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53128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0056" y="2724911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00200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18488" y="2962655"/>
            <a:ext cx="3803904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673352" y="3035807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892807" y="3044951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2404872" y="3054095"/>
            <a:ext cx="94336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142231" y="303580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736592" y="303580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18488" y="3328415"/>
            <a:ext cx="3803904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673352" y="3401567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892807" y="3410711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404872" y="3419855"/>
            <a:ext cx="94336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142231" y="340156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36592" y="340156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18488" y="3694175"/>
            <a:ext cx="3803904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73352" y="3767327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892807" y="3776471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404872" y="3785615"/>
            <a:ext cx="94336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142231" y="376732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36592" y="376732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18488" y="4059935"/>
            <a:ext cx="3803904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73352" y="4133087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92807" y="4142231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2404872" y="4151375"/>
            <a:ext cx="94336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4142231" y="413308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736592" y="4133087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618488" y="4425696"/>
            <a:ext cx="3803904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673352" y="4498848"/>
            <a:ext cx="146304" cy="14630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892807" y="4507992"/>
            <a:ext cx="45720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2404872" y="4517136"/>
            <a:ext cx="943368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4142231" y="4498848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736592" y="4498848"/>
            <a:ext cx="548640" cy="146304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600200" y="29443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64" name="Oval 63"/>
          <p:cNvSpPr/>
          <p:nvPr/>
        </p:nvSpPr>
        <p:spPr>
          <a:xfrm>
            <a:off x="4123944" y="29443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18488" y="5888736"/>
            <a:ext cx="3803904" cy="384048"/>
          </a:xfrm>
          <a:prstGeom prst="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600200" y="587044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68" name="Oval 67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35624" y="19019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자유 태그 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'자유 태그 누적 목록' + 설명(7유형 등록에서 수집)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824728" y="27980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5824728" y="28437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35624" y="28163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출처 필터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전체 + 카테고리별 칩 필터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824728" y="37124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824728" y="37581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35624" y="37307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태그 행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체크박스·출처 배지·#태그·'사용 N건'·제안자·사용 항목 컨텍스트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824728" y="46268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824728" y="46725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35624" y="46451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행 액션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[표준화](ai-orchestration→비용, ml→ML 유형만)·[삭제]·[선택 삭제 (N)]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824728" y="55412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5824728" y="55869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35624" y="55595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표준화 편입 / 빈 상태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편입 분류 select + [편입 확정]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빈 상태 '누적된 자유 태그가 없습니다.'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ADM-06  ·  카테고리 관리 (Platforms)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카테고리 관리 (/admin/platforms)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좌 카테고리 목록 (7)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우 상세/편집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97864" y="22174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22174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기본 정보 (ID·표시명·설명)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3" y="1991105"/>
            <a:ext cx="0" cy="3429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3" y="23340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경로·연결 (라우트·접속 URL)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1991105"/>
            <a:ext cx="0" cy="6858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97864" y="29032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584" y="29032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표시 스타일 (IconPicker·색상)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543" y="1991105"/>
            <a:ext cx="0" cy="10287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3" y="30198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97864" y="32461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43584" y="32461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노출 상태 · 액션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43" y="1991105"/>
            <a:ext cx="0" cy="13716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3543" y="33627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4048" y="384048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카테고리 선택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817632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037088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2808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메타 수정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424953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44409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90129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저장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032274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51730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97450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카탈로그 반영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1050548" y="4590288"/>
            <a:ext cx="128016" cy="256032"/>
          </a:xfrm>
          <a:prstGeom prst="down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29768" y="4882896"/>
            <a:ext cx="136957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4882896"/>
            <a:ext cx="1278136" cy="384048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추가 → 신규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1347" y="914400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069363" y="1225296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7개 카테고리 메타데이터 CRUD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필드: 식별자·표시명·짧은 설명·경로·접속 URL·색상·아이콘·노출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1347" y="2195578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1075" y="22321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051075" y="24698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069363" y="2506474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카탈로그 카테고리 표시(이름·색상·아이콘·경로) 중앙 관리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신규 아이콘 프리셋 즉시 반영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1347" y="3476757"/>
            <a:ext cx="4866299" cy="17160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1075" y="3513333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051075" y="3751077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069363" y="3787653"/>
            <a:ext cx="4610267" cy="13685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표시 문자열은 '카테고리', route/파일/심볼은 platform 계열 유지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IconPicker는 ICON_PRESETS 3열 그리드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미등록 아이콘 키는 iconPreset() 폴백(automation)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식별자(ID)는 저장 후 변경 불가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1347" y="5320789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51075" y="53573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051075" y="55951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069363" y="5631685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출처 색상·경로 SSOT(PLATFORMS) 편집 단일 지점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아이콘 레지스트리 확장이 선택 패널에 자동 노출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카테고리 관리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1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자동화·AI 도구 관리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/admin/platforms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1293327" cy="23774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71735" y="2212847"/>
            <a:ext cx="594360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18488" y="2505455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91640" y="2560319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002536" y="2596895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618488" y="2889503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91640" y="294436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002536" y="2980943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618488" y="3273551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91640" y="3328415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2002536" y="3364991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618488" y="3657599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691640" y="3712463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002536" y="3749039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618488" y="4041647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91640" y="4096511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002536" y="4133087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618488" y="4425696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91640" y="4480559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002536" y="4517136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618488" y="4809744"/>
            <a:ext cx="1293327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691640" y="4864607"/>
            <a:ext cx="219456" cy="2194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002536" y="4901183"/>
            <a:ext cx="400931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58119" y="2194559"/>
            <a:ext cx="2364272" cy="96012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49559" y="2377439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149559" y="2542032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149559" y="2651759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149559" y="2816351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149559" y="2926079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3149559" y="3090671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3039831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58119" y="3264407"/>
            <a:ext cx="2364272" cy="64008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49559" y="3428999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149559" y="3593591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149559" y="3685031"/>
            <a:ext cx="21813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149559" y="3849623"/>
            <a:ext cx="2181393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039831" y="324611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58119" y="4014215"/>
            <a:ext cx="2364272" cy="86868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149559" y="4142231"/>
            <a:ext cx="320893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580180" y="4142231"/>
            <a:ext cx="320893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010802" y="4142231"/>
            <a:ext cx="320893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149559" y="4471416"/>
            <a:ext cx="320893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580180" y="4471416"/>
            <a:ext cx="320893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010802" y="4471416"/>
            <a:ext cx="320893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476682" y="4197096"/>
            <a:ext cx="827495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476682" y="4471416"/>
            <a:ext cx="827495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039831" y="399592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58119" y="4992624"/>
            <a:ext cx="2364272" cy="1335024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142231" y="5084064"/>
            <a:ext cx="594360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782312" y="5084064"/>
            <a:ext cx="594360" cy="201168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039831" y="497433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71" name="Oval 70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35624" y="19019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카테고리 목록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'카테고리' N + [+ 추가], 7종 PlatformIcon·이름·ID(비활성 '비활성' 배지)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부제 '등록물의 출처가 되는 도구 종류를 관리합니다.'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824728" y="27980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824728" y="28437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35624" y="2816351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기본 정보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식별자(ID·저장 후 변경 불가) · 표시명 · 짧은 설명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824728" y="37124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824728" y="37581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35624" y="37307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경로·연결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라우트 경로('/'로 시작) · 접속 URL(없으면 미설정)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824728" y="46268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5824728" y="46725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35624" y="46451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표시 스타일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IconPicker(ICON_PRESETS 3열 그리드·폴백 방어) + 출처 색상(전경색/배경색·프리셋 8종)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824728" y="55412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5824728" y="55869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35624" y="5559552"/>
            <a:ext cx="5672023" cy="9144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노출 상태·액션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활성/비활성 토글 + [수정][삭제] / [저장][취소]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'삭제 대신 비활성화를 권장합니다.'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ADM-07  ·  조직 관리 (Org)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부서/조직 관리 (/admin/org)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섹션1 관계사 노출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섹션2 부서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97864" y="22174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22174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필터·부서 목록(아코디언)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3" y="1991105"/>
            <a:ext cx="0" cy="3429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3" y="23340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부서 추가·Teams 연동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1991105"/>
            <a:ext cx="0" cy="6858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" y="29032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29032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섹션3 관계사 관리자 현황(읽기 전용)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" y="1305306"/>
            <a:ext cx="0" cy="17145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" y="30198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815" y="32461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2461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섹션4 문의 채널 설정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9496" y="1305306"/>
            <a:ext cx="0" cy="20574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9496" y="33627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4048" y="384048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노출 설정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817632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037088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2808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부서 관리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424953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44409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90129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관리자 현황 확인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032274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51730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97450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문의 채널 설정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1347" y="914400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069363" y="1225296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조직 관리 4개 섹션. 관계사 노출·부서·관리자 현황·문의 채널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관계사·본부·부서 3단계 조직 구조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1347" y="2195578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1075" y="22321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051075" y="24698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069363" y="2506474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조직 데이터·노출 정책·운영 설정 관리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관계사 관리자 지정 현황 조망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1347" y="3476757"/>
            <a:ext cx="4866299" cy="17160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51075" y="3513333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51075" y="3751077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069363" y="3787653"/>
            <a:ext cx="4610267" cy="13685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섹션1: visible:true 관계사만 사용자 목록·필터·통계 노출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섹션3은 읽기 전용 투영(지정·해제는 사용자 관리에서만)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섹션4: Teams 채널 URL(operations.ts 연동)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비노출 처리해도 기존 항목 데이터 미삭제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41347" y="5320789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1075" y="53573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051075" y="55951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069363" y="5631685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편집 지점(사용자 관리)·현황판(조직 관리) 분리로 SSOT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isGroupViewer는 비노출 관계사도 조회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조직 관리  —  섹션 1·2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부서 / 조직 관리 — 섹션 1·2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/admin/org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3803904" cy="50292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09928" y="2331719"/>
            <a:ext cx="1901952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09928" y="2304287"/>
            <a:ext cx="1901952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맑은 고딕"/>
                <a:ea typeface="맑은 고딕"/>
              </a:rPr>
              <a:t>노출</a:t>
            </a:r>
          </a:p>
        </p:txBody>
      </p:sp>
      <p:sp>
        <p:nvSpPr>
          <p:cNvPr id="21" name="Oval 20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18488" y="2761487"/>
            <a:ext cx="3803904" cy="274320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272491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8488" y="3108959"/>
            <a:ext cx="2358420" cy="13716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09928" y="3218687"/>
            <a:ext cx="11792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709928" y="3383279"/>
            <a:ext cx="1179210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709928" y="3493007"/>
            <a:ext cx="217554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09928" y="3803903"/>
            <a:ext cx="217554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09928" y="4114799"/>
            <a:ext cx="217554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600200" y="30906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59788" y="3108959"/>
            <a:ext cx="1262603" cy="64008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228" y="3291839"/>
            <a:ext cx="1079723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251228" y="3456432"/>
            <a:ext cx="1079724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51228" y="3511295"/>
            <a:ext cx="1079723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59788" y="3840479"/>
            <a:ext cx="1262603" cy="64008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251228" y="3950207"/>
            <a:ext cx="107972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51228" y="4073651"/>
            <a:ext cx="107972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251228" y="4197096"/>
            <a:ext cx="669429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141500" y="30906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18488" y="4590288"/>
            <a:ext cx="3803904" cy="68580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709928" y="4700016"/>
            <a:ext cx="362102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709928" y="4882896"/>
            <a:ext cx="362102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09928" y="5065776"/>
            <a:ext cx="362102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18488" y="5385816"/>
            <a:ext cx="3803904" cy="941832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09928" y="5513831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1709928" y="5696712"/>
            <a:ext cx="2706624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599431" y="5513831"/>
            <a:ext cx="731520" cy="182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49" name="Oval 48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35624" y="1901951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섹션1 관계사 노출 관리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관계사별 visible on/off(접근 게이트, CompanyVisibilityDropdown), '노출 N / 전체 29' 배지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824728" y="3026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824728" y="3072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35624" y="3044951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섹션1 안내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'비노출 관계사는 해당 소속 아닌 사용자에게 목록·필터·통계에서 숨김. 그룹 전체보기 권한자는 예외.'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35624" y="4187952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섹션2 부서 관리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부서명 검색 + 관계사/본부 필터 + [모두 펼치기/접기] + 관계사 아코디언·부서 행(수정·삭제, Teams 출처 배지)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24728" y="5312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824728" y="5358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35624" y="5330952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섹션2 부서 추가·Teams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부서 수동 추가(관계사 필수) + Microsoft Teams 연동(현황/설정/동기화 탭, 중복 병합)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조직 관리  —  섹션 3·4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부서 / 조직 관리 — 섹션 3·4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/admin/org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2194559"/>
            <a:ext cx="3803904" cy="50292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09928" y="2331719"/>
            <a:ext cx="1901952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09928" y="2304287"/>
            <a:ext cx="1901952" cy="237744"/>
          </a:xfrm>
          <a:prstGeom prst="rect">
            <a:avLst/>
          </a:prstGeom>
          <a:noFill/>
        </p:spPr>
        <p:txBody>
          <a:bodyPr wrap="square" anchor="ctr" lIns="54864" rIns="54864" tIns="0" bIns="18288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맑은 고딕"/>
                <a:ea typeface="맑은 고딕"/>
              </a:rPr>
              <a:t>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18488" y="2761487"/>
            <a:ext cx="3803904" cy="274320"/>
          </a:xfrm>
          <a:prstGeom prst="rect">
            <a:avLst/>
          </a:prstGeom>
          <a:solidFill>
            <a:srgbClr val="F7F7F7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3108959"/>
            <a:ext cx="2358420" cy="137160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09928" y="3218687"/>
            <a:ext cx="11792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709928" y="3383279"/>
            <a:ext cx="1179210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709928" y="3493007"/>
            <a:ext cx="217554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09928" y="3803903"/>
            <a:ext cx="217554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09928" y="4114799"/>
            <a:ext cx="217554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59788" y="3108959"/>
            <a:ext cx="1262603" cy="640080"/>
          </a:xfrm>
          <a:prstGeom prst="rect">
            <a:avLst/>
          </a:prstGeom>
          <a:solidFill>
            <a:srgbClr val="F7F7F7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228" y="3291839"/>
            <a:ext cx="1079723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251228" y="3456432"/>
            <a:ext cx="1079724" cy="0"/>
          </a:xfrm>
          <a:prstGeom prst="line">
            <a:avLst/>
          </a:prstGeom>
          <a:ln w="228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51228" y="3511295"/>
            <a:ext cx="1079723" cy="1645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59788" y="3840479"/>
            <a:ext cx="1262603" cy="640080"/>
          </a:xfrm>
          <a:prstGeom prst="rect">
            <a:avLst/>
          </a:prstGeom>
          <a:solidFill>
            <a:srgbClr val="FFFFFF"/>
          </a:solidFill>
          <a:ln w="165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251228" y="3950207"/>
            <a:ext cx="1079724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251228" y="4073651"/>
            <a:ext cx="1079724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51228" y="4197096"/>
            <a:ext cx="669429" cy="0"/>
          </a:xfrm>
          <a:prstGeom prst="line">
            <a:avLst/>
          </a:prstGeom>
          <a:ln w="1397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618488" y="4590288"/>
            <a:ext cx="3803904" cy="6858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09928" y="4700016"/>
            <a:ext cx="362102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09928" y="4882896"/>
            <a:ext cx="362102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09928" y="5065776"/>
            <a:ext cx="362102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600200" y="457200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18488" y="5385816"/>
            <a:ext cx="3803904" cy="941832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709928" y="5513831"/>
            <a:ext cx="2706624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709928" y="5696712"/>
            <a:ext cx="2706624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599431" y="5513831"/>
            <a:ext cx="731520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00200" y="536752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6" name="Oval 45"/>
          <p:cNvSpPr/>
          <p:nvPr/>
        </p:nvSpPr>
        <p:spPr>
          <a:xfrm>
            <a:off x="5166359" y="547725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48" name="Oval 47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5624" y="1901951"/>
            <a:ext cx="5672023" cy="1524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섹션3 관계사 관리자 현황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'읽기 전용' 투영 — 노출 관계사별 관리자 칩·'담당 N곳' 배지·'미지정'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'지정·해제는 사용자 관리에서 관리' + [사용자 관리로 이동]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824728" y="3407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5824728" y="3453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35624" y="3425951"/>
            <a:ext cx="5672023" cy="1524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섹션4 문의 채널 설정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랜딩 문의 카드 연결 Teams 채널 URL 편집(유효성 검사), operations.ts 연동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824728" y="4931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824728" y="4977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35624" y="4949952"/>
            <a:ext cx="5672023" cy="1524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하단 운영 유의사항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'관계사 비노출 전환해도 기존 AX 항목 데이터는 삭제되지 않습니다. 부서 삭제 시 태깅된 항목 영향 확인.'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84048"/>
            <a:ext cx="799651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맑은 고딕"/>
                <a:ea typeface="맑은 고딕"/>
              </a:rPr>
              <a:t>ADM-08  ·  사용자·권한 관리 (Users)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207" y="384048"/>
            <a:ext cx="4569439" cy="36576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999"/>
                </a:solidFill>
                <a:latin typeface="맑은 고딕"/>
                <a:ea typeface="맑은 고딕"/>
              </a:rPr>
              <a:t>화면 정의 (Screen Definition)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" y="786384"/>
            <a:ext cx="11423599" cy="0"/>
          </a:xfrm>
          <a:prstGeom prst="line">
            <a:avLst/>
          </a:prstGeom>
          <a:ln w="1905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4048" y="91440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화면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188720"/>
            <a:ext cx="383875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88720"/>
            <a:ext cx="374731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맑은 고딕"/>
                <a:ea typeface="맑은 고딕"/>
              </a:rPr>
              <a:t>사용자/권한/로그 (/admin/users)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" y="15316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316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탭 4종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" y="1305306"/>
            <a:ext cx="0" cy="3429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" y="16482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5" y="1874519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874519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관리자 권한 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" y="1305306"/>
            <a:ext cx="0" cy="685799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" y="1991105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97864" y="22174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22174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전사 관리자 / 관계사 관리자 목록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3" y="1991105"/>
            <a:ext cx="0" cy="3429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3" y="23340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97864" y="25603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25603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담당 관계사 칩 편집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3" y="1991105"/>
            <a:ext cx="0" cy="6858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3543" y="26769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97864" y="2903220"/>
            <a:ext cx="3362535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584" y="2903220"/>
            <a:ext cx="3271095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권한 부여 패널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3543" y="1991105"/>
            <a:ext cx="0" cy="1028701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3" y="3019806"/>
            <a:ext cx="274321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815" y="3246120"/>
            <a:ext cx="3600644" cy="233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3246120"/>
            <a:ext cx="3509204" cy="233172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</a:rPr>
              <a:t>그룹 전체보기 · 등록자 · 활동 로그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9496" y="1305306"/>
            <a:ext cx="0" cy="205740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9496" y="3362706"/>
            <a:ext cx="274319" cy="0"/>
          </a:xfrm>
          <a:prstGeom prst="line">
            <a:avLst/>
          </a:prstGeom>
          <a:ln w="16510">
            <a:solidFill>
              <a:srgbClr val="9999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4048" y="3840480"/>
            <a:ext cx="6282979" cy="219456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999999"/>
                </a:solidFill>
                <a:latin typeface="맑은 고딕"/>
                <a:ea typeface="맑은 고딕"/>
              </a:rPr>
              <a:t>사용자 흐름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SSO 검색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817632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037088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82808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역할 지정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424953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44409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90129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담당 관계사 지정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032274" y="4279392"/>
            <a:ext cx="201168" cy="128016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51730" y="4114800"/>
            <a:ext cx="136957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97450" y="4114800"/>
            <a:ext cx="1278136" cy="457200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부여/회수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5872511" y="4590288"/>
            <a:ext cx="128016" cy="256032"/>
          </a:xfrm>
          <a:prstGeom prst="down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251730" y="4882896"/>
            <a:ext cx="1369576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97450" y="4882896"/>
            <a:ext cx="1278136" cy="384048"/>
          </a:xfrm>
          <a:prstGeom prst="rect">
            <a:avLst/>
          </a:prstGeom>
          <a:noFill/>
        </p:spPr>
        <p:txBody>
          <a:bodyPr wrap="square" anchor="ctr" lIns="54864" rIns="54864" tIns="27432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가드: 최소 1명/1곳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1347" y="914400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51075" y="950976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정의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051075" y="1188720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069363" y="1225296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사용자 권한 관리. 탭 4종. '관리자 권한' 탭이 지정 유일 편집 지점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SSO로 계정 자동 관리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1347" y="2195578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1075" y="2232154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목적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051075" y="2469898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069363" y="2506474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전사/관계사 관리자 지정·회수·담당 관계사 편집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그룹 전체보기·등록자·활동 로그 관리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1347" y="3476757"/>
            <a:ext cx="4866299" cy="171601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1075" y="3513333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룰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051075" y="3751077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069363" y="3787653"/>
            <a:ext cx="4610267" cy="1368543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2-tier: User/Admin. adminScope global(전사)·company(관계사)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companyAdmin은 managedCompanies[](복수 담당)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가드1 전사 관리자 최소 1명 유지·회수 불가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가드2 담당 관계사 최소 1곳(전체 해제는 권한 회수)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1347" y="5320789"/>
            <a:ext cx="4866299" cy="115316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51075" y="5357365"/>
            <a:ext cx="4646843" cy="237744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기획 의도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051075" y="5595109"/>
            <a:ext cx="4646844" cy="0"/>
          </a:xfrm>
          <a:prstGeom prst="line">
            <a:avLst/>
          </a:prstGeom>
          <a:ln w="12700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069363" y="5631685"/>
            <a:ext cx="4610267" cy="80569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관리자 지정 SSOT를 이 화면에 집중(AdminOrg는 읽기 전용)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99999"/>
                </a:solidFill>
                <a:latin typeface="맑은 고딕"/>
                <a:ea typeface="맑은 고딕"/>
              </a:rPr>
              <a:t>·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담당 관계사 칩 인라인 편집으로 복수 담당 직관 관리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사용자·권한 관리  —  관리자 권한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1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사용자 / 권한 / 로그 관리 — 관리자 권한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/admin/users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1848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7860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3872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9884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0020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8488" y="2505455"/>
            <a:ext cx="2282342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37790" y="2542031"/>
            <a:ext cx="137160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437790" y="2706623"/>
            <a:ext cx="1371600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600200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18488" y="2871215"/>
            <a:ext cx="2282342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709928" y="2962655"/>
            <a:ext cx="707526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986430" y="2962655"/>
            <a:ext cx="8229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3438143"/>
            <a:ext cx="2282342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709928" y="3529583"/>
            <a:ext cx="707526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986430" y="3529583"/>
            <a:ext cx="822960" cy="164592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00200" y="283463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18488" y="4059935"/>
            <a:ext cx="2282342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709928" y="4133087"/>
            <a:ext cx="56602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709928" y="4334255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258568" y="4334255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07208" y="4334255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18488" y="4626864"/>
            <a:ext cx="2282342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709928" y="4700016"/>
            <a:ext cx="566020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709928" y="4901183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258568" y="4901183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807208" y="4901183"/>
            <a:ext cx="493776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600200" y="4023359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83710" y="2505455"/>
            <a:ext cx="1338681" cy="1463040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75150" y="2651759"/>
            <a:ext cx="607161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4175150" y="2834639"/>
            <a:ext cx="60716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828032" y="2651759"/>
            <a:ext cx="502920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175150" y="3008375"/>
            <a:ext cx="602406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53051" y="3008375"/>
            <a:ext cx="602406" cy="182880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75150" y="3328415"/>
            <a:ext cx="1155801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175150" y="3675887"/>
            <a:ext cx="1155801" cy="219456"/>
          </a:xfrm>
          <a:prstGeom prst="roundRect">
            <a:avLst/>
          </a:prstGeom>
          <a:solidFill>
            <a:srgbClr val="F7F7F7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065422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83710" y="4078223"/>
            <a:ext cx="1338681" cy="2249424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065422" y="405993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57" name="Oval 56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35624" y="190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탭 4종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관리자 권한 · 그룹 전체보기 · 등록자 관리 · 활동 로그 (SSO 자동 관리 안내 배너)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824728" y="2645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5824728" y="2691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35624" y="2663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목록 헤더·검색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'관리자' + '전사 N · 관계사 N' 카운트 + 통합 검색(이름·부서·이메일)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824728" y="3407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5824728" y="3453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35624" y="3425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전사 관리자 목록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배지·메타 + [권한 회수]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가드 '전사 관리자는 최소 1명 유지해야 합니다. 회수할 수 없습니다.'(본인 회수 불가)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35624" y="4187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관계사 관리자·담당 칩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담당 관계사 칩(오렌지) × 제거 + [+ 관계사 추가]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99999"/>
                </a:solidFill>
                <a:latin typeface="맑은 고딕"/>
                <a:ea typeface="맑은 고딕"/>
              </a:rPr>
              <a:t>안내 </a:t>
            </a:r>
            <a:r>
              <a:rPr sz="850" b="0">
                <a:solidFill>
                  <a:srgbClr val="333333"/>
                </a:solidFill>
                <a:latin typeface="맑은 고딕"/>
                <a:ea typeface="맑은 고딕"/>
              </a:rPr>
              <a:t>가드 '담당 관계사는 1곳 이상이어야 합니다. 담당을 모두 해제하려면 권한 회수를 사용하세요.'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824728" y="4931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5824728" y="4977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35624" y="4949952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관리자 권한 부여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SSO 검색 → 역할 토글(전사/관계사 관리자) → CompanyMultiSelect → [지정]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824728" y="5693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5824728" y="5739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35624" y="5711951"/>
            <a:ext cx="5672023" cy="762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운영 유의사항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'전사 관리자는 전체 승인·관리, 관계사 관리자는 담당 범위만. 전사 관리자 최소 1명 유지, 본인 회수 불가.'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4048" y="384048"/>
          <a:ext cx="11423599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1280160"/>
                <a:gridCol w="4474159"/>
              </a:tblGrid>
              <a:tr h="384048">
                <a:tc gridSpan="3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사용자·권한 관리  —  권한·로그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Page 2 / 2</a:t>
                      </a:r>
                    </a:p>
                  </a:txBody>
                  <a:tcPr anchor="ctr" marL="73152" marR="54864" marT="18288" marB="18288">
                    <a:solidFill>
                      <a:srgbClr val="111111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Page Title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사용자 / 권한 / 로그 관리 — 권한·로그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ID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>ADM-08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Screen Path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/admin/users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anchor="ctr" marL="73152" marR="54864" marT="18288" marB="18288">
                    <a:solidFill>
                      <a:srgbClr val="EEEEEE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  <a:lnL w="9525" cap="flat">
                      <a:solidFill>
                        <a:srgbClr val="666666"/>
                      </a:solidFill>
                    </a:lnL>
                    <a:lnR w="9525" cap="flat">
                      <a:solidFill>
                        <a:srgbClr val="666666"/>
                      </a:solidFill>
                    </a:lnR>
                    <a:lnT w="9525" cap="flat">
                      <a:solidFill>
                        <a:srgbClr val="666666"/>
                      </a:solidFill>
                    </a:lnT>
                    <a:lnB w="9525" cap="flat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84048" y="1572767"/>
            <a:ext cx="5166360" cy="4901184"/>
          </a:xfrm>
          <a:prstGeom prst="rect">
            <a:avLst/>
          </a:prstGeom>
          <a:solidFill>
            <a:srgbClr val="FFFFFF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1572767"/>
            <a:ext cx="5166360" cy="146304"/>
          </a:xfrm>
          <a:prstGeom prst="rect">
            <a:avLst/>
          </a:prstGeom>
          <a:solidFill>
            <a:srgbClr val="F7F7F7"/>
          </a:solidFill>
          <a:ln w="304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4632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23059"/>
            <a:ext cx="45720" cy="45720"/>
          </a:xfrm>
          <a:prstGeom prst="ellipse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47087"/>
            <a:ext cx="4910328" cy="25603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1911095"/>
            <a:ext cx="640080" cy="128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6359" y="1883663"/>
            <a:ext cx="182880" cy="182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2157983"/>
            <a:ext cx="960120" cy="4187952"/>
          </a:xfrm>
          <a:prstGeom prst="rect">
            <a:avLst/>
          </a:prstGeom>
          <a:solidFill>
            <a:srgbClr val="F7F7F7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2267711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560319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2852927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3145535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" y="3438144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3730752"/>
            <a:ext cx="777240" cy="146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1848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7860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3872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98848" y="2194559"/>
            <a:ext cx="8686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60320" y="2176271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8488" y="2505455"/>
            <a:ext cx="3803904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09928" y="2615183"/>
            <a:ext cx="2282342" cy="219456"/>
          </a:xfrm>
          <a:prstGeom prst="rect">
            <a:avLst/>
          </a:prstGeom>
          <a:solidFill>
            <a:srgbClr val="F7F7F7"/>
          </a:solidFill>
          <a:ln w="1397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09928" y="2907791"/>
            <a:ext cx="362102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09928" y="3145535"/>
            <a:ext cx="362102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00200" y="2487167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18488" y="3529583"/>
            <a:ext cx="3803904" cy="914400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709928" y="3785615"/>
            <a:ext cx="3621024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09928" y="3913631"/>
            <a:ext cx="224503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709928" y="4096511"/>
            <a:ext cx="224503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709928" y="4279392"/>
            <a:ext cx="224503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600200" y="3511295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18488" y="4553712"/>
            <a:ext cx="1901952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618488" y="4736592"/>
            <a:ext cx="1901952" cy="0"/>
          </a:xfrm>
          <a:prstGeom prst="line">
            <a:avLst/>
          </a:prstGeom>
          <a:ln w="2286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710635" y="4553712"/>
            <a:ext cx="329184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076395" y="4553712"/>
            <a:ext cx="329184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42155" y="4553712"/>
            <a:ext cx="329184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807915" y="4553712"/>
            <a:ext cx="329184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173675" y="4553712"/>
            <a:ext cx="329184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18488" y="4828031"/>
            <a:ext cx="3803904" cy="1499616"/>
          </a:xfrm>
          <a:prstGeom prst="rect">
            <a:avLst/>
          </a:prstGeom>
          <a:solidFill>
            <a:srgbClr val="FFFFFF"/>
          </a:solidFill>
          <a:ln w="165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709928" y="5065775"/>
            <a:ext cx="3621024" cy="0"/>
          </a:xfrm>
          <a:prstGeom prst="line">
            <a:avLst/>
          </a:prstGeom>
          <a:ln w="15240">
            <a:solidFill>
              <a:srgbClr val="CCC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709928" y="5175503"/>
            <a:ext cx="224503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709928" y="5358383"/>
            <a:ext cx="224503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709928" y="5541264"/>
            <a:ext cx="2245034" cy="0"/>
          </a:xfrm>
          <a:prstGeom prst="line">
            <a:avLst/>
          </a:prstGeom>
          <a:ln w="1397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600200" y="4535424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24728" y="1572767"/>
            <a:ext cx="5982919" cy="256032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맑은 고딕"/>
                <a:ea typeface="맑은 고딕"/>
              </a:rPr>
              <a:t>Description</a:t>
            </a:r>
          </a:p>
        </p:txBody>
      </p:sp>
      <p:sp>
        <p:nvSpPr>
          <p:cNvPr id="48" name="Oval 47"/>
          <p:cNvSpPr/>
          <p:nvPr/>
        </p:nvSpPr>
        <p:spPr>
          <a:xfrm>
            <a:off x="5824728" y="1929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5624" y="1901951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탭 4종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그룹 전체보기·등록자 관리·활동 로그 탭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824728" y="3026663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5824728" y="3072383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35624" y="3044951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그룹 전체보기 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권한자 목록 + SSO 검색 부여(부여 사유 필수), 비노출 관계사도 조회 가능·조회 전용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824728" y="4169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824728" y="4215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35624" y="4187952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등록자 관리 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읽기 전용 표 — 이름/부서·이메일·등록 수·승인·대기/반려·최근 신청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824728" y="5312664"/>
            <a:ext cx="5982919" cy="0"/>
          </a:xfrm>
          <a:prstGeom prst="line">
            <a:avLst/>
          </a:prstGeom>
          <a:ln w="9525">
            <a:solidFill>
              <a:srgbClr val="EEEE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824728" y="5358384"/>
            <a:ext cx="219456" cy="21945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35624" y="5330952"/>
            <a:ext cx="5672023" cy="1143000"/>
          </a:xfrm>
          <a:prstGeom prst="rect">
            <a:avLst/>
          </a:prstGeom>
          <a:noFill/>
        </p:spPr>
        <p:txBody>
          <a:bodyPr wrap="square" anchor="t" lIns="54864" rIns="54864" tIns="27432" bIns="18288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11111"/>
                </a:solidFill>
                <a:latin typeface="맑은 고딕"/>
                <a:ea typeface="맑은 고딕"/>
              </a:rPr>
              <a:t>활동 로그 탭 </a:t>
            </a:r>
            <a:r>
              <a:rPr sz="950" b="0">
                <a:solidFill>
                  <a:srgbClr val="999999"/>
                </a:solidFill>
                <a:latin typeface="맑은 고딕"/>
                <a:ea typeface="맑은 고딕"/>
              </a:rPr>
              <a:t>— </a:t>
            </a:r>
            <a:r>
              <a:rPr sz="900" b="0">
                <a:solidFill>
                  <a:srgbClr val="666666"/>
                </a:solidFill>
                <a:latin typeface="맑은 고딕"/>
                <a:ea typeface="맑은 고딕"/>
              </a:rPr>
              <a:t>사용자·대상·액션 검색 + 카테고리 필터(전체·등록물·권한·분류체계·조직) + 표(일시·사용자·액션·대상)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